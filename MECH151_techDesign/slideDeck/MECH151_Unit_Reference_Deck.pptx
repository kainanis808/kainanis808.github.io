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8"/>
    <p:sldId id="283" r:id="rId29"/>
    <p:sldId id="287" r:id="rId33"/>
    <p:sldId id="288" r:id="rId34"/>
    <p:sldId id="280" r:id="rId26"/>
    <p:sldId id="290" r:id="rId36"/>
    <p:sldId id="284" r:id="rId30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286" r:id="rId32"/>
    <p:sldId id="301" r:id="rId47"/>
    <p:sldId id="302" r:id="rId48"/>
    <p:sldId id="303" r:id="rId49"/>
    <p:sldId id="304" r:id="rId50"/>
    <p:sldId id="305" r:id="rId51"/>
    <p:sldId id="306" r:id="rId52"/>
    <p:sldId id="311" r:id="rId62"/>
    <p:sldId id="312" r:id="rId63"/>
    <p:sldId id="307" r:id="rId53"/>
    <p:sldId id="308" r:id="rId54"/>
    <p:sldId id="309" r:id="rId55"/>
    <p:sldId id="310" r:id="rId56"/>
  </p:sldIdLst>
  <p:notesMasterIdLst>
    <p:notesMasterId r:id="rId5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9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31.xml"/><Relationship Id="rId32" Type="http://schemas.openxmlformats.org/officeDocument/2006/relationships/slide" Target="slides/slide42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6" Type="http://schemas.openxmlformats.org/officeDocument/2006/relationships/slide" Target="slides/slide30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openxmlformats.org/officeDocument/2006/relationships/slide" Target="slides/slide49.xml"/><Relationship Id="rId63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22960" y="196596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22960" y="196596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2606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Design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FE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Reference Guide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3434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AE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quick-reference for every unit — Design Fundamentals through Design for Manufacturing — for portfolio work, quizzes, and the final prototype.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" y="5989320"/>
            <a:ext cx="1211580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1B8A8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822960" y="5989320"/>
            <a:ext cx="12115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99132" y="598932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2199132" y="5989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40964" y="598932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3140964" y="5989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082796" y="598932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1E9E5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4082796" y="5989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4628" y="5989320"/>
            <a:ext cx="1124712" cy="365760"/>
          </a:xfrm>
          <a:prstGeom prst="roundRect">
            <a:avLst>
              <a:gd name="adj" fmla="val 20000"/>
            </a:avLst>
          </a:prstGeom>
          <a:solidFill>
            <a:srgbClr val="16324F"/>
          </a:solidFill>
          <a:ln w="1587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5024628" y="598932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0F29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Roadmap, Weeks 4–17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project-based portfolio module per week; a short foundations unit precedes Unit 1.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691896" cy="777240"/>
          </a:xfrm>
          <a:prstGeom prst="roundRect">
            <a:avLst>
              <a:gd name="adj" fmla="val 7930"/>
            </a:avLst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2816352"/>
            <a:ext cx="74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49680" y="1965960"/>
            <a:ext cx="3649392" cy="777240"/>
          </a:xfrm>
          <a:prstGeom prst="roundRect">
            <a:avLst>
              <a:gd name="adj" fmla="val 7059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249680" y="2816352"/>
            <a:ext cx="364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 · Quiz Wk 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53936" y="1965960"/>
            <a:ext cx="2189640" cy="777240"/>
          </a:xfrm>
          <a:prstGeom prst="roundRect">
            <a:avLst>
              <a:gd name="adj" fmla="val 7059"/>
            </a:avLst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953936" y="2816352"/>
            <a:ext cx="2189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8–11 · Quiz Wk 11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98440" y="1965960"/>
            <a:ext cx="3649392" cy="777240"/>
          </a:xfrm>
          <a:prstGeom prst="roundRect">
            <a:avLst>
              <a:gd name="adj" fmla="val 7059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198440" y="2816352"/>
            <a:ext cx="364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12–16 · Quiz Wk 16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902696" y="1965960"/>
            <a:ext cx="691896" cy="777240"/>
          </a:xfrm>
          <a:prstGeom prst="roundRect">
            <a:avLst>
              <a:gd name="adj" fmla="val 7059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0902696" y="2816352"/>
            <a:ext cx="691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201168" cy="20116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13816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Fundamentals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7920" y="3063240"/>
            <a:ext cx="201168" cy="20116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528816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CAD Fundamentals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201168" cy="201168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13816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Design for Assembly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920" y="3566160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528816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— Design for Manufacturing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2920" y="406908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13816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— Prototype Project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02920" y="562356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5875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31520" y="5733288"/>
            <a:ext cx="10744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grading lines up: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maps to a graded portfolio module and closes with a unit quiz; the Design Portfolio (50% of the course grade) and the Prototype + Final Exam (30%) are graded separately — see the syllabus for the remaining weighting.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0F29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NOTE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Course Is CAD-Program-Agnostic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of CAD software is too broad to teach every package — so this course teaches the operations that transfer between all of them.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1120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parametric CAD packages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used across industry — SolidWorks, Fusion 360, Onshape, Inventor, Creo, NX, CATIA, and more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impractical to teach all of them in one course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mastering only one would leave you stuck the moment a job, internship, or team uses something else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this course teaches the operations every one of them shares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menu names are yours to look up in whatever software you're using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52344"/>
            <a:ext cx="5824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752344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Called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063240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Push/pull a 2D profile into a solid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51676" y="306324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 · Pad · Boss / Cut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65576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3465576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a profile around an axis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51676" y="3465576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Revolve · Rotate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67912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3867912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 sketch so it can't drift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386791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· Constraints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270248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4270248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history of modeling steps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1676" y="427024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Tree · Timeline · Model Tree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672584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5800" y="4672584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parts relative to each other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51676" y="4672584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Mates · Joints · Assembly Constraints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12014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85800" y="5074920"/>
            <a:ext cx="5641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over or angle-cut a sharp edge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51676" y="5074920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/ Chamfer · Round / Bevel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568696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5875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731520" y="5678424"/>
            <a:ext cx="10744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— sketching, feature trees, mates, GD&amp;T — describes the operation, not a specific menu path. Whatever software you're using in class, an internship, or a job, look for the tool that does the same job.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955280" y="365760"/>
            <a:ext cx="39319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34000" dirty="0"/>
          </a:p>
        </p:txBody>
      </p:sp>
      <p:sp>
        <p:nvSpPr>
          <p:cNvPr id="28" name="Shape 26"/>
          <p:cNvSpPr/>
          <p:nvPr/>
        </p:nvSpPr>
        <p:spPr>
          <a:xfrm>
            <a:off x="685800" y="731520"/>
            <a:ext cx="1412748" cy="420624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85800" y="731520"/>
            <a:ext cx="14127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23317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Fundamentals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back from the software: what a CAD model is for, before Unit 1's sketches and features begin.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5806440"/>
            <a:ext cx="1645920" cy="438912"/>
          </a:xfrm>
          <a:prstGeom prst="roundRect">
            <a:avLst>
              <a:gd name="adj" fmla="val 20833"/>
            </a:avLst>
          </a:prstGeom>
          <a:solidFill>
            <a:srgbClr val="16324F"/>
          </a:solidFill>
          <a:ln w="12700">
            <a:solidFill>
              <a:srgbClr val="1B8A8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85800" y="5806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UNIT 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Process Is a Cycle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loops — the first prototype is expected to be wrong, and that's the process working.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1051560" cy="1051560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764792" y="2574036"/>
            <a:ext cx="1191006" cy="201168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83230" y="2148840"/>
            <a:ext cx="1051560" cy="1051560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98323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062222" y="2574036"/>
            <a:ext cx="1191006" cy="201168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280660" y="2148840"/>
            <a:ext cx="1051560" cy="1051560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28066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9652" y="2574036"/>
            <a:ext cx="1191006" cy="201168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578090" y="2148840"/>
            <a:ext cx="1051560" cy="1051560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57809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57082" y="2574036"/>
            <a:ext cx="1191006" cy="201168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875520" y="2148840"/>
            <a:ext cx="1051560" cy="1051560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875520" y="2148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3101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then back to Design (or Define), carrying what you learned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749040"/>
            <a:ext cx="1024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the part must do, fit, withstand, and cost — before any geometry exists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options, then the parametric models and drawings that pin down every dimension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prototype — a print, a machined part, a mock-up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it, fit it, load it, use it the way it will really be used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what happened against the requirements; loop back with what you learned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5669280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914400" y="5779008"/>
            <a:ext cx="105613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assume the first version is final, you build a model that's painful to change. If you assume you'll revise it, you build for iteration — clean sketches, captured intent, a readable feature tree.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Problem Before You Design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skipped most often — and the one that wastes the most time when skipped.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39596" y="2057400"/>
            <a:ext cx="777240" cy="777240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339596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19556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28116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exactly what, for whom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5868" y="2057400"/>
            <a:ext cx="777240" cy="777240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515868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195828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104388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number you can check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92140" y="2057400"/>
            <a:ext cx="777240" cy="777240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69214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372100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8066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with your time &amp; tools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8412" y="2057400"/>
            <a:ext cx="777240" cy="777240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868412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548372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456932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serves the need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44684" y="2057400"/>
            <a:ext cx="777240" cy="777240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10044684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9724644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633204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by a defined point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68680" y="4133088"/>
            <a:ext cx="105156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 practice: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"hold a phone at a comfortable viewing angle" is a direction. "Hold a 600 g phone at 55–70° without tipping, printable in under 4 hours, done by Week 12" is something you can design to and test against.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objectives, and constraints get lumped together as "the spec" — but they filter and rank designs differently (next: how each one works).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Requirements, Objectives, Constraints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and constraints filter designs to the acceptable ones; objectives rank the acceptable ones to find the best.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550920" cy="27432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4088" y="203911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44144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design must do — pass/fail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807208"/>
            <a:ext cx="314858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"Supports 5 kg without permanent deflection"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met or not; missing one disqualifies a design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test or inspection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8160" y="1874520"/>
            <a:ext cx="3550920" cy="27432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9328" y="203911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29328" y="244144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optimizing — directions of "better"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29328" y="2807208"/>
            <a:ext cx="314858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light as possible," "minimize cost"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pass/fail — compared by degree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trade against each other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3400" y="1874520"/>
            <a:ext cx="3550920" cy="2743200"/>
          </a:xfrm>
          <a:prstGeom prst="roundRect">
            <a:avLst>
              <a:gd name="adj" fmla="val 266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354568" y="203911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44144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limits on the solution space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2807208"/>
            <a:ext cx="314858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"Fits a 150 mm cube," "$25 budget," "due Week 12"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function — about what's allowed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Violating one disqualifies the design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800600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1520" y="491032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them up and you either reject a good design for missing a "nice to have," or ship one that fails a real must-have.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577840"/>
            <a:ext cx="1120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success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objectives into weighted, measurable criteria and score concepts with a decision matrix — screen pass/fail items first, then rank.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to Stop: The 80/20 Rule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is ever perfect — chasing perfection is its own failure mode.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0F294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2029968"/>
            <a:ext cx="356616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46704"/>
            <a:ext cx="320040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a design's useful performance comes from the first 20% of the effort — chasing the rest costs far more than it returns.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965960"/>
            <a:ext cx="7360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4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forward once requirements are met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 can see ways it could be nicer</a:t>
            </a:r>
            <a:endParaRPr lang="en-US" sz="1450" dirty="0"/>
          </a:p>
          <a:p>
            <a:pPr marL="342900" indent="-342900">
              <a:buSzPct val="100000"/>
              <a:buChar char="●"/>
            </a:pPr>
            <a:r>
              <a:rPr lang="en-US" sz="14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Perpetual designing is a cost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revision delays the prototype, the test, and everything you'd learn from them</a:t>
            </a:r>
            <a:endParaRPr lang="en-US" sz="1450" dirty="0"/>
          </a:p>
          <a:p>
            <a:pPr marL="342900" indent="-342900">
              <a:buSzPct val="100000"/>
              <a:buChar char="●"/>
            </a:pPr>
            <a:r>
              <a:rPr lang="en-US" sz="14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enough" is a decision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against written requirements, not an imagined ideal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4709160"/>
            <a:ext cx="1120140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4818888"/>
            <a:ext cx="10744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both ideas at once: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the first version to be wrong, and resist the urge to perfect it. The cycle moves forward when a design is good enough to learn from — not when it's flawless, and not before it meets its requirements.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Intent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a model should capture — what you expect to stay true when a dimension changes.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5989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relations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symmetric, equal, concentric, collinear say why geometry is where it is, so it stays right when dimensions change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dimensions you choose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from the reference that actually matters — a mounting face, a mating edge — not whatever's convenient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order &amp; references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later features off stable geometry, not faces that may move or disappear in an edit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&amp; linked values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dimensions must always match or follow a rule, drive one from the other instead of typing both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75564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result, different intent — dimension a hole two ways: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04825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Dimensioned from the left edge: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2286000"/>
            <a:ext cx="1234440" cy="603504"/>
          </a:xfrm>
          <a:prstGeom prst="rect">
            <a:avLst/>
          </a:prstGeom>
          <a:solidFill>
            <a:srgbClr val="F3F6F9"/>
          </a:solidFill>
          <a:ln w="1587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83780" y="2240280"/>
            <a:ext cx="0" cy="694944"/>
          </a:xfrm>
          <a:prstGeom prst="line">
            <a:avLst/>
          </a:prstGeom>
          <a:noFill/>
          <a:ln w="12700">
            <a:solidFill>
              <a:srgbClr val="C7D0DA"/>
            </a:solidFill>
            <a:prstDash val="dash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940296" y="2487168"/>
            <a:ext cx="201168" cy="20116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13064" y="2286000"/>
            <a:ext cx="2103120" cy="603504"/>
          </a:xfrm>
          <a:prstGeom prst="rect">
            <a:avLst/>
          </a:prstGeom>
          <a:solidFill>
            <a:srgbClr val="F3F6F9"/>
          </a:solidFill>
          <a:ln w="1587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564624" y="2240280"/>
            <a:ext cx="0" cy="694944"/>
          </a:xfrm>
          <a:prstGeom prst="line">
            <a:avLst/>
          </a:prstGeom>
          <a:noFill/>
          <a:ln w="12700">
            <a:solidFill>
              <a:srgbClr val="C7D0DA"/>
            </a:solidFill>
            <a:prstDash val="dash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0" y="2487168"/>
            <a:ext cx="201168" cy="20116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74152" y="2505456"/>
            <a:ext cx="365760" cy="164592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891272" y="268833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93522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widen the block and the hole drifts off-center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4612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center by a symmetric relation: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3483864"/>
            <a:ext cx="1234440" cy="603504"/>
          </a:xfrm>
          <a:prstGeom prst="rect">
            <a:avLst/>
          </a:prstGeom>
          <a:solidFill>
            <a:srgbClr val="F3F6F9"/>
          </a:solidFill>
          <a:ln w="1587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83780" y="3438144"/>
            <a:ext cx="0" cy="694944"/>
          </a:xfrm>
          <a:prstGeom prst="line">
            <a:avLst/>
          </a:prstGeom>
          <a:noFill/>
          <a:ln w="12700">
            <a:solidFill>
              <a:srgbClr val="C7D0DA"/>
            </a:solidFill>
            <a:prstDash val="dash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83196" y="3685032"/>
            <a:ext cx="201168" cy="20116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513064" y="3483864"/>
            <a:ext cx="2103120" cy="603504"/>
          </a:xfrm>
          <a:prstGeom prst="rect">
            <a:avLst/>
          </a:prstGeom>
          <a:solidFill>
            <a:srgbClr val="F3F6F9"/>
          </a:solidFill>
          <a:ln w="1587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564624" y="3438144"/>
            <a:ext cx="0" cy="694944"/>
          </a:xfrm>
          <a:prstGeom prst="line">
            <a:avLst/>
          </a:prstGeom>
          <a:noFill/>
          <a:ln w="12700">
            <a:solidFill>
              <a:srgbClr val="C7D0DA"/>
            </a:solidFill>
            <a:prstDash val="dash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464040" y="3685032"/>
            <a:ext cx="201168" cy="20116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74152" y="3703320"/>
            <a:ext cx="365760" cy="164592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891272" y="38862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13308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widen the block and the hole stays centered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66560" y="448056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995160" y="4590288"/>
            <a:ext cx="4434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look identical until the block changes size — only the second one captures what you actually meant, not just a position that happened to look right.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5440680"/>
            <a:ext cx="3547872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67512" y="558698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67512" y="5586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161288" y="555040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Editability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" y="600760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well-built model updates the way you intend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06824" y="5440680"/>
            <a:ext cx="3547872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471416" y="558698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4471416" y="5586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965192" y="555040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471416" y="600760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person can read the tree and see the logic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10728" y="5440680"/>
            <a:ext cx="3547872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275320" y="558698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8275320" y="5586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769096" y="5550408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reuse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600760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assemblies, drawings &amp; manufacturing files inherit it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 Design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design has more than one part, where do the controlling dimensions live?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463540" cy="2651760"/>
          </a:xfrm>
          <a:prstGeom prst="roundRect">
            <a:avLst>
              <a:gd name="adj" fmla="val 2759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4088" y="1993392"/>
            <a:ext cx="50612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395728"/>
            <a:ext cx="5061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each part alone, then assemble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761488"/>
            <a:ext cx="506120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are independent — editing one doesn't ripple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manage; easy to reuse parts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well-understood or off-the-shelf parts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when parts must share dimensions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828800"/>
            <a:ext cx="5463540" cy="2651760"/>
          </a:xfrm>
          <a:prstGeom prst="roundRect">
            <a:avLst>
              <a:gd name="adj" fmla="val 2759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441948" y="1993392"/>
            <a:ext cx="50612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Top-Down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2395728"/>
            <a:ext cx="5061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assembly's shared geometry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41948" y="2761488"/>
            <a:ext cx="506120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dimensions live in one place and propagate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mating parts fitting as the design evolves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new designs with moving interfaces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setup; unmanaged references get fragile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663440"/>
            <a:ext cx="1120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top-down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sketch (fixes key sizes before parts exist), skeleton/master model (shared reference geometry), in-context references (shape one part against another directly).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3F6F9"/>
          </a:solidFill>
          <a:ln w="15875">
            <a:solidFill>
              <a:srgbClr val="1B8A8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5596128"/>
            <a:ext cx="10744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simplest structure that captures the intent — reach for top-down only where parts genuinely must share dimensions.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159459" cy="310896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59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Practices That Keep a Design Robust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7512" y="211226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6751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define every sketch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532888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under-defined sketch can drift on an unrelated edit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2064" y="1965960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86656" y="211226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486656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0432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stable geometry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6656" y="2532888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and default planes never move; a filleted edge might vanish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41208" y="1965960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05800" y="2112264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30580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99576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sketches simple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05800" y="2532888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feature — complexity goes in the feature tree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123944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67512" y="4270248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6751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4233672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organize features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" y="4690872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of "Extrude7, Cut12" tells the next person nothing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2064" y="4123944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486656" y="4270248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486656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980432" y="4233672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dependency chains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86656" y="4690872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things a feature relies on means fewer ways it breaks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41208" y="4123944"/>
            <a:ext cx="3563112" cy="1956816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305800" y="4270248"/>
            <a:ext cx="384048" cy="384048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830580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799576" y="4233672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design, not just the shape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305800" y="4690872"/>
            <a:ext cx="3233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rule governs the part, build the rule in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955280" y="365760"/>
            <a:ext cx="39319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0" dirty="0"/>
          </a:p>
        </p:txBody>
      </p:sp>
      <p:sp>
        <p:nvSpPr>
          <p:cNvPr id="28" name="Shape 26"/>
          <p:cNvSpPr/>
          <p:nvPr/>
        </p:nvSpPr>
        <p:spPr>
          <a:xfrm>
            <a:off x="685800" y="73152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85800" y="7315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WEEKS 4–8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23317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 Fundamentals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Sketching, views, CAD configuration, and the first parametric model — the foundation every later unit depends on.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5806440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16324F"/>
          </a:solidFill>
          <a:ln w="1270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85800" y="58064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 WEEK 8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Single "Right" Model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shape can be built from a different base feature, sketch set, or feature order — with effectively infinite valid combinations.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1201400" cy="1005840"/>
          </a:xfrm>
          <a:prstGeom prst="roundRect">
            <a:avLst>
              <a:gd name="adj" fmla="val 7273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2029968"/>
            <a:ext cx="10744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separates good from poor: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classmates can hand in completely different feature trees and both be correct. What separates a good model from a poor one is whether it captures design intent, rebuilds without errors, and stays easy to edit — not whether it matches a canonical answer.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54680"/>
            <a:ext cx="11201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deliberate choices you can explain, not on guessing the "expected" answer.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unit builds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drawing and modeling foundation every later unit depends on — a controlled sketch, standard views, and a parametric solid that updates when you change it.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Origin: Where Every Model Begins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coordinate, sketch, and feature ultimately measures from one fixed point in space.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5943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(0, 0, 0)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point in the file that never moves, no matter how the model is edited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default planes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Front, Top, and Right all pass through the origin and split space along the X, Y, and Z axes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measured from it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or indirectly — a sketch plane, a mate, even a drawing's projected views all trace back to this fixed reference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origin (or geometry built from it) instead of an edge that might move, get filleted away, or get deleted in a later edit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783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default planes meet 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0" y="2743200"/>
            <a:ext cx="1051560" cy="1051560"/>
          </a:xfrm>
          <a:prstGeom prst="line">
            <a:avLst/>
          </a:prstGeom>
          <a:noFill/>
          <a:ln w="19050">
            <a:solidFill>
              <a:srgbClr val="8592A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18900000">
            <a:off x="7799832" y="2587752"/>
            <a:ext cx="146304" cy="146304"/>
          </a:xfrm>
          <a:prstGeom prst="triangle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498080" y="23774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2514600"/>
            <a:ext cx="0" cy="1280160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842248" y="2441448"/>
            <a:ext cx="146304" cy="146304"/>
          </a:xfrm>
          <a:prstGeom prst="triangl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778240" y="21305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15400" y="3794760"/>
            <a:ext cx="1600200" cy="0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5400000">
            <a:off x="10442448" y="3721608"/>
            <a:ext cx="146304" cy="146304"/>
          </a:xfrm>
          <a:prstGeom prst="triangl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634472" y="36667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0536" y="3739896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025128" y="38679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(0, 0, 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507492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949440" y="5184648"/>
            <a:ext cx="4434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pairing of planes to axes (which plane is "Front") varies by CAD program — but every parametric system anchors its geometry to an origin and a set of default planes the same way.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Point to Solid: Building Up in Dimensions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a stack of dimensions — each one built from the last.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08326" cy="3246120"/>
          </a:xfrm>
          <a:prstGeom prst="roundRect">
            <a:avLst>
              <a:gd name="adj" fmla="val 280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0116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24787" y="2450592"/>
            <a:ext cx="164592" cy="164592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129534" y="2450592"/>
            <a:ext cx="219456" cy="164592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67512" y="2926080"/>
            <a:ext cx="2279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291840"/>
            <a:ext cx="224256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in space — no length, area, or volume. A sketch point, a vertex, the origin itself.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67278" y="1874520"/>
            <a:ext cx="2608326" cy="3246120"/>
          </a:xfrm>
          <a:prstGeom prst="roundRect">
            <a:avLst>
              <a:gd name="adj" fmla="val 280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504438" y="20116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504438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78833" y="2660904"/>
            <a:ext cx="585216" cy="-256032"/>
          </a:xfrm>
          <a:prstGeom prst="line">
            <a:avLst/>
          </a:prstGeom>
          <a:noFill/>
          <a:ln w="3175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93892" y="2450592"/>
            <a:ext cx="219456" cy="164592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531870" y="2926080"/>
            <a:ext cx="2279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Curve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50158" y="3291840"/>
            <a:ext cx="224256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two points — has length only. Lines, arcs, and splines: what you actually sketch.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1636" y="1874520"/>
            <a:ext cx="2608326" cy="3246120"/>
          </a:xfrm>
          <a:prstGeom prst="roundRect">
            <a:avLst>
              <a:gd name="adj" fmla="val 280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68796" y="20116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368796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79767" y="2350008"/>
            <a:ext cx="512064" cy="384048"/>
          </a:xfrm>
          <a:prstGeom prst="triangle">
            <a:avLst/>
          </a:prstGeom>
          <a:ln w="2540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858250" y="2450592"/>
            <a:ext cx="219456" cy="164592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396228" y="2926080"/>
            <a:ext cx="2279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(Profile)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14516" y="3291840"/>
            <a:ext cx="224256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 of 1D entities that encloses an area. A triangle, rectangle, circle — any closed profile.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95994" y="1874520"/>
            <a:ext cx="2608326" cy="3246120"/>
          </a:xfrm>
          <a:prstGeom prst="roundRect">
            <a:avLst>
              <a:gd name="adj" fmla="val 280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233154" y="20116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9233154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354437" y="2313432"/>
            <a:ext cx="310896" cy="310896"/>
          </a:xfrm>
          <a:prstGeom prst="rect">
            <a:avLst/>
          </a:prstGeom>
          <a:ln w="19050">
            <a:solidFill>
              <a:srgbClr val="8592A3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134981" y="2487168"/>
            <a:ext cx="310896" cy="310896"/>
          </a:xfrm>
          <a:prstGeom prst="rect">
            <a:avLst/>
          </a:prstGeom>
          <a:solidFill>
            <a:srgbClr val="2F6FED"/>
          </a:solidFill>
          <a:ln w="1905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260586" y="2926080"/>
            <a:ext cx="2279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(Volume)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278874" y="3291840"/>
            <a:ext cx="224256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spin, or sweep a profile through space and it gains volume. Extrude, revolve, sweep, loft.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5285232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731520" y="5394960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several slides walk through sketching (0D → 1D → 2D) and solid modeling (2D → 3D) in detail — this is the map for where each one fits.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Body: The Feature Loop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solid feature repeats the same four steps — the feature tree is just this loop, run again and again.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1051560" cy="10515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21208" y="2103120"/>
            <a:ext cx="1380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Plane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64792" y="2528316"/>
            <a:ext cx="1956816" cy="201168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749040" y="2103120"/>
            <a:ext cx="1051560" cy="10515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584448" y="2103120"/>
            <a:ext cx="1380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Profile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28032" y="2528316"/>
            <a:ext cx="1956816" cy="201168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12280" y="2103120"/>
            <a:ext cx="1051560" cy="10515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647688" y="2103120"/>
            <a:ext cx="1380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Volume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91272" y="2528316"/>
            <a:ext cx="1956816" cy="201168"/>
          </a:xfrm>
          <a:prstGeom prst="rightArrow">
            <a:avLst/>
          </a:prstGeom>
          <a:solidFill>
            <a:srgbClr val="8592A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875520" y="2103120"/>
            <a:ext cx="1051560" cy="10515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710928" y="2103120"/>
            <a:ext cx="1380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It Up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3009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repeat, starting the next loop from a face this feature just created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666744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Pick a plane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three default planes, a flat face of the solid so far, or an offset/angled reference plane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Define a profile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closed, fully-defined 2D profile on that plane — points and lines built into a polygon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Create a volume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extrude, revolve, sweep, or loft the profile into a solid, then add, cut, or intersect it with what's already there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Dress it up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fillets, chamfers, shells, drafts, or patterns — operations on the solid, not a new sketched volume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806440"/>
            <a:ext cx="11018520" cy="685800"/>
          </a:xfrm>
          <a:prstGeom prst="roundRect">
            <a:avLst>
              <a:gd name="adj" fmla="val 10667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14400" y="5916168"/>
            <a:ext cx="10561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the next loop is usually a face the previous loop just created, not a default plane — that dependency is exactly what builds the feature tree, one branch at a time.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Sketching Fundamentals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sketch is a 2D profile on a plane or face — the input to a 3D feature like an extrude or revolve.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7512" y="215798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6751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entities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578608"/>
            <a:ext cx="3233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arcs, circles, rectangles, slots, splines, and points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2064" y="201168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486656" y="215798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486656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80432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geometry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86656" y="2578608"/>
            <a:ext cx="3233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origin, the three default planes (front, top, right), and construction lines that guide without becoming part of the profile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41208" y="201168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05800" y="215798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30580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99576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vs. open profiles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05800" y="2578608"/>
            <a:ext cx="3233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 can be extruded into a solid; an open profile makes thin features, surfaces, or paths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31520" y="4133088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sketches simple — draw only the geometry the feature needs, keep profiles closed, and put complexity into separate features rather than one crowded sketch.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of Shapes: 2D Construction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shape is a sketch, it's plane geometry — points, lines, and curves in defined relationships.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tmp/mech151_deck/images/01_circle_a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052" y="1956816"/>
            <a:ext cx="1091424" cy="113403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145719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&amp; Arc Geometry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420039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+ radius/diameter; a chord connects two points, a central angle subtends an arc.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03776" y="1828800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/tmp/mech151_deck/images/02_polyg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147" y="1956816"/>
            <a:ext cx="1928946" cy="11340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6656" y="3145719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486656" y="3420039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inscribed (flat-to-flat) vs. circumscribed (point-to-point) — matters for hex features and bolt heads.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04632" y="1828800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/tmp/mech151_deck/images/03_tangen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797" y="1956816"/>
            <a:ext cx="2127358" cy="11340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87512" y="3145719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Tangency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287512" y="3420039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line/arc touches a circle at exactly one point, perpendicular to the radius there.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4174236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/tmp/mech151_deck/images/04_fillet_chamf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408" y="4302252"/>
            <a:ext cx="2140713" cy="11340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" y="5491155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Fillets &amp; Chamfers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5765475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fillet is a tangent arc replacing a sharp corner; a chamfer is a straight cut across it.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303776" y="4174236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/tmp/mech151_deck/images/05_bisector_offs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2376" y="4353878"/>
            <a:ext cx="3142488" cy="103078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486656" y="5491155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Constructions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4486656" y="5765475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bisector and offset — classic constructions, now done by relations.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8104632" y="4174236"/>
            <a:ext cx="3599688" cy="2180844"/>
          </a:xfrm>
          <a:prstGeom prst="roundRect">
            <a:avLst>
              <a:gd name="adj" fmla="val 29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28" name="Image 5" descr="/tmp/mech151_deck/images/06_symmet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2606" y="4302252"/>
            <a:ext cx="1343740" cy="1134039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287512" y="5491155"/>
            <a:ext cx="323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&amp; Centerlines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8287512" y="5765475"/>
            <a:ext cx="3233928" cy="64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half a shape about a construction line and mirror it to guarantee identical halves.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 Constraints &amp; Relations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lock down where sketch geometry can move, removing degrees of freedom until the sketch is fully defined.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5509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4088" y="208483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592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Under-defined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633472"/>
            <a:ext cx="31485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can still be dragged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sketch is not fully controlled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8160" y="1920240"/>
            <a:ext cx="35509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29328" y="208483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defined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29328" y="2633472"/>
            <a:ext cx="31485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fixed by relations + dimensions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state before finishing a sketch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3400" y="1920240"/>
            <a:ext cx="355092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354568" y="208483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Over-defined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54568" y="2633472"/>
            <a:ext cx="31485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or redundant constraints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resolved, not ignored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886200"/>
            <a:ext cx="11201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relations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coincident, collinear, parallel, perpendicular, tangent, concentric, equal, horizontal, vertical, symmetric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radial, diameter, angular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02920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5138928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relations before dimensions — relations capture intent (this hole stays centered) so changing one dimension updates the model predictably instead of distorting it.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Orthographic Projection &amp; Multiview Theory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the part inside a glass box — each face of the box catches one view; unfolding it gives the standard view arrangement.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863840" y="1965960"/>
            <a:ext cx="1234440" cy="864108"/>
          </a:xfrm>
          <a:prstGeom prst="rect">
            <a:avLst/>
          </a:prstGeom>
          <a:solidFill>
            <a:srgbClr val="F3F6F9"/>
          </a:solidFill>
          <a:ln w="1905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863840" y="1673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63840" y="3058668"/>
            <a:ext cx="1234440" cy="1234440"/>
          </a:xfrm>
          <a:prstGeom prst="rect">
            <a:avLst/>
          </a:prstGeom>
          <a:solidFill>
            <a:srgbClr val="F3F6F9"/>
          </a:solidFill>
          <a:ln w="1905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863840" y="43388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26880" y="3058668"/>
            <a:ext cx="864108" cy="1234440"/>
          </a:xfrm>
          <a:prstGeom prst="rect">
            <a:avLst/>
          </a:prstGeom>
          <a:solidFill>
            <a:srgbClr val="F3F6F9"/>
          </a:solidFill>
          <a:ln w="1905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235440" y="4338828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01168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Third-angle projection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standard — top view sits above front, right-side view sits to its right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conventions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edges solid, hidden edges dashed, centerlines for holes and symmetry axes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selection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front view with the most shape and fewest hidden lines; add only the views needed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geometry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length appears only when a line is parallel to the viewing plane; true shape only in a view perpendicular to that plane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vs. secondary views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view projects from a principal view; a secondary view projects from a primary view to reveal a feature still not true-size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Dimensioning Standards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tell the reader how big the part is and how precisely each feature must be made (ASME Y14.5 in the U.S.).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7512" y="215798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6751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2140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578608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lines, dimension lines, arrowheads, and the value — kept off the outline and out of the view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1636" y="2011680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96228" y="215798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9622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0004" y="212140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96228" y="2578608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to visible outlines, not hidden lines; group related dimensions; smallest closest to the view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438144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7512" y="3584448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67512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54787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over-dimension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4005072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is located once — a redundant dimension creates conflict on the shop floor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1636" y="3438144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96228" y="3584448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39622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90004" y="354787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callouts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6228" y="4005072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diameter, radius, counterbore, countersink, and depth symbols for holes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of Shapes: Building 3D Solids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solid model is a running total: start with a volume, add more, and cut some away.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2649474" cy="2743200"/>
          </a:xfrm>
          <a:prstGeom prst="roundRect">
            <a:avLst>
              <a:gd name="adj" fmla="val 241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Extrude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57984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profile along an axis</a:t>
            </a:r>
            <a:endParaRPr lang="en-US" sz="950" dirty="0"/>
          </a:p>
        </p:txBody>
      </p:sp>
      <p:pic>
        <p:nvPicPr>
          <p:cNvPr id="10" name="Image 0" descr="/tmp/mech151_deck/images/08_extr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578608"/>
            <a:ext cx="1783080" cy="1783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53562" y="1755648"/>
            <a:ext cx="2649474" cy="2743200"/>
          </a:xfrm>
          <a:prstGeom prst="roundRect">
            <a:avLst>
              <a:gd name="adj" fmla="val 241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490722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Revolve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490722" y="2157984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a profile around an axis</a:t>
            </a:r>
            <a:endParaRPr lang="en-US" sz="950" dirty="0"/>
          </a:p>
        </p:txBody>
      </p:sp>
      <p:pic>
        <p:nvPicPr>
          <p:cNvPr id="14" name="Image 1" descr="/tmp/mech151_deck/images/09_revol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759" y="2578608"/>
            <a:ext cx="1783080" cy="1783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04204" y="1755648"/>
            <a:ext cx="2649474" cy="2743200"/>
          </a:xfrm>
          <a:prstGeom prst="roundRect">
            <a:avLst>
              <a:gd name="adj" fmla="val 241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6341364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Sweep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341364" y="2157984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profile along a path</a:t>
            </a:r>
            <a:endParaRPr lang="en-US" sz="950" dirty="0"/>
          </a:p>
        </p:txBody>
      </p:sp>
      <p:pic>
        <p:nvPicPr>
          <p:cNvPr id="18" name="Image 2" descr="/tmp/mech151_deck/images/10_swe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401" y="2578608"/>
            <a:ext cx="1783080" cy="17830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54846" y="1755648"/>
            <a:ext cx="2649474" cy="2743200"/>
          </a:xfrm>
          <a:prstGeom prst="roundRect">
            <a:avLst>
              <a:gd name="adj" fmla="val 241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9192006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Loft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9192006" y="2157984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between different profiles</a:t>
            </a:r>
            <a:endParaRPr lang="en-US" sz="950" dirty="0"/>
          </a:p>
        </p:txBody>
      </p:sp>
      <p:pic>
        <p:nvPicPr>
          <p:cNvPr id="22" name="Image 3" descr="/tmp/mech151_deck/images/11_lo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043" y="2578608"/>
            <a:ext cx="1783080" cy="17830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2920" y="4645152"/>
            <a:ext cx="5500116" cy="1810512"/>
          </a:xfrm>
          <a:prstGeom prst="roundRect">
            <a:avLst>
              <a:gd name="adj" fmla="val 35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 txBox="1"/>
          <p:nvPr/>
        </p:nvSpPr>
        <p:spPr>
          <a:xfrm>
            <a:off x="685800" y="4736592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Primitives</a:t>
            </a:r>
            <a:endParaRPr lang="en-US" sz="1400" dirty="0"/>
          </a:p>
        </p:txBody>
      </p:sp>
      <p:pic>
        <p:nvPicPr>
          <p:cNvPr id="25" name="Image 4" descr="/tmp/mech151_deck/images/07_primitiv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129650"/>
            <a:ext cx="5134356" cy="1106691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204204" y="4645152"/>
            <a:ext cx="5500116" cy="1810512"/>
          </a:xfrm>
          <a:prstGeom prst="roundRect">
            <a:avLst>
              <a:gd name="adj" fmla="val 35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7" name="Text 20"/>
          <p:cNvSpPr txBox="1"/>
          <p:nvPr/>
        </p:nvSpPr>
        <p:spPr>
          <a:xfrm>
            <a:off x="6387084" y="4736592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Booleans &amp; Dress-Up</a:t>
            </a:r>
            <a:endParaRPr lang="en-US" sz="1400" dirty="0"/>
          </a:p>
        </p:txBody>
      </p:sp>
      <p:pic>
        <p:nvPicPr>
          <p:cNvPr id="28" name="Image 5" descr="/tmp/mech151_deck/images/12_booleans_dress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7084" y="5175886"/>
            <a:ext cx="5134356" cy="85877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387084" y="6199632"/>
            <a:ext cx="51343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&amp; chamfer are shown on the sketching slide (2D construction).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Parametric Part Modeling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parametric model is a history of features, each driven by dimensions and relations — change a dimension and the model rebuilds.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11201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feature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solid, usually an extrude or revolve of a fully defined sketch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features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extrude, cut, revolve, fillet, chamfer, hole, shell, pattern — each added in order on the feature tree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planes &amp; references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where each feature's sketch lives so edits stay stable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driving dimensions, reordering/suppressing features, fixing rebuild errors — reading a feature tree and predicting what an edit will 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4800600"/>
            <a:ext cx="11201400" cy="594360"/>
          </a:xfrm>
          <a:prstGeom prst="roundRect">
            <a:avLst>
              <a:gd name="adj" fmla="val 12308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4910328"/>
            <a:ext cx="10744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CAD editable rather than something you redraw from scratch.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of Shapes: Measurable Properties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shape carries numbers that follow from its geometry — the values a design is checked against.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46354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4088" y="2130552"/>
            <a:ext cx="50612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 2D profile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679192"/>
            <a:ext cx="50612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perimeter, centroid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moment of area (I) — resistance to bending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modulus (I ÷ distance to extreme fiber)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0780" y="1965960"/>
            <a:ext cx="546354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41948" y="2130552"/>
            <a:ext cx="50612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 3D solid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2679192"/>
            <a:ext cx="50612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surface area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(volume × density), center of gravity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moment of inertia — resistance to angular acceleration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4544568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are only right if the material density is set correctly and the model is a single watertight solid — an open or multi-body model gives a meaningless mass.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Views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imaginary cutting plane slices the part to show what's inside, replacing hidden-line tangles with a clear cut face.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500116" cy="2011680"/>
          </a:xfrm>
          <a:prstGeom prst="roundRect">
            <a:avLst>
              <a:gd name="adj" fmla="val 318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9019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Section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5915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cutting plane passes entirely through the part, exposing the interior along its whole length.</a:t>
            </a:r>
            <a:endParaRPr lang="en-US" sz="1000" dirty="0"/>
          </a:p>
        </p:txBody>
      </p:sp>
      <p:pic>
        <p:nvPicPr>
          <p:cNvPr id="10" name="Image 0" descr="/tmp/mech151_deck/images/13_section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4418" y="1874520"/>
            <a:ext cx="1737360" cy="1737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04204" y="1737360"/>
            <a:ext cx="5500116" cy="2011680"/>
          </a:xfrm>
          <a:prstGeom prst="roundRect">
            <a:avLst>
              <a:gd name="adj" fmla="val 318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387084" y="19019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Section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6387084" y="235915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quarter is removed — the exterior and the interior appear together in a single view. Best for symmetric parts.</a:t>
            </a:r>
            <a:endParaRPr lang="en-US" sz="1000" dirty="0"/>
          </a:p>
        </p:txBody>
      </p:sp>
      <p:pic>
        <p:nvPicPr>
          <p:cNvPr id="14" name="Image 1" descr="/tmp/mech151_deck/images/14_section_ha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702" y="1874520"/>
            <a:ext cx="1737360" cy="17373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02920" y="3877056"/>
            <a:ext cx="5500116" cy="2011680"/>
          </a:xfrm>
          <a:prstGeom prst="roundRect">
            <a:avLst>
              <a:gd name="adj" fmla="val 318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685800" y="3995928"/>
            <a:ext cx="5134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Offset Section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4242816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plane is stepped (jogged) so it passes through features that aren't in line — each still appears true size.</a:t>
            </a:r>
            <a:endParaRPr lang="en-US" sz="950" dirty="0"/>
          </a:p>
        </p:txBody>
      </p:sp>
      <p:pic>
        <p:nvPicPr>
          <p:cNvPr id="18" name="Image 2" descr="/tmp/mech151_deck/images/15_section_offs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232" y="4654296"/>
            <a:ext cx="3509493" cy="1143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04204" y="3877056"/>
            <a:ext cx="5500116" cy="2011680"/>
          </a:xfrm>
          <a:prstGeom prst="roundRect">
            <a:avLst>
              <a:gd name="adj" fmla="val 318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6387084" y="3995928"/>
            <a:ext cx="5134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Sections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87084" y="4242816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Broken-out, revolved, and removed — used to show one local feature without a full cut.</a:t>
            </a:r>
            <a:endParaRPr lang="en-US" sz="950" dirty="0"/>
          </a:p>
        </p:txBody>
      </p:sp>
      <p:pic>
        <p:nvPicPr>
          <p:cNvPr id="22" name="Image 3" descr="/tmp/mech151_deck/images/16_section_loc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855" y="4654296"/>
            <a:ext cx="4284814" cy="11430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2920" y="5998464"/>
            <a:ext cx="11201400" cy="457200"/>
          </a:xfrm>
          <a:prstGeom prst="roundRect">
            <a:avLst>
              <a:gd name="adj" fmla="val 16000"/>
            </a:avLst>
          </a:prstGeom>
          <a:solidFill>
            <a:srgbClr val="F3F6F9"/>
          </a:solidFill>
          <a:ln w="15875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4" name="Text 18"/>
          <p:cNvSpPr txBox="1"/>
          <p:nvPr/>
        </p:nvSpPr>
        <p:spPr>
          <a:xfrm>
            <a:off x="731520" y="6108192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lining marks the cut face — but ribs, webs, fasteners, shafts, and pins are never hatched, even when the cutting plane passes through them.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Auxiliary Views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inclined face looks foreshortened in every principal view — an auxiliary view is projected perpendicular to it so it appears true-size.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pic>
        <p:nvPicPr>
          <p:cNvPr id="7" name="Image 0" descr="/tmp/mech151_deck/images/17_auxiliary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4957" y="1755648"/>
            <a:ext cx="7037327" cy="2788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672584"/>
            <a:ext cx="5500116" cy="1691640"/>
          </a:xfrm>
          <a:prstGeom prst="roundRect">
            <a:avLst>
              <a:gd name="adj" fmla="val 3784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85800" y="4809744"/>
            <a:ext cx="51343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●"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auxiliary —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from one principal view to show an inclined surface true-shape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●"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auxiliary —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inclined feature is drawn — the rest is omitted to avoid distortion and clutter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●"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Reference-plane method —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are transferred across the fold line along projection lines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04204" y="4672584"/>
            <a:ext cx="5500116" cy="1691640"/>
          </a:xfrm>
          <a:prstGeom prst="roundRect">
            <a:avLst>
              <a:gd name="adj" fmla="val 3784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tmp/mech151_deck/images/18_auxiliary_part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226" y="4764024"/>
            <a:ext cx="4020073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 Software Configuration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output comes from configured software, not from fixing every file by hand.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7512" y="215798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6751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2140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578608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part, assembly, drawing templates with the right units, standard, title block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1636" y="2011680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96228" y="215798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9622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0004" y="212140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properties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96228" y="2578608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dimensioning standard (ASME/ISO), grid, layers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438144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7512" y="358444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67512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54787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4005072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metadata that auto-populates the title block and BOM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1636" y="3438144"/>
            <a:ext cx="5472684" cy="1225296"/>
          </a:xfrm>
          <a:prstGeom prst="roundRect">
            <a:avLst>
              <a:gd name="adj" fmla="val 59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96228" y="358444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39622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90004" y="354787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6228" y="4005072"/>
            <a:ext cx="5143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folder structure, keeping references intact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CAD/CAM Data Translation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 model between systems means exporting to a neutral format — each keeps some information and loses the rest.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4088" y="21762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exchange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57860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(AP203/214/242), IGES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944368"/>
            <a:ext cx="3148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preserved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feature history is not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20116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9328" y="21762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formats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29328" y="257860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Parasolid, ACIS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29328" y="2944368"/>
            <a:ext cx="3148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between packages sharing a modeling kernel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3400" y="20116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354568" y="21762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formats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578608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STL, 3MF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2944368"/>
            <a:ext cx="3148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Faceted surface, no true curves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set at export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57200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3F6F9"/>
          </a:solidFill>
          <a:ln w="15875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1520" y="4681728"/>
            <a:ext cx="10744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or corrupted faces, gaps requiring geometry healing, and unit-scale errors are the common translation issues.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1 Wrap-Up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7512" y="21122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6751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sketches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53288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defined, with relations that capture intent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196596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86656" y="21122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486656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0432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Multiview drawing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6656" y="253288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projection, line types, and dimensions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41208" y="196596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05800" y="2112264"/>
            <a:ext cx="384048" cy="384048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30580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99576" y="207568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parametric model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05800" y="253288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editable feature tree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F3F6F9"/>
          </a:solidFill>
          <a:ln w="15875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13232" y="5751576"/>
            <a:ext cx="420624" cy="420624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13232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623560"/>
            <a:ext cx="10195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produce: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sketches, a multiview drawing (with section and auxiliary views as needed), and a first fully parametric part model with correctly configured templates.  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Quiz (Week 8) and the corresponding portfolio modules.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955280" y="365760"/>
            <a:ext cx="39319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0" dirty="0"/>
          </a:p>
        </p:txBody>
      </p:sp>
      <p:sp>
        <p:nvSpPr>
          <p:cNvPr id="28" name="Shape 26"/>
          <p:cNvSpPr/>
          <p:nvPr/>
        </p:nvSpPr>
        <p:spPr>
          <a:xfrm>
            <a:off x="685800" y="731520"/>
            <a:ext cx="2359152" cy="420624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85800" y="73152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WEEKS 8–11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23317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Assembly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threads and fasteners, combine part models into working assemblies, document them, and design them to be quick and cheap to put together.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5806440"/>
            <a:ext cx="1828800" cy="438912"/>
          </a:xfrm>
          <a:prstGeom prst="roundRect">
            <a:avLst>
              <a:gd name="adj" fmla="val 20833"/>
            </a:avLst>
          </a:prstGeom>
          <a:solidFill>
            <a:srgbClr val="16324F"/>
          </a:solidFill>
          <a:ln w="12700">
            <a:solidFill>
              <a:srgbClr val="1E9E5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85800" y="5806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 WEEK 11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Threads &amp; Fastener Representation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are almost never drawn in full detail — a standardized representation plus a note carries the information a shop needs.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56616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1847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Profile</a:t>
            </a:r>
            <a:endParaRPr lang="en-US" sz="1250" dirty="0"/>
          </a:p>
        </p:txBody>
      </p:sp>
      <p:pic>
        <p:nvPicPr>
          <p:cNvPr id="9" name="Image 0" descr="/tmp/mech151_deck/images/19_thread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30" y="2121408"/>
            <a:ext cx="307314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51960" y="1737360"/>
            <a:ext cx="265176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38912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Thread Is Cut</a:t>
            </a:r>
            <a:endParaRPr lang="en-US" sz="1250" dirty="0"/>
          </a:p>
        </p:txBody>
      </p:sp>
      <p:pic>
        <p:nvPicPr>
          <p:cNvPr id="12" name="Image 1" descr="/tmp/mech151_deck/images/20_thread_hel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37" y="2121408"/>
            <a:ext cx="2048605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086600" y="1737360"/>
            <a:ext cx="461772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7269480" y="1883664"/>
            <a:ext cx="4251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terms —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major/minor diameter, pitch, lead, external vs. internal, right- vs. left-hand, class of fit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—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detailed, schematic, simplified — simplified is most common in practice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Fasteners —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bolts, screws, nuts, washers, inserts — clearance and tap-drill holes are sized to fit them</a:t>
            </a:r>
            <a:endParaRPr lang="en-US" sz="1000" dirty="0"/>
          </a:p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notes — 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1/4-20 UNC-2A (inch) or M6 × 1 (metric) — diameter, pitch, and class in one callout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4297680"/>
            <a:ext cx="11201400" cy="2148840"/>
          </a:xfrm>
          <a:prstGeom prst="roundRect">
            <a:avLst>
              <a:gd name="adj" fmla="val 2979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685800" y="44074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Hole Types</a:t>
            </a:r>
            <a:endParaRPr lang="en-US" sz="1300" dirty="0"/>
          </a:p>
        </p:txBody>
      </p:sp>
      <p:pic>
        <p:nvPicPr>
          <p:cNvPr id="17" name="Image 2" descr="/tmp/mech151_deck/images/21_hole_typ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41" y="4681728"/>
            <a:ext cx="10326359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Parts to Systems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relationship repeats at every scale: individual parts mate into a component, components combine into an assembly, and assemblies combine into a complete system.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pic>
        <p:nvPicPr>
          <p:cNvPr id="7" name="Image 0" descr="/tmp/mech151_deck/images/30_assembly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37528"/>
            <a:ext cx="11201400" cy="298878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6007608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F3F6F9"/>
          </a:solidFill>
          <a:ln w="15875">
            <a:solidFill>
              <a:srgbClr val="1E9E5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31520" y="6117336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break it down: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large, complicated systems stay manageable — a vehicle or an instrument is never modeled as one flat list of thousands of parts. It's a tree of assemblies, each one a self-contained, testable unit.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Modeling: Mates &amp; Constraints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assembly positions components relative to one another using mates — each removes degrees of freedom.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926080" cy="1508760"/>
          </a:xfrm>
          <a:prstGeom prst="roundRect">
            <a:avLst>
              <a:gd name="adj" fmla="val 6061"/>
            </a:avLst>
          </a:prstGeom>
          <a:solidFill>
            <a:srgbClr val="0F294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1892808"/>
            <a:ext cx="2926080" cy="87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88336"/>
            <a:ext cx="25603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 a free rigid body has — mates remove them one axis at a time.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783080"/>
            <a:ext cx="8001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component —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part placed is fixed and becomes the ground the rest is built against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3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—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rotational or linear freedom on purpose so a mechanism can be moved and checked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11201400" cy="2926080"/>
          </a:xfrm>
          <a:prstGeom prst="roundRect">
            <a:avLst>
              <a:gd name="adj" fmla="val 218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tmp/mech151_deck/images/29_mate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06765"/>
            <a:ext cx="10927080" cy="266199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of Joining, Part 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parts are held together is a design decision — choose deliberately, then design both parts to suit it.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581400" cy="4434840"/>
          </a:xfrm>
          <a:prstGeom prst="roundRect">
            <a:avLst>
              <a:gd name="adj" fmla="val 178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67512" y="1929384"/>
            <a:ext cx="325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Threaded Fasteners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221992"/>
            <a:ext cx="3252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tapped holes</a:t>
            </a:r>
            <a:endParaRPr lang="en-US" sz="950" dirty="0"/>
          </a:p>
        </p:txBody>
      </p:sp>
      <p:pic>
        <p:nvPicPr>
          <p:cNvPr id="10" name="Image 0" descr="/tmp/mech151_deck/images/22_threaded_faste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804993"/>
            <a:ext cx="3252216" cy="217155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67512" y="5394960"/>
            <a:ext cx="3252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metal-to-metal joints — strong, standard, and removable. Needs ~1.5–2× screw diameter of thread engagement plus tool access.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12920" y="1783080"/>
            <a:ext cx="3581400" cy="4434840"/>
          </a:xfrm>
          <a:prstGeom prst="roundRect">
            <a:avLst>
              <a:gd name="adj" fmla="val 178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477512" y="1929384"/>
            <a:ext cx="325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Heat-Set Inserts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477512" y="2221992"/>
            <a:ext cx="3252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plastic / 3D-printed parts</a:t>
            </a:r>
            <a:endParaRPr lang="en-US" sz="950" dirty="0"/>
          </a:p>
        </p:txBody>
      </p:sp>
      <p:pic>
        <p:nvPicPr>
          <p:cNvPr id="15" name="Image 1" descr="/tmp/mech151_deck/images/23_heat_set_ins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512" y="2958533"/>
            <a:ext cx="3252216" cy="186447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77512" y="5394960"/>
            <a:ext cx="3252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brass insert is pressed into a boss with a soldering iron — melted plastic locks into its knurls, far more reusable than threading into plastic directly.</a:t>
            </a:r>
            <a:endParaRPr lang="en-US" sz="930" dirty="0"/>
          </a:p>
        </p:txBody>
      </p:sp>
      <p:sp>
        <p:nvSpPr>
          <p:cNvPr id="17" name="Shape 13"/>
          <p:cNvSpPr/>
          <p:nvPr/>
        </p:nvSpPr>
        <p:spPr>
          <a:xfrm>
            <a:off x="8122920" y="1783080"/>
            <a:ext cx="3581400" cy="4434840"/>
          </a:xfrm>
          <a:prstGeom prst="roundRect">
            <a:avLst>
              <a:gd name="adj" fmla="val 1787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8287512" y="1929384"/>
            <a:ext cx="325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Snap-Fit Joints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287512" y="2221992"/>
            <a:ext cx="3252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hardware, no tools</a:t>
            </a:r>
            <a:endParaRPr lang="en-US" sz="950" dirty="0"/>
          </a:p>
        </p:txBody>
      </p:sp>
      <p:pic>
        <p:nvPicPr>
          <p:cNvPr id="20" name="Image 2" descr="/tmp/mech151_deck/images/24_snap_f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512" y="2566838"/>
            <a:ext cx="3252216" cy="264786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87512" y="5394960"/>
            <a:ext cx="3252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Cantilever, annular, and torsion snaps release or lock permanently depending on retention angle — design for allowable strain and a lead-in angle.</a:t>
            </a:r>
            <a:endParaRPr lang="en-US" sz="9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of Joining, Part 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2697480"/>
          </a:xfrm>
          <a:prstGeom prst="roundRect">
            <a:avLst>
              <a:gd name="adj" fmla="val 237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85800" y="15361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/ Interference Fits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by friction from a slight size mismatch between mating diameters — dowel pins, bushings, bearings. Cheap and precise, but hard to disassemble and tolerance-sensitive.</a:t>
            </a:r>
            <a:endParaRPr lang="en-US" sz="970" dirty="0"/>
          </a:p>
        </p:txBody>
      </p:sp>
      <p:pic>
        <p:nvPicPr>
          <p:cNvPr id="9" name="Image 0" descr="/tmp/mech151_deck/images/25_press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252" y="2240280"/>
            <a:ext cx="1747736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5486400" cy="2697480"/>
          </a:xfrm>
          <a:prstGeom prst="roundRect">
            <a:avLst>
              <a:gd name="adj" fmla="val 237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400800" y="15361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Compliant Mechanisms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or retention comes from the material's own flexibility — living hinges, flexure pivots, one-piece clips. Cuts part count to the extreme; limited travel and fatigue life.</a:t>
            </a:r>
            <a:endParaRPr lang="en-US" sz="970" dirty="0"/>
          </a:p>
        </p:txBody>
      </p:sp>
      <p:pic>
        <p:nvPicPr>
          <p:cNvPr id="13" name="Image 1" descr="/tmp/mech151_deck/images/26_compliant_hi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63" y="2240280"/>
            <a:ext cx="3299114" cy="1828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4242816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685800" y="4352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 Joints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108960" y="43525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Adhesives, solvent/ultrasonic welding, and riveting — used only where the joint never needs to separate.</a:t>
            </a:r>
            <a:endParaRPr lang="en-US" sz="1000" dirty="0"/>
          </a:p>
        </p:txBody>
      </p:sp>
      <p:pic>
        <p:nvPicPr>
          <p:cNvPr id="17" name="Image 2" descr="/tmp/mech151_deck/images/27_permanent_joi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034" y="4681728"/>
            <a:ext cx="4941172" cy="11887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02920" y="6044184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F3F6F9"/>
          </a:solidFill>
          <a:ln w="15875">
            <a:solidFill>
              <a:srgbClr val="1E9E5A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 txBox="1"/>
          <p:nvPr/>
        </p:nvSpPr>
        <p:spPr>
          <a:xfrm>
            <a:off x="731520" y="6153912"/>
            <a:ext cx="10744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DFA trade-off: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universal and serviceable but adds parts, tools, and assembly time; snap-fits and compliant features add almost nothing to the parts list but must be designed carefully and are harder to revise once tooling is dialed in.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Online Component Repositories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not model a part you can download — this is normal professional practice, not a shortcut.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57400"/>
            <a:ext cx="11201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models come from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McMaster-Carr (download STEP/native from almost any product page), manufacturer sites, TraceParts, GrabCAD, 3D ContentCentral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DFA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downloaded model is the real catalog part — correct dimensions and thread, a real part number for the BOM, at the price and lead time listed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them in cleanly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a dedicated library folder, don't edit their geometry, mate to them like any other component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you trust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units/scale on import, simplify heavy models, verify the part number matches what you intend to buy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Drawings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assembly drawing shows how parts go together — exploded, numbered, and tied to a parts list.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760720" cy="4434840"/>
          </a:xfrm>
          <a:prstGeom prst="roundRect">
            <a:avLst>
              <a:gd name="adj" fmla="val 144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tmp/mech151_deck/images/28_exploded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380" y="1920240"/>
            <a:ext cx="3347800" cy="3840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57607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Balloon numbers are assigned in assembly order and match the item numbers in the parts list at right.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92240" y="1783080"/>
            <a:ext cx="5212080" cy="4434840"/>
          </a:xfrm>
          <a:prstGeom prst="roundRect">
            <a:avLst>
              <a:gd name="adj" fmla="val 1443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72084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 Materials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720840" y="2423160"/>
            <a:ext cx="4754880" cy="292608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775704" y="2423160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278624" y="242316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NO.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330184" y="242316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027664" y="2423160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775704" y="2715768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278624" y="2715768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HW-0425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330184" y="2715768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head cap screw, M4 × 12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027664" y="2715768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720840" y="3191256"/>
            <a:ext cx="475488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720840" y="3191256"/>
            <a:ext cx="475488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775704" y="3191256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278624" y="3191256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100-002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330184" y="3191256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plate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1027664" y="3191256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20840" y="3666744"/>
            <a:ext cx="475488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6775704" y="3666744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278624" y="3666744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100-003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330184" y="3666744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Gasket, silicone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1027664" y="3666744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720840" y="4142232"/>
            <a:ext cx="475488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6720840" y="4142232"/>
            <a:ext cx="475488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6775704" y="4142232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278624" y="4142232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100-001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8330184" y="4142232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(base)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1027664" y="4142232"/>
            <a:ext cx="393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720840" y="4617720"/>
            <a:ext cx="4754880" cy="0"/>
          </a:xfrm>
          <a:prstGeom prst="line">
            <a:avLst/>
          </a:prstGeom>
          <a:noFill/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720840" y="2423160"/>
            <a:ext cx="4754880" cy="2194560"/>
          </a:xfrm>
          <a:prstGeom prst="rect">
            <a:avLst/>
          </a:prstGeom>
          <a:ln w="1270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6720840" y="484632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CAD, this table is generated directly from the assembly and stays linked — edit the model and the parts list updates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Assembly (DFA) Principles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parts, easier insertion, less to get wrong on the line — DFA turns assembly time into a design variable.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5472684" cy="1431036"/>
          </a:xfrm>
          <a:prstGeom prst="roundRect">
            <a:avLst>
              <a:gd name="adj" fmla="val 511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7512" y="2203704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67512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6712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part count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624328"/>
            <a:ext cx="51435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 is a candidate for elimination unless it moves, needs a different material, or must be removable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1636" y="2057400"/>
            <a:ext cx="5472684" cy="1431036"/>
          </a:xfrm>
          <a:prstGeom prst="roundRect">
            <a:avLst>
              <a:gd name="adj" fmla="val 511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96228" y="2203704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96228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0004" y="2167128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off-the-shelf parts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96228" y="2624328"/>
            <a:ext cx="51435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cheaper, faster, and more reliable than custom-fabricated — see the online repositories slide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689604"/>
            <a:ext cx="5472684" cy="1431036"/>
          </a:xfrm>
          <a:prstGeom prst="roundRect">
            <a:avLst>
              <a:gd name="adj" fmla="val 511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7512" y="3835908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67512" y="3835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79933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insertion &amp; no reorientation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4256532"/>
            <a:ext cx="51435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chamfers and self-locating features, assembling from one direction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1636" y="3689604"/>
            <a:ext cx="5472684" cy="1431036"/>
          </a:xfrm>
          <a:prstGeom prst="roundRect">
            <a:avLst>
              <a:gd name="adj" fmla="val 511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96228" y="3835908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396228" y="38359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90004" y="3799332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fasteners &amp; use symmetry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6228" y="4256532"/>
            <a:ext cx="514350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unique sizes to stock and pick; make orientation obvious or irrelevant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525780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5875">
            <a:solidFill>
              <a:srgbClr val="1E9E5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31520" y="5367528"/>
            <a:ext cx="10744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&amp; iteration: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ends with a design review workshop — present an assembly, take feedback against the DFA principles, and produce a documented revision with a measurable improvement.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2 Wrap-Up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7512" y="2157984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6751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 assembly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mates, sub-assemblies, and library hardware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86656" y="2157984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486656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0432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 drawing + BOM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6656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balloons keyed to a linked bill of materials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41208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05800" y="2157984"/>
            <a:ext cx="384048" cy="384048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30580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99576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revision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05800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review turned into a measurable DFA improvement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F3F6F9"/>
          </a:solidFill>
          <a:ln w="15875">
            <a:solidFill>
              <a:srgbClr val="1E9E5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13232" y="5751576"/>
            <a:ext cx="420624" cy="420624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13232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623560"/>
            <a:ext cx="10195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produce: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called-out thread and fastener notes, a multi-part assembly model with correct mates, an exploded drawing with balloons and a linked BOM, plus a documented design revision.  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Quiz (Week 11) and the corresponding portfolio modules.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7685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9476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31266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3056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34847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866376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143232" y="0"/>
            <a:ext cx="0" cy="685800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0" y="151790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0" y="227685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0" y="303580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4553712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5312664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6071616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6830568"/>
            <a:ext cx="12191695" cy="0"/>
          </a:xfrm>
          <a:prstGeom prst="line">
            <a:avLst/>
          </a:prstGeom>
          <a:noFill/>
          <a:ln w="6350">
            <a:solidFill>
              <a:srgbClr val="16324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955280" y="365760"/>
            <a:ext cx="3931920" cy="612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0" dirty="0"/>
          </a:p>
        </p:txBody>
      </p:sp>
      <p:sp>
        <p:nvSpPr>
          <p:cNvPr id="28" name="Shape 26"/>
          <p:cNvSpPr/>
          <p:nvPr/>
        </p:nvSpPr>
        <p:spPr>
          <a:xfrm>
            <a:off x="685800" y="731520"/>
            <a:ext cx="2359152" cy="42062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85800" y="73152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WEEKS 12–16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23317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Manufacturing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tolerances and fits, then close the loop from CAD model to physical part — manufacturing-ready files, process limits, and shop safety.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5806440"/>
            <a:ext cx="1828800" cy="438912"/>
          </a:xfrm>
          <a:prstGeom prst="roundRect">
            <a:avLst>
              <a:gd name="adj" fmla="val 20833"/>
            </a:avLst>
          </a:prstGeom>
          <a:solidFill>
            <a:srgbClr val="16324F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85800" y="5806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 WEEK 16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Standards Carry the Design Intent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design leaves your screen, the maker builds exactly what the documentation says.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11201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maker is not the designer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conventions (ASME Y14.5, GD&amp;T, thread/finish callouts) let them read your intent without a phone call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dimensions must be stated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tolerance callout tells the shop where to spend effort and where a loose result is fine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formats preserve meaning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carries clean geometry between systems; a sloppy export arrives with gaps, wrong units, or lost features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is expensive and slow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graded prototype, it comes back as a part you can't use and no time to redo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5532120"/>
            <a:ext cx="11201400" cy="594360"/>
          </a:xfrm>
          <a:prstGeom prst="roundRect">
            <a:avLst>
              <a:gd name="adj" fmla="val 12308"/>
            </a:avLst>
          </a:prstGeom>
          <a:solidFill>
            <a:srgbClr val="F3F6F9"/>
          </a:solidFill>
          <a:ln w="15875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5641848"/>
            <a:ext cx="10744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design intent, then communicate it in the form everyone downstream already knows how to read.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Tolerancing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 is made to an exact dimension — tolerancing states how much variation is acceptable so parts still fit and function.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02920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⌀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19097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919097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964817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964817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5274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335274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380994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Plus/Minus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80994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1451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751451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797171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797171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SQ20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67628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167628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213348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Radius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213348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83805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583805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°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629525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629525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99982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415463" y="1837944"/>
            <a:ext cx="457200" cy="256032"/>
          </a:xfrm>
          <a:prstGeom prst="rect">
            <a:avLst/>
          </a:prstGeom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415463" y="18379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045702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Dimension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045702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416159" y="1719072"/>
            <a:ext cx="1288161" cy="1115568"/>
          </a:xfrm>
          <a:prstGeom prst="roundRect">
            <a:avLst>
              <a:gd name="adj" fmla="val 573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10416159" y="1810512"/>
            <a:ext cx="12881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)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0461879" y="2176272"/>
            <a:ext cx="1196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Dim.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461879" y="2578608"/>
            <a:ext cx="1196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301752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594360" y="30906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 Dimensions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33649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1.253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2034540" y="3639312"/>
            <a:ext cx="548640" cy="0"/>
          </a:xfrm>
          <a:prstGeom prst="line">
            <a:avLst/>
          </a:prstGeom>
          <a:noFill/>
          <a:ln w="1270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640080" y="3657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1.247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12648" y="4261104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limit over low limit — no math on the shop floor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297680" y="301752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4389120" y="30906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Plus/Minus Tolerance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17820" y="3364992"/>
            <a:ext cx="0" cy="219456"/>
          </a:xfrm>
          <a:prstGeom prst="line">
            <a:avLst/>
          </a:prstGeom>
          <a:noFill/>
          <a:ln w="9525">
            <a:solidFill>
              <a:srgbClr val="8592A3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789420" y="3364992"/>
            <a:ext cx="0" cy="219456"/>
          </a:xfrm>
          <a:prstGeom prst="line">
            <a:avLst/>
          </a:prstGeom>
          <a:noFill/>
          <a:ln w="9525">
            <a:solidFill>
              <a:srgbClr val="8592A3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417820" y="3584448"/>
            <a:ext cx="137160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51" name="Text 49"/>
          <p:cNvSpPr txBox="1"/>
          <p:nvPr/>
        </p:nvSpPr>
        <p:spPr>
          <a:xfrm>
            <a:off x="4434840" y="36941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1.250 ±0.003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4407408" y="4261104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shown; unilateral: +0.005 / −0.000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8092440" y="3017520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 txBox="1"/>
          <p:nvPr/>
        </p:nvSpPr>
        <p:spPr>
          <a:xfrm>
            <a:off x="8183880" y="30906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GD&amp;T Callout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9194292" y="3401568"/>
            <a:ext cx="347472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9285732" y="3483864"/>
            <a:ext cx="164592" cy="164592"/>
          </a:xfrm>
          <a:prstGeom prst="ellipse">
            <a:avLst/>
          </a:prstGeom>
          <a:ln w="1905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9252814" y="3566160"/>
            <a:ext cx="230429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9368028" y="3450946"/>
            <a:ext cx="0" cy="230429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9541764" y="3401568"/>
            <a:ext cx="713232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 txBox="1"/>
          <p:nvPr/>
        </p:nvSpPr>
        <p:spPr>
          <a:xfrm>
            <a:off x="9541764" y="34015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⌀0.10 Ⓜ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254996" y="3401568"/>
            <a:ext cx="347472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 txBox="1"/>
          <p:nvPr/>
        </p:nvSpPr>
        <p:spPr>
          <a:xfrm>
            <a:off x="10254996" y="34015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8202168" y="4261104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⌀0.10 at MMC, to datum A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502920" y="4773168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 txBox="1"/>
          <p:nvPr/>
        </p:nvSpPr>
        <p:spPr>
          <a:xfrm>
            <a:off x="594360" y="48463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Fit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089404" y="5148072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2116836" y="5175504"/>
            <a:ext cx="384048" cy="384048"/>
          </a:xfrm>
          <a:prstGeom prst="ellipse">
            <a:avLst/>
          </a:prstGeom>
          <a:ln w="19050">
            <a:solidFill>
              <a:srgbClr val="7C3AED"/>
            </a:solidFill>
            <a:prstDash val="dash"/>
          </a:ln>
        </p:spPr>
        <p:txBody>
          <a:bodyPr/>
          <a:p/>
        </p:txBody>
      </p:sp>
      <p:sp>
        <p:nvSpPr>
          <p:cNvPr id="68" name="Text 66"/>
          <p:cNvSpPr txBox="1"/>
          <p:nvPr/>
        </p:nvSpPr>
        <p:spPr>
          <a:xfrm>
            <a:off x="640080" y="5669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⌀25 H7/p6</a:t>
            </a:r>
            <a:endParaRPr lang="en-US" sz="1250" dirty="0"/>
          </a:p>
        </p:txBody>
      </p:sp>
      <p:sp>
        <p:nvSpPr>
          <p:cNvPr id="69" name="Text 67"/>
          <p:cNvSpPr txBox="1"/>
          <p:nvPr/>
        </p:nvSpPr>
        <p:spPr>
          <a:xfrm>
            <a:off x="612648" y="6016752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gap — press or light-tap assembly (interference)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4297680" y="4773168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 txBox="1"/>
          <p:nvPr/>
        </p:nvSpPr>
        <p:spPr>
          <a:xfrm>
            <a:off x="4389120" y="48463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Loose Fit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856732" y="5120640"/>
            <a:ext cx="493776" cy="4937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5984748" y="5248656"/>
            <a:ext cx="237744" cy="237744"/>
          </a:xfrm>
          <a:prstGeom prst="ellipse">
            <a:avLst/>
          </a:prstGeom>
          <a:ln w="19050">
            <a:solidFill>
              <a:srgbClr val="7C3AED"/>
            </a:solidFill>
            <a:prstDash val="dash"/>
          </a:ln>
        </p:spPr>
        <p:txBody>
          <a:bodyPr/>
          <a:p/>
        </p:txBody>
      </p:sp>
      <p:sp>
        <p:nvSpPr>
          <p:cNvPr id="74" name="Text 72"/>
          <p:cNvSpPr txBox="1"/>
          <p:nvPr/>
        </p:nvSpPr>
        <p:spPr>
          <a:xfrm>
            <a:off x="4434840" y="5669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⌀25 H11/c11</a:t>
            </a:r>
            <a:endParaRPr lang="en-US" sz="1250" dirty="0"/>
          </a:p>
        </p:txBody>
      </p:sp>
      <p:sp>
        <p:nvSpPr>
          <p:cNvPr id="75" name="Text 73"/>
          <p:cNvSpPr txBox="1"/>
          <p:nvPr/>
        </p:nvSpPr>
        <p:spPr>
          <a:xfrm>
            <a:off x="4407408" y="6016752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gap — free-running clearance, easy to assemble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8092440" y="4773168"/>
            <a:ext cx="3611880" cy="1572768"/>
          </a:xfrm>
          <a:prstGeom prst="roundRect">
            <a:avLst>
              <a:gd name="adj" fmla="val 407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 txBox="1"/>
          <p:nvPr/>
        </p:nvSpPr>
        <p:spPr>
          <a:xfrm>
            <a:off x="8183880" y="48463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Finish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9432036" y="5522976"/>
            <a:ext cx="146304" cy="146304"/>
          </a:xfrm>
          <a:prstGeom prst="line">
            <a:avLst/>
          </a:prstGeom>
          <a:noFill/>
          <a:ln w="22225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9578340" y="5669280"/>
            <a:ext cx="182880" cy="-420624"/>
          </a:xfrm>
          <a:prstGeom prst="line">
            <a:avLst/>
          </a:prstGeom>
          <a:noFill/>
          <a:ln w="22225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 txBox="1"/>
          <p:nvPr/>
        </p:nvSpPr>
        <p:spPr>
          <a:xfrm>
            <a:off x="9797796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1.6</a:t>
            </a:r>
            <a:endParaRPr lang="en-US" sz="1250" dirty="0"/>
          </a:p>
        </p:txBody>
      </p:sp>
      <p:sp>
        <p:nvSpPr>
          <p:cNvPr id="81" name="Text 79"/>
          <p:cNvSpPr txBox="1"/>
          <p:nvPr/>
        </p:nvSpPr>
        <p:spPr>
          <a:xfrm>
            <a:off x="8202168" y="6016752"/>
            <a:ext cx="3392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roughness average (µin/µm) — smaller number = smoother surface</a:t>
            </a:r>
            <a:endParaRPr lang="en-US" sz="7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GD&amp;T: The Building Blocks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symbolic language (ASME Y14.5 / ISO GPS) for functional relationships — design intent written in symbols instead of prose.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5740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of size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with an axis or centerplane — a hole, pin, slot, width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Datums (A, B, C)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surfaces chosen to match how the part actually seats in use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reference frame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secondary + tertiary datums lock all six degrees of freedom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zone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geometric space the feature must lie within — a gap, a cylinder, a band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families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standard's ~14 geometric characteristic symbols sort into five families — form, orientation, location, profile, and runout (next slide)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03720" y="2286000"/>
            <a:ext cx="1188720" cy="548640"/>
          </a:xfrm>
          <a:prstGeom prst="rect">
            <a:avLst/>
          </a:prstGeom>
          <a:solidFill>
            <a:srgbClr val="F3F6F9"/>
          </a:solidFill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47204" y="2409444"/>
            <a:ext cx="301752" cy="301752"/>
          </a:xfrm>
          <a:prstGeom prst="ellipse">
            <a:avLst/>
          </a:prstGeom>
          <a:ln w="22225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271766" y="2560320"/>
            <a:ext cx="452628" cy="0"/>
          </a:xfrm>
          <a:prstGeom prst="line">
            <a:avLst/>
          </a:prstGeom>
          <a:noFill/>
          <a:ln w="22225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0" y="2334006"/>
            <a:ext cx="0" cy="452628"/>
          </a:xfrm>
          <a:prstGeom prst="line">
            <a:avLst/>
          </a:prstGeom>
          <a:noFill/>
          <a:ln w="22225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812280" y="2907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(position)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2286000"/>
            <a:ext cx="1828800" cy="548640"/>
          </a:xfrm>
          <a:prstGeom prst="rect">
            <a:avLst/>
          </a:prstGeom>
          <a:solidFill>
            <a:srgbClr val="F3F6F9"/>
          </a:solidFill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09244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⌀0.2  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907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value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921240" y="2286000"/>
            <a:ext cx="1737360" cy="548640"/>
          </a:xfrm>
          <a:prstGeom prst="rect">
            <a:avLst/>
          </a:prstGeom>
          <a:solidFill>
            <a:srgbClr val="F3F6F9"/>
          </a:solidFill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921240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 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907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Datums referenced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control frame — read left to right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3703320"/>
            <a:ext cx="4800600" cy="146304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 w="15875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132320" y="3813048"/>
            <a:ext cx="43434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beats plain ±: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± box on four hole dimensions creates a small square zone and over-constrains the part; a position callout defines a round zone tied to the surfaces that matter, letting more good parts through.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GD&amp;T Symbol Categories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standard's ~14 geometric characteristic symbols sort into five families by what they control and whether they need a datum.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28900" cy="2697480"/>
          </a:xfrm>
          <a:prstGeom prst="roundRect">
            <a:avLst>
              <a:gd name="adj" fmla="val 24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1993392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7685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datum needed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73913" y="2809494"/>
            <a:ext cx="279806" cy="0"/>
          </a:xfrm>
          <a:prstGeom prst="line">
            <a:avLst/>
          </a:prstGeom>
          <a:noFill/>
          <a:ln w="2286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069848" y="2606040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Straightness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81685" y="3209087"/>
            <a:ext cx="264262" cy="124358"/>
          </a:xfrm>
          <a:prstGeom prst="parallelogram">
            <a:avLst/>
          </a:prstGeom>
          <a:ln w="2032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69848" y="3067812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Flatness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12775" y="3631997"/>
            <a:ext cx="202082" cy="202082"/>
          </a:xfrm>
          <a:prstGeom prst="ellipse">
            <a:avLst/>
          </a:prstGeom>
          <a:ln w="2159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069848" y="3529584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Circularity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28320" y="4109314"/>
            <a:ext cx="170993" cy="170993"/>
          </a:xfrm>
          <a:prstGeom prst="ellipse">
            <a:avLst/>
          </a:prstGeom>
          <a:ln w="1778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6140" y="4171493"/>
            <a:ext cx="295351" cy="-65288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6140" y="4283415"/>
            <a:ext cx="295351" cy="-65288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069848" y="3991356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Cylindricity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360420" y="1874520"/>
            <a:ext cx="2628900" cy="2697480"/>
          </a:xfrm>
          <a:prstGeom prst="roundRect">
            <a:avLst>
              <a:gd name="adj" fmla="val 24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543300" y="1993392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543300" y="227685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datum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71316" y="2669591"/>
            <a:ext cx="0" cy="233172"/>
          </a:xfrm>
          <a:prstGeom prst="line">
            <a:avLst/>
          </a:prstGeom>
          <a:noFill/>
          <a:ln w="2286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554730" y="2902763"/>
            <a:ext cx="233172" cy="0"/>
          </a:xfrm>
          <a:prstGeom prst="line">
            <a:avLst/>
          </a:prstGeom>
          <a:noFill/>
          <a:ln w="2286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3927348" y="2606040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Perpendicularity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3546958" y="3185770"/>
            <a:ext cx="248717" cy="77724"/>
          </a:xfrm>
          <a:prstGeom prst="line">
            <a:avLst/>
          </a:prstGeom>
          <a:noFill/>
          <a:ln w="2032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546958" y="3279038"/>
            <a:ext cx="248717" cy="77724"/>
          </a:xfrm>
          <a:prstGeom prst="line">
            <a:avLst/>
          </a:prstGeom>
          <a:noFill/>
          <a:ln w="2032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3927348" y="3067812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3562502" y="3834079"/>
            <a:ext cx="233172" cy="0"/>
          </a:xfrm>
          <a:prstGeom prst="line">
            <a:avLst/>
          </a:prstGeom>
          <a:noFill/>
          <a:ln w="2159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578047" y="3834079"/>
            <a:ext cx="139903" cy="-202082"/>
          </a:xfrm>
          <a:prstGeom prst="line">
            <a:avLst/>
          </a:prstGeom>
          <a:noFill/>
          <a:ln w="2159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3927348" y="3529584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Angularity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628900" cy="2697480"/>
          </a:xfrm>
          <a:prstGeom prst="roundRect">
            <a:avLst>
              <a:gd name="adj" fmla="val 24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400800" y="1993392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227685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datums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43320" y="2723998"/>
            <a:ext cx="170993" cy="170993"/>
          </a:xfrm>
          <a:prstGeom prst="ellipse">
            <a:avLst/>
          </a:prstGeom>
          <a:ln w="2159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396685" y="2809494"/>
            <a:ext cx="264262" cy="0"/>
          </a:xfrm>
          <a:prstGeom prst="line">
            <a:avLst/>
          </a:prstGeom>
          <a:noFill/>
          <a:ln w="2159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528816" y="2677363"/>
            <a:ext cx="0" cy="264262"/>
          </a:xfrm>
          <a:prstGeom prst="line">
            <a:avLst/>
          </a:prstGeom>
          <a:noFill/>
          <a:ln w="2159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6784848" y="2606040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427775" y="3170225"/>
            <a:ext cx="202082" cy="202082"/>
          </a:xfrm>
          <a:prstGeom prst="donut">
            <a:avLst/>
          </a:prstGeom>
          <a:solidFill>
            <a:srgbClr val="E1E7EE"/>
          </a:solidFill>
          <a:ln w="1651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6784848" y="3067812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Concentricity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412230" y="3667750"/>
            <a:ext cx="233172" cy="0"/>
          </a:xfrm>
          <a:prstGeom prst="line">
            <a:avLst/>
          </a:prstGeom>
          <a:noFill/>
          <a:ln w="2032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412230" y="3733038"/>
            <a:ext cx="233172" cy="0"/>
          </a:xfrm>
          <a:prstGeom prst="line">
            <a:avLst/>
          </a:prstGeom>
          <a:noFill/>
          <a:ln w="2032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412230" y="3798326"/>
            <a:ext cx="233172" cy="0"/>
          </a:xfrm>
          <a:prstGeom prst="line">
            <a:avLst/>
          </a:prstGeom>
          <a:noFill/>
          <a:ln w="2032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6784848" y="3529584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9075420" y="1874520"/>
            <a:ext cx="2628900" cy="2697480"/>
          </a:xfrm>
          <a:prstGeom prst="roundRect">
            <a:avLst>
              <a:gd name="adj" fmla="val 2435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9258300" y="1993392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&amp; Runout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9258300" y="2276856"/>
            <a:ext cx="2263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no/some datums · Runout: datum axis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269730" y="2747315"/>
            <a:ext cx="233172" cy="155448"/>
          </a:xfrm>
          <a:prstGeom prst="arc">
            <a:avLst>
              <a:gd name="adj1" fmla="val 10800000"/>
              <a:gd name="adj2" fmla="val 21600000"/>
            </a:avLst>
          </a:prstGeom>
          <a:ln w="2159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9642348" y="2606040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of a line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9269730" y="3209087"/>
            <a:ext cx="233172" cy="155448"/>
          </a:xfrm>
          <a:prstGeom prst="chord">
            <a:avLst>
              <a:gd name="adj1" fmla="val 10800000"/>
              <a:gd name="adj2" fmla="val 21600000"/>
            </a:avLst>
          </a:prstGeom>
          <a:ln w="21590">
            <a:solidFill>
              <a:srgbClr val="0F2942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 txBox="1"/>
          <p:nvPr/>
        </p:nvSpPr>
        <p:spPr>
          <a:xfrm>
            <a:off x="9642348" y="3067812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of a surface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9269730" y="3849624"/>
            <a:ext cx="217627" cy="-233172"/>
          </a:xfrm>
          <a:prstGeom prst="line">
            <a:avLst/>
          </a:prstGeom>
          <a:noFill/>
          <a:ln w="22860">
            <a:solidFill>
              <a:srgbClr val="0F294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9642348" y="3529584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runout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9246413" y="4311396"/>
            <a:ext cx="217627" cy="-233172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9331909" y="4311396"/>
            <a:ext cx="217627" cy="-233172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9642348" y="3991356"/>
            <a:ext cx="18973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runout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502920" y="4736592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 txBox="1"/>
          <p:nvPr/>
        </p:nvSpPr>
        <p:spPr>
          <a:xfrm>
            <a:off x="731520" y="4846320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condition modifiers: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MMC (maximum material condition) and LMC (least material condition) let a position tolerance earn bonus tolerance as the hole moves away from its worst-case size — matching how a bolted clearance-hole joint really behaves.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Manufacturing-Ready Files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consumes a different file — a good part starts with exporting the right one at the right settings.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04088" y="213055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679192"/>
            <a:ext cx="3148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Watertight mesh: STL or 3MF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enough to hide facets, not so fine the file is unwieldy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8160" y="196596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29328" y="213055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Laser Cutting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29328" y="2679192"/>
            <a:ext cx="3148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vector profile (DXF)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and engrave lines on separate layers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3400" y="196596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354568" y="213055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CNC Machining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54568" y="2679192"/>
            <a:ext cx="314858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model (STEP) + dimensioned drawing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tells the machinist which dimensions are critical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4805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basics —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setup, toolpath generation, simulation, and the post-processor that turns toolpaths into machine G-code.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Safety, PPE &amp; Operation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checked out on safe setup and operation before running any shop equipment.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11680"/>
            <a:ext cx="11201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PPE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Z87.1 safety glasses, closed-toe shoes, no loose clothing/jewelry/unrestrained hair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machinery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wear gloves near a spindle, chuck, or bit — a caught glove pulls the hand in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cutter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unattended; keep a view of the cut; know the extraction and fire response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printers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nozzle and bed — let them cool, don't reach into an active machine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location of the e-stop, fire extinguisher, and first-aid kit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521208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 w="1587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5321808"/>
            <a:ext cx="10744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is not optional: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syllabus, a participant without proper PPE during machine use will be asked to leave the class for that session.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Additive Manufacturing (3D Printing)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uses material-extrusion printing (FDM/FFF), building one deposited layer at a time.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5960"/>
            <a:ext cx="11201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PLA, PETG, ABS — printability, strength, and temperature trade-offs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are weakest in the build (Z) direction — a strength decision, not just fit-on-bed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&amp; overhangs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roughly 45° rule, bridging limits, designing to avoid support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that matter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height, wall count, infill density and pattern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print undersize, first layers spread — allow for it or drill/ream after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657600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Print Issues &amp; Fixes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262890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mech151_deck/images/31_elephant_foo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504" y="4105656"/>
            <a:ext cx="1025732" cy="960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5120640"/>
            <a:ext cx="23545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Elephant Footing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9224" y="5358384"/>
            <a:ext cx="23362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layer over-extrudes and squishes outward under the nozzle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649224" y="5797296"/>
            <a:ext cx="23362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</a:t>
            </a:r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brim, or reduce first-layer horizontal expansion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360420" y="3977640"/>
            <a:ext cx="262890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15" name="Image 1" descr="/tmp/mech151_deck/images/32_string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866" y="4105656"/>
            <a:ext cx="1506008" cy="9601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97580" y="5120640"/>
            <a:ext cx="23545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Stringing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3506724" y="5358384"/>
            <a:ext cx="23362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molten filament oozes from the nozzle while traveling between features</a:t>
            </a:r>
            <a:endParaRPr lang="en-US" sz="980" dirty="0"/>
          </a:p>
        </p:txBody>
      </p:sp>
      <p:sp>
        <p:nvSpPr>
          <p:cNvPr id="18" name="Text 14"/>
          <p:cNvSpPr txBox="1"/>
          <p:nvPr/>
        </p:nvSpPr>
        <p:spPr>
          <a:xfrm>
            <a:off x="3506724" y="5797296"/>
            <a:ext cx="23362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</a:t>
            </a:r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the filament; tighten retraction distance/speed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217920" y="3977640"/>
            <a:ext cx="262890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/tmp/mech151_deck/images/33_warp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134704"/>
            <a:ext cx="2354580" cy="902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55080" y="5120640"/>
            <a:ext cx="23545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Warping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364224" y="5358384"/>
            <a:ext cx="23362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edges cool and shrink faster than the center, curling corners up</a:t>
            </a:r>
            <a:endParaRPr lang="en-US" sz="980" dirty="0"/>
          </a:p>
        </p:txBody>
      </p:sp>
      <p:sp>
        <p:nvSpPr>
          <p:cNvPr id="23" name="Text 18"/>
          <p:cNvSpPr txBox="1"/>
          <p:nvPr/>
        </p:nvSpPr>
        <p:spPr>
          <a:xfrm>
            <a:off x="6364224" y="5797296"/>
            <a:ext cx="23362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</a:t>
            </a:r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brim/raft; enclose the printer or use a heated bed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9075420" y="3977640"/>
            <a:ext cx="2628900" cy="2423160"/>
          </a:xfrm>
          <a:prstGeom prst="roundRect">
            <a:avLst>
              <a:gd name="adj" fmla="val 264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25" name="Image 3" descr="/tmp/mech151_deck/images/34_delamin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3252" y="4105656"/>
            <a:ext cx="2353235" cy="9601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12580" y="5120640"/>
            <a:ext cx="23545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Separation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9221724" y="5358384"/>
            <a:ext cx="23362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8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don't fully fuse — often too cold, or cooled by a draft</a:t>
            </a:r>
            <a:endParaRPr lang="en-US" sz="980" dirty="0"/>
          </a:p>
        </p:txBody>
      </p:sp>
      <p:sp>
        <p:nvSpPr>
          <p:cNvPr id="28" name="Text 22"/>
          <p:cNvSpPr txBox="1"/>
          <p:nvPr/>
        </p:nvSpPr>
        <p:spPr>
          <a:xfrm>
            <a:off x="9221724" y="5797296"/>
            <a:ext cx="23362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</a:t>
            </a:r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nozzle temp slightly; shield the print from drafts</a:t>
            </a:r>
            <a:endParaRPr lang="en-US" sz="9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Subtractive Manufacturing (CNC)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solid stock and cuts material away — design constraints come from the tool and how the part is held.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581400" cy="2606040"/>
          </a:xfrm>
          <a:prstGeom prst="roundRect">
            <a:avLst>
              <a:gd name="adj" fmla="val 245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tmp/mech151_deck/images/38_workho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8927"/>
            <a:ext cx="3307080" cy="20543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12920" y="1783080"/>
            <a:ext cx="3581400" cy="2606040"/>
          </a:xfrm>
          <a:prstGeom prst="roundRect">
            <a:avLst>
              <a:gd name="adj" fmla="val 245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/tmp/mech151_deck/images/35_tool_cor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0" y="1857093"/>
            <a:ext cx="3307080" cy="245801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22920" y="1783080"/>
            <a:ext cx="3581400" cy="2606040"/>
          </a:xfrm>
          <a:prstGeom prst="roundRect">
            <a:avLst>
              <a:gd name="adj" fmla="val 2456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/tmp/mech151_deck/images/36_tool_deflec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603" y="1851660"/>
            <a:ext cx="2430034" cy="2468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920" y="4517136"/>
            <a:ext cx="11201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&amp; Speeds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4791456"/>
            <a:ext cx="11201400" cy="1645920"/>
          </a:xfrm>
          <a:prstGeom prst="roundRect">
            <a:avLst>
              <a:gd name="adj" fmla="val 3889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15" name="Image 3" descr="/tmp/mech151_deck/images/37_feeds_spee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061" y="4860036"/>
            <a:ext cx="5169117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0F2942"/>
                </a:solidFill>
                <a:latin typeface="Cambria"/>
              </a:rPr>
              <a:t>An Introduction to G-code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1">
                <a:solidFill>
                  <a:srgbClr val="8592A3"/>
                </a:solidFill>
                <a:latin typeface="Calibri"/>
              </a:rPr>
              <a:t>A plain-text list of moves the machine runs one line at a time — the shared language of CNC mills, 3D-printer slicers, and laser cutters.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900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>
                <a:solidFill>
                  <a:srgbClr val="8592A3"/>
                </a:solidFill>
                <a:latin typeface="Calibri"/>
              </a:rPr>
              <a:t>MECH 151 · Technical Design — Unit Reference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02240"/>
            <a:ext cx="5715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5000"/>
              </a:lnSpc>
              <a:spcAft>
                <a:spcPts val="600"/>
              </a:spcAft>
              <a:buChar char="●"/>
            </a:pPr>
            <a:r>
              <a:rPr sz="1150" b="1" i="0">
                <a:solidFill>
                  <a:srgbClr val="0F2942"/>
                </a:solidFill>
                <a:latin typeface="Calibri"/>
              </a:rPr>
              <a:t>What it is — </a:t>
            </a:r>
            <a:r>
              <a:rPr sz="1150" b="0" i="0">
                <a:solidFill>
                  <a:srgbClr val="44536B"/>
                </a:solidFill>
                <a:latin typeface="Calibri"/>
              </a:rPr>
              <a:t>a text file a controller runs top to bottom; G words set motion and modes, M words switch machine functions</a:t>
            </a:r>
          </a:p>
          <a:p>
            <a:pPr marL="274320" indent="-274320">
              <a:lnSpc>
                <a:spcPct val="105000"/>
              </a:lnSpc>
              <a:spcAft>
                <a:spcPts val="600"/>
              </a:spcAft>
              <a:buChar char="●"/>
            </a:pPr>
            <a:r>
              <a:rPr sz="1150" b="1" i="0">
                <a:solidFill>
                  <a:srgbClr val="0F2942"/>
                </a:solidFill>
                <a:latin typeface="Calibri"/>
              </a:rPr>
              <a:t>A line is a block — </a:t>
            </a:r>
            <a:r>
              <a:rPr sz="1150" b="0" i="0">
                <a:solidFill>
                  <a:srgbClr val="44536B"/>
                </a:solidFill>
                <a:latin typeface="Calibri"/>
              </a:rPr>
              <a:t>a list of words, each an address letter plus a value: X25.0 is address X, value 25.0</a:t>
            </a:r>
          </a:p>
          <a:p>
            <a:pPr marL="274320" indent="-274320">
              <a:lnSpc>
                <a:spcPct val="105000"/>
              </a:lnSpc>
              <a:spcAft>
                <a:spcPts val="600"/>
              </a:spcAft>
              <a:buChar char="●"/>
            </a:pPr>
            <a:r>
              <a:rPr sz="1150" b="1" i="0">
                <a:solidFill>
                  <a:srgbClr val="0F2942"/>
                </a:solidFill>
                <a:latin typeface="Calibri"/>
              </a:rPr>
              <a:t>Modal settings stick — </a:t>
            </a:r>
            <a:r>
              <a:rPr sz="1150" b="0" i="0">
                <a:solidFill>
                  <a:srgbClr val="44536B"/>
                </a:solidFill>
                <a:latin typeface="Calibri"/>
              </a:rPr>
              <a:t>units, positioning, feed and speed stay in effect until a later line changes them</a:t>
            </a:r>
          </a:p>
          <a:p>
            <a:pPr marL="274320" indent="-274320">
              <a:lnSpc>
                <a:spcPct val="105000"/>
              </a:lnSpc>
              <a:spcAft>
                <a:spcPts val="600"/>
              </a:spcAft>
              <a:buChar char="●"/>
            </a:pPr>
            <a:r>
              <a:rPr sz="1150" b="1" i="0">
                <a:solidFill>
                  <a:srgbClr val="0F2942"/>
                </a:solidFill>
                <a:latin typeface="Calibri"/>
              </a:rPr>
              <a:t>Where it comes from — </a:t>
            </a:r>
            <a:r>
              <a:rPr sz="1150" b="0" i="0">
                <a:solidFill>
                  <a:srgbClr val="44536B"/>
                </a:solidFill>
                <a:latin typeface="Calibri"/>
              </a:rPr>
              <a:t>CAM or a slicer writes it; a post-processor tailors it to your exact machine — then you set the part zero and dry-run before cutting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02240"/>
            <a:ext cx="5211475" cy="2100000"/>
          </a:xfrm>
          <a:prstGeom prst="roundRect">
            <a:avLst>
              <a:gd name="adj" fmla="val 3500"/>
            </a:avLst>
          </a:prstGeom>
          <a:solidFill>
            <a:srgbClr val="F3F6F9"/>
          </a:solidFill>
          <a:ln w="12700">
            <a:solidFill>
              <a:srgbClr val="E1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42240"/>
            <a:ext cx="5211475" cy="2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8592A3"/>
                </a:solidFill>
                <a:latin typeface="Calibri"/>
              </a:rPr>
              <a:t>One block, broken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2422240"/>
            <a:ext cx="4571395" cy="4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422240"/>
            <a:ext cx="4571395" cy="45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0F2942"/>
                </a:solidFill>
                <a:latin typeface="Consolas"/>
              </a:rPr>
              <a:t>G01    X25.0  Y10.0    F150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43703" y="2874240"/>
            <a:ext cx="0" cy="180000"/>
          </a:xfrm>
          <a:prstGeom prst="line">
            <a:avLst/>
          </a:prstGeom>
          <a:ln w="12700">
            <a:solidFill>
              <a:srgbClr val="8592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93703" y="3069240"/>
            <a:ext cx="1900000" cy="4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44536B"/>
                </a:solidFill>
                <a:latin typeface="Calibri"/>
              </a:rPr>
              <a:t>linear feed move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592A3"/>
                </a:solidFill>
                <a:latin typeface="Calibri"/>
              </a:rPr>
              <a:t>(modal)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9405" y="2874240"/>
            <a:ext cx="0" cy="180000"/>
          </a:xfrm>
          <a:prstGeom prst="line">
            <a:avLst/>
          </a:prstGeom>
          <a:ln w="12700">
            <a:solidFill>
              <a:srgbClr val="8592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39405" y="3069240"/>
            <a:ext cx="1900000" cy="4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44536B"/>
                </a:solidFill>
                <a:latin typeface="Calibri"/>
              </a:rPr>
              <a:t>target coordinates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97965" y="2874240"/>
            <a:ext cx="0" cy="180000"/>
          </a:xfrm>
          <a:prstGeom prst="line">
            <a:avLst/>
          </a:prstGeom>
          <a:ln w="12700">
            <a:solidFill>
              <a:srgbClr val="8592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747965" y="3069240"/>
            <a:ext cx="1900000" cy="4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44536B"/>
                </a:solidFill>
                <a:latin typeface="Calibri"/>
              </a:rPr>
              <a:t>feed rate, mm/min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592A3"/>
                </a:solidFill>
                <a:latin typeface="Calibri"/>
              </a:rPr>
              <a:t>(modal)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2240" y="3532240"/>
            <a:ext cx="4611475" cy="4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 i="1">
                <a:solidFill>
                  <a:srgbClr val="8592A3"/>
                </a:solidFill>
                <a:latin typeface="Calibri"/>
              </a:rPr>
              <a:t>Modal words hold: this F150 and G01 keep acting on every line below until one is changed.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44620"/>
            <a:ext cx="112014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1">
                <a:solidFill>
                  <a:srgbClr val="8592A3"/>
                </a:solidFill>
                <a:latin typeface="Calibri"/>
              </a:rPr>
              <a:t>Codes you'll actually see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18940"/>
            <a:ext cx="11201400" cy="17373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 w="12700">
            <a:solidFill>
              <a:srgbClr val="E1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000" y="4868940"/>
            <a:ext cx="3700000" cy="147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G20 / G21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inch / millimetre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G90 / G91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absolute / incremental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G17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work in the XY plane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G00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rapid — non-cutting move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G01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linear move at feed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0000" y="4868940"/>
            <a:ext cx="3700000" cy="147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G02 / G03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clockwise / CCW arc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G54–G59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work offset (part zero)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G28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return to machine home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G04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dwell — timed pause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M00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pause for the 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0000" y="4868940"/>
            <a:ext cx="3550000" cy="147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M03 / M05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spindle on CW / off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M06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tool change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M08 / M09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coolant on / off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M30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end of program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S / F / T  </a:t>
            </a:r>
            <a:r>
              <a:rPr sz="1000" b="0" i="0">
                <a:solidFill>
                  <a:srgbClr val="44536B"/>
                </a:solidFill>
                <a:latin typeface="Calibri"/>
              </a:rPr>
              <a:t>speed / feed / tool no.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0F2942"/>
                </a:solidFill>
                <a:latin typeface="Cambria"/>
              </a:rPr>
              <a:t>Working with G-code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1">
                <a:solidFill>
                  <a:srgbClr val="8592A3"/>
                </a:solidFill>
                <a:latin typeface="Calibri"/>
              </a:rPr>
              <a:t>Small edits at the edges of a program are routine — editing the geometry in the middle is CAM's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900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850" b="0" i="0">
                <a:solidFill>
                  <a:srgbClr val="8592A3"/>
                </a:solidFill>
                <a:latin typeface="Calibri"/>
              </a:rPr>
              <a:t>MECH 151 · Technical Design — Unit Reference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02240"/>
            <a:ext cx="60350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1">
                <a:solidFill>
                  <a:srgbClr val="8592A3"/>
                </a:solidFill>
                <a:latin typeface="Calibri"/>
              </a:rPr>
              <a:t>A short program, annotated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76560"/>
            <a:ext cx="6035040" cy="3247320"/>
          </a:xfrm>
          <a:prstGeom prst="roundRect">
            <a:avLst>
              <a:gd name="adj" fmla="val 3500"/>
            </a:avLst>
          </a:prstGeom>
          <a:solidFill>
            <a:srgbClr val="F3F6F9"/>
          </a:solidFill>
          <a:ln w="12700">
            <a:solidFill>
              <a:srgbClr val="E1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20" y="2436560"/>
            <a:ext cx="5475040" cy="278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0" i="1">
                <a:solidFill>
                  <a:srgbClr val="8592A3"/>
                </a:solidFill>
                <a:latin typeface="Consolas"/>
              </a:rPr>
              <a:t>(SLOT — 6MM 2-FLUTE ENDMILL)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G21 G90 G17    </a:t>
            </a:r>
            <a:r>
              <a:rPr sz="1000" b="0" i="0">
                <a:solidFill>
                  <a:srgbClr val="8592A3"/>
                </a:solidFill>
                <a:latin typeface="Consolas"/>
              </a:rPr>
              <a:t>mm, absolute, XY plane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G54            </a:t>
            </a:r>
            <a:r>
              <a:rPr sz="1000" b="0" i="0">
                <a:solidFill>
                  <a:srgbClr val="8592A3"/>
                </a:solidFill>
                <a:latin typeface="Consolas"/>
              </a:rPr>
              <a:t>work offset = part zero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G0 Z5.0        </a:t>
            </a:r>
            <a:r>
              <a:rPr sz="1000" b="0" i="0">
                <a:solidFill>
                  <a:srgbClr val="8592A3"/>
                </a:solidFill>
                <a:latin typeface="Consolas"/>
              </a:rPr>
              <a:t>rapid to safe height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M3 S10600      </a:t>
            </a:r>
            <a:r>
              <a:rPr sz="1000" b="0" i="0">
                <a:solidFill>
                  <a:srgbClr val="8592A3"/>
                </a:solidFill>
                <a:latin typeface="Consolas"/>
              </a:rPr>
              <a:t>spindle on CW, 10600 rpm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G0 X0 Y0       </a:t>
            </a:r>
            <a:r>
              <a:rPr sz="1000" b="0" i="0">
                <a:solidFill>
                  <a:srgbClr val="8592A3"/>
                </a:solidFill>
                <a:latin typeface="Consolas"/>
              </a:rPr>
              <a:t>rapid above the start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G1 Z-2.0 F300  </a:t>
            </a:r>
            <a:r>
              <a:rPr sz="1000" b="0" i="0">
                <a:solidFill>
                  <a:srgbClr val="8592A3"/>
                </a:solidFill>
                <a:latin typeface="Consolas"/>
              </a:rPr>
              <a:t>feed down to depth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G1 X50.0 F640  </a:t>
            </a:r>
            <a:r>
              <a:rPr sz="1000" b="0" i="0">
                <a:solidFill>
                  <a:srgbClr val="8592A3"/>
                </a:solidFill>
                <a:latin typeface="Consolas"/>
              </a:rPr>
              <a:t>cut the slot at feed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G0 Z5.0        </a:t>
            </a:r>
            <a:r>
              <a:rPr sz="1000" b="0" i="0">
                <a:solidFill>
                  <a:srgbClr val="8592A3"/>
                </a:solidFill>
                <a:latin typeface="Consolas"/>
              </a:rPr>
              <a:t>retract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M5             </a:t>
            </a:r>
            <a:r>
              <a:rPr sz="1000" b="0" i="0">
                <a:solidFill>
                  <a:srgbClr val="8592A3"/>
                </a:solidFill>
                <a:latin typeface="Consolas"/>
              </a:rPr>
              <a:t>spindle off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0F2942"/>
                </a:solidFill>
                <a:latin typeface="Consolas"/>
              </a:rPr>
              <a:t>M30            </a:t>
            </a:r>
            <a:r>
              <a:rPr sz="1000" b="0" i="0">
                <a:solidFill>
                  <a:srgbClr val="8592A3"/>
                </a:solidFill>
                <a:latin typeface="Consolas"/>
              </a:rPr>
              <a:t>end of program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920" y="2176560"/>
            <a:ext cx="4954680" cy="1783080"/>
          </a:xfrm>
          <a:prstGeom prst="roundRect">
            <a:avLst>
              <a:gd name="adj" fmla="val 4500"/>
            </a:avLst>
          </a:prstGeom>
          <a:solidFill>
            <a:srgbClr val="F3F6F9"/>
          </a:solidFill>
          <a:ln w="15875">
            <a:solidFill>
              <a:srgbClr val="1B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7520" y="2340000"/>
            <a:ext cx="4497480" cy="1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B8A8A"/>
                </a:solidFill>
                <a:latin typeface="Cambria"/>
              </a:rPr>
              <a:t>Safe to edit by hand</a:t>
            </a:r>
          </a:p>
          <a:p>
            <a:pPr marL="274320" indent="-274320">
              <a:lnSpc>
                <a:spcPct val="105000"/>
              </a:lnSpc>
              <a:spcAft>
                <a:spcPts val="350"/>
              </a:spcAft>
              <a:buChar char="●"/>
            </a:pPr>
            <a:r>
              <a:rPr sz="1000" b="0" i="0">
                <a:solidFill>
                  <a:srgbClr val="44536B"/>
                </a:solidFill>
                <a:latin typeface="Calibri"/>
              </a:rPr>
              <a:t>Feed (F) and spindle speed (S) — ease off for chatter or burning</a:t>
            </a:r>
          </a:p>
          <a:p>
            <a:pPr marL="274320" indent="-274320">
              <a:lnSpc>
                <a:spcPct val="105000"/>
              </a:lnSpc>
              <a:spcAft>
                <a:spcPts val="350"/>
              </a:spcAft>
              <a:buChar char="●"/>
            </a:pPr>
            <a:r>
              <a:rPr sz="1000" b="0" i="0">
                <a:solidFill>
                  <a:srgbClr val="44536B"/>
                </a:solidFill>
                <a:latin typeface="Calibri"/>
              </a:rPr>
              <a:t>Safe / clearance Z heights — after checking nothing is taller</a:t>
            </a:r>
          </a:p>
          <a:p>
            <a:pPr marL="274320" indent="-274320">
              <a:lnSpc>
                <a:spcPct val="105000"/>
              </a:lnSpc>
              <a:spcAft>
                <a:spcPts val="350"/>
              </a:spcAft>
              <a:buChar char="●"/>
            </a:pPr>
            <a:r>
              <a:rPr sz="1000" b="0" i="0">
                <a:solidFill>
                  <a:srgbClr val="44536B"/>
                </a:solidFill>
                <a:latin typeface="Calibri"/>
              </a:rPr>
              <a:t>Work offset (G54→G55); add a pause (M00) or dwell (G04)</a:t>
            </a:r>
          </a:p>
          <a:p>
            <a:pPr marL="274320" indent="-274320">
              <a:lnSpc>
                <a:spcPct val="105000"/>
              </a:lnSpc>
              <a:spcAft>
                <a:spcPts val="350"/>
              </a:spcAft>
              <a:buChar char="●"/>
            </a:pPr>
            <a:r>
              <a:rPr sz="1000" b="0" i="0">
                <a:solidFill>
                  <a:srgbClr val="44536B"/>
                </a:solidFill>
                <a:latin typeface="Calibri"/>
              </a:rPr>
              <a:t>Trim header/footer lines your machine doesn't use; drop an unused tool section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920" y="4133088"/>
            <a:ext cx="4954680" cy="1430000"/>
          </a:xfrm>
          <a:prstGeom prst="roundRect">
            <a:avLst>
              <a:gd name="adj" fmla="val 4500"/>
            </a:avLst>
          </a:prstGeom>
          <a:solidFill>
            <a:srgbClr val="F3F6F9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7520" y="4286040"/>
            <a:ext cx="4497480" cy="12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C0392B"/>
                </a:solidFill>
                <a:latin typeface="Cambria"/>
              </a:rPr>
              <a:t>Regenerate from CAM — don't hand-edit</a:t>
            </a:r>
          </a:p>
          <a:p>
            <a:pPr marL="274320" indent="-274320">
              <a:lnSpc>
                <a:spcPct val="105000"/>
              </a:lnSpc>
              <a:spcAft>
                <a:spcPts val="350"/>
              </a:spcAft>
              <a:buChar char="●"/>
            </a:pPr>
            <a:r>
              <a:rPr sz="1000" b="0" i="0">
                <a:solidFill>
                  <a:srgbClr val="44536B"/>
                </a:solidFill>
                <a:latin typeface="Calibri"/>
              </a:rPr>
              <a:t>Individual X / Y / Z cutting values, or arc I / J centres</a:t>
            </a:r>
          </a:p>
          <a:p>
            <a:pPr marL="274320" indent="-274320">
              <a:lnSpc>
                <a:spcPct val="105000"/>
              </a:lnSpc>
              <a:spcAft>
                <a:spcPts val="350"/>
              </a:spcAft>
              <a:buChar char="●"/>
            </a:pPr>
            <a:r>
              <a:rPr sz="1000" b="0" i="0">
                <a:solidFill>
                  <a:srgbClr val="44536B"/>
                </a:solidFill>
                <a:latin typeface="Calibri"/>
              </a:rPr>
              <a:t>Switching units (G20 ↔ G21) partway through</a:t>
            </a:r>
          </a:p>
          <a:p>
            <a:pPr marL="274320" indent="-274320">
              <a:lnSpc>
                <a:spcPct val="105000"/>
              </a:lnSpc>
              <a:spcAft>
                <a:spcPts val="350"/>
              </a:spcAft>
              <a:buChar char="●"/>
            </a:pPr>
            <a:r>
              <a:rPr sz="1000" b="0" i="0">
                <a:solidFill>
                  <a:srgbClr val="44536B"/>
                </a:solidFill>
                <a:latin typeface="Calibri"/>
              </a:rPr>
              <a:t>Cutter compensation (G41 / G42) offsets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989320"/>
            <a:ext cx="11201400" cy="466344"/>
          </a:xfrm>
          <a:prstGeom prst="roundRect">
            <a:avLst>
              <a:gd name="adj" fmla="val 14000"/>
            </a:avLst>
          </a:prstGeom>
          <a:solidFill>
            <a:srgbClr val="F3F6F9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1074420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Prove it before it cuts:  </a:t>
            </a:r>
            <a:r>
              <a:rPr sz="1200" b="0" i="0">
                <a:solidFill>
                  <a:srgbClr val="44536B"/>
                </a:solidFill>
                <a:latin typeface="Calibri"/>
              </a:rPr>
              <a:t>re-simulate the whole program, then run it once as an air pass with a hand on the feed-hold — a G-code error is found by the machine at full speed.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Laser Cutting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flat sheet by burning or vaporizing a narrow line through it — fast and precise in 2D, with its own rules.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Kerf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 removes a finite width of material — account for it on tight-fitting parts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limits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wood, acrylic, paper, and cloth cut well</a:t>
            </a:r>
            <a:endParaRPr lang="en-US" sz="1250" dirty="0"/>
          </a:p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Small-feature limits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hole size and spacing relative to material thickness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486400" cy="2880360"/>
          </a:xfrm>
          <a:prstGeom prst="roundRect">
            <a:avLst>
              <a:gd name="adj" fmla="val 222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tmp/mech151_deck/images/39_vector_r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2" y="2766060"/>
            <a:ext cx="4225276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2697480"/>
            <a:ext cx="5486400" cy="2880360"/>
          </a:xfrm>
          <a:prstGeom prst="roundRect">
            <a:avLst>
              <a:gd name="adj" fmla="val 2222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tmp/mech151_deck/images/40_laser_p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833866"/>
            <a:ext cx="5212080" cy="26075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5715000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F3F6F9"/>
          </a:solidFill>
          <a:ln w="1587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31520" y="5824728"/>
            <a:ext cx="10744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cut: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and other chlorinated plastics must never be cut on a laser — they release chlorine gas.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DFM Design Considerations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the part so the chosen process can make it well, at reasonable cost, without special effort.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3563112" cy="1911096"/>
          </a:xfrm>
          <a:prstGeom prst="roundRect">
            <a:avLst>
              <a:gd name="adj" fmla="val 382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7512" y="220370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67512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16712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design to process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624328"/>
            <a:ext cx="323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walls for printing/casting, generous radii for machining, flat unfolded geometry for laser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2064" y="2057400"/>
            <a:ext cx="3563112" cy="1911096"/>
          </a:xfrm>
          <a:prstGeom prst="roundRect">
            <a:avLst>
              <a:gd name="adj" fmla="val 382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486656" y="220370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486656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80432" y="216712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setups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86656" y="2624328"/>
            <a:ext cx="323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on one face are cheaper than features needing re-fixturing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41208" y="2057400"/>
            <a:ext cx="3563112" cy="1911096"/>
          </a:xfrm>
          <a:prstGeom prst="roundRect">
            <a:avLst>
              <a:gd name="adj" fmla="val 382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05800" y="220370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30580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99576" y="216712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only what matters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05800" y="2624328"/>
            <a:ext cx="323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tolerances drive cost — apply to mating/functional features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169664"/>
            <a:ext cx="3563112" cy="1911096"/>
          </a:xfrm>
          <a:prstGeom prst="roundRect">
            <a:avLst>
              <a:gd name="adj" fmla="val 382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67512" y="43159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67512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4279392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standard stock &amp; tooling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" y="4736592"/>
            <a:ext cx="323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sizes and drill/tool radii cost less, arrive faster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22064" y="4169664"/>
            <a:ext cx="3563112" cy="1911096"/>
          </a:xfrm>
          <a:prstGeom prst="roundRect">
            <a:avLst>
              <a:gd name="adj" fmla="val 3828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486656" y="43159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4486656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980432" y="4279392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prototype AND product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486656" y="4736592"/>
            <a:ext cx="32339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fine for a one-off print may not survive production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3 Wrap-Up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7512" y="215798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67512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Manufacturing-ready files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exported for the chosen process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86656" y="215798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486656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0432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GD&amp;T documentation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6656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at least one process, showing what you'd control and why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41208" y="2011680"/>
            <a:ext cx="3563112" cy="1920240"/>
          </a:xfrm>
          <a:prstGeom prst="roundRect">
            <a:avLst>
              <a:gd name="adj" fmla="val 3810"/>
            </a:avLst>
          </a:prstGeom>
          <a:solidFill>
            <a:srgbClr val="F3F6F9"/>
          </a:solidFill>
          <a:ln w="12700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05800" y="215798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30580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99576" y="2121408"/>
            <a:ext cx="274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DFM-reviewed design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05800" y="2578608"/>
            <a:ext cx="3233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hand off to a shop process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F3F6F9"/>
          </a:solidFill>
          <a:ln w="15875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13232" y="5751576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13232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623560"/>
            <a:ext cx="10195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produce: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stated tolerances and fits, manufacturing-ready files and GD&amp;T documentation demonstrating your design-for-manufacturing reasoning, plus reading and safely editing a G-code file.  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Quiz (Week 16). The physical prototype build &amp; presentation is graded separately as the course Final Exam.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0F29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68096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Units at a Glance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page open while you work — every unit's timing, focus, and assessment in one place.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 151 · Technical Design — Unit Reference Guide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157984"/>
            <a:ext cx="146304" cy="146304"/>
          </a:xfrm>
          <a:prstGeom prst="ellipse">
            <a:avLst/>
          </a:prstGeom>
          <a:solidFill>
            <a:srgbClr val="1B8A8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14400" y="1874520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1874520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Unit 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874520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problem, design intent, top-down vs. bottom-up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652760" y="1874520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42616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2926080"/>
            <a:ext cx="146304" cy="146304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914400" y="2642616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CAD Fundamentals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642616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642616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sketches, multiview drawing, first parametric model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652760" y="2642616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Wk 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10712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" y="3694176"/>
            <a:ext cx="146304" cy="146304"/>
          </a:xfrm>
          <a:prstGeom prst="ellipse">
            <a:avLst/>
          </a:prstGeom>
          <a:solidFill>
            <a:srgbClr val="1E9E5A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14400" y="3410712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Design for Assembly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3410712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8–11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410712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&amp; fasteners, mates, joining methods, exploded drawing + BOM, DFA principles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652760" y="3410712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Wk 11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178808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0080" y="446227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914400" y="4178808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— Design for Manufacturing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4178808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12–16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4178808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Tolerancing &amp; fits, GD&amp;T, manufacturing files, G-code, additive/subtractive/laser, DFM, safety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652760" y="4178808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Wk 16</a:t>
            </a:r>
            <a:endParaRPr lang="en-US" sz="1050" dirty="0"/>
          </a:p>
        </p:txBody>
      </p:sp>
      <p:sp>
        <p:nvSpPr>
          <p:cNvPr id="100" name="Shape 17"/>
          <p:cNvSpPr/>
          <p:nvPr/>
        </p:nvSpPr>
        <p:spPr>
          <a:xfrm>
            <a:off x="502920" y="4946904"/>
            <a:ext cx="11201400" cy="713232"/>
          </a:xfrm>
          <a:prstGeom prst="roundRect">
            <a:avLst>
              <a:gd name="adj" fmla="val 7692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01" name="Shape 18"/>
          <p:cNvSpPr/>
          <p:nvPr/>
        </p:nvSpPr>
        <p:spPr>
          <a:xfrm>
            <a:off x="640080" y="523036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914400" y="4946904"/>
            <a:ext cx="265176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— Prototype Project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4946904"/>
            <a:ext cx="914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4946904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Team-built physical prototype, manufacturing docs, presentation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652760" y="4946904"/>
            <a:ext cx="13258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(w/ prototype)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 151 — Technical Design Unit Reference Guide</dc:title>
  <dc:subject>PptxGenJS Presentation</dc:subject>
  <dc:creator>MECH 151</dc:creator>
  <cp:lastModifiedBy>MECH 151</cp:lastModifiedBy>
  <cp:revision>1</cp:revision>
  <dcterms:created xsi:type="dcterms:W3CDTF">2026-09-08T17:09:47Z</dcterms:created>
  <dcterms:modified xsi:type="dcterms:W3CDTF">2026-09-08T17:09:47Z</dcterms:modified>
</cp:coreProperties>
</file>