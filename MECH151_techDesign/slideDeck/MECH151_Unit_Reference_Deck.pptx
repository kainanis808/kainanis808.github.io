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2" r:id="rId28"/>
    <p:sldId id="283" r:id="rId29"/>
    <p:sldId id="287" r:id="rId33"/>
    <p:sldId id="288" r:id="rId34"/>
    <p:sldId id="280" r:id="rId26"/>
    <p:sldId id="290" r:id="rId36"/>
    <p:sldId id="284" r:id="rId30"/>
    <p:sldId id="291" r:id="rId37"/>
    <p:sldId id="292" r:id="rId38"/>
    <p:sldId id="293" r:id="rId39"/>
    <p:sldId id="294" r:id="rId40"/>
    <p:sldId id="295" r:id="rId41"/>
    <p:sldId id="297" r:id="rId43"/>
    <p:sldId id="298" r:id="rId44"/>
    <p:sldId id="299" r:id="rId45"/>
    <p:sldId id="300" r:id="rId46"/>
    <p:sldId id="286" r:id="rId32"/>
    <p:sldId id="313" r:id="rId64"/>
    <p:sldId id="314" r:id="rId65"/>
    <p:sldId id="301" r:id="rId47"/>
    <p:sldId id="302" r:id="rId48"/>
    <p:sldId id="303" r:id="rId49"/>
    <p:sldId id="304" r:id="rId50"/>
    <p:sldId id="305" r:id="rId51"/>
    <p:sldId id="306" r:id="rId52"/>
    <p:sldId id="311" r:id="rId62"/>
    <p:sldId id="312" r:id="rId63"/>
    <p:sldId id="307" r:id="rId53"/>
    <p:sldId id="308" r:id="rId54"/>
    <p:sldId id="309" r:id="rId55"/>
    <p:sldId id="310" r:id="rId56"/>
  </p:sldIdLst>
  <p:notesMasterIdLst>
    <p:notesMasterId r:id="rId5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9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31.xml"/><Relationship Id="rId32" Type="http://schemas.openxmlformats.org/officeDocument/2006/relationships/slide" Target="slides/slide41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6" Type="http://schemas.openxmlformats.org/officeDocument/2006/relationships/slide" Target="slides/slide30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Relationship Id="rId62" Type="http://schemas.openxmlformats.org/officeDocument/2006/relationships/slide" Target="slides/slide50.xml"/><Relationship Id="rId63" Type="http://schemas.openxmlformats.org/officeDocument/2006/relationships/slide" Target="slides/slide51.xml"/><Relationship Id="rId64" Type="http://schemas.openxmlformats.org/officeDocument/2006/relationships/slide" Target="slides/slide42.xml"/><Relationship Id="rId65" Type="http://schemas.openxmlformats.org/officeDocument/2006/relationships/slide" Target="slides/slide4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image" Target="../media/image-2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50-2.png"/><Relationship Id="rId3" Type="http://schemas.openxmlformats.org/officeDocument/2006/relationships/image" Target="../media/image-50-3.png"/><Relationship Id="rId4" Type="http://schemas.openxmlformats.org/officeDocument/2006/relationships/image" Target="../media/image-5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image" Target="../media/image-51-2.png"/><Relationship Id="rId3" Type="http://schemas.openxmlformats.org/officeDocument/2006/relationships/image" Target="../media/image-51-3.png"/><Relationship Id="rId4" Type="http://schemas.openxmlformats.org/officeDocument/2006/relationships/image" Target="../media/image-5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22960" y="1965960"/>
            <a:ext cx="2331720" cy="420624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822960" y="1965960"/>
            <a:ext cx="2331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822960" y="260604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Design</a:t>
            </a:r>
            <a:endParaRPr lang="en-US" sz="5400" dirty="0"/>
          </a:p>
        </p:txBody>
      </p:sp>
      <p:sp>
        <p:nvSpPr>
          <p:cNvPr id="30" name="Text 28"/>
          <p:cNvSpPr txBox="1"/>
          <p:nvPr/>
        </p:nvSpPr>
        <p:spPr>
          <a:xfrm>
            <a:off x="822960" y="34290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CFE3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Reference Guide</a:t>
            </a:r>
            <a:endParaRPr lang="en-US" sz="3200" dirty="0"/>
          </a:p>
        </p:txBody>
      </p:sp>
      <p:sp>
        <p:nvSpPr>
          <p:cNvPr id="31" name="Text 29"/>
          <p:cNvSpPr txBox="1"/>
          <p:nvPr/>
        </p:nvSpPr>
        <p:spPr>
          <a:xfrm>
            <a:off x="822960" y="4343400"/>
            <a:ext cx="850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AEC6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quick-reference for every unit — Design Fundamentals through Design for Manufacturing — for portfolio work, competency checks, and the final prototype.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22960" y="5989320"/>
            <a:ext cx="1211580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1B8A8A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822960" y="5989320"/>
            <a:ext cx="12115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199132" y="5989320"/>
            <a:ext cx="777240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2199132" y="59893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3140964" y="5989320"/>
            <a:ext cx="777240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3140964" y="59893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4082796" y="5989320"/>
            <a:ext cx="777240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1E9E5A"/>
            </a:solidFill>
            <a:prstDash val="solid"/>
          </a:ln>
        </p:spPr>
        <p:txBody>
          <a:bodyPr/>
          <a:p/>
        </p:txBody>
      </p:sp>
      <p:sp>
        <p:nvSpPr>
          <p:cNvPr id="39" name="Text 37"/>
          <p:cNvSpPr txBox="1"/>
          <p:nvPr/>
        </p:nvSpPr>
        <p:spPr>
          <a:xfrm>
            <a:off x="4082796" y="5989320"/>
            <a:ext cx="777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5024628" y="5989320"/>
            <a:ext cx="1124712" cy="365760"/>
          </a:xfrm>
          <a:prstGeom prst="roundRect">
            <a:avLst>
              <a:gd name="adj" fmla="val 20000"/>
            </a:avLst>
          </a:prstGeom>
          <a:solidFill>
            <a:srgbClr val="16324F"/>
          </a:solidFill>
          <a:ln w="1587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43" name="Text 41"/>
          <p:cNvSpPr txBox="1"/>
          <p:nvPr/>
        </p:nvSpPr>
        <p:spPr>
          <a:xfrm>
            <a:off x="5024628" y="5989320"/>
            <a:ext cx="1124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Exam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0F2942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0789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MAP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Semester Roadmap, Weeks 4–17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project-based portfolio module per week; a short foundations unit precedes Unit 1.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691896" cy="777240"/>
          </a:xfrm>
          <a:prstGeom prst="roundRect">
            <a:avLst>
              <a:gd name="adj" fmla="val 793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02920" y="2816352"/>
            <a:ext cx="746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249680" y="1965960"/>
            <a:ext cx="3649392" cy="777240"/>
          </a:xfrm>
          <a:prstGeom prst="roundRect">
            <a:avLst>
              <a:gd name="adj" fmla="val 7059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249680" y="2816352"/>
            <a:ext cx="3649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4–8 · Competency Check Wk 8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953936" y="1965960"/>
            <a:ext cx="2189640" cy="777240"/>
          </a:xfrm>
          <a:prstGeom prst="roundRect">
            <a:avLst>
              <a:gd name="adj" fmla="val 7059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953936" y="2816352"/>
            <a:ext cx="2189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8–11 · Competency Check Wk 11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198440" y="1965960"/>
            <a:ext cx="3649392" cy="777240"/>
          </a:xfrm>
          <a:prstGeom prst="roundRect">
            <a:avLst>
              <a:gd name="adj" fmla="val 7059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7198440" y="2816352"/>
            <a:ext cx="36493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12–16 · Competency Check Wk 16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0902696" y="1965960"/>
            <a:ext cx="691896" cy="777240"/>
          </a:xfrm>
          <a:prstGeom prst="roundRect">
            <a:avLst>
              <a:gd name="adj" fmla="val 7059"/>
            </a:avLst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02696" y="2816352"/>
            <a:ext cx="6918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17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02920" y="3063240"/>
            <a:ext cx="201168" cy="20116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813816" y="2971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Fundamentals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6217920" y="3063240"/>
            <a:ext cx="201168" cy="20116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6528816" y="2971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— CAD Fundamentals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502920" y="3566160"/>
            <a:ext cx="201168" cy="201168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813816" y="3474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— Design for Assembly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217920" y="3566160"/>
            <a:ext cx="201168" cy="20116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6528816" y="34747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— Design for Manufacturing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02920" y="4069080"/>
            <a:ext cx="201168" cy="201168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813816" y="39776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Exam — Prototype Project</a:t>
            </a:r>
            <a:endParaRPr lang="en-US" sz="1350" dirty="0"/>
          </a:p>
        </p:txBody>
      </p:sp>
      <p:sp>
        <p:nvSpPr>
          <p:cNvPr id="31" name="Shape 29"/>
          <p:cNvSpPr/>
          <p:nvPr/>
        </p:nvSpPr>
        <p:spPr>
          <a:xfrm>
            <a:off x="502920" y="5623560"/>
            <a:ext cx="11201400" cy="868680"/>
          </a:xfrm>
          <a:prstGeom prst="roundRect">
            <a:avLst>
              <a:gd name="adj" fmla="val 8421"/>
            </a:avLst>
          </a:prstGeom>
          <a:solidFill>
            <a:srgbClr val="F3F6F9"/>
          </a:solidFill>
          <a:ln w="15875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731520" y="5733288"/>
            <a:ext cx="107442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grading lines up: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unit maps to a graded portfolio module and closes with a unit competency check; the Design Portfolio (50% of the course grade) and the Prototype + Final Exam (30%) are graded separately — see the syllabus for the remaining weighting.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0F2942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NOTE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Course Is CAD-Program-Agnostic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 of CAD software is too broad to teach every package — so this course teaches the operations that transfer between all of them.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783080"/>
            <a:ext cx="11201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Dozens of parametric CAD packages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used across industry — SolidWorks, Fusion 360, Onshape, Inventor, Creo, NX, CATIA, and more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impractical to teach all of them in one course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mastering only one would leave you stuck the moment a job, internship, or team uses something else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this course teaches the operations every one of them shares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specific menu names are yours to look up in whatever software you're using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52344"/>
            <a:ext cx="58247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Operation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551676" y="2752344"/>
            <a:ext cx="4928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50" kern="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Sometimes Called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85800" y="3063240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Push/pull a 2D profile into a solid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551676" y="3063240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 · Pad · Boss / Cut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65576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85800" y="3465576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a profile around an axis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51676" y="3465576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Revolve · Rotate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2920" y="3867912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85800" y="3867912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 a sketch so it can't drift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551676" y="3867912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 · Constraints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4270248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85800" y="4270248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running history of modeling steps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551676" y="4270248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Tree · Timeline · Model Tree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02920" y="4672584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85800" y="4672584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 parts relative to each other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551676" y="4672584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Mates · Joints · Assembly Constraints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02920" y="5074920"/>
            <a:ext cx="112014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685800" y="5074920"/>
            <a:ext cx="5641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 over or angle-cut a sharp edge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51676" y="5074920"/>
            <a:ext cx="49286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Fillet / Chamfer · Round / Bevel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02920" y="5568696"/>
            <a:ext cx="11201400" cy="868680"/>
          </a:xfrm>
          <a:prstGeom prst="roundRect">
            <a:avLst>
              <a:gd name="adj" fmla="val 8421"/>
            </a:avLst>
          </a:prstGeom>
          <a:solidFill>
            <a:srgbClr val="F3F6F9"/>
          </a:solidFill>
          <a:ln w="15875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731520" y="5678424"/>
            <a:ext cx="107442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this deck — sketching, feature trees, mates, GD&amp;T — describes the operation, not a specific menu path. Whatever software you're using in class, an internship, or a job, look for the tool that does the same job.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955280" y="365760"/>
            <a:ext cx="3931920" cy="612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0A2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00</a:t>
            </a:r>
            <a:endParaRPr lang="en-US" sz="34000" dirty="0"/>
          </a:p>
        </p:txBody>
      </p:sp>
      <p:sp>
        <p:nvSpPr>
          <p:cNvPr id="28" name="Shape 26"/>
          <p:cNvSpPr/>
          <p:nvPr/>
        </p:nvSpPr>
        <p:spPr>
          <a:xfrm>
            <a:off x="685800" y="731520"/>
            <a:ext cx="1412748" cy="420624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685800" y="731520"/>
            <a:ext cx="14127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233172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Fundamentals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back from the software: what a CAD model is for, before Unit 1's sketches and features begin.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85800" y="5806440"/>
            <a:ext cx="1645920" cy="438912"/>
          </a:xfrm>
          <a:prstGeom prst="roundRect">
            <a:avLst>
              <a:gd name="adj" fmla="val 20833"/>
            </a:avLst>
          </a:prstGeom>
          <a:solidFill>
            <a:srgbClr val="16324F"/>
          </a:solidFill>
          <a:ln w="12700">
            <a:solidFill>
              <a:srgbClr val="1B8A8A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685800" y="5806440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UNIT 1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Design Process Is a Cycle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design loops — the first prototype is expected to be wrong, and that's the process working.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2148840"/>
            <a:ext cx="1051560" cy="105156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2148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764792" y="2574036"/>
            <a:ext cx="1191006" cy="201168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983230" y="2148840"/>
            <a:ext cx="1051560" cy="105156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2983230" y="2148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4062222" y="2574036"/>
            <a:ext cx="1191006" cy="201168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280660" y="2148840"/>
            <a:ext cx="1051560" cy="105156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280660" y="2148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359652" y="2574036"/>
            <a:ext cx="1191006" cy="201168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7578090" y="2148840"/>
            <a:ext cx="1051560" cy="105156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578090" y="2148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8657082" y="2574036"/>
            <a:ext cx="1191006" cy="201168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9875520" y="2148840"/>
            <a:ext cx="1051560" cy="105156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9875520" y="21488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3310128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then back to Design (or Define), carrying what you learned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3749040"/>
            <a:ext cx="1024128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what the part must do, fit, withstand, and cost — before any geometry exists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options, then the parametric models and drawings that pin down every dimension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a prototype — a print, a machined part, a mock-up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it, fit it, load it, use it the way it will really be used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what happened against the requirements; loop back with what you learned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85800" y="5669280"/>
            <a:ext cx="1101852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914400" y="5779008"/>
            <a:ext cx="1056132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assume the first version is final, you build a model that's painful to change. If you assume you'll revise it, you build for iteration — clean sketches, captured intent, a readable feature tree.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Define the Problem Before You Design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step skipped most often — and the one that wastes the most time when skipped.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339596" y="2057400"/>
            <a:ext cx="777240" cy="77724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339596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1019556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928116" y="32461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says exactly what, for whom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515868" y="2057400"/>
            <a:ext cx="777240" cy="77724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515868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3195828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Measurable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104388" y="32461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number you can check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692140" y="2057400"/>
            <a:ext cx="777240" cy="77724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5692140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5372100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Achievable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280660" y="32461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with your time &amp; tools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868412" y="2057400"/>
            <a:ext cx="777240" cy="77724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868412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7548372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456932" y="32461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serves the need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0044684" y="2057400"/>
            <a:ext cx="777240" cy="777240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10044684" y="205740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2600" dirty="0"/>
          </a:p>
        </p:txBody>
      </p:sp>
      <p:sp>
        <p:nvSpPr>
          <p:cNvPr id="25" name="Text 23"/>
          <p:cNvSpPr txBox="1"/>
          <p:nvPr/>
        </p:nvSpPr>
        <p:spPr>
          <a:xfrm>
            <a:off x="9724644" y="29260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Time-bound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9633204" y="32461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by a defined point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728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868680" y="4133088"/>
            <a:ext cx="105156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in practice: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"hold a phone at a comfortable viewing angle" is a direction. "Hold a 600 g phone at 55–70° without tipping, printable in under 4 hours, done by Week 12" is something you can design to and test against.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4983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Requirements, objectives, and constraints get lumped together as "the spec" — but they filter and rank designs differently (next: how each one works).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Requirements, Objectives, Constraints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Requirements and constraints filter designs to the acceptable ones; objectives rank the acceptable ones to find the best.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3550920" cy="2743200"/>
          </a:xfrm>
          <a:prstGeom prst="roundRect">
            <a:avLst>
              <a:gd name="adj" fmla="val 266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04088" y="203911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44144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design must do — pass/fail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2807208"/>
            <a:ext cx="3148584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"Supports 5 kg without permanent deflection"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met or not; missing one disqualifies a design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by test or inspection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28160" y="1874520"/>
            <a:ext cx="3550920" cy="2743200"/>
          </a:xfrm>
          <a:prstGeom prst="roundRect">
            <a:avLst>
              <a:gd name="adj" fmla="val 266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529328" y="203911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4529328" y="244144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you're optimizing — directions of "better"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29328" y="2807208"/>
            <a:ext cx="3148584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"As light as possible," "minimize cost"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pass/fail — compared by degree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Often trade against each other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53400" y="1874520"/>
            <a:ext cx="3550920" cy="2743200"/>
          </a:xfrm>
          <a:prstGeom prst="roundRect">
            <a:avLst>
              <a:gd name="adj" fmla="val 266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354568" y="203911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Constraints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354568" y="244144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limits on the solution space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54568" y="2807208"/>
            <a:ext cx="3148584" cy="1673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"Fits a 150 mm cube," "$25 budget," "due Week 12"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about function — about what's allowed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Violating one disqualifies the design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2920" y="4800600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31520" y="4910328"/>
            <a:ext cx="10744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them up and you either reject a good design for missing a "nice to have," or ship one that fails a real must-have.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5577840"/>
            <a:ext cx="1120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success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objectives into weighted, measurable criteria and score concepts with a decision matrix — screen pass/fail items first, then rank.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Knowing When to Stop: The 80/20 Rule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design is ever perfect — chasing perfection is its own failure mode.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3566160" cy="2377440"/>
          </a:xfrm>
          <a:prstGeom prst="roundRect">
            <a:avLst>
              <a:gd name="adj" fmla="val 3846"/>
            </a:avLst>
          </a:prstGeom>
          <a:solidFill>
            <a:srgbClr val="0F294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02920" y="2029968"/>
            <a:ext cx="3566160" cy="13789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80/20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346704"/>
            <a:ext cx="3200400" cy="9034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a design's useful performance comes from the first 20% of the effort — chasing the rest costs far more than it returns.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343400" y="1965960"/>
            <a:ext cx="7360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4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forward once requirements are met —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if you can see ways it could be nicer</a:t>
            </a:r>
            <a:endParaRPr lang="en-US" sz="1450" dirty="0"/>
          </a:p>
          <a:p>
            <a:pPr marL="342900" indent="-342900">
              <a:buSzPct val="100000"/>
              <a:buChar char="●"/>
            </a:pPr>
            <a:r>
              <a:rPr lang="en-US" sz="14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Perpetual designing is a cost —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revision delays the prototype, the test, and everything you'd learn from them</a:t>
            </a:r>
            <a:endParaRPr lang="en-US" sz="1450" dirty="0"/>
          </a:p>
          <a:p>
            <a:pPr marL="342900" indent="-342900">
              <a:buSzPct val="100000"/>
              <a:buChar char="●"/>
            </a:pPr>
            <a:r>
              <a:rPr lang="en-US" sz="14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"Good enough" is a decision — 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against written requirements, not an imagined ideal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02920" y="4709160"/>
            <a:ext cx="11201400" cy="100584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731520" y="4818888"/>
            <a:ext cx="10744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both ideas at once: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the first version to be wrong, and resist the urge to perfect it. The cycle moves forward when a design is good enough to learn from — not when it's flawless, and not before it meets its requirements.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Intent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reasoning a model should capture — what you expect to stay true when a dimension changes.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65960"/>
            <a:ext cx="5989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relations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symmetric, equal, concentric, collinear say why geometry is where it is, so it stays right when dimensions change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dimensions you choose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 from the reference that actually matters — a mounting face, a mating edge — not whatever's convenient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order &amp; references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later features off stable geometry, not faces that may move or disappear in an edit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Equations &amp; linked values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two dimensions must always match or follow a rule, drive one from the other instead of typing both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766560" y="1755648"/>
            <a:ext cx="4892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result, different intent — dimension a hole two ways: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2048256"/>
            <a:ext cx="4892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Dimensioned from the left edge: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766560" y="2286000"/>
            <a:ext cx="1234440" cy="603504"/>
          </a:xfrm>
          <a:prstGeom prst="rect">
            <a:avLst/>
          </a:prstGeom>
          <a:solidFill>
            <a:srgbClr val="F3F6F9"/>
          </a:solidFill>
          <a:ln w="1587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383780" y="2240280"/>
            <a:ext cx="0" cy="694944"/>
          </a:xfrm>
          <a:prstGeom prst="line">
            <a:avLst/>
          </a:prstGeom>
          <a:noFill/>
          <a:ln w="12700">
            <a:solidFill>
              <a:srgbClr val="C7D0DA"/>
            </a:solidFill>
            <a:prstDash val="dash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6940296" y="2487168"/>
            <a:ext cx="201168" cy="20116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513064" y="2286000"/>
            <a:ext cx="2103120" cy="603504"/>
          </a:xfrm>
          <a:prstGeom prst="rect">
            <a:avLst/>
          </a:prstGeom>
          <a:solidFill>
            <a:srgbClr val="F3F6F9"/>
          </a:solidFill>
          <a:ln w="1587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564624" y="2240280"/>
            <a:ext cx="0" cy="694944"/>
          </a:xfrm>
          <a:prstGeom prst="line">
            <a:avLst/>
          </a:prstGeom>
          <a:noFill/>
          <a:ln w="12700">
            <a:solidFill>
              <a:srgbClr val="C7D0DA"/>
            </a:solidFill>
            <a:prstDash val="dash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8686800" y="2487168"/>
            <a:ext cx="201168" cy="20116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074152" y="2505456"/>
            <a:ext cx="365760" cy="164592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891272" y="2688336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widen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6766560" y="2935224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widen the block and the hole drifts off-center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766560" y="3246120"/>
            <a:ext cx="4892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Tied to center by a symmetric relation: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66560" y="3483864"/>
            <a:ext cx="1234440" cy="603504"/>
          </a:xfrm>
          <a:prstGeom prst="rect">
            <a:avLst/>
          </a:prstGeom>
          <a:solidFill>
            <a:srgbClr val="F3F6F9"/>
          </a:solidFill>
          <a:ln w="1587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7383780" y="3438144"/>
            <a:ext cx="0" cy="694944"/>
          </a:xfrm>
          <a:prstGeom prst="line">
            <a:avLst/>
          </a:prstGeom>
          <a:noFill/>
          <a:ln w="12700">
            <a:solidFill>
              <a:srgbClr val="C7D0DA"/>
            </a:solidFill>
            <a:prstDash val="dash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283196" y="3685032"/>
            <a:ext cx="201168" cy="20116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8513064" y="3483864"/>
            <a:ext cx="2103120" cy="603504"/>
          </a:xfrm>
          <a:prstGeom prst="rect">
            <a:avLst/>
          </a:prstGeom>
          <a:solidFill>
            <a:srgbClr val="F3F6F9"/>
          </a:solidFill>
          <a:ln w="1587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9564624" y="3438144"/>
            <a:ext cx="0" cy="694944"/>
          </a:xfrm>
          <a:prstGeom prst="line">
            <a:avLst/>
          </a:prstGeom>
          <a:noFill/>
          <a:ln w="12700">
            <a:solidFill>
              <a:srgbClr val="C7D0DA"/>
            </a:solidFill>
            <a:prstDash val="dash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9464040" y="3685032"/>
            <a:ext cx="201168" cy="20116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8074152" y="3703320"/>
            <a:ext cx="365760" cy="164592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891272" y="3886200"/>
            <a:ext cx="73152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widen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6766560" y="4133088"/>
            <a:ext cx="4892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57A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widen the block and the hole stays centered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766560" y="4480560"/>
            <a:ext cx="489204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6995160" y="4590288"/>
            <a:ext cx="44348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look identical until the block changes size — only the second one captures what you actually meant, not just a position that happened to look right.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502920" y="5440680"/>
            <a:ext cx="3547872" cy="100584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67512" y="558698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667512" y="5586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1161288" y="555040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Editability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667512" y="6007608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well-built model updates the way you intend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306824" y="5440680"/>
            <a:ext cx="3547872" cy="100584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4471416" y="558698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8" name="Text 36"/>
          <p:cNvSpPr txBox="1"/>
          <p:nvPr/>
        </p:nvSpPr>
        <p:spPr>
          <a:xfrm>
            <a:off x="4471416" y="5586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39" name="Text 37"/>
          <p:cNvSpPr txBox="1"/>
          <p:nvPr/>
        </p:nvSpPr>
        <p:spPr>
          <a:xfrm>
            <a:off x="4965192" y="555040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4471416" y="6007608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person can read the tree and see the logic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8110728" y="5440680"/>
            <a:ext cx="3547872" cy="100584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8275320" y="558698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43" name="Text 41"/>
          <p:cNvSpPr txBox="1"/>
          <p:nvPr/>
        </p:nvSpPr>
        <p:spPr>
          <a:xfrm>
            <a:off x="8275320" y="5586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8769096" y="5550408"/>
            <a:ext cx="27249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Downstream reuse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8275320" y="6007608"/>
            <a:ext cx="3218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assemblies, drawings &amp; manufacturing files inherit it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Organizing a Design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design has more than one part, where do the controlling dimensions live?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463540" cy="2651760"/>
          </a:xfrm>
          <a:prstGeom prst="roundRect">
            <a:avLst>
              <a:gd name="adj" fmla="val 2759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04088" y="1993392"/>
            <a:ext cx="5061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Bottom-Up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395728"/>
            <a:ext cx="5061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each part alone, then assemble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2761488"/>
            <a:ext cx="506120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are independent — editing one doesn't ripple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to manage; easy to reuse parts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well-understood or off-the-shelf parts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when parts must share dimensions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40780" y="1828800"/>
            <a:ext cx="5463540" cy="2651760"/>
          </a:xfrm>
          <a:prstGeom prst="roundRect">
            <a:avLst>
              <a:gd name="adj" fmla="val 2759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441948" y="1993392"/>
            <a:ext cx="5061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B8A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Top-Down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6441948" y="2395728"/>
            <a:ext cx="50612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from the assembly's shared geometry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441948" y="2761488"/>
            <a:ext cx="506120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dimensions live in one place and propagate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mating parts fitting as the design evolves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for new designs with moving interfaces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setup; unmanaged references get fragile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663440"/>
            <a:ext cx="11201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for top-down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sketch (fixes key sizes before parts exist), skeleton/master model (shared reference geometry), in-context references (shape one part against another directly).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5486400"/>
            <a:ext cx="11201400" cy="685800"/>
          </a:xfrm>
          <a:prstGeom prst="roundRect">
            <a:avLst>
              <a:gd name="adj" fmla="val 10667"/>
            </a:avLst>
          </a:prstGeom>
          <a:solidFill>
            <a:srgbClr val="F3F6F9"/>
          </a:solidFill>
          <a:ln w="15875">
            <a:solidFill>
              <a:srgbClr val="1B8A8A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31520" y="5596128"/>
            <a:ext cx="107442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simplest structure that captures the intent — reach for top-down only where parts genuinely must share dimensions.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159459" cy="310896"/>
          </a:xfrm>
          <a:prstGeom prst="roundRect">
            <a:avLst>
              <a:gd name="adj" fmla="val 50000"/>
            </a:avLst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1594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Practices That Keep a Design Robust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1965960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67512" y="211226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67512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define every sketch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2532888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under-defined sketch can drift on an unrelated edit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22064" y="1965960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486656" y="211226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486656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980432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stable geometry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486656" y="2532888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 and default planes never move; a filleted edge might vanish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141208" y="1965960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305800" y="2112264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8305800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799576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sketches simple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305800" y="2532888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idea per feature — complexity goes in the feature tree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02920" y="4123944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67512" y="4270248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67512" y="4270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161288" y="4233672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&amp; organize features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667512" y="4690872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tree of "Extrude7, Cut12" tells the next person nothing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4322064" y="4123944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4486656" y="4270248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4486656" y="4270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 txBox="1"/>
          <p:nvPr/>
        </p:nvSpPr>
        <p:spPr>
          <a:xfrm>
            <a:off x="4980432" y="4233672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dependency chains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86656" y="4690872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things a feature relies on means fewer ways it breaks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141208" y="4123944"/>
            <a:ext cx="3563112" cy="1956816"/>
          </a:xfrm>
          <a:prstGeom prst="roundRect">
            <a:avLst>
              <a:gd name="adj" fmla="val 3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8305800" y="4270248"/>
            <a:ext cx="384048" cy="384048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8305800" y="4270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8799576" y="4233672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the design, not just the shape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305800" y="4690872"/>
            <a:ext cx="323392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rule governs the part, build the rule in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955280" y="365760"/>
            <a:ext cx="3931920" cy="612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0A2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0" dirty="0"/>
          </a:p>
        </p:txBody>
      </p:sp>
      <p:sp>
        <p:nvSpPr>
          <p:cNvPr id="28" name="Shape 26"/>
          <p:cNvSpPr/>
          <p:nvPr/>
        </p:nvSpPr>
        <p:spPr>
          <a:xfrm>
            <a:off x="685800" y="731520"/>
            <a:ext cx="2148840" cy="420624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685800" y="731520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· WEEKS 4–8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233172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 Fundamentals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Sketching, views, CAD configuration, and the first parametric model — the foundation every later unit depends on.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85800" y="5806440"/>
            <a:ext cx="3383280" cy="438912"/>
          </a:xfrm>
          <a:prstGeom prst="roundRect">
            <a:avLst>
              <a:gd name="adj" fmla="val 20833"/>
            </a:avLst>
          </a:prstGeom>
          <a:solidFill>
            <a:srgbClr val="16324F"/>
          </a:solidFill>
          <a:ln w="12700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685800" y="580644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COMPETENCY CHECK IN WEEK 8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There Is No Single "Right" Model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shape can be built from a different base feature, sketch set, or feature order — with effectively infinite valid combinations.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11201400" cy="1005840"/>
          </a:xfrm>
          <a:prstGeom prst="roundRect">
            <a:avLst>
              <a:gd name="adj" fmla="val 7273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31520" y="2029968"/>
            <a:ext cx="107442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separates good from poor: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classmates can hand in completely different feature trees and both be correct. What separates a good model from a poor one is whether it captures design intent, rebuilds without errors, and stays easy to edit — not whether it matches a canonical answer.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3154680"/>
            <a:ext cx="11201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—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deliberate choices you can explain, not on guessing the "expected" answer.</a:t>
            </a:r>
            <a:endParaRPr lang="en-US" sz="1400" dirty="0"/>
          </a:p>
          <a:p>
            <a:pPr marL="342900" indent="-342900">
              <a:buSzPct val="100000"/>
              <a:buChar char="●"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unit builds — </a:t>
            </a:r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drawing and modeling foundation every later unit depends on — a controlled sketch, standard views, and a parametric solid that updates when you change it.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Origin: Where Every Model Begins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coordinate, sketch, and feature ultimately measures from one fixed point in space.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65960"/>
            <a:ext cx="59436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 (0, 0, 0)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point in the file that never moves, no matter how the model is edited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default planes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Front, Top, and Right all pass through the origin and split space along the X, Y, and Z axes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measured from it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directly or indirectly — a sketch plane, a mate, even a drawing's projected views all trace back to this fixed reference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the origin (or geometry built from it) instead of an edge that might move, get filleted away, or get deleted in a later edit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720840" y="1783080"/>
            <a:ext cx="4892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 default planes meet here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7863840" y="2743200"/>
            <a:ext cx="1051560" cy="1051560"/>
          </a:xfrm>
          <a:prstGeom prst="line">
            <a:avLst/>
          </a:prstGeom>
          <a:noFill/>
          <a:ln w="19050">
            <a:solidFill>
              <a:srgbClr val="8592A3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rot="18900000">
            <a:off x="7799832" y="2587752"/>
            <a:ext cx="146304" cy="146304"/>
          </a:xfrm>
          <a:prstGeom prst="triangle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7498080" y="237744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915400" y="2514600"/>
            <a:ext cx="0" cy="1280160"/>
          </a:xfrm>
          <a:prstGeom prst="line">
            <a:avLst/>
          </a:prstGeom>
          <a:noFill/>
          <a:ln w="2222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842248" y="2441448"/>
            <a:ext cx="146304" cy="146304"/>
          </a:xfrm>
          <a:prstGeom prst="triangl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778240" y="21305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915400" y="3794760"/>
            <a:ext cx="1600200" cy="0"/>
          </a:xfrm>
          <a:prstGeom prst="line">
            <a:avLst/>
          </a:prstGeom>
          <a:noFill/>
          <a:ln w="2222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 rot="5400000">
            <a:off x="10442448" y="3721608"/>
            <a:ext cx="146304" cy="146304"/>
          </a:xfrm>
          <a:prstGeom prst="triangl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634472" y="3666744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860536" y="373989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9025128" y="3867912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 (0, 0, 0)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20840" y="5074920"/>
            <a:ext cx="4892040" cy="1234440"/>
          </a:xfrm>
          <a:prstGeom prst="roundRect">
            <a:avLst>
              <a:gd name="adj" fmla="val 5926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6949440" y="5184648"/>
            <a:ext cx="44348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pairing of planes to axes (which plane is "Front") varies by CAD program — but every parametric system anchors its geometry to an origin and a set of default planes the same way.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Point to Solid: Building Up in Dimensions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model is a stack of dimensions — each one built from the last.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2608326" cy="3246120"/>
          </a:xfrm>
          <a:prstGeom prst="roundRect">
            <a:avLst>
              <a:gd name="adj" fmla="val 280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01168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40080" y="2011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1724787" y="2450592"/>
            <a:ext cx="164592" cy="164592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3129534" y="2450592"/>
            <a:ext cx="219456" cy="164592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67512" y="2926080"/>
            <a:ext cx="2279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3291840"/>
            <a:ext cx="224256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location in space — no length, area, or volume. A sketch point, a vertex, the origin itself.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67278" y="1874520"/>
            <a:ext cx="2608326" cy="3246120"/>
          </a:xfrm>
          <a:prstGeom prst="roundRect">
            <a:avLst>
              <a:gd name="adj" fmla="val 280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3504438" y="201168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3504438" y="2011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78833" y="2660904"/>
            <a:ext cx="585216" cy="-256032"/>
          </a:xfrm>
          <a:prstGeom prst="line">
            <a:avLst/>
          </a:prstGeom>
          <a:noFill/>
          <a:ln w="31750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993892" y="2450592"/>
            <a:ext cx="219456" cy="164592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3531870" y="2926080"/>
            <a:ext cx="2279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/ Curve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3550158" y="3291840"/>
            <a:ext cx="224256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connects two points — has length only. Lines, arcs, and splines: what you actually sketch.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31636" y="1874520"/>
            <a:ext cx="2608326" cy="3246120"/>
          </a:xfrm>
          <a:prstGeom prst="roundRect">
            <a:avLst>
              <a:gd name="adj" fmla="val 280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6368796" y="201168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6368796" y="2011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279767" y="2350008"/>
            <a:ext cx="512064" cy="384048"/>
          </a:xfrm>
          <a:prstGeom prst="triangle">
            <a:avLst/>
          </a:prstGeom>
          <a:ln w="25400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8858250" y="2450592"/>
            <a:ext cx="219456" cy="164592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26" name="Text 24"/>
          <p:cNvSpPr txBox="1"/>
          <p:nvPr/>
        </p:nvSpPr>
        <p:spPr>
          <a:xfrm>
            <a:off x="6396228" y="2926080"/>
            <a:ext cx="2279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 (Profile)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414516" y="3291840"/>
            <a:ext cx="224256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loop of 1D entities that encloses an area. A triangle, rectangle, circle — any closed profile.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9095994" y="1874520"/>
            <a:ext cx="2608326" cy="3246120"/>
          </a:xfrm>
          <a:prstGeom prst="roundRect">
            <a:avLst>
              <a:gd name="adj" fmla="val 280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9233154" y="2011680"/>
            <a:ext cx="457200" cy="274320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9233154" y="20116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10354437" y="2313432"/>
            <a:ext cx="310896" cy="310896"/>
          </a:xfrm>
          <a:prstGeom prst="rect">
            <a:avLst/>
          </a:prstGeom>
          <a:ln w="19050">
            <a:solidFill>
              <a:srgbClr val="8592A3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10134981" y="2487168"/>
            <a:ext cx="310896" cy="310896"/>
          </a:xfrm>
          <a:prstGeom prst="rect">
            <a:avLst/>
          </a:prstGeom>
          <a:solidFill>
            <a:srgbClr val="2F6FED"/>
          </a:solidFill>
          <a:ln w="19050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9260586" y="2926080"/>
            <a:ext cx="22791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(Volume)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278874" y="3291840"/>
            <a:ext cx="224256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push, spin, or sweep a profile through space and it gains volume. Extrude, revolve, sweep, loft.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502920" y="5285232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731520" y="5394960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Coming up: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several slides walk through sketching (0D → 1D → 2D) and solid modeling (2D → 3D) in detail — this is the map for where each one fits.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Creating a Body: The Feature Loop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solid feature repeats the same four steps — the feature tree is just this loop, run again and again.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85800" y="2103120"/>
            <a:ext cx="1051560" cy="1051560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21208" y="2103120"/>
            <a:ext cx="1380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Plane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1764792" y="2528316"/>
            <a:ext cx="1956816" cy="201168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749040" y="2103120"/>
            <a:ext cx="1051560" cy="1051560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3584448" y="2103120"/>
            <a:ext cx="1380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Profile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828032" y="2528316"/>
            <a:ext cx="1956816" cy="201168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812280" y="2103120"/>
            <a:ext cx="1051560" cy="1051560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647688" y="2103120"/>
            <a:ext cx="1380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Volume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891272" y="2528316"/>
            <a:ext cx="1956816" cy="201168"/>
          </a:xfrm>
          <a:prstGeom prst="rightArrow">
            <a:avLst/>
          </a:prstGeom>
          <a:solidFill>
            <a:srgbClr val="8592A3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9875520" y="2103120"/>
            <a:ext cx="1051560" cy="1051560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9710928" y="2103120"/>
            <a:ext cx="1380744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Dress It Up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3300984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↺  repeat, starting the next loop from a face this feature just created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3666744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Pick a plane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three default planes, a flat face of the solid so far, or an offset/angled reference plane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Define a profile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a closed, fully-defined 2D profile on that plane — points and lines built into a polygon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Create a volume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extrude, revolve, sweep, or loft the profile into a solid, then add, cut, or intersect it with what's already there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Dress it up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fillets, chamfers, shells, drafts, or patterns — operations on the solid, not a new sketched volume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85800" y="5806440"/>
            <a:ext cx="11018520" cy="685800"/>
          </a:xfrm>
          <a:prstGeom prst="roundRect">
            <a:avLst>
              <a:gd name="adj" fmla="val 10667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914400" y="5916168"/>
            <a:ext cx="1056132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of the next loop is usually a face the previous loop just created, not a default plane — that dependency is exactly what builds the feature tree, one branch at a time.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Sketching Fundamentals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sketch is a 2D profile on a plane or face — the input to a 3D feature like an extrude or revolve.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3563112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67512" y="215798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512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entities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578608"/>
            <a:ext cx="32339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lines, arcs, circles, rectangles, slots, splines, and points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22064" y="2011680"/>
            <a:ext cx="3563112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486656" y="215798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486656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980432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geometry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486656" y="2578608"/>
            <a:ext cx="32339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origin, the three default planes (front, top, right), and construction lines that guide without becoming part of the profile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141208" y="2011680"/>
            <a:ext cx="3563112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305800" y="215798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305800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799576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vs. open profiles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8305800" y="2578608"/>
            <a:ext cx="323392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loop can be extruded into a solid; an open profile makes thin features, surfaces, or paths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02920" y="4023360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731520" y="4133088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sketches simple — draw only the geometry the feature needs, keep profiles closed, and put complexity into separate features rather than one crowded sketch.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Geometry of Shapes: 2D Construction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a shape is a sketch, it's plane geometry — points, lines, and curves in defined relationships.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8" name="Image 0" descr="/tmp/mech151_deck/images/01_circle_ar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7052" y="1956816"/>
            <a:ext cx="1091424" cy="1134039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85800" y="3145719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&amp; Arc Geometry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420039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 + radius/diameter; a chord connects two points, a central angle subtends an arc.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03776" y="1828800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2" name="Image 1" descr="/tmp/mech151_deck/images/02_polyg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9147" y="1956816"/>
            <a:ext cx="1928946" cy="1134039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486656" y="3145719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Polygons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486656" y="3420039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inscribed (flat-to-flat) vs. circumscribed (point-to-point) — matters for hex features and bolt heads.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8104632" y="1828800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6" name="Image 2" descr="/tmp/mech151_deck/images/03_tangency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40797" y="1956816"/>
            <a:ext cx="2127358" cy="1134039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287512" y="3145719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Tangency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8287512" y="3420039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line/arc touches a circle at exactly one point, perpendicular to the radius there.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502920" y="4174236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20" name="Image 3" descr="/tmp/mech151_deck/images/04_fillet_chamf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2408" y="4302252"/>
            <a:ext cx="2140713" cy="1134039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85800" y="5491155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Fillets &amp; Chamfers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5765475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fillet is a tangent arc replacing a sharp corner; a chamfer is a straight cut across it.</a:t>
            </a:r>
            <a:endParaRPr lang="en-US" sz="950" dirty="0"/>
          </a:p>
        </p:txBody>
      </p:sp>
      <p:sp>
        <p:nvSpPr>
          <p:cNvPr id="23" name="Shape 17"/>
          <p:cNvSpPr/>
          <p:nvPr/>
        </p:nvSpPr>
        <p:spPr>
          <a:xfrm>
            <a:off x="4303776" y="4174236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24" name="Image 4" descr="/tmp/mech151_deck/images/05_bisector_offse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32376" y="4353878"/>
            <a:ext cx="3142488" cy="103078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4486656" y="5491155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Constructions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4486656" y="5765475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perpendicular bisector and offset — classic constructions, now done by relations.</a:t>
            </a:r>
            <a:endParaRPr lang="en-US" sz="950" dirty="0"/>
          </a:p>
        </p:txBody>
      </p:sp>
      <p:sp>
        <p:nvSpPr>
          <p:cNvPr id="27" name="Shape 20"/>
          <p:cNvSpPr/>
          <p:nvPr/>
        </p:nvSpPr>
        <p:spPr>
          <a:xfrm>
            <a:off x="8104632" y="4174236"/>
            <a:ext cx="3599688" cy="2180844"/>
          </a:xfrm>
          <a:prstGeom prst="roundRect">
            <a:avLst>
              <a:gd name="adj" fmla="val 29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28" name="Image 5" descr="/tmp/mech151_deck/images/06_symmetry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2606" y="4302252"/>
            <a:ext cx="1343740" cy="1134039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8287512" y="5491155"/>
            <a:ext cx="3233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 &amp; Centerlines</a:t>
            </a:r>
            <a:endParaRPr lang="en-US" sz="1200" dirty="0"/>
          </a:p>
        </p:txBody>
      </p:sp>
      <p:sp>
        <p:nvSpPr>
          <p:cNvPr id="30" name="Text 22"/>
          <p:cNvSpPr txBox="1"/>
          <p:nvPr/>
        </p:nvSpPr>
        <p:spPr>
          <a:xfrm>
            <a:off x="8287512" y="5765475"/>
            <a:ext cx="3233928" cy="644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half a shape about a construction line and mirror it to guarantee identical halves.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Sketch Constraints &amp; Relations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Constraints lock down where sketch geometry can move, removing degrees of freedom until the sketch is fully defined.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3550920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04088" y="208483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8592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Under-defined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633472"/>
            <a:ext cx="314858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Geometry can still be dragged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sketch is not fully controlled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8160" y="1920240"/>
            <a:ext cx="3550920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529328" y="208483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Fully defined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4529328" y="2633472"/>
            <a:ext cx="314858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entity fixed by relations + dimensions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target state before finishing a sketch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53400" y="1920240"/>
            <a:ext cx="3550920" cy="1737360"/>
          </a:xfrm>
          <a:prstGeom prst="roundRect">
            <a:avLst>
              <a:gd name="adj" fmla="val 4211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354568" y="208483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Over-defined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354568" y="2633472"/>
            <a:ext cx="3148584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Conflicting or redundant constraints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resolved, not ignored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3886200"/>
            <a:ext cx="11201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 relations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coincident, collinear, parallel, perpendicular, tangent, concentric, equal, horizontal, vertical, symmetric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linear, radial, diameter, angular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5029200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731520" y="5138928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relations before dimensions — relations capture intent (this hole stays centered) so changing one dimension updates the model predictably instead of distorting it.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Orthographic Projection &amp; Multiview Theory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Imagine the part inside a glass box — each face of the box catches one view; unfolding it gives the standard view arrangement.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863840" y="1965960"/>
            <a:ext cx="1234440" cy="864108"/>
          </a:xfrm>
          <a:prstGeom prst="rect">
            <a:avLst/>
          </a:prstGeom>
          <a:solidFill>
            <a:srgbClr val="F3F6F9"/>
          </a:solidFill>
          <a:ln w="19050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863840" y="167335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863840" y="3058668"/>
            <a:ext cx="1234440" cy="1234440"/>
          </a:xfrm>
          <a:prstGeom prst="rect">
            <a:avLst/>
          </a:prstGeom>
          <a:solidFill>
            <a:srgbClr val="F3F6F9"/>
          </a:solidFill>
          <a:ln w="19050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7863840" y="4338828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326880" y="3058668"/>
            <a:ext cx="864108" cy="1234440"/>
          </a:xfrm>
          <a:prstGeom prst="rect">
            <a:avLst/>
          </a:prstGeom>
          <a:solidFill>
            <a:srgbClr val="F3F6F9"/>
          </a:solidFill>
          <a:ln w="19050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9235440" y="4338828"/>
            <a:ext cx="11109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2011680"/>
            <a:ext cx="69494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Third-angle projection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U.S. standard — top view sits above front, right-side view sits to its right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conventions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edges solid, hidden edges dashed, centerlines for holes and symmetry axes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selection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front view with the most shape and fewest hidden lines; add only the views needed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geometry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length appears only when a line is parallel to the viewing plane; true shape only in a view perpendicular to that plane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vs. secondary views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primary view projects from a principal view; a secondary view projects from a primary view to reveal a feature still not true-size</a:t>
            </a:r>
            <a:endParaRPr lang="en-US" sz="12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Basic Dimensioning Standards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Dimensions tell the reader how big the part is and how precisely each feature must be made (ASME Y14.5 in the U.S.).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67512" y="215798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512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12140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578608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lines, dimension lines, arrowheads, and the value — kept off the outline and out of the view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1636" y="2011680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396228" y="215798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396228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90004" y="212140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96228" y="2578608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 to visible outlines, not hidden lines; group related dimensions; smallest closest to the view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438144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67512" y="3584448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67512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61288" y="354787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over-dimension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" y="4005072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feature is located once — a redundant dimension creates conflict on the shop floor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31636" y="3438144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396228" y="3584448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39622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90004" y="354787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callouts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6228" y="4005072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diameter, radius, counterbore, countersink, and depth symbols for holes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Geometry of Shapes: Building 3D Solids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solid model is a running total: start with a volume, add more, and cut some away.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55648"/>
            <a:ext cx="2649474" cy="2743200"/>
          </a:xfrm>
          <a:prstGeom prst="roundRect">
            <a:avLst>
              <a:gd name="adj" fmla="val 241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40080" y="1874520"/>
            <a:ext cx="23751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Extrude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157984"/>
            <a:ext cx="23751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a profile along an axis</a:t>
            </a:r>
            <a:endParaRPr lang="en-US" sz="950" dirty="0"/>
          </a:p>
        </p:txBody>
      </p:sp>
      <p:pic>
        <p:nvPicPr>
          <p:cNvPr id="10" name="Image 0" descr="/tmp/mech151_deck/images/08_extru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117" y="2578608"/>
            <a:ext cx="1783080" cy="17830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353562" y="1755648"/>
            <a:ext cx="2649474" cy="2743200"/>
          </a:xfrm>
          <a:prstGeom prst="roundRect">
            <a:avLst>
              <a:gd name="adj" fmla="val 241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3490722" y="1874520"/>
            <a:ext cx="23751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Revolve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3490722" y="2157984"/>
            <a:ext cx="23751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 a profile around an axis</a:t>
            </a:r>
            <a:endParaRPr lang="en-US" sz="950" dirty="0"/>
          </a:p>
        </p:txBody>
      </p:sp>
      <p:pic>
        <p:nvPicPr>
          <p:cNvPr id="14" name="Image 1" descr="/tmp/mech151_deck/images/09_revol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6759" y="2578608"/>
            <a:ext cx="1783080" cy="178308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6204204" y="1755648"/>
            <a:ext cx="2649474" cy="2743200"/>
          </a:xfrm>
          <a:prstGeom prst="roundRect">
            <a:avLst>
              <a:gd name="adj" fmla="val 241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6" name="Text 12"/>
          <p:cNvSpPr txBox="1"/>
          <p:nvPr/>
        </p:nvSpPr>
        <p:spPr>
          <a:xfrm>
            <a:off x="6341364" y="1874520"/>
            <a:ext cx="23751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Sweep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341364" y="2157984"/>
            <a:ext cx="23751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profile along a path</a:t>
            </a:r>
            <a:endParaRPr lang="en-US" sz="950" dirty="0"/>
          </a:p>
        </p:txBody>
      </p:sp>
      <p:pic>
        <p:nvPicPr>
          <p:cNvPr id="18" name="Image 2" descr="/tmp/mech151_deck/images/10_swee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401" y="2578608"/>
            <a:ext cx="1783080" cy="178308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9054846" y="1755648"/>
            <a:ext cx="2649474" cy="2743200"/>
          </a:xfrm>
          <a:prstGeom prst="roundRect">
            <a:avLst>
              <a:gd name="adj" fmla="val 241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 txBox="1"/>
          <p:nvPr/>
        </p:nvSpPr>
        <p:spPr>
          <a:xfrm>
            <a:off x="9192006" y="1874520"/>
            <a:ext cx="23751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Loft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9192006" y="2157984"/>
            <a:ext cx="23751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between different profiles</a:t>
            </a:r>
            <a:endParaRPr lang="en-US" sz="950" dirty="0"/>
          </a:p>
        </p:txBody>
      </p:sp>
      <p:pic>
        <p:nvPicPr>
          <p:cNvPr id="22" name="Image 3" descr="/tmp/mech151_deck/images/11_lof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88043" y="2578608"/>
            <a:ext cx="1783080" cy="178308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502920" y="4645152"/>
            <a:ext cx="5500116" cy="1810512"/>
          </a:xfrm>
          <a:prstGeom prst="roundRect">
            <a:avLst>
              <a:gd name="adj" fmla="val 35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4" name="Text 18"/>
          <p:cNvSpPr txBox="1"/>
          <p:nvPr/>
        </p:nvSpPr>
        <p:spPr>
          <a:xfrm>
            <a:off x="685800" y="4736592"/>
            <a:ext cx="5134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Primitives</a:t>
            </a:r>
            <a:endParaRPr lang="en-US" sz="1400" dirty="0"/>
          </a:p>
        </p:txBody>
      </p:sp>
      <p:pic>
        <p:nvPicPr>
          <p:cNvPr id="25" name="Image 4" descr="/tmp/mech151_deck/images/07_primitive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129650"/>
            <a:ext cx="5134356" cy="1106691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6204204" y="4645152"/>
            <a:ext cx="5500116" cy="1810512"/>
          </a:xfrm>
          <a:prstGeom prst="roundRect">
            <a:avLst>
              <a:gd name="adj" fmla="val 35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7" name="Text 20"/>
          <p:cNvSpPr txBox="1"/>
          <p:nvPr/>
        </p:nvSpPr>
        <p:spPr>
          <a:xfrm>
            <a:off x="6387084" y="4736592"/>
            <a:ext cx="5134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Booleans &amp; Dress-Up</a:t>
            </a:r>
            <a:endParaRPr lang="en-US" sz="1400" dirty="0"/>
          </a:p>
        </p:txBody>
      </p:sp>
      <p:pic>
        <p:nvPicPr>
          <p:cNvPr id="28" name="Image 5" descr="/tmp/mech151_deck/images/12_booleans_dressu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87084" y="5175886"/>
            <a:ext cx="5134356" cy="858771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6387084" y="6199632"/>
            <a:ext cx="51343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Fillet &amp; chamfer are shown on the sketching slide (2D construction).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to Parametric Part Modeling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parametric model is a history of features, each driven by dimensions and relations — change a dimension and the model rebuilds.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65960"/>
            <a:ext cx="112014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feature —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solid, usually an extrude or revolve of a fully defined sketch</a:t>
            </a:r>
            <a:endParaRPr lang="en-US" sz="1350" dirty="0"/>
          </a:p>
          <a:p>
            <a:pPr marL="342900" indent="-342900"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features —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extrude, cut, revolve, fillet, chamfer, hole, shell, pattern — each added in order on the feature tree</a:t>
            </a:r>
            <a:endParaRPr lang="en-US" sz="1350" dirty="0"/>
          </a:p>
          <a:p>
            <a:pPr marL="342900" indent="-342900"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 planes &amp; references —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where each feature's sketch lives so edits stay stable</a:t>
            </a:r>
            <a:endParaRPr lang="en-US" sz="1350" dirty="0"/>
          </a:p>
          <a:p>
            <a:pPr marL="342900" indent="-342900"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 — </a:t>
            </a:r>
            <a:pPr indent="0" marL="0"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editing driving dimensions, reordering/suppressing features, fixing rebuild errors — reading a feature tree and predicting what an edit will do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4800600"/>
            <a:ext cx="11201400" cy="594360"/>
          </a:xfrm>
          <a:prstGeom prst="roundRect">
            <a:avLst>
              <a:gd name="adj" fmla="val 12308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31520" y="4910328"/>
            <a:ext cx="10744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what makes CAD editable rather than something you redraw from scratch.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Geometry of Shapes: Measurable Properties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shape carries numbers that follow from its geometry — the values a design is checked against.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546354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04088" y="2130552"/>
            <a:ext cx="5061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a 2D profile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679192"/>
            <a:ext cx="506120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Area, perimeter, centroid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moment of area (I) — resistance to bending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modulus (I ÷ distance to extreme fiber)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40780" y="1965960"/>
            <a:ext cx="546354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41948" y="2130552"/>
            <a:ext cx="50612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F6F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a 3D solid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6441948" y="2679192"/>
            <a:ext cx="506120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surface area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(volume × density), center of gravity</a:t>
            </a:r>
            <a:endParaRPr lang="en-US" sz="12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 moment of inertia — resistance to angular acceleration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02920" y="4434840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731520" y="4544568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Garbage in, garbage out: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are only right if the material density is set correctly and the model is a single watertight solid — an open or multi-body model gives a meaningless mass.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Views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imaginary cutting plane slices the part to show what's inside, replacing hidden-line tangles with a clear cut face.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5500116" cy="2011680"/>
          </a:xfrm>
          <a:prstGeom prst="roundRect">
            <a:avLst>
              <a:gd name="adj" fmla="val 318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190195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Section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359152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cutting plane passes entirely through the part, exposing the interior along its whole length.</a:t>
            </a:r>
            <a:endParaRPr lang="en-US" sz="1000" dirty="0"/>
          </a:p>
        </p:txBody>
      </p:sp>
      <p:pic>
        <p:nvPicPr>
          <p:cNvPr id="10" name="Image 0" descr="/tmp/mech151_deck/images/13_section_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44418" y="1874520"/>
            <a:ext cx="1737360" cy="173736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6204204" y="1737360"/>
            <a:ext cx="5500116" cy="2011680"/>
          </a:xfrm>
          <a:prstGeom prst="roundRect">
            <a:avLst>
              <a:gd name="adj" fmla="val 318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6387084" y="1901952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Half Section</a:t>
            </a:r>
            <a:endParaRPr lang="en-US" sz="1450" dirty="0"/>
          </a:p>
        </p:txBody>
      </p:sp>
      <p:sp>
        <p:nvSpPr>
          <p:cNvPr id="13" name="Text 10"/>
          <p:cNvSpPr txBox="1"/>
          <p:nvPr/>
        </p:nvSpPr>
        <p:spPr>
          <a:xfrm>
            <a:off x="6387084" y="2359152"/>
            <a:ext cx="17830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one quarter is removed — the exterior and the interior appear together in a single view. Best for symmetric parts.</a:t>
            </a:r>
            <a:endParaRPr lang="en-US" sz="1000" dirty="0"/>
          </a:p>
        </p:txBody>
      </p:sp>
      <p:pic>
        <p:nvPicPr>
          <p:cNvPr id="14" name="Image 1" descr="/tmp/mech151_deck/images/14_section_half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45702" y="1874520"/>
            <a:ext cx="1737360" cy="173736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502920" y="3877056"/>
            <a:ext cx="5500116" cy="2011680"/>
          </a:xfrm>
          <a:prstGeom prst="roundRect">
            <a:avLst>
              <a:gd name="adj" fmla="val 318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6" name="Text 12"/>
          <p:cNvSpPr txBox="1"/>
          <p:nvPr/>
        </p:nvSpPr>
        <p:spPr>
          <a:xfrm>
            <a:off x="685800" y="3995928"/>
            <a:ext cx="51343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Offset Section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685800" y="4242816"/>
            <a:ext cx="51343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plane is stepped (jogged) so it passes through features that aren't in line — each still appears true size.</a:t>
            </a:r>
            <a:endParaRPr lang="en-US" sz="950" dirty="0"/>
          </a:p>
        </p:txBody>
      </p:sp>
      <p:pic>
        <p:nvPicPr>
          <p:cNvPr id="18" name="Image 2" descr="/tmp/mech151_deck/images/15_section_offs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8232" y="4654296"/>
            <a:ext cx="3509493" cy="114300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6204204" y="3877056"/>
            <a:ext cx="5500116" cy="2011680"/>
          </a:xfrm>
          <a:prstGeom prst="roundRect">
            <a:avLst>
              <a:gd name="adj" fmla="val 318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0" name="Text 15"/>
          <p:cNvSpPr txBox="1"/>
          <p:nvPr/>
        </p:nvSpPr>
        <p:spPr>
          <a:xfrm>
            <a:off x="6387084" y="3995928"/>
            <a:ext cx="51343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Sections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6387084" y="4242816"/>
            <a:ext cx="51343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Broken-out, revolved, and removed — used to show one local feature without a full cut.</a:t>
            </a:r>
            <a:endParaRPr lang="en-US" sz="950" dirty="0"/>
          </a:p>
        </p:txBody>
      </p:sp>
      <p:pic>
        <p:nvPicPr>
          <p:cNvPr id="22" name="Image 3" descr="/tmp/mech151_deck/images/16_section_loc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1855" y="4654296"/>
            <a:ext cx="4284814" cy="11430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502920" y="5998464"/>
            <a:ext cx="11201400" cy="457200"/>
          </a:xfrm>
          <a:prstGeom prst="roundRect">
            <a:avLst>
              <a:gd name="adj" fmla="val 16000"/>
            </a:avLst>
          </a:prstGeom>
          <a:solidFill>
            <a:srgbClr val="F3F6F9"/>
          </a:solidFill>
          <a:ln w="15875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24" name="Text 18"/>
          <p:cNvSpPr txBox="1"/>
          <p:nvPr/>
        </p:nvSpPr>
        <p:spPr>
          <a:xfrm>
            <a:off x="731520" y="6108192"/>
            <a:ext cx="10744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Convention: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lining marks the cut face — but ribs, webs, fasteners, shafts, and pins are never hatched, even when the cutting plane passes through them.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Auxiliary Views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inclined face looks foreshortened in every principal view — an auxiliary view is projected perpendicular to it so it appears true-size.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pic>
        <p:nvPicPr>
          <p:cNvPr id="7" name="Image 0" descr="/tmp/mech151_deck/images/17_auxiliary_prima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84957" y="1755648"/>
            <a:ext cx="7037327" cy="2788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4672584"/>
            <a:ext cx="5500116" cy="1691640"/>
          </a:xfrm>
          <a:prstGeom prst="roundRect">
            <a:avLst>
              <a:gd name="adj" fmla="val 3784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685800" y="4809744"/>
            <a:ext cx="513435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5000"/>
              </a:lnSpc>
              <a:buSzPct val="100000"/>
              <a:buChar char="●"/>
            </a:pPr>
            <a:r>
              <a:rPr lang="en-US" sz="10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auxiliary —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from one principal view to show an inclined surface true-shape</a:t>
            </a:r>
            <a:endParaRPr lang="en-US" sz="1050" dirty="0"/>
          </a:p>
          <a:p>
            <a:pPr marL="342900" indent="-342900">
              <a:lnSpc>
                <a:spcPct val="105000"/>
              </a:lnSpc>
              <a:buSzPct val="100000"/>
              <a:buChar char="●"/>
            </a:pPr>
            <a:r>
              <a:rPr lang="en-US" sz="10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auxiliary —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 inclined feature is drawn — the rest is omitted to avoid distortion and clutter</a:t>
            </a:r>
            <a:endParaRPr lang="en-US" sz="1050" dirty="0"/>
          </a:p>
          <a:p>
            <a:pPr marL="342900" indent="-342900">
              <a:lnSpc>
                <a:spcPct val="105000"/>
              </a:lnSpc>
              <a:buSzPct val="100000"/>
              <a:buChar char="●"/>
            </a:pPr>
            <a:r>
              <a:rPr lang="en-US" sz="10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Reference-plane method — </a:t>
            </a:r>
            <a:pPr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 are transferred across the fold line along projection lines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204204" y="4672584"/>
            <a:ext cx="5500116" cy="1691640"/>
          </a:xfrm>
          <a:prstGeom prst="roundRect">
            <a:avLst>
              <a:gd name="adj" fmla="val 3784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1" name="Image 1" descr="/tmp/mech151_deck/images/18_auxiliary_part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4226" y="4764024"/>
            <a:ext cx="4020073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 Software Configuration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Consistent output comes from configured software, not from fixing every file by hand.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67512" y="2157984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512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12140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578608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part, assembly, drawing templates with the right units, standard, title block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1636" y="2011680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396228" y="2157984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396228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90004" y="212140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properties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96228" y="2578608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units, dimensioning standard (ASME/ISO), grid, layers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438144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67512" y="3584448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67512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61288" y="354787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properties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" y="4005072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metadata that auto-populates the title block and BOM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31636" y="3438144"/>
            <a:ext cx="5472684" cy="1225296"/>
          </a:xfrm>
          <a:prstGeom prst="roundRect">
            <a:avLst>
              <a:gd name="adj" fmla="val 59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396228" y="3584448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39622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90004" y="354787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management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6228" y="4005072"/>
            <a:ext cx="51435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naming, folder structure, keeping references intact</a:t>
            </a:r>
            <a:endParaRPr lang="en-US" sz="12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CAD/CAM Data Translation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a model between systems means exporting to a neutral format — each keeps some information and loses the rest.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11680"/>
            <a:ext cx="3550920" cy="2377440"/>
          </a:xfrm>
          <a:prstGeom prst="roundRect">
            <a:avLst>
              <a:gd name="adj" fmla="val 307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04088" y="217627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Solid exchange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57860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(AP203/214/242), IGES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04088" y="2944368"/>
            <a:ext cx="314858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Geometry preserved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Parametric feature history is not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28160" y="2011680"/>
            <a:ext cx="3550920" cy="2377440"/>
          </a:xfrm>
          <a:prstGeom prst="roundRect">
            <a:avLst>
              <a:gd name="adj" fmla="val 307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529328" y="217627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Kernel formats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4529328" y="257860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Parasolid, ACIS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529328" y="2944368"/>
            <a:ext cx="314858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between packages sharing a modeling kernel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153400" y="2011680"/>
            <a:ext cx="3550920" cy="2377440"/>
          </a:xfrm>
          <a:prstGeom prst="roundRect">
            <a:avLst>
              <a:gd name="adj" fmla="val 307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8354568" y="217627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Mesh formats</a:t>
            </a:r>
            <a:endParaRPr lang="en-US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8354568" y="2578608"/>
            <a:ext cx="3148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STL, 3MF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54568" y="2944368"/>
            <a:ext cx="314858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Faceted surface, no true curves</a:t>
            </a:r>
            <a:endParaRPr lang="en-US" sz="115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set at export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02920" y="4572000"/>
            <a:ext cx="11201400" cy="685800"/>
          </a:xfrm>
          <a:prstGeom prst="roundRect">
            <a:avLst>
              <a:gd name="adj" fmla="val 10667"/>
            </a:avLst>
          </a:prstGeom>
          <a:solidFill>
            <a:srgbClr val="F3F6F9"/>
          </a:solidFill>
          <a:ln w="15875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731520" y="4681728"/>
            <a:ext cx="107442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or corrupted faces, gaps requiring geometry healing, and unit-scale errors are the common translation issues.</a:t>
            </a:r>
            <a:endParaRPr lang="en-US" sz="12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1 Wrap-Up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196596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67512" y="211226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67512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sketches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253288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defined, with relations that capture intent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196596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486656" y="211226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486656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980432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Multiview drawing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486656" y="253288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projection, line types, and dimensions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41208" y="196596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305800" y="2112264"/>
            <a:ext cx="384048" cy="384048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8305800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799576" y="207568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parametric model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05800" y="253288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clean, editable feature tree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5532120"/>
            <a:ext cx="11201400" cy="868680"/>
          </a:xfrm>
          <a:prstGeom prst="roundRect">
            <a:avLst>
              <a:gd name="adj" fmla="val 10526"/>
            </a:avLst>
          </a:prstGeom>
          <a:solidFill>
            <a:srgbClr val="F3F6F9"/>
          </a:solidFill>
          <a:ln w="15875">
            <a:solidFill>
              <a:srgbClr val="2F6FED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13232" y="5751576"/>
            <a:ext cx="420624" cy="420624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713232" y="5751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5623560"/>
            <a:ext cx="10195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produce: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sketches, a multiview drawing (with section and auxiliary views as needed), and a first fully parametric part model with correctly configured templates.  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2F6F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by: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Competency Check (Week 8) and the corresponding portfolio modules.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955280" y="365760"/>
            <a:ext cx="3931920" cy="612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0A2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0" dirty="0"/>
          </a:p>
        </p:txBody>
      </p:sp>
      <p:sp>
        <p:nvSpPr>
          <p:cNvPr id="28" name="Shape 26"/>
          <p:cNvSpPr/>
          <p:nvPr/>
        </p:nvSpPr>
        <p:spPr>
          <a:xfrm>
            <a:off x="685800" y="731520"/>
            <a:ext cx="2359152" cy="420624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685800" y="731520"/>
            <a:ext cx="2359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· WEEKS 8–11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233172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for Assembly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 threads and fasteners, combine part models into working assemblies, document them, and design them to be quick and cheap to put together.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85800" y="5806440"/>
            <a:ext cx="3383280" cy="438912"/>
          </a:xfrm>
          <a:prstGeom prst="roundRect">
            <a:avLst>
              <a:gd name="adj" fmla="val 20833"/>
            </a:avLst>
          </a:prstGeom>
          <a:solidFill>
            <a:srgbClr val="16324F"/>
          </a:solidFill>
          <a:ln w="12700">
            <a:solidFill>
              <a:srgbClr val="1E9E5A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685800" y="580644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COMPETENCY CHECK IN WEEK 11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Threads &amp; Fastener Representation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are almost never drawn in full detail — a standardized representation plus a note carries the information a shop needs.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356616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40080" y="184708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Thread Profile</a:t>
            </a:r>
            <a:endParaRPr lang="en-US" sz="1250" dirty="0"/>
          </a:p>
        </p:txBody>
      </p:sp>
      <p:pic>
        <p:nvPicPr>
          <p:cNvPr id="9" name="Image 0" descr="/tmp/mech151_deck/images/19_thread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430" y="2121408"/>
            <a:ext cx="3073140" cy="19202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4251960" y="1737360"/>
            <a:ext cx="265176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4389120" y="184708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 Thread Is Cut</a:t>
            </a:r>
            <a:endParaRPr lang="en-US" sz="1250" dirty="0"/>
          </a:p>
        </p:txBody>
      </p:sp>
      <p:pic>
        <p:nvPicPr>
          <p:cNvPr id="12" name="Image 1" descr="/tmp/mech151_deck/images/20_thread_heli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3537" y="2121408"/>
            <a:ext cx="2048605" cy="19202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086600" y="1737360"/>
            <a:ext cx="461772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4" name="Text 10"/>
          <p:cNvSpPr txBox="1"/>
          <p:nvPr/>
        </p:nvSpPr>
        <p:spPr>
          <a:xfrm>
            <a:off x="7269480" y="1883664"/>
            <a:ext cx="42519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●"/>
            </a:pPr>
            <a:r>
              <a:rPr lang="en-US" sz="1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terms — 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major/minor diameter, pitch, lead, external vs. internal, right- vs. left-hand, class of fit</a:t>
            </a:r>
            <a:endParaRPr lang="en-US" sz="1000" dirty="0"/>
          </a:p>
          <a:p>
            <a:pPr marL="342900" indent="-342900">
              <a:lnSpc>
                <a:spcPct val="108000"/>
              </a:lnSpc>
              <a:buSzPct val="100000"/>
              <a:buChar char="●"/>
            </a:pPr>
            <a:r>
              <a:rPr lang="en-US" sz="1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Representation — 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detailed, schematic, simplified — simplified is most common in practice</a:t>
            </a:r>
            <a:endParaRPr lang="en-US" sz="1000" dirty="0"/>
          </a:p>
          <a:p>
            <a:pPr marL="342900" indent="-342900">
              <a:lnSpc>
                <a:spcPct val="108000"/>
              </a:lnSpc>
              <a:buSzPct val="100000"/>
              <a:buChar char="●"/>
            </a:pPr>
            <a:r>
              <a:rPr lang="en-US" sz="1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Fasteners — 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bolts, screws, nuts, washers, inserts — clearance and tap-drill holes are sized to fit them</a:t>
            </a:r>
            <a:endParaRPr lang="en-US" sz="1000" dirty="0"/>
          </a:p>
          <a:p>
            <a:pPr marL="342900" indent="-342900">
              <a:lnSpc>
                <a:spcPct val="108000"/>
              </a:lnSpc>
              <a:buSzPct val="100000"/>
              <a:buChar char="●"/>
            </a:pPr>
            <a:r>
              <a:rPr lang="en-US" sz="10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notes — </a:t>
            </a:r>
            <a:pPr indent="0" marL="0">
              <a:lnSpc>
                <a:spcPct val="108000"/>
              </a:lnSpc>
              <a:spcAft>
                <a:spcPts val="800"/>
              </a:spcAft>
              <a:buNone/>
            </a:pPr>
            <a:r>
              <a:rPr lang="en-US" sz="10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1/4-20 UNC-2A (inch) or M6 × 1 (metric) — diameter, pitch, and class in one callout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502920" y="4297680"/>
            <a:ext cx="11201400" cy="2148840"/>
          </a:xfrm>
          <a:prstGeom prst="roundRect">
            <a:avLst>
              <a:gd name="adj" fmla="val 2979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6" name="Text 12"/>
          <p:cNvSpPr txBox="1"/>
          <p:nvPr/>
        </p:nvSpPr>
        <p:spPr>
          <a:xfrm>
            <a:off x="685800" y="440740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Hole Types</a:t>
            </a:r>
            <a:endParaRPr lang="en-US" sz="1300" dirty="0"/>
          </a:p>
        </p:txBody>
      </p:sp>
      <p:pic>
        <p:nvPicPr>
          <p:cNvPr id="17" name="Image 2" descr="/tmp/mech151_deck/images/21_hole_typ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441" y="4681728"/>
            <a:ext cx="10326359" cy="169164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Parts to Systems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relationship repeats at every scale: individual parts mate into a component, components combine into an assembly, and assemblies combine into a complete system.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pic>
        <p:nvPicPr>
          <p:cNvPr id="7" name="Image 0" descr="/tmp/mech151_deck/images/30_assembly_hierarch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437528"/>
            <a:ext cx="11201400" cy="298878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2920" y="6007608"/>
            <a:ext cx="11201400" cy="640080"/>
          </a:xfrm>
          <a:prstGeom prst="roundRect">
            <a:avLst>
              <a:gd name="adj" fmla="val 11429"/>
            </a:avLst>
          </a:prstGeom>
          <a:solidFill>
            <a:srgbClr val="F3F6F9"/>
          </a:solidFill>
          <a:ln w="15875">
            <a:solidFill>
              <a:srgbClr val="1E9E5A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731520" y="6117336"/>
            <a:ext cx="10744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break it down: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how large, complicated systems stay manageable — a vehicle or an instrument is never modeled as one flat list of thousands of parts. It's a tree of assemblies, each one a self-contained, testable unit.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Assembly Modeling: Mates &amp; Constraints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assembly positions components relative to one another using mates — each removes degrees of freedom.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2926080" cy="1508760"/>
          </a:xfrm>
          <a:prstGeom prst="roundRect">
            <a:avLst>
              <a:gd name="adj" fmla="val 6061"/>
            </a:avLst>
          </a:prstGeom>
          <a:solidFill>
            <a:srgbClr val="0F2942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02920" y="1892808"/>
            <a:ext cx="2926080" cy="8750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46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688336"/>
            <a:ext cx="2560320" cy="5733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degrees of freedom a free rigid body has — mates remove them one axis at a time.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1783080"/>
            <a:ext cx="80010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component — </a:t>
            </a:r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part placed is fixed and becomes the ground the rest is built against</a:t>
            </a:r>
            <a:endParaRPr lang="en-US" sz="1350" dirty="0"/>
          </a:p>
          <a:p>
            <a:pPr marL="342900" indent="-342900">
              <a:lnSpc>
                <a:spcPct val="115000"/>
              </a:lnSpc>
              <a:buSzPct val="100000"/>
              <a:buChar char="●"/>
            </a:pPr>
            <a:r>
              <a:rPr lang="en-US" sz="13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— </a:t>
            </a:r>
            <a:pPr indent="0" marL="0">
              <a:lnSpc>
                <a:spcPct val="115000"/>
              </a:lnSpc>
              <a:spcAft>
                <a:spcPts val="800"/>
              </a:spcAft>
              <a:buNone/>
            </a:pPr>
            <a:r>
              <a:rPr lang="en-US" sz="13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leaving rotational or linear freedom on purpose so a mechanism can be moved and checked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02920" y="3474720"/>
            <a:ext cx="11201400" cy="2926080"/>
          </a:xfrm>
          <a:prstGeom prst="roundRect">
            <a:avLst>
              <a:gd name="adj" fmla="val 218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2" name="Image 0" descr="/tmp/mech151_deck/images/29_mate_typ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3606765"/>
            <a:ext cx="10927080" cy="266199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Methods of Joining, Part 1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two parts are held together is a design decision — choose deliberately, then design both parts to suit it.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3581400" cy="4434840"/>
          </a:xfrm>
          <a:prstGeom prst="roundRect">
            <a:avLst>
              <a:gd name="adj" fmla="val 178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67512" y="1929384"/>
            <a:ext cx="325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Threaded Fasteners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67512" y="2221992"/>
            <a:ext cx="325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 tapped holes</a:t>
            </a:r>
            <a:endParaRPr lang="en-US" sz="950" dirty="0"/>
          </a:p>
        </p:txBody>
      </p:sp>
      <p:pic>
        <p:nvPicPr>
          <p:cNvPr id="10" name="Image 0" descr="/tmp/mech151_deck/images/22_threaded_faste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2804993"/>
            <a:ext cx="3252216" cy="217155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67512" y="5394960"/>
            <a:ext cx="3252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for metal-to-metal joints — strong, standard, and removable. Needs ~1.5–2× screw diameter of thread engagement plus tool access.</a:t>
            </a:r>
            <a:endParaRPr lang="en-US" sz="930" dirty="0"/>
          </a:p>
        </p:txBody>
      </p:sp>
      <p:sp>
        <p:nvSpPr>
          <p:cNvPr id="12" name="Shape 9"/>
          <p:cNvSpPr/>
          <p:nvPr/>
        </p:nvSpPr>
        <p:spPr>
          <a:xfrm>
            <a:off x="4312920" y="1783080"/>
            <a:ext cx="3581400" cy="4434840"/>
          </a:xfrm>
          <a:prstGeom prst="roundRect">
            <a:avLst>
              <a:gd name="adj" fmla="val 178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4477512" y="1929384"/>
            <a:ext cx="325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Heat-Set Inserts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4477512" y="2221992"/>
            <a:ext cx="325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plastic / 3D-printed parts</a:t>
            </a:r>
            <a:endParaRPr lang="en-US" sz="950" dirty="0"/>
          </a:p>
        </p:txBody>
      </p:sp>
      <p:pic>
        <p:nvPicPr>
          <p:cNvPr id="15" name="Image 1" descr="/tmp/mech151_deck/images/23_heat_set_inser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77512" y="2958533"/>
            <a:ext cx="3252216" cy="186447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477512" y="5394960"/>
            <a:ext cx="3252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brass insert is pressed into a boss with a soldering iron — melted plastic locks into its knurls, far more reusable than threading into plastic directly.</a:t>
            </a:r>
            <a:endParaRPr lang="en-US" sz="930" dirty="0"/>
          </a:p>
        </p:txBody>
      </p:sp>
      <p:sp>
        <p:nvSpPr>
          <p:cNvPr id="17" name="Shape 13"/>
          <p:cNvSpPr/>
          <p:nvPr/>
        </p:nvSpPr>
        <p:spPr>
          <a:xfrm>
            <a:off x="8122920" y="1783080"/>
            <a:ext cx="3581400" cy="4434840"/>
          </a:xfrm>
          <a:prstGeom prst="roundRect">
            <a:avLst>
              <a:gd name="adj" fmla="val 1787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8" name="Text 14"/>
          <p:cNvSpPr txBox="1"/>
          <p:nvPr/>
        </p:nvSpPr>
        <p:spPr>
          <a:xfrm>
            <a:off x="8287512" y="1929384"/>
            <a:ext cx="3252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Snap-Fit Joints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287512" y="2221992"/>
            <a:ext cx="3252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hardware, no tools</a:t>
            </a:r>
            <a:endParaRPr lang="en-US" sz="950" dirty="0"/>
          </a:p>
        </p:txBody>
      </p:sp>
      <p:pic>
        <p:nvPicPr>
          <p:cNvPr id="20" name="Image 2" descr="/tmp/mech151_deck/images/24_snap_fi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87512" y="2566838"/>
            <a:ext cx="3252216" cy="2647867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8287512" y="5394960"/>
            <a:ext cx="32522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3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Cantilever, annular, and torsion snaps release or lock permanently depending on retention angle — design for allowable strain and a lead-in angle.</a:t>
            </a:r>
            <a:endParaRPr lang="en-US" sz="93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Methods of Joining, Part 2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86400" cy="2697480"/>
          </a:xfrm>
          <a:prstGeom prst="roundRect">
            <a:avLst>
              <a:gd name="adj" fmla="val 237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85800" y="15361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Press / Interference Fits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7830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7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by friction from a slight size mismatch between mating diameters — dowel pins, bushings, bearings. Cheap and precise, but hard to disassemble and tolerance-sensitive.</a:t>
            </a:r>
            <a:endParaRPr lang="en-US" sz="970" dirty="0"/>
          </a:p>
        </p:txBody>
      </p:sp>
      <p:pic>
        <p:nvPicPr>
          <p:cNvPr id="9" name="Image 0" descr="/tmp/mech151_deck/images/25_press_fi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2252" y="2240280"/>
            <a:ext cx="1747736" cy="18288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217920" y="1417320"/>
            <a:ext cx="5486400" cy="2697480"/>
          </a:xfrm>
          <a:prstGeom prst="roundRect">
            <a:avLst>
              <a:gd name="adj" fmla="val 2373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6400800" y="15361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Compliant Mechanisms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400800" y="17830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7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or retention comes from the material's own flexibility — living hinges, flexure pivots, one-piece clips. Cuts part count to the extreme; limited travel and fatigue life.</a:t>
            </a:r>
            <a:endParaRPr lang="en-US" sz="970" dirty="0"/>
          </a:p>
        </p:txBody>
      </p:sp>
      <p:pic>
        <p:nvPicPr>
          <p:cNvPr id="13" name="Image 1" descr="/tmp/mech151_deck/images/26_compliant_hin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1563" y="2240280"/>
            <a:ext cx="3299114" cy="18288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502920" y="4242816"/>
            <a:ext cx="11201400" cy="1691640"/>
          </a:xfrm>
          <a:prstGeom prst="roundRect">
            <a:avLst>
              <a:gd name="adj" fmla="val 3784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5" name="Text 11"/>
          <p:cNvSpPr txBox="1"/>
          <p:nvPr/>
        </p:nvSpPr>
        <p:spPr>
          <a:xfrm>
            <a:off x="685800" y="435254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9E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Permanent Joints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3108960" y="435254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Adhesives, solvent/ultrasonic welding, and riveting — used only where the joint never needs to separate.</a:t>
            </a:r>
            <a:endParaRPr lang="en-US" sz="1000" dirty="0"/>
          </a:p>
        </p:txBody>
      </p:sp>
      <p:pic>
        <p:nvPicPr>
          <p:cNvPr id="17" name="Image 2" descr="/tmp/mech151_deck/images/27_permanent_joint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3034" y="4681728"/>
            <a:ext cx="4941172" cy="118872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502920" y="6044184"/>
            <a:ext cx="11201400" cy="502920"/>
          </a:xfrm>
          <a:prstGeom prst="roundRect">
            <a:avLst>
              <a:gd name="adj" fmla="val 14545"/>
            </a:avLst>
          </a:prstGeom>
          <a:solidFill>
            <a:srgbClr val="F3F6F9"/>
          </a:solidFill>
          <a:ln w="15875">
            <a:solidFill>
              <a:srgbClr val="1E9E5A"/>
            </a:solidFill>
            <a:prstDash val="solid"/>
          </a:ln>
        </p:spPr>
        <p:txBody>
          <a:bodyPr/>
          <a:p/>
        </p:txBody>
      </p:sp>
      <p:sp>
        <p:nvSpPr>
          <p:cNvPr id="19" name="Text 14"/>
          <p:cNvSpPr txBox="1"/>
          <p:nvPr/>
        </p:nvSpPr>
        <p:spPr>
          <a:xfrm>
            <a:off x="731520" y="6153912"/>
            <a:ext cx="10744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DFA trade-off: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is universal and serviceable but adds parts, tools, and assembly time; snap-fits and compliant features add almost nothing to the parts list but must be designed carefully and are harder to revise once tooling is dialed in.</a:t>
            </a:r>
            <a:endParaRPr lang="en-US" sz="12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Using Online Component Repositories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not model a part you can download — this is normal professional practice, not a shortcut.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057400"/>
            <a:ext cx="112014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models come from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McMaster-Carr (download STEP/native from almost any product page), manufacturer sites, TraceParts, GrabCAD, 3D ContentCentral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 for DFA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downloaded model is the real catalog part — correct dimensions and thread, a real part number for the BOM, at the price and lead time listed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them in cleanly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in a dedicated library folder, don't edit their geometry, mate to them like any other component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before you trust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units/scale on import, simplify heavy models, verify the part number matches what you intend to buy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for Assembly (DFA) Principles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parts, easier insertion, less to get wrong on the line — DFA turns assembly time into a design variable.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57400"/>
            <a:ext cx="5472684" cy="1431036"/>
          </a:xfrm>
          <a:prstGeom prst="roundRect">
            <a:avLst>
              <a:gd name="adj" fmla="val 511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67512" y="2203704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512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16712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part count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624328"/>
            <a:ext cx="51435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 is a candidate for elimination unless it moves, needs a different material, or must be removable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231636" y="2057400"/>
            <a:ext cx="5472684" cy="1431036"/>
          </a:xfrm>
          <a:prstGeom prst="roundRect">
            <a:avLst>
              <a:gd name="adj" fmla="val 511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396228" y="2203704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396228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90004" y="2167128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off-the-shelf parts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396228" y="2624328"/>
            <a:ext cx="51435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cheaper, faster, and more reliable than custom-fabricated — see the online repositories slide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02920" y="3689604"/>
            <a:ext cx="5472684" cy="1431036"/>
          </a:xfrm>
          <a:prstGeom prst="roundRect">
            <a:avLst>
              <a:gd name="adj" fmla="val 511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67512" y="3835908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667512" y="38359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61288" y="379933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insertion &amp; no reorientation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67512" y="4256532"/>
            <a:ext cx="51435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chamfers and self-locating features, assembling from one direction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231636" y="3689604"/>
            <a:ext cx="5472684" cy="1431036"/>
          </a:xfrm>
          <a:prstGeom prst="roundRect">
            <a:avLst>
              <a:gd name="adj" fmla="val 511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396228" y="3835908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396228" y="38359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6890004" y="3799332"/>
            <a:ext cx="46497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Standardize fasteners &amp; use symmetry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6228" y="4256532"/>
            <a:ext cx="5143500" cy="772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unique sizes to stock and pick; make orientation obvious or irrelevant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02920" y="5257800"/>
            <a:ext cx="11201400" cy="868680"/>
          </a:xfrm>
          <a:prstGeom prst="roundRect">
            <a:avLst>
              <a:gd name="adj" fmla="val 8421"/>
            </a:avLst>
          </a:prstGeom>
          <a:solidFill>
            <a:srgbClr val="F3F6F9"/>
          </a:solidFill>
          <a:ln w="15875">
            <a:solidFill>
              <a:srgbClr val="1E9E5A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31520" y="5367528"/>
            <a:ext cx="1074420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review &amp; iteration: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unit ends with a design review workshop — present an assembly, take feedback against the DFA principles, and produce a documented revision with a measurable improvement.</a:t>
            </a:r>
            <a:endParaRPr lang="en-US" sz="12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2 Wrap-Up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67512" y="2157984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67512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 &amp; fastener notes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callouts, class of fit, and hole sizing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486656" y="2157984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486656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980432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Multi-part assembly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486656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mates, sub-assemblies, and library hardware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41208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305800" y="2157984"/>
            <a:ext cx="384048" cy="384048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8305800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799576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Documented revision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05800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design review turned into a measurable DFA improvement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5532120"/>
            <a:ext cx="11201400" cy="868680"/>
          </a:xfrm>
          <a:prstGeom prst="roundRect">
            <a:avLst>
              <a:gd name="adj" fmla="val 10526"/>
            </a:avLst>
          </a:prstGeom>
          <a:solidFill>
            <a:srgbClr val="F3F6F9"/>
          </a:solidFill>
          <a:ln w="15875">
            <a:solidFill>
              <a:srgbClr val="1E9E5A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13232" y="5751576"/>
            <a:ext cx="420624" cy="420624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713232" y="5751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5623560"/>
            <a:ext cx="10195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produce: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called-out thread and fastener notes, a multi-part assembly model with correct mates, plus a documented design revision.  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E9E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by: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Competency Check (Week 11) and the corresponding portfolio modules.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29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895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51790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27685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03580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79476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55371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31266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607161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83056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58952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34847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9107424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9866376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625328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11384280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12143232" y="0"/>
            <a:ext cx="0" cy="685800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0" y="75895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0" y="151790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0" y="227685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0" y="303580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0" y="3794760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0" y="4553712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0" y="5312664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0" y="6071616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0" y="6830568"/>
            <a:ext cx="12191695" cy="0"/>
          </a:xfrm>
          <a:prstGeom prst="line">
            <a:avLst/>
          </a:prstGeom>
          <a:noFill/>
          <a:ln w="6350">
            <a:solidFill>
              <a:srgbClr val="16324F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7955280" y="365760"/>
            <a:ext cx="3931920" cy="612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4000" b="1" dirty="0">
                <a:solidFill>
                  <a:srgbClr val="0A203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0" dirty="0"/>
          </a:p>
        </p:txBody>
      </p:sp>
      <p:sp>
        <p:nvSpPr>
          <p:cNvPr id="28" name="Shape 26"/>
          <p:cNvSpPr/>
          <p:nvPr/>
        </p:nvSpPr>
        <p:spPr>
          <a:xfrm>
            <a:off x="685800" y="731520"/>
            <a:ext cx="2359152" cy="42062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685800" y="731520"/>
            <a:ext cx="23591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· WEEKS 12–16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2331720"/>
            <a:ext cx="8778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Design for Manufacturing</a:t>
            </a:r>
            <a:endParaRPr lang="en-US" sz="40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3611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tolerances and fits, then close the loop from CAD model to physical part — manufacturing-ready files, process limits, and shop safety.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685800" y="5806440"/>
            <a:ext cx="3383280" cy="438912"/>
          </a:xfrm>
          <a:prstGeom prst="roundRect">
            <a:avLst>
              <a:gd name="adj" fmla="val 20833"/>
            </a:avLst>
          </a:prstGeom>
          <a:solidFill>
            <a:srgbClr val="16324F"/>
          </a:solidFill>
          <a:ln w="1270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685800" y="5806440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FE3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COMPETENCY CHECK IN WEEK 16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Standards Carry the Design Intent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a design leaves your screen, the maker builds exactly what the documentation says.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65960"/>
            <a:ext cx="112014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maker is not the designer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conventions (ASME Y14.5, GD&amp;T, thread/finish callouts) let them read your intent without a phone call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dimensions must be stated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tolerance callout tells the shop where to spend effort and where a loose result is fine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formats preserve meaning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carries clean geometry between systems; a sloppy export arrives with gaps, wrong units, or lost features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Ambiguity is expensive and slow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graded prototype, it comes back as a part you can't use and no time to redo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5532120"/>
            <a:ext cx="11201400" cy="594360"/>
          </a:xfrm>
          <a:prstGeom prst="roundRect">
            <a:avLst>
              <a:gd name="adj" fmla="val 12308"/>
            </a:avLst>
          </a:prstGeom>
          <a:solidFill>
            <a:srgbClr val="F3F6F9"/>
          </a:solidFill>
          <a:ln w="15875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31520" y="5641848"/>
            <a:ext cx="10744200" cy="374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the design intent, then communicate it in the form everyone downstream already knows how to read.</a:t>
            </a:r>
            <a:endParaRPr lang="en-US" sz="12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to Tolerancing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part is made to an exact dimension — tolerancing states how much variation is acceptable so parts still fit and function.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02920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⌀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Diameter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⌀25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1919097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919097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964817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Radius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964817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R5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335274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3335274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±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3380994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Plus/Minus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3380994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±0.01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51451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4751451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SQ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4797171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4797171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SQ20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167628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167628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</a:t>
            </a:r>
            <a:endParaRPr lang="en-US" sz="2000" dirty="0"/>
          </a:p>
        </p:txBody>
      </p:sp>
      <p:sp>
        <p:nvSpPr>
          <p:cNvPr id="25" name="Text 23"/>
          <p:cNvSpPr txBox="1"/>
          <p:nvPr/>
        </p:nvSpPr>
        <p:spPr>
          <a:xfrm>
            <a:off x="6213348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Spherical Radius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6213348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583805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7583805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°</a:t>
            </a:r>
            <a:endParaRPr lang="en-US" sz="2000" dirty="0"/>
          </a:p>
        </p:txBody>
      </p:sp>
      <p:sp>
        <p:nvSpPr>
          <p:cNvPr id="29" name="Text 27"/>
          <p:cNvSpPr txBox="1"/>
          <p:nvPr/>
        </p:nvSpPr>
        <p:spPr>
          <a:xfrm>
            <a:off x="7629525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Degrees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7629525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45°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8999982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9415463" y="1837944"/>
            <a:ext cx="457200" cy="256032"/>
          </a:xfrm>
          <a:prstGeom prst="rect">
            <a:avLst/>
          </a:prstGeom>
          <a:ln w="19050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9415463" y="18379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9045702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Dimension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9045702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[25]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10416159" y="1719072"/>
            <a:ext cx="1288161" cy="1115568"/>
          </a:xfrm>
          <a:prstGeom prst="roundRect">
            <a:avLst>
              <a:gd name="adj" fmla="val 573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10416159" y="1810512"/>
            <a:ext cx="1288161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 )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10461879" y="2176272"/>
            <a:ext cx="119672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Dim.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10461879" y="2578608"/>
            <a:ext cx="119672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(25)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502920" y="3017520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594360" y="30906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 Dimensions</a:t>
            </a:r>
            <a:endParaRPr lang="en-US" sz="1150" dirty="0"/>
          </a:p>
        </p:txBody>
      </p:sp>
      <p:sp>
        <p:nvSpPr>
          <p:cNvPr id="42" name="Text 40"/>
          <p:cNvSpPr txBox="1"/>
          <p:nvPr/>
        </p:nvSpPr>
        <p:spPr>
          <a:xfrm>
            <a:off x="640080" y="3364992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1.253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2034540" y="3639312"/>
            <a:ext cx="548640" cy="0"/>
          </a:xfrm>
          <a:prstGeom prst="line">
            <a:avLst/>
          </a:prstGeom>
          <a:noFill/>
          <a:ln w="1270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 txBox="1"/>
          <p:nvPr/>
        </p:nvSpPr>
        <p:spPr>
          <a:xfrm>
            <a:off x="640080" y="3657600"/>
            <a:ext cx="3337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1.247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612648" y="4261104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limit over low limit — no math on the shop floor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4297680" y="3017520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47" name="Text 45"/>
          <p:cNvSpPr txBox="1"/>
          <p:nvPr/>
        </p:nvSpPr>
        <p:spPr>
          <a:xfrm>
            <a:off x="4389120" y="30906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Plus/Minus Tolerance</a:t>
            </a:r>
            <a:endParaRPr lang="en-US" sz="1150" dirty="0"/>
          </a:p>
        </p:txBody>
      </p:sp>
      <p:sp>
        <p:nvSpPr>
          <p:cNvPr id="48" name="Shape 46"/>
          <p:cNvSpPr/>
          <p:nvPr/>
        </p:nvSpPr>
        <p:spPr>
          <a:xfrm>
            <a:off x="5417820" y="3364992"/>
            <a:ext cx="0" cy="219456"/>
          </a:xfrm>
          <a:prstGeom prst="line">
            <a:avLst/>
          </a:prstGeom>
          <a:noFill/>
          <a:ln w="9525">
            <a:solidFill>
              <a:srgbClr val="8592A3"/>
            </a:solidFill>
            <a:prstDash val="solid"/>
          </a:ln>
        </p:spPr>
        <p:txBody>
          <a:bodyPr/>
          <a:p/>
        </p:txBody>
      </p:sp>
      <p:sp>
        <p:nvSpPr>
          <p:cNvPr id="49" name="Shape 47"/>
          <p:cNvSpPr/>
          <p:nvPr/>
        </p:nvSpPr>
        <p:spPr>
          <a:xfrm>
            <a:off x="6789420" y="3364992"/>
            <a:ext cx="0" cy="219456"/>
          </a:xfrm>
          <a:prstGeom prst="line">
            <a:avLst/>
          </a:prstGeom>
          <a:noFill/>
          <a:ln w="9525">
            <a:solidFill>
              <a:srgbClr val="8592A3"/>
            </a:solidFill>
            <a:prstDash val="solid"/>
          </a:ln>
        </p:spPr>
        <p:txBody>
          <a:bodyPr/>
          <a:p/>
        </p:txBody>
      </p:sp>
      <p:sp>
        <p:nvSpPr>
          <p:cNvPr id="50" name="Shape 48"/>
          <p:cNvSpPr/>
          <p:nvPr/>
        </p:nvSpPr>
        <p:spPr>
          <a:xfrm>
            <a:off x="5417820" y="3584448"/>
            <a:ext cx="137160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headEnd type="triangle"/>
            <a:tailEnd type="triangle"/>
          </a:ln>
        </p:spPr>
        <p:txBody>
          <a:bodyPr/>
          <a:p/>
        </p:txBody>
      </p:sp>
      <p:sp>
        <p:nvSpPr>
          <p:cNvPr id="51" name="Text 49"/>
          <p:cNvSpPr txBox="1"/>
          <p:nvPr/>
        </p:nvSpPr>
        <p:spPr>
          <a:xfrm>
            <a:off x="4434840" y="3694176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1.250 ±0.003</a:t>
            </a:r>
            <a:endParaRPr lang="en-US" sz="125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4261104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shown; unilateral: +0.005 / −0.000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8092440" y="3017520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54" name="Text 52"/>
          <p:cNvSpPr txBox="1"/>
          <p:nvPr/>
        </p:nvSpPr>
        <p:spPr>
          <a:xfrm>
            <a:off x="8183880" y="3090672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GD&amp;T Callout</a:t>
            </a:r>
            <a:endParaRPr lang="en-US" sz="1150" dirty="0"/>
          </a:p>
        </p:txBody>
      </p:sp>
      <p:sp>
        <p:nvSpPr>
          <p:cNvPr id="55" name="Shape 53"/>
          <p:cNvSpPr/>
          <p:nvPr/>
        </p:nvSpPr>
        <p:spPr>
          <a:xfrm>
            <a:off x="9194292" y="3401568"/>
            <a:ext cx="347472" cy="329184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56" name="Shape 54"/>
          <p:cNvSpPr/>
          <p:nvPr/>
        </p:nvSpPr>
        <p:spPr>
          <a:xfrm>
            <a:off x="9285732" y="3483864"/>
            <a:ext cx="164592" cy="164592"/>
          </a:xfrm>
          <a:prstGeom prst="ellipse">
            <a:avLst/>
          </a:prstGeom>
          <a:ln w="1905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57" name="Shape 55"/>
          <p:cNvSpPr/>
          <p:nvPr/>
        </p:nvSpPr>
        <p:spPr>
          <a:xfrm>
            <a:off x="9252814" y="3566160"/>
            <a:ext cx="230429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58" name="Shape 56"/>
          <p:cNvSpPr/>
          <p:nvPr/>
        </p:nvSpPr>
        <p:spPr>
          <a:xfrm>
            <a:off x="9368028" y="3450946"/>
            <a:ext cx="0" cy="230429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59" name="Shape 57"/>
          <p:cNvSpPr/>
          <p:nvPr/>
        </p:nvSpPr>
        <p:spPr>
          <a:xfrm>
            <a:off x="9541764" y="3401568"/>
            <a:ext cx="713232" cy="329184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60" name="Text 58"/>
          <p:cNvSpPr txBox="1"/>
          <p:nvPr/>
        </p:nvSpPr>
        <p:spPr>
          <a:xfrm>
            <a:off x="9541764" y="3401568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⌀0.10 Ⓜ</a:t>
            </a:r>
            <a:endParaRPr lang="en-US" sz="950" dirty="0"/>
          </a:p>
        </p:txBody>
      </p:sp>
      <p:sp>
        <p:nvSpPr>
          <p:cNvPr id="61" name="Shape 59"/>
          <p:cNvSpPr/>
          <p:nvPr/>
        </p:nvSpPr>
        <p:spPr>
          <a:xfrm>
            <a:off x="10254996" y="3401568"/>
            <a:ext cx="347472" cy="329184"/>
          </a:xfrm>
          <a:prstGeom prst="rect">
            <a:avLst/>
          </a:prstGeom>
          <a:solidFill>
            <a:srgbClr val="FFFFFF"/>
          </a:solidFill>
          <a:ln w="15875">
            <a:solidFill>
              <a:srgbClr val="7C3AED"/>
            </a:solidFill>
            <a:prstDash val="solid"/>
          </a:ln>
        </p:spPr>
        <p:txBody>
          <a:bodyPr/>
          <a:p/>
        </p:txBody>
      </p:sp>
      <p:sp>
        <p:nvSpPr>
          <p:cNvPr id="62" name="Text 60"/>
          <p:cNvSpPr txBox="1"/>
          <p:nvPr/>
        </p:nvSpPr>
        <p:spPr>
          <a:xfrm>
            <a:off x="10254996" y="3401568"/>
            <a:ext cx="347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950" dirty="0"/>
          </a:p>
        </p:txBody>
      </p:sp>
      <p:sp>
        <p:nvSpPr>
          <p:cNvPr id="63" name="Text 61"/>
          <p:cNvSpPr txBox="1"/>
          <p:nvPr/>
        </p:nvSpPr>
        <p:spPr>
          <a:xfrm>
            <a:off x="8202168" y="4261104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position, ⌀0.10 at MMC, to datum A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502920" y="4773168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65" name="Text 63"/>
          <p:cNvSpPr txBox="1"/>
          <p:nvPr/>
        </p:nvSpPr>
        <p:spPr>
          <a:xfrm>
            <a:off x="594360" y="48463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Close Fit</a:t>
            </a:r>
            <a:endParaRPr lang="en-US" sz="1150" dirty="0"/>
          </a:p>
        </p:txBody>
      </p:sp>
      <p:sp>
        <p:nvSpPr>
          <p:cNvPr id="66" name="Shape 64"/>
          <p:cNvSpPr/>
          <p:nvPr/>
        </p:nvSpPr>
        <p:spPr>
          <a:xfrm>
            <a:off x="2089404" y="5148072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67" name="Shape 65"/>
          <p:cNvSpPr/>
          <p:nvPr/>
        </p:nvSpPr>
        <p:spPr>
          <a:xfrm>
            <a:off x="2116836" y="5175504"/>
            <a:ext cx="384048" cy="384048"/>
          </a:xfrm>
          <a:prstGeom prst="ellipse">
            <a:avLst/>
          </a:prstGeom>
          <a:ln w="19050">
            <a:solidFill>
              <a:srgbClr val="7C3AED"/>
            </a:solidFill>
            <a:prstDash val="dash"/>
          </a:ln>
        </p:spPr>
        <p:txBody>
          <a:bodyPr/>
          <a:p/>
        </p:txBody>
      </p:sp>
      <p:sp>
        <p:nvSpPr>
          <p:cNvPr id="68" name="Text 66"/>
          <p:cNvSpPr txBox="1"/>
          <p:nvPr/>
        </p:nvSpPr>
        <p:spPr>
          <a:xfrm>
            <a:off x="640080" y="56692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⌀25 H7/p6</a:t>
            </a:r>
            <a:endParaRPr lang="en-US" sz="1250" dirty="0"/>
          </a:p>
        </p:txBody>
      </p:sp>
      <p:sp>
        <p:nvSpPr>
          <p:cNvPr id="69" name="Text 67"/>
          <p:cNvSpPr txBox="1"/>
          <p:nvPr/>
        </p:nvSpPr>
        <p:spPr>
          <a:xfrm>
            <a:off x="612648" y="6016752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gap — press or light-tap assembly (interference)</a:t>
            </a:r>
            <a:endParaRPr lang="en-US" sz="780" dirty="0"/>
          </a:p>
        </p:txBody>
      </p:sp>
      <p:sp>
        <p:nvSpPr>
          <p:cNvPr id="70" name="Shape 68"/>
          <p:cNvSpPr/>
          <p:nvPr/>
        </p:nvSpPr>
        <p:spPr>
          <a:xfrm>
            <a:off x="4297680" y="4773168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71" name="Text 69"/>
          <p:cNvSpPr txBox="1"/>
          <p:nvPr/>
        </p:nvSpPr>
        <p:spPr>
          <a:xfrm>
            <a:off x="4389120" y="48463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Loose Fit</a:t>
            </a:r>
            <a:endParaRPr lang="en-US" sz="1150" dirty="0"/>
          </a:p>
        </p:txBody>
      </p:sp>
      <p:sp>
        <p:nvSpPr>
          <p:cNvPr id="72" name="Shape 70"/>
          <p:cNvSpPr/>
          <p:nvPr/>
        </p:nvSpPr>
        <p:spPr>
          <a:xfrm>
            <a:off x="5856732" y="512064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73" name="Shape 71"/>
          <p:cNvSpPr/>
          <p:nvPr/>
        </p:nvSpPr>
        <p:spPr>
          <a:xfrm>
            <a:off x="5984748" y="5248656"/>
            <a:ext cx="237744" cy="237744"/>
          </a:xfrm>
          <a:prstGeom prst="ellipse">
            <a:avLst/>
          </a:prstGeom>
          <a:ln w="19050">
            <a:solidFill>
              <a:srgbClr val="7C3AED"/>
            </a:solidFill>
            <a:prstDash val="dash"/>
          </a:ln>
        </p:spPr>
        <p:txBody>
          <a:bodyPr/>
          <a:p/>
        </p:txBody>
      </p:sp>
      <p:sp>
        <p:nvSpPr>
          <p:cNvPr id="74" name="Text 72"/>
          <p:cNvSpPr txBox="1"/>
          <p:nvPr/>
        </p:nvSpPr>
        <p:spPr>
          <a:xfrm>
            <a:off x="4434840" y="566928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⌀25 H11/c11</a:t>
            </a:r>
            <a:endParaRPr lang="en-US" sz="1250" dirty="0"/>
          </a:p>
        </p:txBody>
      </p:sp>
      <p:sp>
        <p:nvSpPr>
          <p:cNvPr id="75" name="Text 73"/>
          <p:cNvSpPr txBox="1"/>
          <p:nvPr/>
        </p:nvSpPr>
        <p:spPr>
          <a:xfrm>
            <a:off x="4407408" y="6016752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visible gap — free-running clearance, easy to assemble</a:t>
            </a:r>
            <a:endParaRPr lang="en-US" sz="780" dirty="0"/>
          </a:p>
        </p:txBody>
      </p:sp>
      <p:sp>
        <p:nvSpPr>
          <p:cNvPr id="76" name="Shape 74"/>
          <p:cNvSpPr/>
          <p:nvPr/>
        </p:nvSpPr>
        <p:spPr>
          <a:xfrm>
            <a:off x="8092440" y="4773168"/>
            <a:ext cx="3611880" cy="1572768"/>
          </a:xfrm>
          <a:prstGeom prst="roundRect">
            <a:avLst>
              <a:gd name="adj" fmla="val 407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77" name="Text 75"/>
          <p:cNvSpPr txBox="1"/>
          <p:nvPr/>
        </p:nvSpPr>
        <p:spPr>
          <a:xfrm>
            <a:off x="8183880" y="4846320"/>
            <a:ext cx="3429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Surface Finish</a:t>
            </a:r>
            <a:endParaRPr lang="en-US" sz="1150" dirty="0"/>
          </a:p>
        </p:txBody>
      </p:sp>
      <p:sp>
        <p:nvSpPr>
          <p:cNvPr id="78" name="Shape 76"/>
          <p:cNvSpPr/>
          <p:nvPr/>
        </p:nvSpPr>
        <p:spPr>
          <a:xfrm>
            <a:off x="9432036" y="5522976"/>
            <a:ext cx="146304" cy="146304"/>
          </a:xfrm>
          <a:prstGeom prst="line">
            <a:avLst/>
          </a:prstGeom>
          <a:noFill/>
          <a:ln w="22225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79" name="Shape 77"/>
          <p:cNvSpPr/>
          <p:nvPr/>
        </p:nvSpPr>
        <p:spPr>
          <a:xfrm>
            <a:off x="9578340" y="5669280"/>
            <a:ext cx="182880" cy="-420624"/>
          </a:xfrm>
          <a:prstGeom prst="line">
            <a:avLst/>
          </a:prstGeom>
          <a:noFill/>
          <a:ln w="22225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80" name="Text 78"/>
          <p:cNvSpPr txBox="1"/>
          <p:nvPr/>
        </p:nvSpPr>
        <p:spPr>
          <a:xfrm>
            <a:off x="9797796" y="51206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 1.6</a:t>
            </a:r>
            <a:endParaRPr lang="en-US" sz="1250" dirty="0"/>
          </a:p>
        </p:txBody>
      </p:sp>
      <p:sp>
        <p:nvSpPr>
          <p:cNvPr id="81" name="Text 79"/>
          <p:cNvSpPr txBox="1"/>
          <p:nvPr/>
        </p:nvSpPr>
        <p:spPr>
          <a:xfrm>
            <a:off x="8202168" y="6016752"/>
            <a:ext cx="33924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7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roughness average (µin/µm) — smaller number = smoother surface</a:t>
            </a:r>
            <a:endParaRPr lang="en-US" sz="78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Tolerance Stackup: Bolt, Washer, Plate &amp; Nut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part varies — a stackup adds those variations along a chain of parts to predict whether the assembly still works.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tep 1 badge"/>
          <p:cNvSpPr/>
          <p:nvPr/>
        </p:nvSpPr>
        <p:spPr>
          <a:xfrm>
            <a:off x="502920" y="1828800"/>
            <a:ext cx="365760" cy="36576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8288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1810512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2942"/>
                </a:solidFill>
                <a:latin typeface="Calibri"/>
              </a:rPr>
              <a:t>Define the gap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44536B"/>
                </a:solidFill>
                <a:latin typeface="Calibri"/>
              </a:rPr>
              <a:t>Pick the one dimension that decides fit or function — here, bolt protrusion P past the nut.</a:t>
            </a:r>
          </a:p>
        </p:txBody>
      </p:sp>
      <p:sp>
        <p:nvSpPr>
          <p:cNvPr id="10" name="Step 2 badge"/>
          <p:cNvSpPr/>
          <p:nvPr/>
        </p:nvSpPr>
        <p:spPr>
          <a:xfrm>
            <a:off x="502920" y="2578608"/>
            <a:ext cx="365760" cy="36576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57860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256032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2942"/>
                </a:solidFill>
                <a:latin typeface="Calibri"/>
              </a:rPr>
              <a:t>Draw the loop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44536B"/>
                </a:solidFill>
                <a:latin typeface="Calibri"/>
              </a:rPr>
              <a:t>Trace from one side of the gap to the other through every part in the chain.</a:t>
            </a:r>
          </a:p>
        </p:txBody>
      </p:sp>
      <p:sp>
        <p:nvSpPr>
          <p:cNvPr id="13" name="Step 3 badge"/>
          <p:cNvSpPr/>
          <p:nvPr/>
        </p:nvSpPr>
        <p:spPr>
          <a:xfrm>
            <a:off x="502920" y="3328416"/>
            <a:ext cx="365760" cy="36576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32841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3310128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2942"/>
                </a:solidFill>
                <a:latin typeface="Calibri"/>
              </a:rPr>
              <a:t>Assign directions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44536B"/>
                </a:solidFill>
                <a:latin typeface="Calibri"/>
              </a:rPr>
              <a:t>A dimension that makes the gap bigger is (+); one that makes it smaller is (−).</a:t>
            </a:r>
          </a:p>
        </p:txBody>
      </p:sp>
      <p:sp>
        <p:nvSpPr>
          <p:cNvPr id="16" name="Step 4 badge"/>
          <p:cNvSpPr/>
          <p:nvPr/>
        </p:nvSpPr>
        <p:spPr>
          <a:xfrm>
            <a:off x="502920" y="4078223"/>
            <a:ext cx="365760" cy="36576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4078223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4059935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2942"/>
                </a:solidFill>
                <a:latin typeface="Calibri"/>
              </a:rPr>
              <a:t>Sum the nominals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44536B"/>
                </a:solidFill>
                <a:latin typeface="Calibri"/>
              </a:rPr>
              <a:t>P(nom) = Σ(+) − Σ(−).</a:t>
            </a:r>
          </a:p>
        </p:txBody>
      </p:sp>
      <p:sp>
        <p:nvSpPr>
          <p:cNvPr id="19" name="Step 5 badge"/>
          <p:cNvSpPr/>
          <p:nvPr/>
        </p:nvSpPr>
        <p:spPr>
          <a:xfrm>
            <a:off x="502920" y="4828031"/>
            <a:ext cx="365760" cy="36576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828031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4809744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2942"/>
                </a:solidFill>
                <a:latin typeface="Calibri"/>
              </a:rPr>
              <a:t>Sum the tolerances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44536B"/>
                </a:solidFill>
                <a:latin typeface="Calibri"/>
              </a:rPr>
              <a:t>Worst case: add every ± directly.  Statistical (RSS): √(Σ tol²).</a:t>
            </a:r>
          </a:p>
        </p:txBody>
      </p:sp>
      <p:sp>
        <p:nvSpPr>
          <p:cNvPr id="22" name="Step 6 badge"/>
          <p:cNvSpPr/>
          <p:nvPr/>
        </p:nvSpPr>
        <p:spPr>
          <a:xfrm>
            <a:off x="502920" y="5577840"/>
            <a:ext cx="365760" cy="36576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5778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" y="5559552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0F2942"/>
                </a:solidFill>
                <a:latin typeface="Calibri"/>
              </a:rPr>
              <a:t>Compare to the requirement</a:t>
            </a:r>
          </a:p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44536B"/>
                </a:solidFill>
                <a:latin typeface="Calibri"/>
              </a:rPr>
              <a:t>Outside the limits? Tighten a tolerance or change a nominal — then re-run.</a:t>
            </a:r>
          </a:p>
        </p:txBody>
      </p:sp>
      <p:sp>
        <p:nvSpPr>
          <p:cNvPr id="25" name="Diagram card"/>
          <p:cNvSpPr/>
          <p:nvPr/>
        </p:nvSpPr>
        <p:spPr>
          <a:xfrm>
            <a:off x="6400800" y="1737360"/>
            <a:ext cx="5285232" cy="278892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 w="12700">
            <a:solidFill>
              <a:srgbClr val="E1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181051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1">
                <a:solidFill>
                  <a:srgbClr val="8592A3"/>
                </a:solidFill>
                <a:latin typeface="Calibri"/>
              </a:rPr>
              <a:t>Section view</a:t>
            </a:r>
          </a:p>
        </p:txBody>
      </p:sp>
      <p:sp>
        <p:nvSpPr>
          <p:cNvPr id="27" name="Plate"/>
          <p:cNvSpPr/>
          <p:nvPr/>
        </p:nvSpPr>
        <p:spPr>
          <a:xfrm>
            <a:off x="7360920" y="2313432"/>
            <a:ext cx="1645920" cy="1737360"/>
          </a:xfrm>
          <a:prstGeom prst="rect">
            <a:avLst/>
          </a:prstGeom>
          <a:solidFill>
            <a:srgbClr val="D6DEE8"/>
          </a:solidFill>
          <a:ln w="1270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Nut"/>
          <p:cNvSpPr/>
          <p:nvPr/>
        </p:nvSpPr>
        <p:spPr>
          <a:xfrm>
            <a:off x="9220809" y="2770632"/>
            <a:ext cx="720912" cy="8229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Washer"/>
          <p:cNvSpPr/>
          <p:nvPr/>
        </p:nvSpPr>
        <p:spPr>
          <a:xfrm>
            <a:off x="9006840" y="2679191"/>
            <a:ext cx="213969" cy="1005840"/>
          </a:xfrm>
          <a:prstGeom prst="rect">
            <a:avLst/>
          </a:prstGeom>
          <a:solidFill>
            <a:srgbClr val="A3B1C2"/>
          </a:solidFill>
          <a:ln w="9525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Bolt shank"/>
          <p:cNvSpPr/>
          <p:nvPr/>
        </p:nvSpPr>
        <p:spPr>
          <a:xfrm>
            <a:off x="7360920" y="3017520"/>
            <a:ext cx="3291839" cy="329184"/>
          </a:xfrm>
          <a:prstGeom prst="rect">
            <a:avLst/>
          </a:prstGeom>
          <a:solidFill>
            <a:srgbClr val="8592A3"/>
          </a:solidFill>
          <a:ln w="9525">
            <a:solidFill>
              <a:srgbClr val="445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Bolt head"/>
          <p:cNvSpPr/>
          <p:nvPr/>
        </p:nvSpPr>
        <p:spPr>
          <a:xfrm>
            <a:off x="7086600" y="2724912"/>
            <a:ext cx="274320" cy="914400"/>
          </a:xfrm>
          <a:prstGeom prst="rect">
            <a:avLst/>
          </a:prstGeom>
          <a:solidFill>
            <a:srgbClr val="8592A3"/>
          </a:solidFill>
          <a:ln w="9525">
            <a:solidFill>
              <a:srgbClr val="445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10014874" y="3017520"/>
            <a:ext cx="45720" cy="329184"/>
          </a:xfrm>
          <a:prstGeom prst="line">
            <a:avLst/>
          </a:prstGeom>
          <a:ln w="6350">
            <a:solidFill>
              <a:srgbClr val="4453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10106314" y="3017520"/>
            <a:ext cx="45720" cy="329184"/>
          </a:xfrm>
          <a:prstGeom prst="line">
            <a:avLst/>
          </a:prstGeom>
          <a:ln w="6350">
            <a:solidFill>
              <a:srgbClr val="4453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197754" y="3017520"/>
            <a:ext cx="45720" cy="329184"/>
          </a:xfrm>
          <a:prstGeom prst="line">
            <a:avLst/>
          </a:prstGeom>
          <a:ln w="6350">
            <a:solidFill>
              <a:srgbClr val="4453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289194" y="3017520"/>
            <a:ext cx="45720" cy="329184"/>
          </a:xfrm>
          <a:prstGeom prst="line">
            <a:avLst/>
          </a:prstGeom>
          <a:ln w="6350">
            <a:solidFill>
              <a:srgbClr val="4453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380634" y="3017520"/>
            <a:ext cx="45720" cy="329184"/>
          </a:xfrm>
          <a:prstGeom prst="line">
            <a:avLst/>
          </a:prstGeom>
          <a:ln w="6350">
            <a:solidFill>
              <a:srgbClr val="4453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0472074" y="3017520"/>
            <a:ext cx="45720" cy="329184"/>
          </a:xfrm>
          <a:prstGeom prst="line">
            <a:avLst/>
          </a:prstGeom>
          <a:ln w="6350">
            <a:solidFill>
              <a:srgbClr val="4453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563514" y="3017520"/>
            <a:ext cx="45720" cy="329184"/>
          </a:xfrm>
          <a:prstGeom prst="line">
            <a:avLst/>
          </a:prstGeom>
          <a:ln w="6350">
            <a:solidFill>
              <a:srgbClr val="4453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360920" y="2377440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44536B"/>
                </a:solidFill>
                <a:latin typeface="Calibri"/>
              </a:rPr>
              <a:t>PLATE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20809" y="3364992"/>
            <a:ext cx="72091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NUT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0" y="365760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1">
                <a:solidFill>
                  <a:srgbClr val="8592A3"/>
                </a:solidFill>
                <a:latin typeface="Calibri"/>
              </a:rPr>
              <a:t>bolt head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7360920" y="2121408"/>
            <a:ext cx="0" cy="585216"/>
          </a:xfrm>
          <a:prstGeom prst="line">
            <a:avLst/>
          </a:prstGeom>
          <a:ln w="6350">
            <a:solidFill>
              <a:srgbClr val="8592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 flipV="1">
            <a:off x="10652760" y="2121408"/>
            <a:ext cx="0" cy="877824"/>
          </a:xfrm>
          <a:prstGeom prst="line">
            <a:avLst/>
          </a:prstGeom>
          <a:ln w="6350">
            <a:solidFill>
              <a:srgbClr val="8592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7360920" y="2194560"/>
            <a:ext cx="3291840" cy="0"/>
          </a:xfrm>
          <a:prstGeom prst="line">
            <a:avLst/>
          </a:prstGeom>
          <a:ln w="12700">
            <a:solidFill>
              <a:srgbClr val="0F2942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995160" y="1965960"/>
            <a:ext cx="4023359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F2942"/>
                </a:solidFill>
                <a:latin typeface="Calibri"/>
              </a:rPr>
              <a:t>L  (bolt length, under head)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360920" y="4069079"/>
            <a:ext cx="0" cy="192025"/>
          </a:xfrm>
          <a:prstGeom prst="line">
            <a:avLst/>
          </a:prstGeom>
          <a:ln w="6350">
            <a:solidFill>
              <a:srgbClr val="8592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9006840" y="4069079"/>
            <a:ext cx="0" cy="192025"/>
          </a:xfrm>
          <a:prstGeom prst="line">
            <a:avLst/>
          </a:prstGeom>
          <a:ln w="6350">
            <a:solidFill>
              <a:srgbClr val="8592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9220809" y="3703320"/>
            <a:ext cx="0" cy="557784"/>
          </a:xfrm>
          <a:prstGeom prst="line">
            <a:avLst/>
          </a:prstGeom>
          <a:ln w="6350">
            <a:solidFill>
              <a:srgbClr val="8592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9941722" y="3611880"/>
            <a:ext cx="0" cy="649224"/>
          </a:xfrm>
          <a:prstGeom prst="line">
            <a:avLst/>
          </a:prstGeom>
          <a:ln w="6350">
            <a:solidFill>
              <a:srgbClr val="8592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652760" y="3383280"/>
            <a:ext cx="0" cy="877824"/>
          </a:xfrm>
          <a:prstGeom prst="line">
            <a:avLst/>
          </a:prstGeom>
          <a:ln w="6350">
            <a:solidFill>
              <a:srgbClr val="8592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7360920" y="4187952"/>
            <a:ext cx="1645920" cy="0"/>
          </a:xfrm>
          <a:prstGeom prst="line">
            <a:avLst/>
          </a:prstGeom>
          <a:ln w="12700">
            <a:solidFill>
              <a:srgbClr val="0F2942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086600" y="425196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F2942"/>
                </a:solidFill>
                <a:latin typeface="Calibri"/>
              </a:rPr>
              <a:t>T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9006840" y="4187952"/>
            <a:ext cx="213969" cy="0"/>
          </a:xfrm>
          <a:prstGeom prst="line">
            <a:avLst/>
          </a:prstGeom>
          <a:ln w="12700">
            <a:solidFill>
              <a:srgbClr val="0F2942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8732520" y="4251960"/>
            <a:ext cx="762609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F2942"/>
                </a:solidFill>
                <a:latin typeface="Calibri"/>
              </a:rPr>
              <a:t>W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9220809" y="4187952"/>
            <a:ext cx="720913" cy="0"/>
          </a:xfrm>
          <a:prstGeom prst="line">
            <a:avLst/>
          </a:prstGeom>
          <a:ln w="12700">
            <a:solidFill>
              <a:srgbClr val="0F2942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8946489" y="4251960"/>
            <a:ext cx="1269552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F2942"/>
                </a:solidFill>
                <a:latin typeface="Calibri"/>
              </a:rPr>
              <a:t>N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9941722" y="4187952"/>
            <a:ext cx="711038" cy="0"/>
          </a:xfrm>
          <a:prstGeom prst="line">
            <a:avLst/>
          </a:prstGeom>
          <a:ln w="12700">
            <a:solidFill>
              <a:srgbClr val="D97706"/>
            </a:solidFill>
            <a:headEnd type="triangle" w="sm" len="sm"/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9667402" y="4251960"/>
            <a:ext cx="1259677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D97706"/>
                </a:solidFill>
                <a:latin typeface="Calibri"/>
              </a:rPr>
              <a:t>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57232" y="1810512"/>
            <a:ext cx="16916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050" b="1" i="0">
                <a:solidFill>
                  <a:srgbClr val="D97706"/>
                </a:solidFill>
                <a:latin typeface="Calibri"/>
              </a:rPr>
              <a:t>P = L − T − W − N</a:t>
            </a:r>
          </a:p>
        </p:txBody>
      </p:sp>
      <p:graphicFrame>
        <p:nvGraphicFramePr>
          <p:cNvPr id="60" name="Table 59"/>
          <p:cNvGraphicFramePr>
            <a:graphicFrameLocks noGrp="1"/>
          </p:cNvGraphicFramePr>
          <p:nvPr/>
        </p:nvGraphicFramePr>
        <p:xfrm>
          <a:off x="6400800" y="4681728"/>
          <a:ext cx="5285232" cy="16230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25880"/>
                <a:gridCol w="457200"/>
                <a:gridCol w="1024128"/>
                <a:gridCol w="868680"/>
                <a:gridCol w="1609344"/>
              </a:tblGrid>
              <a:tr h="324612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Dim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Nominal (in)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Tolerance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Effect on P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0F2942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F2942"/>
                          </a:solidFill>
                          <a:latin typeface="Calibri"/>
                        </a:rPr>
                        <a:t>Bolt, ¼-20 hex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44536B"/>
                          </a:solidFill>
                          <a:latin typeface="Calibri"/>
                        </a:rPr>
                        <a:t>L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44536B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44536B"/>
                          </a:solidFill>
                          <a:latin typeface="Calibri"/>
                        </a:rPr>
                        <a:t>±0.020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44536B"/>
                          </a:solidFill>
                          <a:latin typeface="Calibri"/>
                        </a:rPr>
                        <a:t>+  (longer → more P)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F2942"/>
                          </a:solidFill>
                          <a:latin typeface="Calibri"/>
                        </a:rPr>
                        <a:t>Plate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44536B"/>
                          </a:solidFill>
                          <a:latin typeface="Calibri"/>
                        </a:rPr>
                        <a:t>T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44536B"/>
                          </a:solidFill>
                          <a:latin typeface="Calibri"/>
                        </a:rPr>
                        <a:t>0.500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44536B"/>
                          </a:solidFill>
                          <a:latin typeface="Calibri"/>
                        </a:rPr>
                        <a:t>±0.010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44536B"/>
                          </a:solidFill>
                          <a:latin typeface="Calibri"/>
                        </a:rPr>
                        <a:t>−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3F6F9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F2942"/>
                          </a:solidFill>
                          <a:latin typeface="Calibri"/>
                        </a:rPr>
                        <a:t>Flat washer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44536B"/>
                          </a:solidFill>
                          <a:latin typeface="Calibri"/>
                        </a:rPr>
                        <a:t>W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44536B"/>
                          </a:solidFill>
                          <a:latin typeface="Calibri"/>
                        </a:rPr>
                        <a:t>0.065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44536B"/>
                          </a:solidFill>
                          <a:latin typeface="Calibri"/>
                        </a:rPr>
                        <a:t>±0.010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44536B"/>
                          </a:solidFill>
                          <a:latin typeface="Calibri"/>
                        </a:rPr>
                        <a:t>−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F2942"/>
                          </a:solidFill>
                          <a:latin typeface="Calibri"/>
                        </a:rPr>
                        <a:t>Hex nut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44536B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44536B"/>
                          </a:solidFill>
                          <a:latin typeface="Calibri"/>
                        </a:rPr>
                        <a:t>0.219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44536B"/>
                          </a:solidFill>
                          <a:latin typeface="Calibri"/>
                        </a:rPr>
                        <a:t>±0.007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44536B"/>
                          </a:solidFill>
                          <a:latin typeface="Calibri"/>
                        </a:rPr>
                        <a:t>−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3F6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Tolerance Stackup: Worked Example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Requirement: 0.100 ≤ P ≤ 0.250 in. — at least 2 threads (2 × 0.050 pitch) past the nut, without hitting the cover above it.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810512"/>
          <a:ext cx="5760720" cy="219456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548640"/>
                <a:gridCol w="1234440"/>
                <a:gridCol w="118872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Dim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Dir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Nominal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± Tol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0F294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Tol²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0F294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2942"/>
                          </a:solidFill>
                          <a:latin typeface="Calibri"/>
                        </a:rPr>
                        <a:t>L  bolt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36B"/>
                          </a:solidFill>
                          <a:latin typeface="Calibri"/>
                        </a:rPr>
                        <a:t>+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44536B"/>
                          </a:solidFill>
                          <a:latin typeface="Calibri"/>
                        </a:rPr>
                        <a:t>+1.000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44536B"/>
                          </a:solidFill>
                          <a:latin typeface="Calibri"/>
                        </a:rPr>
                        <a:t>0.020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44536B"/>
                          </a:solidFill>
                          <a:latin typeface="Calibri"/>
                        </a:rPr>
                        <a:t>0.000400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2942"/>
                          </a:solidFill>
                          <a:latin typeface="Calibri"/>
                        </a:rPr>
                        <a:t>T  plate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36B"/>
                          </a:solidFill>
                          <a:latin typeface="Calibri"/>
                        </a:rPr>
                        <a:t>−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44536B"/>
                          </a:solidFill>
                          <a:latin typeface="Calibri"/>
                        </a:rPr>
                        <a:t>−0.500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44536B"/>
                          </a:solidFill>
                          <a:latin typeface="Calibri"/>
                        </a:rPr>
                        <a:t>0.010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44536B"/>
                          </a:solidFill>
                          <a:latin typeface="Calibri"/>
                        </a:rPr>
                        <a:t>0.000100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3F6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2942"/>
                          </a:solidFill>
                          <a:latin typeface="Calibri"/>
                        </a:rPr>
                        <a:t>W  washer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36B"/>
                          </a:solidFill>
                          <a:latin typeface="Calibri"/>
                        </a:rPr>
                        <a:t>−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44536B"/>
                          </a:solidFill>
                          <a:latin typeface="Calibri"/>
                        </a:rPr>
                        <a:t>−0.065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44536B"/>
                          </a:solidFill>
                          <a:latin typeface="Calibri"/>
                        </a:rPr>
                        <a:t>0.010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44536B"/>
                          </a:solidFill>
                          <a:latin typeface="Calibri"/>
                        </a:rPr>
                        <a:t>0.000100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0F2942"/>
                          </a:solidFill>
                          <a:latin typeface="Calibri"/>
                        </a:rPr>
                        <a:t>N  nut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44536B"/>
                          </a:solidFill>
                          <a:latin typeface="Calibri"/>
                        </a:rPr>
                        <a:t>−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44536B"/>
                          </a:solidFill>
                          <a:latin typeface="Calibri"/>
                        </a:rPr>
                        <a:t>−0.219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44536B"/>
                          </a:solidFill>
                          <a:latin typeface="Calibri"/>
                        </a:rPr>
                        <a:t>0.007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3F6F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44536B"/>
                          </a:solidFill>
                          <a:latin typeface="Calibri"/>
                        </a:rPr>
                        <a:t>0.000049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3F6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0F2942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0F2942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F2942"/>
                          </a:solidFill>
                          <a:latin typeface="Calibri"/>
                        </a:rPr>
                        <a:t>P = 0.216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F2942"/>
                          </a:solidFill>
                          <a:latin typeface="Calibri"/>
                        </a:rPr>
                        <a:t>Σ = 0.047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DF1E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0F2942"/>
                          </a:solidFill>
                          <a:latin typeface="Calibri"/>
                        </a:rPr>
                        <a:t>Σ = 0.000649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E1E7EE"/>
                      </a:solidFill>
                    </a:lnL>
                    <a:lnR w="9525">
                      <a:solidFill>
                        <a:srgbClr val="E1E7EE"/>
                      </a:solidFill>
                    </a:lnR>
                    <a:lnT w="9525">
                      <a:solidFill>
                        <a:srgbClr val="E1E7EE"/>
                      </a:solidFill>
                    </a:lnT>
                    <a:lnB w="9525">
                      <a:solidFill>
                        <a:srgbClr val="E1E7EE"/>
                      </a:solidFill>
                    </a:lnB>
                    <a:solidFill>
                      <a:srgbClr val="FDF1E3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02920" y="4096512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F2942"/>
                </a:solidFill>
                <a:latin typeface="Calibri"/>
              </a:rPr>
              <a:t>RSS tolerance = √0.000649 = ±0.025</a:t>
            </a:r>
          </a:p>
        </p:txBody>
      </p:sp>
      <p:sp>
        <p:nvSpPr>
          <p:cNvPr id="9" name="Worst Case card"/>
          <p:cNvSpPr/>
          <p:nvPr/>
        </p:nvSpPr>
        <p:spPr>
          <a:xfrm>
            <a:off x="6583680" y="1810512"/>
            <a:ext cx="5102352" cy="111556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 w="15875">
            <a:solidFill>
              <a:srgbClr val="C241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84848" y="1901952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mbria"/>
              </a:rPr>
              <a:t>Worst Case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1901952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C2410C"/>
                </a:solidFill>
                <a:latin typeface="Calibri"/>
              </a:rPr>
              <a:t>✗  FAILS max by 0.013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84848" y="2194560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942"/>
                </a:solidFill>
                <a:latin typeface="Calibri"/>
              </a:rPr>
              <a:t>P = 0.216 ± 0.047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4848" y="2505456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4536B"/>
                </a:solidFill>
                <a:latin typeface="Calibri"/>
              </a:rPr>
              <a:t>Range 0.169 – 0.263 in.  </a:t>
            </a:r>
            <a:r>
              <a:rPr sz="1050" b="0" i="1">
                <a:solidFill>
                  <a:srgbClr val="8592A3"/>
                </a:solidFill>
                <a:latin typeface="Calibri"/>
              </a:rPr>
              <a:t>Guarantees 100% of parts fit.</a:t>
            </a:r>
          </a:p>
        </p:txBody>
      </p:sp>
      <p:sp>
        <p:nvSpPr>
          <p:cNvPr id="14" name="Statistical (RSS) card"/>
          <p:cNvSpPr/>
          <p:nvPr/>
        </p:nvSpPr>
        <p:spPr>
          <a:xfrm>
            <a:off x="6583680" y="3108960"/>
            <a:ext cx="5102352" cy="1115568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 w="15875">
            <a:solidFill>
              <a:srgbClr val="1E9E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4848" y="320040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D97706"/>
                </a:solidFill>
                <a:latin typeface="Cambria"/>
              </a:rPr>
              <a:t>Statistical (RSS)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3200400"/>
            <a:ext cx="21945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E9E5A"/>
                </a:solidFill>
                <a:latin typeface="Calibri"/>
              </a:rPr>
              <a:t>✓  PASSES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4848" y="3493008"/>
            <a:ext cx="4709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 i="0">
                <a:solidFill>
                  <a:srgbClr val="0F2942"/>
                </a:solidFill>
                <a:latin typeface="Calibri"/>
              </a:rPr>
              <a:t>P = 0.216 ± 0.025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3803904"/>
            <a:ext cx="47091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44536B"/>
                </a:solidFill>
                <a:latin typeface="Calibri"/>
              </a:rPr>
              <a:t>Range 0.191 – 0.241 in.  </a:t>
            </a:r>
            <a:r>
              <a:rPr sz="1050" b="0" i="1">
                <a:solidFill>
                  <a:srgbClr val="8592A3"/>
                </a:solidFill>
                <a:latin typeface="Calibri"/>
              </a:rPr>
              <a:t>~99.7% fit if each ± is a 3σ process.</a:t>
            </a:r>
          </a:p>
        </p:txBody>
      </p:sp>
      <p:sp>
        <p:nvSpPr>
          <p:cNvPr id="19" name="Range chart card"/>
          <p:cNvSpPr/>
          <p:nvPr/>
        </p:nvSpPr>
        <p:spPr>
          <a:xfrm>
            <a:off x="502920" y="4526280"/>
            <a:ext cx="6766560" cy="178308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 w="12700">
            <a:solidFill>
              <a:srgbClr val="E1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617720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0F2942"/>
                </a:solidFill>
                <a:latin typeface="Cambria"/>
              </a:rPr>
              <a:t>Predicted protrusion vs. requirement (in.)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4617720"/>
            <a:ext cx="283464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850" b="0" i="1">
                <a:solidFill>
                  <a:srgbClr val="8592A3"/>
                </a:solidFill>
                <a:latin typeface="Calibri"/>
              </a:rPr>
              <a:t>green = acceptable; min 0.100 is off-scale left</a:t>
            </a:r>
          </a:p>
        </p:txBody>
      </p:sp>
      <p:sp>
        <p:nvSpPr>
          <p:cNvPr id="22" name="Requirement band"/>
          <p:cNvSpPr/>
          <p:nvPr/>
        </p:nvSpPr>
        <p:spPr>
          <a:xfrm>
            <a:off x="1920240" y="4965192"/>
            <a:ext cx="3903784" cy="859536"/>
          </a:xfrm>
          <a:prstGeom prst="rect">
            <a:avLst/>
          </a:prstGeom>
          <a:solidFill>
            <a:srgbClr val="E7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824024" y="4928616"/>
            <a:ext cx="0" cy="896112"/>
          </a:xfrm>
          <a:prstGeom prst="line">
            <a:avLst/>
          </a:prstGeom>
          <a:ln w="15875">
            <a:solidFill>
              <a:srgbClr val="1E9E5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01064" y="4946904"/>
            <a:ext cx="78638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1E9E5A"/>
                </a:solidFill>
                <a:latin typeface="Calibri"/>
              </a:rPr>
              <a:t>max 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5038344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0F2942"/>
                </a:solidFill>
                <a:latin typeface="Calibri"/>
              </a:rPr>
              <a:t>Worst case</a:t>
            </a:r>
          </a:p>
        </p:txBody>
      </p:sp>
      <p:sp>
        <p:nvSpPr>
          <p:cNvPr id="26" name="Worst case bar"/>
          <p:cNvSpPr/>
          <p:nvPr/>
        </p:nvSpPr>
        <p:spPr>
          <a:xfrm>
            <a:off x="2661959" y="5084064"/>
            <a:ext cx="3669557" cy="128016"/>
          </a:xfrm>
          <a:prstGeom prst="roundRect">
            <a:avLst>
              <a:gd name="adj" fmla="val 50000"/>
            </a:avLst>
          </a:prstGeom>
          <a:solidFill>
            <a:srgbClr val="C241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451017" y="5102352"/>
            <a:ext cx="91440" cy="91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2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404104"/>
            <a:ext cx="11887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0F2942"/>
                </a:solidFill>
                <a:latin typeface="Calibri"/>
              </a:rPr>
              <a:t>RSS</a:t>
            </a:r>
          </a:p>
        </p:txBody>
      </p:sp>
      <p:sp>
        <p:nvSpPr>
          <p:cNvPr id="29" name="RSS bar"/>
          <p:cNvSpPr/>
          <p:nvPr/>
        </p:nvSpPr>
        <p:spPr>
          <a:xfrm>
            <a:off x="3520791" y="5449824"/>
            <a:ext cx="1951892" cy="128016"/>
          </a:xfrm>
          <a:prstGeom prst="roundRect">
            <a:avLst>
              <a:gd name="adj" fmla="val 50000"/>
            </a:avLst>
          </a:prstGeom>
          <a:solidFill>
            <a:srgbClr val="1E9E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451017" y="5468112"/>
            <a:ext cx="91440" cy="91440"/>
          </a:xfrm>
          <a:prstGeom prst="ellipse">
            <a:avLst/>
          </a:prstGeom>
          <a:solidFill>
            <a:srgbClr val="FFFFFF"/>
          </a:solidFill>
          <a:ln w="9525">
            <a:solidFill>
              <a:srgbClr val="0F2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>
            <a:off x="1920240" y="5861304"/>
            <a:ext cx="5074920" cy="0"/>
          </a:xfrm>
          <a:prstGeom prst="line">
            <a:avLst/>
          </a:prstGeom>
          <a:ln w="9525">
            <a:solidFill>
              <a:srgbClr val="8592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920240" y="5861304"/>
            <a:ext cx="0" cy="54864"/>
          </a:xfrm>
          <a:prstGeom prst="line">
            <a:avLst/>
          </a:prstGeom>
          <a:ln w="9525">
            <a:solidFill>
              <a:srgbClr val="8592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645920" y="59253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8592A3"/>
                </a:solidFill>
                <a:latin typeface="Calibri"/>
              </a:rPr>
              <a:t>0.150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896186" y="5861304"/>
            <a:ext cx="0" cy="54864"/>
          </a:xfrm>
          <a:prstGeom prst="line">
            <a:avLst/>
          </a:prstGeom>
          <a:ln w="9525">
            <a:solidFill>
              <a:srgbClr val="8592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621866" y="59253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8592A3"/>
                </a:solidFill>
                <a:latin typeface="Calibri"/>
              </a:rPr>
              <a:t>0.175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872132" y="5861304"/>
            <a:ext cx="0" cy="54864"/>
          </a:xfrm>
          <a:prstGeom prst="line">
            <a:avLst/>
          </a:prstGeom>
          <a:ln w="9525">
            <a:solidFill>
              <a:srgbClr val="8592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597812" y="59253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8592A3"/>
                </a:solidFill>
                <a:latin typeface="Calibri"/>
              </a:rPr>
              <a:t>0.200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848078" y="5861304"/>
            <a:ext cx="0" cy="54864"/>
          </a:xfrm>
          <a:prstGeom prst="line">
            <a:avLst/>
          </a:prstGeom>
          <a:ln w="9525">
            <a:solidFill>
              <a:srgbClr val="8592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3758" y="59253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8592A3"/>
                </a:solidFill>
                <a:latin typeface="Calibri"/>
              </a:rPr>
              <a:t>0.225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824024" y="5861304"/>
            <a:ext cx="0" cy="54864"/>
          </a:xfrm>
          <a:prstGeom prst="line">
            <a:avLst/>
          </a:prstGeom>
          <a:ln w="9525">
            <a:solidFill>
              <a:srgbClr val="8592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549704" y="59253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8592A3"/>
                </a:solidFill>
                <a:latin typeface="Calibri"/>
              </a:rPr>
              <a:t>0.250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6799970" y="5861304"/>
            <a:ext cx="0" cy="54864"/>
          </a:xfrm>
          <a:prstGeom prst="line">
            <a:avLst/>
          </a:prstGeom>
          <a:ln w="9525">
            <a:solidFill>
              <a:srgbClr val="8592A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6525650" y="59253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0" i="0">
                <a:solidFill>
                  <a:srgbClr val="8592A3"/>
                </a:solidFill>
                <a:latin typeface="Calibri"/>
              </a:rPr>
              <a:t>0.275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592531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1">
                <a:solidFill>
                  <a:srgbClr val="8592A3"/>
                </a:solidFill>
                <a:latin typeface="Calibri"/>
              </a:rPr>
              <a:t>○ = nominal 0.216</a:t>
            </a:r>
          </a:p>
        </p:txBody>
      </p:sp>
      <p:sp>
        <p:nvSpPr>
          <p:cNvPr id="45" name="Fix callout"/>
          <p:cNvSpPr/>
          <p:nvPr/>
        </p:nvSpPr>
        <p:spPr>
          <a:xfrm>
            <a:off x="7452360" y="4526280"/>
            <a:ext cx="4233671" cy="178308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587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53528" y="4654296"/>
            <a:ext cx="3831335" cy="1527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1" i="0">
                <a:solidFill>
                  <a:srgbClr val="D97706"/>
                </a:solidFill>
                <a:latin typeface="Calibri"/>
              </a:rPr>
              <a:t>Fixing the worst case:  </a:t>
            </a:r>
            <a:r>
              <a:rPr sz="1150" b="0" i="0">
                <a:solidFill>
                  <a:srgbClr val="44536B"/>
                </a:solidFill>
                <a:latin typeface="Calibri"/>
              </a:rPr>
              <a:t>tighten the biggest contributors first — bolt to ±0.010 and washer to ±0.005 gives Σ = 0.032, so P = 0.184 – 0.248 ✓.</a:t>
            </a:r>
          </a:p>
          <a:p>
            <a:pPr algn="l">
              <a:lnSpc>
                <a:spcPct val="108000"/>
              </a:lnSpc>
              <a:spcAft>
                <a:spcPts val="600"/>
              </a:spcAft>
            </a:pPr>
            <a:r>
              <a:rPr sz="1150" b="1" i="0">
                <a:solidFill>
                  <a:srgbClr val="D97706"/>
                </a:solidFill>
                <a:latin typeface="Calibri"/>
              </a:rPr>
              <a:t>Which method?  </a:t>
            </a:r>
            <a:r>
              <a:rPr sz="1150" b="0" i="0">
                <a:solidFill>
                  <a:srgbClr val="44536B"/>
                </a:solidFill>
                <a:latin typeface="Calibri"/>
              </a:rPr>
              <a:t>Worst case for low volume or safety-critical fits; RSS for production runs where every part landing at its limit at once is unlikely.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GD&amp;T: The Building Blocks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symbolic language (ASME Y14.5 / ISO GPS) for functional relationships — design intent written in symbols instead of prose.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057400"/>
            <a:ext cx="60350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of size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feature with an axis or centerplane — a hole, pin, slot, width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Datums (A, B, C)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surfaces chosen to match how the part actually seats in use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 reference frame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+ secondary + tertiary datums lock all six degrees of freedom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Tolerance zone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geometric space the feature must lie within — a gap, a cylinder, a band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 families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standard's ~14 geometric characteristic symbols sort into five families — form, orientation, location, profile, and runout (next slide)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903720" y="2286000"/>
            <a:ext cx="1188720" cy="548640"/>
          </a:xfrm>
          <a:prstGeom prst="rect">
            <a:avLst/>
          </a:prstGeom>
          <a:solidFill>
            <a:srgbClr val="F3F6F9"/>
          </a:solidFill>
          <a:ln w="1905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347204" y="2409444"/>
            <a:ext cx="301752" cy="301752"/>
          </a:xfrm>
          <a:prstGeom prst="ellipse">
            <a:avLst/>
          </a:prstGeom>
          <a:ln w="22225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271766" y="2560320"/>
            <a:ext cx="452628" cy="0"/>
          </a:xfrm>
          <a:prstGeom prst="line">
            <a:avLst/>
          </a:prstGeom>
          <a:noFill/>
          <a:ln w="22225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7498080" y="2334006"/>
            <a:ext cx="0" cy="452628"/>
          </a:xfrm>
          <a:prstGeom prst="line">
            <a:avLst/>
          </a:prstGeom>
          <a:noFill/>
          <a:ln w="22225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812280" y="2907792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 (position)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092440" y="2286000"/>
            <a:ext cx="1828800" cy="548640"/>
          </a:xfrm>
          <a:prstGeom prst="rect">
            <a:avLst/>
          </a:prstGeom>
          <a:solidFill>
            <a:srgbClr val="F3F6F9"/>
          </a:solidFill>
          <a:ln w="1905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092440" y="22860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⌀0.2  M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8001000" y="290779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Tolerance value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9921240" y="2286000"/>
            <a:ext cx="1737360" cy="548640"/>
          </a:xfrm>
          <a:prstGeom prst="rect">
            <a:avLst/>
          </a:prstGeom>
          <a:solidFill>
            <a:srgbClr val="F3F6F9"/>
          </a:solidFill>
          <a:ln w="19050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9921240" y="22860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 C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9829800" y="29077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Datums referenced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6903720" y="19659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control frame — read left to right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903720" y="3703320"/>
            <a:ext cx="4800600" cy="1463040"/>
          </a:xfrm>
          <a:prstGeom prst="roundRect">
            <a:avLst>
              <a:gd name="adj" fmla="val 5000"/>
            </a:avLst>
          </a:prstGeom>
          <a:solidFill>
            <a:srgbClr val="F3F6F9"/>
          </a:solidFill>
          <a:ln w="15875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7132320" y="3813048"/>
            <a:ext cx="4343400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beats plain ±: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± box on four hole dimensions creates a small square zone and over-constrains the part; a position callout defines a round zone tied to the surfaces that matter, letting more good parts through.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GD&amp;T Symbol Categories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standard's ~14 geometric characteristic symbols sort into five families by what they control and whether they need a datum.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2628900" cy="2697480"/>
          </a:xfrm>
          <a:prstGeom prst="roundRect">
            <a:avLst>
              <a:gd name="adj" fmla="val 24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85800" y="1993392"/>
            <a:ext cx="22631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276856"/>
            <a:ext cx="22631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datum needed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73913" y="2809494"/>
            <a:ext cx="279806" cy="0"/>
          </a:xfrm>
          <a:prstGeom prst="line">
            <a:avLst/>
          </a:prstGeom>
          <a:noFill/>
          <a:ln w="2286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69848" y="2606040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Straightness</a:t>
            </a:r>
            <a:endParaRPr lang="en-US" sz="1080" dirty="0"/>
          </a:p>
        </p:txBody>
      </p:sp>
      <p:sp>
        <p:nvSpPr>
          <p:cNvPr id="12" name="Shape 10"/>
          <p:cNvSpPr/>
          <p:nvPr/>
        </p:nvSpPr>
        <p:spPr>
          <a:xfrm>
            <a:off x="681685" y="3209087"/>
            <a:ext cx="264262" cy="124358"/>
          </a:xfrm>
          <a:prstGeom prst="parallelogram">
            <a:avLst/>
          </a:prstGeom>
          <a:ln w="2032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69848" y="3067812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Flatness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712775" y="3631997"/>
            <a:ext cx="202082" cy="202082"/>
          </a:xfrm>
          <a:prstGeom prst="ellipse">
            <a:avLst/>
          </a:prstGeom>
          <a:ln w="2159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069848" y="3529584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Circularity</a:t>
            </a:r>
            <a:endParaRPr lang="en-US" sz="1080" dirty="0"/>
          </a:p>
        </p:txBody>
      </p:sp>
      <p:sp>
        <p:nvSpPr>
          <p:cNvPr id="16" name="Shape 14"/>
          <p:cNvSpPr/>
          <p:nvPr/>
        </p:nvSpPr>
        <p:spPr>
          <a:xfrm>
            <a:off x="728320" y="4109314"/>
            <a:ext cx="170993" cy="170993"/>
          </a:xfrm>
          <a:prstGeom prst="ellipse">
            <a:avLst/>
          </a:prstGeom>
          <a:ln w="1778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66140" y="4171493"/>
            <a:ext cx="295351" cy="-65288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66140" y="4283415"/>
            <a:ext cx="295351" cy="-65288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1069848" y="3991356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Cylindricity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3360420" y="1874520"/>
            <a:ext cx="2628900" cy="2697480"/>
          </a:xfrm>
          <a:prstGeom prst="roundRect">
            <a:avLst>
              <a:gd name="adj" fmla="val 24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3543300" y="1993392"/>
            <a:ext cx="22631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Orientation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3543300" y="2276856"/>
            <a:ext cx="22631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datum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71316" y="2669591"/>
            <a:ext cx="0" cy="233172"/>
          </a:xfrm>
          <a:prstGeom prst="line">
            <a:avLst/>
          </a:prstGeom>
          <a:noFill/>
          <a:ln w="2286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3554730" y="2902763"/>
            <a:ext cx="233172" cy="0"/>
          </a:xfrm>
          <a:prstGeom prst="line">
            <a:avLst/>
          </a:prstGeom>
          <a:noFill/>
          <a:ln w="2286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3927348" y="2606040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Perpendicularity</a:t>
            </a:r>
            <a:endParaRPr lang="en-US" sz="1080" dirty="0"/>
          </a:p>
        </p:txBody>
      </p:sp>
      <p:sp>
        <p:nvSpPr>
          <p:cNvPr id="26" name="Shape 24"/>
          <p:cNvSpPr/>
          <p:nvPr/>
        </p:nvSpPr>
        <p:spPr>
          <a:xfrm>
            <a:off x="3546958" y="3185770"/>
            <a:ext cx="248717" cy="77724"/>
          </a:xfrm>
          <a:prstGeom prst="line">
            <a:avLst/>
          </a:prstGeom>
          <a:noFill/>
          <a:ln w="2032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3546958" y="3279038"/>
            <a:ext cx="248717" cy="77724"/>
          </a:xfrm>
          <a:prstGeom prst="line">
            <a:avLst/>
          </a:prstGeom>
          <a:noFill/>
          <a:ln w="2032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3927348" y="3067812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Parallelism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3562502" y="3834079"/>
            <a:ext cx="233172" cy="0"/>
          </a:xfrm>
          <a:prstGeom prst="line">
            <a:avLst/>
          </a:prstGeom>
          <a:noFill/>
          <a:ln w="2159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3578047" y="3834079"/>
            <a:ext cx="139903" cy="-202082"/>
          </a:xfrm>
          <a:prstGeom prst="line">
            <a:avLst/>
          </a:prstGeom>
          <a:noFill/>
          <a:ln w="2159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3927348" y="3529584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Angularity</a:t>
            </a:r>
            <a:endParaRPr lang="en-US" sz="1080" dirty="0"/>
          </a:p>
        </p:txBody>
      </p:sp>
      <p:sp>
        <p:nvSpPr>
          <p:cNvPr id="32" name="Shape 30"/>
          <p:cNvSpPr/>
          <p:nvPr/>
        </p:nvSpPr>
        <p:spPr>
          <a:xfrm>
            <a:off x="6217920" y="1874520"/>
            <a:ext cx="2628900" cy="2697480"/>
          </a:xfrm>
          <a:prstGeom prst="roundRect">
            <a:avLst>
              <a:gd name="adj" fmla="val 24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6400800" y="1993392"/>
            <a:ext cx="22631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Location</a:t>
            </a:r>
            <a:endParaRPr lang="en-US" sz="14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0" y="2276856"/>
            <a:ext cx="22631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datums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443320" y="2723998"/>
            <a:ext cx="170993" cy="170993"/>
          </a:xfrm>
          <a:prstGeom prst="ellipse">
            <a:avLst/>
          </a:prstGeom>
          <a:ln w="2159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36" name="Shape 34"/>
          <p:cNvSpPr/>
          <p:nvPr/>
        </p:nvSpPr>
        <p:spPr>
          <a:xfrm>
            <a:off x="6396685" y="2809494"/>
            <a:ext cx="264262" cy="0"/>
          </a:xfrm>
          <a:prstGeom prst="line">
            <a:avLst/>
          </a:prstGeom>
          <a:noFill/>
          <a:ln w="2159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37" name="Shape 35"/>
          <p:cNvSpPr/>
          <p:nvPr/>
        </p:nvSpPr>
        <p:spPr>
          <a:xfrm>
            <a:off x="6528816" y="2677363"/>
            <a:ext cx="0" cy="264262"/>
          </a:xfrm>
          <a:prstGeom prst="line">
            <a:avLst/>
          </a:prstGeom>
          <a:noFill/>
          <a:ln w="2159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 txBox="1"/>
          <p:nvPr/>
        </p:nvSpPr>
        <p:spPr>
          <a:xfrm>
            <a:off x="6784848" y="2606040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</a:t>
            </a:r>
            <a:endParaRPr lang="en-US" sz="1080" dirty="0"/>
          </a:p>
        </p:txBody>
      </p:sp>
      <p:sp>
        <p:nvSpPr>
          <p:cNvPr id="39" name="Shape 37"/>
          <p:cNvSpPr/>
          <p:nvPr/>
        </p:nvSpPr>
        <p:spPr>
          <a:xfrm>
            <a:off x="6427775" y="3170225"/>
            <a:ext cx="202082" cy="202082"/>
          </a:xfrm>
          <a:prstGeom prst="donut">
            <a:avLst/>
          </a:prstGeom>
          <a:solidFill>
            <a:srgbClr val="E1E7EE"/>
          </a:solidFill>
          <a:ln w="1651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 txBox="1"/>
          <p:nvPr/>
        </p:nvSpPr>
        <p:spPr>
          <a:xfrm>
            <a:off x="6784848" y="3067812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Concentricity</a:t>
            </a:r>
            <a:endParaRPr lang="en-US" sz="1080" dirty="0"/>
          </a:p>
        </p:txBody>
      </p:sp>
      <p:sp>
        <p:nvSpPr>
          <p:cNvPr id="41" name="Shape 39"/>
          <p:cNvSpPr/>
          <p:nvPr/>
        </p:nvSpPr>
        <p:spPr>
          <a:xfrm>
            <a:off x="6412230" y="3667750"/>
            <a:ext cx="233172" cy="0"/>
          </a:xfrm>
          <a:prstGeom prst="line">
            <a:avLst/>
          </a:prstGeom>
          <a:noFill/>
          <a:ln w="2032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42" name="Shape 40"/>
          <p:cNvSpPr/>
          <p:nvPr/>
        </p:nvSpPr>
        <p:spPr>
          <a:xfrm>
            <a:off x="6412230" y="3733038"/>
            <a:ext cx="233172" cy="0"/>
          </a:xfrm>
          <a:prstGeom prst="line">
            <a:avLst/>
          </a:prstGeom>
          <a:noFill/>
          <a:ln w="2032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43" name="Shape 41"/>
          <p:cNvSpPr/>
          <p:nvPr/>
        </p:nvSpPr>
        <p:spPr>
          <a:xfrm>
            <a:off x="6412230" y="3798326"/>
            <a:ext cx="233172" cy="0"/>
          </a:xfrm>
          <a:prstGeom prst="line">
            <a:avLst/>
          </a:prstGeom>
          <a:noFill/>
          <a:ln w="2032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 txBox="1"/>
          <p:nvPr/>
        </p:nvSpPr>
        <p:spPr>
          <a:xfrm>
            <a:off x="6784848" y="3529584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Symmetry</a:t>
            </a:r>
            <a:endParaRPr lang="en-US" sz="1080" dirty="0"/>
          </a:p>
        </p:txBody>
      </p:sp>
      <p:sp>
        <p:nvSpPr>
          <p:cNvPr id="45" name="Shape 43"/>
          <p:cNvSpPr/>
          <p:nvPr/>
        </p:nvSpPr>
        <p:spPr>
          <a:xfrm>
            <a:off x="9075420" y="1874520"/>
            <a:ext cx="2628900" cy="2697480"/>
          </a:xfrm>
          <a:prstGeom prst="roundRect">
            <a:avLst>
              <a:gd name="adj" fmla="val 2435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 txBox="1"/>
          <p:nvPr/>
        </p:nvSpPr>
        <p:spPr>
          <a:xfrm>
            <a:off x="9258300" y="1993392"/>
            <a:ext cx="22631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Profile &amp; Runout</a:t>
            </a:r>
            <a:endParaRPr lang="en-US" sz="1450" dirty="0"/>
          </a:p>
        </p:txBody>
      </p:sp>
      <p:sp>
        <p:nvSpPr>
          <p:cNvPr id="47" name="Text 45"/>
          <p:cNvSpPr txBox="1"/>
          <p:nvPr/>
        </p:nvSpPr>
        <p:spPr>
          <a:xfrm>
            <a:off x="9258300" y="2276856"/>
            <a:ext cx="22631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Profile: no/some datums · Runout: datum axis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269730" y="2747315"/>
            <a:ext cx="233172" cy="155448"/>
          </a:xfrm>
          <a:prstGeom prst="arc">
            <a:avLst>
              <a:gd name="adj1" fmla="val 10800000"/>
              <a:gd name="adj2" fmla="val 21600000"/>
            </a:avLst>
          </a:prstGeom>
          <a:ln w="2159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49" name="Text 47"/>
          <p:cNvSpPr txBox="1"/>
          <p:nvPr/>
        </p:nvSpPr>
        <p:spPr>
          <a:xfrm>
            <a:off x="9642348" y="2606040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of a line</a:t>
            </a:r>
            <a:endParaRPr lang="en-US" sz="1080" dirty="0"/>
          </a:p>
        </p:txBody>
      </p:sp>
      <p:sp>
        <p:nvSpPr>
          <p:cNvPr id="50" name="Shape 48"/>
          <p:cNvSpPr/>
          <p:nvPr/>
        </p:nvSpPr>
        <p:spPr>
          <a:xfrm>
            <a:off x="9269730" y="3209087"/>
            <a:ext cx="233172" cy="155448"/>
          </a:xfrm>
          <a:prstGeom prst="chord">
            <a:avLst>
              <a:gd name="adj1" fmla="val 10800000"/>
              <a:gd name="adj2" fmla="val 21600000"/>
            </a:avLst>
          </a:prstGeom>
          <a:ln w="21590">
            <a:solidFill>
              <a:srgbClr val="0F2942"/>
            </a:solidFill>
            <a:prstDash val="solid"/>
          </a:ln>
        </p:spPr>
        <p:txBody>
          <a:bodyPr/>
          <a:p/>
        </p:txBody>
      </p:sp>
      <p:sp>
        <p:nvSpPr>
          <p:cNvPr id="51" name="Text 49"/>
          <p:cNvSpPr txBox="1"/>
          <p:nvPr/>
        </p:nvSpPr>
        <p:spPr>
          <a:xfrm>
            <a:off x="9642348" y="3067812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of a surface</a:t>
            </a:r>
            <a:endParaRPr lang="en-US" sz="1080" dirty="0"/>
          </a:p>
        </p:txBody>
      </p:sp>
      <p:sp>
        <p:nvSpPr>
          <p:cNvPr id="52" name="Shape 50"/>
          <p:cNvSpPr/>
          <p:nvPr/>
        </p:nvSpPr>
        <p:spPr>
          <a:xfrm>
            <a:off x="9269730" y="3849624"/>
            <a:ext cx="217627" cy="-233172"/>
          </a:xfrm>
          <a:prstGeom prst="line">
            <a:avLst/>
          </a:prstGeom>
          <a:noFill/>
          <a:ln w="22860">
            <a:solidFill>
              <a:srgbClr val="0F294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3" name="Text 51"/>
          <p:cNvSpPr txBox="1"/>
          <p:nvPr/>
        </p:nvSpPr>
        <p:spPr>
          <a:xfrm>
            <a:off x="9642348" y="3529584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Circular runout</a:t>
            </a:r>
            <a:endParaRPr lang="en-US" sz="1080" dirty="0"/>
          </a:p>
        </p:txBody>
      </p:sp>
      <p:sp>
        <p:nvSpPr>
          <p:cNvPr id="54" name="Shape 52"/>
          <p:cNvSpPr/>
          <p:nvPr/>
        </p:nvSpPr>
        <p:spPr>
          <a:xfrm>
            <a:off x="9246413" y="4311396"/>
            <a:ext cx="217627" cy="-233172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5" name="Shape 53"/>
          <p:cNvSpPr/>
          <p:nvPr/>
        </p:nvSpPr>
        <p:spPr>
          <a:xfrm>
            <a:off x="9331909" y="4311396"/>
            <a:ext cx="217627" cy="-233172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56" name="Text 54"/>
          <p:cNvSpPr txBox="1"/>
          <p:nvPr/>
        </p:nvSpPr>
        <p:spPr>
          <a:xfrm>
            <a:off x="9642348" y="3991356"/>
            <a:ext cx="1897380" cy="4617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runout</a:t>
            </a:r>
            <a:endParaRPr lang="en-US" sz="1080" dirty="0"/>
          </a:p>
        </p:txBody>
      </p:sp>
      <p:sp>
        <p:nvSpPr>
          <p:cNvPr id="57" name="Shape 55"/>
          <p:cNvSpPr/>
          <p:nvPr/>
        </p:nvSpPr>
        <p:spPr>
          <a:xfrm>
            <a:off x="502920" y="4736592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58" name="Text 56"/>
          <p:cNvSpPr txBox="1"/>
          <p:nvPr/>
        </p:nvSpPr>
        <p:spPr>
          <a:xfrm>
            <a:off x="731520" y="4846320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condition modifiers: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MMC (maximum material condition) and LMC (least material condition) let a position tolerance earn bonus tolerance as the hole moves away from its worst-case size — matching how a bolted clearance-hole joint really behaves.</a:t>
            </a:r>
            <a:endParaRPr lang="en-US" sz="12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Manufacturing-Ready Files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process consumes a different file — a good part starts with exporting the right one at the right settings.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965960"/>
            <a:ext cx="355092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04088" y="213055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Additive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679192"/>
            <a:ext cx="314858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Watertight mesh: STL or 3MF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enough to hide facets, not so fine the file is unwieldy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28160" y="1965960"/>
            <a:ext cx="355092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529328" y="213055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Laser Cutting</a:t>
            </a:r>
            <a:endParaRPr lang="en-US" sz="1550" dirty="0"/>
          </a:p>
        </p:txBody>
      </p:sp>
      <p:sp>
        <p:nvSpPr>
          <p:cNvPr id="12" name="Text 10"/>
          <p:cNvSpPr txBox="1"/>
          <p:nvPr/>
        </p:nvSpPr>
        <p:spPr>
          <a:xfrm>
            <a:off x="4529328" y="2679192"/>
            <a:ext cx="314858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vector profile (DXF)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and engrave lines on separate layers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53400" y="1965960"/>
            <a:ext cx="3550920" cy="2286000"/>
          </a:xfrm>
          <a:prstGeom prst="roundRect">
            <a:avLst>
              <a:gd name="adj" fmla="val 320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8354568" y="2130552"/>
            <a:ext cx="3148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CNC Machining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8354568" y="2679192"/>
            <a:ext cx="3148584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model (STEP) + dimensioned drawing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●"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Drawing tells the machinist which dimensions are critical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480560"/>
            <a:ext cx="11201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 basics — </a:t>
            </a:r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setup, toolpath generation, simulation, and the post-processor that turns toolpaths into machine G-code.</a:t>
            </a:r>
            <a:endParaRPr lang="en-US" sz="13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Machine Safety, PPE &amp; Operation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are checked out on safe setup and operation before running any shop equipment.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2011680"/>
            <a:ext cx="112014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PPE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 Z87.1 safety glasses, closed-toe shoes, no loose clothing/jewelry/unrestrained hair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Rotating machinery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wear gloves near a spindle, chuck, or bit — a caught glove pulls the hand in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Laser cutter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run unattended; keep a view of the cut; know the extraction and fire response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3D printers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 nozzle and bed — let them cool, don't reach into an active machine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starting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the location of the e-stop, fire extinguisher, and first-aid kit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5212080"/>
            <a:ext cx="11201400" cy="777240"/>
          </a:xfrm>
          <a:prstGeom prst="roundRect">
            <a:avLst>
              <a:gd name="adj" fmla="val 9412"/>
            </a:avLst>
          </a:prstGeom>
          <a:solidFill>
            <a:srgbClr val="F3F6F9"/>
          </a:solidFill>
          <a:ln w="1587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731520" y="5321808"/>
            <a:ext cx="10744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PPE is not optional: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syllabus, a participant without proper PPE during machine use will be asked to leave the class for that session.</a:t>
            </a:r>
            <a:endParaRPr lang="en-US" sz="12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Additive Manufacturing (3D Printing)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course uses material-extrusion printing (FDM/FFF), building one deposited layer at a time.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965960"/>
            <a:ext cx="112014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PLA, PETG, ABS — printability, strength, and temperature trade-offs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are weakest in the build (Z) direction — a strength decision, not just fit-on-bed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&amp; overhangs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roughly 45° rule, bridging limits, designing to avoid support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 that matter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height, wall count, infill density and pattern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Tolerances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holes print undersize, first layers spread — allow for it or drill/ream after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3657600"/>
            <a:ext cx="11201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Print Issues &amp; Fixes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02920" y="3977640"/>
            <a:ext cx="262890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0" name="Image 0" descr="/tmp/mech151_deck/images/31_elephant_foo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4504" y="4105656"/>
            <a:ext cx="1025732" cy="9601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640080" y="5120640"/>
            <a:ext cx="2354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Elephant Footing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49224" y="5358384"/>
            <a:ext cx="2336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layer over-extrudes and squishes outward under the nozzle</a:t>
            </a:r>
            <a:endParaRPr lang="en-US" sz="980" dirty="0"/>
          </a:p>
        </p:txBody>
      </p:sp>
      <p:sp>
        <p:nvSpPr>
          <p:cNvPr id="13" name="Text 10"/>
          <p:cNvSpPr txBox="1"/>
          <p:nvPr/>
        </p:nvSpPr>
        <p:spPr>
          <a:xfrm>
            <a:off x="649224" y="5797296"/>
            <a:ext cx="23362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</a:t>
            </a:r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brim, or reduce first-layer horizontal expansion</a:t>
            </a:r>
            <a:endParaRPr lang="en-US" sz="980" dirty="0"/>
          </a:p>
        </p:txBody>
      </p:sp>
      <p:sp>
        <p:nvSpPr>
          <p:cNvPr id="14" name="Shape 11"/>
          <p:cNvSpPr/>
          <p:nvPr/>
        </p:nvSpPr>
        <p:spPr>
          <a:xfrm>
            <a:off x="3360420" y="3977640"/>
            <a:ext cx="262890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5" name="Image 1" descr="/tmp/mech151_deck/images/32_string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1866" y="4105656"/>
            <a:ext cx="1506008" cy="96012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497580" y="5120640"/>
            <a:ext cx="2354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Stringing</a:t>
            </a:r>
            <a:endParaRPr lang="en-US" sz="1250" dirty="0"/>
          </a:p>
        </p:txBody>
      </p:sp>
      <p:sp>
        <p:nvSpPr>
          <p:cNvPr id="17" name="Text 13"/>
          <p:cNvSpPr txBox="1"/>
          <p:nvPr/>
        </p:nvSpPr>
        <p:spPr>
          <a:xfrm>
            <a:off x="3506724" y="5358384"/>
            <a:ext cx="2336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molten filament oozes from the nozzle while traveling between features</a:t>
            </a:r>
            <a:endParaRPr lang="en-US" sz="980" dirty="0"/>
          </a:p>
        </p:txBody>
      </p:sp>
      <p:sp>
        <p:nvSpPr>
          <p:cNvPr id="18" name="Text 14"/>
          <p:cNvSpPr txBox="1"/>
          <p:nvPr/>
        </p:nvSpPr>
        <p:spPr>
          <a:xfrm>
            <a:off x="3506724" y="5797296"/>
            <a:ext cx="23362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</a:t>
            </a:r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the filament; tighten retraction distance/speed</a:t>
            </a:r>
            <a:endParaRPr lang="en-US" sz="980" dirty="0"/>
          </a:p>
        </p:txBody>
      </p:sp>
      <p:sp>
        <p:nvSpPr>
          <p:cNvPr id="19" name="Shape 15"/>
          <p:cNvSpPr/>
          <p:nvPr/>
        </p:nvSpPr>
        <p:spPr>
          <a:xfrm>
            <a:off x="6217920" y="3977640"/>
            <a:ext cx="262890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20" name="Image 2" descr="/tmp/mech151_deck/images/33_warp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4134704"/>
            <a:ext cx="2354580" cy="90202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355080" y="5120640"/>
            <a:ext cx="2354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Warping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5358384"/>
            <a:ext cx="2336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outer edges cool and shrink faster than the center, curling corners up</a:t>
            </a:r>
            <a:endParaRPr lang="en-US" sz="980" dirty="0"/>
          </a:p>
        </p:txBody>
      </p:sp>
      <p:sp>
        <p:nvSpPr>
          <p:cNvPr id="23" name="Text 18"/>
          <p:cNvSpPr txBox="1"/>
          <p:nvPr/>
        </p:nvSpPr>
        <p:spPr>
          <a:xfrm>
            <a:off x="6364224" y="5797296"/>
            <a:ext cx="23362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</a:t>
            </a:r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brim/raft; enclose the printer or use a heated bed</a:t>
            </a:r>
            <a:endParaRPr lang="en-US" sz="980" dirty="0"/>
          </a:p>
        </p:txBody>
      </p:sp>
      <p:sp>
        <p:nvSpPr>
          <p:cNvPr id="24" name="Shape 19"/>
          <p:cNvSpPr/>
          <p:nvPr/>
        </p:nvSpPr>
        <p:spPr>
          <a:xfrm>
            <a:off x="9075420" y="3977640"/>
            <a:ext cx="2628900" cy="2423160"/>
          </a:xfrm>
          <a:prstGeom prst="roundRect">
            <a:avLst>
              <a:gd name="adj" fmla="val 264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25" name="Image 3" descr="/tmp/mech151_deck/images/34_delamin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13252" y="4105656"/>
            <a:ext cx="2353235" cy="960120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212580" y="5120640"/>
            <a:ext cx="23545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9770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Layer Separation</a:t>
            </a:r>
            <a:endParaRPr lang="en-US" sz="1250" dirty="0"/>
          </a:p>
        </p:txBody>
      </p:sp>
      <p:sp>
        <p:nvSpPr>
          <p:cNvPr id="27" name="Text 21"/>
          <p:cNvSpPr txBox="1"/>
          <p:nvPr/>
        </p:nvSpPr>
        <p:spPr>
          <a:xfrm>
            <a:off x="9221724" y="5358384"/>
            <a:ext cx="23362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8000"/>
              </a:lnSpc>
              <a:buNone/>
            </a:pPr>
            <a:r>
              <a:rPr lang="en-US" sz="98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layers don't fully fuse — often too cold, or cooled by a draft</a:t>
            </a:r>
            <a:endParaRPr lang="en-US" sz="980" dirty="0"/>
          </a:p>
        </p:txBody>
      </p:sp>
      <p:sp>
        <p:nvSpPr>
          <p:cNvPr id="28" name="Text 22"/>
          <p:cNvSpPr txBox="1"/>
          <p:nvPr/>
        </p:nvSpPr>
        <p:spPr>
          <a:xfrm>
            <a:off x="9221724" y="5797296"/>
            <a:ext cx="23362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b="1" dirty="0">
                <a:solidFill>
                  <a:srgbClr val="1B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— </a:t>
            </a:r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nozzle temp slightly; shield the print from drafts</a:t>
            </a:r>
            <a:endParaRPr lang="en-US" sz="98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Subtractive Manufacturing (CNC)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Starts with solid stock and cuts material away — design constraints come from the tool and how the part is held.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3581400" cy="2606040"/>
          </a:xfrm>
          <a:prstGeom prst="roundRect">
            <a:avLst>
              <a:gd name="adj" fmla="val 245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8" name="Image 0" descr="/tmp/mech151_deck/images/38_workhol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058927"/>
            <a:ext cx="3307080" cy="2054346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312920" y="1783080"/>
            <a:ext cx="3581400" cy="2606040"/>
          </a:xfrm>
          <a:prstGeom prst="roundRect">
            <a:avLst>
              <a:gd name="adj" fmla="val 245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/tmp/mech151_deck/images/35_tool_corn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0080" y="1857093"/>
            <a:ext cx="3307080" cy="2458013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8122920" y="1783080"/>
            <a:ext cx="3581400" cy="2606040"/>
          </a:xfrm>
          <a:prstGeom prst="roundRect">
            <a:avLst>
              <a:gd name="adj" fmla="val 2456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2" name="Image 2" descr="/tmp/mech151_deck/images/36_tool_deflec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8603" y="1851660"/>
            <a:ext cx="2430034" cy="246888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2920" y="4517136"/>
            <a:ext cx="11201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 &amp; Speeds</a:t>
            </a:r>
            <a:endParaRPr lang="en-US" sz="1150" dirty="0"/>
          </a:p>
        </p:txBody>
      </p:sp>
      <p:sp>
        <p:nvSpPr>
          <p:cNvPr id="14" name="Shape 9"/>
          <p:cNvSpPr/>
          <p:nvPr/>
        </p:nvSpPr>
        <p:spPr>
          <a:xfrm>
            <a:off x="502920" y="4791456"/>
            <a:ext cx="11201400" cy="1645920"/>
          </a:xfrm>
          <a:prstGeom prst="roundRect">
            <a:avLst>
              <a:gd name="adj" fmla="val 3889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5" name="Image 3" descr="/tmp/mech151_deck/images/37_feeds_speed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9061" y="4860036"/>
            <a:ext cx="5169117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UNIT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0F2942"/>
                </a:solidFill>
                <a:latin typeface="Cambria"/>
              </a:rPr>
              <a:t>An Introduction to G-code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0" i="1">
                <a:solidFill>
                  <a:srgbClr val="8592A3"/>
                </a:solidFill>
                <a:latin typeface="Calibri"/>
              </a:rPr>
              <a:t>A plain-text list of moves the machine runs one line at a time — the shared language of CNC mills, 3D-printer slicers, and laser cutters.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9000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50" b="0" i="0">
                <a:solidFill>
                  <a:srgbClr val="8592A3"/>
                </a:solidFill>
                <a:latin typeface="Calibri"/>
              </a:rPr>
              <a:t>MECH 151 · Technical Design — Unit Reference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02240"/>
            <a:ext cx="57150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5000"/>
              </a:lnSpc>
              <a:spcAft>
                <a:spcPts val="600"/>
              </a:spcAft>
              <a:buChar char="●"/>
            </a:pPr>
            <a:r>
              <a:rPr sz="1150" b="1" i="0">
                <a:solidFill>
                  <a:srgbClr val="0F2942"/>
                </a:solidFill>
                <a:latin typeface="Calibri"/>
              </a:rPr>
              <a:t>What it is — </a:t>
            </a:r>
            <a:r>
              <a:rPr sz="1150" b="0" i="0">
                <a:solidFill>
                  <a:srgbClr val="44536B"/>
                </a:solidFill>
                <a:latin typeface="Calibri"/>
              </a:rPr>
              <a:t>a text file a controller runs top to bottom; G words set motion and modes, M words switch machine functions</a:t>
            </a:r>
          </a:p>
          <a:p>
            <a:pPr marL="274320" indent="-274320">
              <a:lnSpc>
                <a:spcPct val="105000"/>
              </a:lnSpc>
              <a:spcAft>
                <a:spcPts val="600"/>
              </a:spcAft>
              <a:buChar char="●"/>
            </a:pPr>
            <a:r>
              <a:rPr sz="1150" b="1" i="0">
                <a:solidFill>
                  <a:srgbClr val="0F2942"/>
                </a:solidFill>
                <a:latin typeface="Calibri"/>
              </a:rPr>
              <a:t>A line is a block — </a:t>
            </a:r>
            <a:r>
              <a:rPr sz="1150" b="0" i="0">
                <a:solidFill>
                  <a:srgbClr val="44536B"/>
                </a:solidFill>
                <a:latin typeface="Calibri"/>
              </a:rPr>
              <a:t>a list of words, each an address letter plus a value: X25.0 is address X, value 25.0</a:t>
            </a:r>
          </a:p>
          <a:p>
            <a:pPr marL="274320" indent="-274320">
              <a:lnSpc>
                <a:spcPct val="105000"/>
              </a:lnSpc>
              <a:spcAft>
                <a:spcPts val="600"/>
              </a:spcAft>
              <a:buChar char="●"/>
            </a:pPr>
            <a:r>
              <a:rPr sz="1150" b="1" i="0">
                <a:solidFill>
                  <a:srgbClr val="0F2942"/>
                </a:solidFill>
                <a:latin typeface="Calibri"/>
              </a:rPr>
              <a:t>Modal settings stick — </a:t>
            </a:r>
            <a:r>
              <a:rPr sz="1150" b="0" i="0">
                <a:solidFill>
                  <a:srgbClr val="44536B"/>
                </a:solidFill>
                <a:latin typeface="Calibri"/>
              </a:rPr>
              <a:t>units, positioning, feed and speed stay in effect until a later line changes them</a:t>
            </a:r>
          </a:p>
          <a:p>
            <a:pPr marL="274320" indent="-274320">
              <a:lnSpc>
                <a:spcPct val="105000"/>
              </a:lnSpc>
              <a:spcAft>
                <a:spcPts val="600"/>
              </a:spcAft>
              <a:buChar char="●"/>
            </a:pPr>
            <a:r>
              <a:rPr sz="1150" b="1" i="0">
                <a:solidFill>
                  <a:srgbClr val="0F2942"/>
                </a:solidFill>
                <a:latin typeface="Calibri"/>
              </a:rPr>
              <a:t>Where it comes from — </a:t>
            </a:r>
            <a:r>
              <a:rPr sz="1150" b="0" i="0">
                <a:solidFill>
                  <a:srgbClr val="44536B"/>
                </a:solidFill>
                <a:latin typeface="Calibri"/>
              </a:rPr>
              <a:t>CAM or a slicer writes it; a post-processor tailors it to your exact machine — then you set the part zero and dry-run before cutting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902240"/>
            <a:ext cx="5211475" cy="2100000"/>
          </a:xfrm>
          <a:prstGeom prst="roundRect">
            <a:avLst>
              <a:gd name="adj" fmla="val 3500"/>
            </a:avLst>
          </a:prstGeom>
          <a:solidFill>
            <a:srgbClr val="F3F6F9"/>
          </a:solidFill>
          <a:ln w="12700">
            <a:solidFill>
              <a:srgbClr val="E1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2042240"/>
            <a:ext cx="5211475" cy="2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50" b="0" i="1">
                <a:solidFill>
                  <a:srgbClr val="8592A3"/>
                </a:solidFill>
                <a:latin typeface="Calibri"/>
              </a:rPr>
              <a:t>One block, broken 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6812280" y="2422240"/>
            <a:ext cx="4571395" cy="4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0F29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2422240"/>
            <a:ext cx="4571395" cy="45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0F2942"/>
                </a:solidFill>
                <a:latin typeface="Consolas"/>
              </a:rPr>
              <a:t>G01    X25.0  Y10.0    F150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543703" y="2874240"/>
            <a:ext cx="0" cy="180000"/>
          </a:xfrm>
          <a:prstGeom prst="line">
            <a:avLst/>
          </a:prstGeom>
          <a:ln w="12700">
            <a:solidFill>
              <a:srgbClr val="8592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93703" y="3069240"/>
            <a:ext cx="1900000" cy="4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44536B"/>
                </a:solidFill>
                <a:latin typeface="Calibri"/>
              </a:rPr>
              <a:t>linear feed move</a:t>
            </a:r>
          </a:p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8592A3"/>
                </a:solidFill>
                <a:latin typeface="Calibri"/>
              </a:rPr>
              <a:t>(modal)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189405" y="2874240"/>
            <a:ext cx="0" cy="180000"/>
          </a:xfrm>
          <a:prstGeom prst="line">
            <a:avLst/>
          </a:prstGeom>
          <a:ln w="12700">
            <a:solidFill>
              <a:srgbClr val="8592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39405" y="3069240"/>
            <a:ext cx="1900000" cy="4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44536B"/>
                </a:solidFill>
                <a:latin typeface="Calibri"/>
              </a:rPr>
              <a:t>target coordinates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697965" y="2874240"/>
            <a:ext cx="0" cy="180000"/>
          </a:xfrm>
          <a:prstGeom prst="line">
            <a:avLst/>
          </a:prstGeom>
          <a:ln w="12700">
            <a:solidFill>
              <a:srgbClr val="8592A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747965" y="3069240"/>
            <a:ext cx="1900000" cy="47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44536B"/>
                </a:solidFill>
                <a:latin typeface="Calibri"/>
              </a:rPr>
              <a:t>feed rate, mm/min</a:t>
            </a:r>
          </a:p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8592A3"/>
                </a:solidFill>
                <a:latin typeface="Calibri"/>
              </a:rPr>
              <a:t>(modal)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92240" y="3532240"/>
            <a:ext cx="4611475" cy="43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8000"/>
              </a:lnSpc>
            </a:pPr>
            <a:r>
              <a:rPr sz="900" b="0" i="1">
                <a:solidFill>
                  <a:srgbClr val="8592A3"/>
                </a:solidFill>
                <a:latin typeface="Calibri"/>
              </a:rPr>
              <a:t>Modal words hold: this F150 and G01 keep acting on every line below until one is changed.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444620"/>
            <a:ext cx="1120140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1">
                <a:solidFill>
                  <a:srgbClr val="8592A3"/>
                </a:solidFill>
                <a:latin typeface="Calibri"/>
              </a:rPr>
              <a:t>Codes you'll actually see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718940"/>
            <a:ext cx="11201400" cy="1737360"/>
          </a:xfrm>
          <a:prstGeom prst="roundRect">
            <a:avLst>
              <a:gd name="adj" fmla="val 4000"/>
            </a:avLst>
          </a:prstGeom>
          <a:solidFill>
            <a:srgbClr val="F3F6F9"/>
          </a:solidFill>
          <a:ln w="12700">
            <a:solidFill>
              <a:srgbClr val="E1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0000" y="4868940"/>
            <a:ext cx="3700000" cy="147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G20 / G21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inch / millimetre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G90 / G91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absolute / incremental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G17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work in the XY plane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G00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rapid — non-cutting move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G01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linear move at feed rate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70000" y="4868940"/>
            <a:ext cx="3700000" cy="147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G02 / G03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clockwise / CCW arc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G54–G59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work offset (part zero)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G28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return to machine home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G04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dwell — timed pause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M00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pause for the operator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0000" y="4868940"/>
            <a:ext cx="3550000" cy="147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M03 / M05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spindle on CW / off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M06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tool change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M08 / M09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coolant on / off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M30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end of program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S / F / T  </a:t>
            </a:r>
            <a:r>
              <a:rPr sz="1000" b="0" i="0">
                <a:solidFill>
                  <a:srgbClr val="44536B"/>
                </a:solidFill>
                <a:latin typeface="Calibri"/>
              </a:rPr>
              <a:t>speed / feed / tool no.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UNIT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0F2942"/>
                </a:solidFill>
                <a:latin typeface="Cambria"/>
              </a:rPr>
              <a:t>Working with G-code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0" i="1">
                <a:solidFill>
                  <a:srgbClr val="8592A3"/>
                </a:solidFill>
                <a:latin typeface="Calibri"/>
              </a:rPr>
              <a:t>Small edits at the edges of a program are routine — editing the geometry in the middle is CAM's job.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65392"/>
            <a:ext cx="90000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850" b="0" i="0">
                <a:solidFill>
                  <a:srgbClr val="8592A3"/>
                </a:solidFill>
                <a:latin typeface="Calibri"/>
              </a:rPr>
              <a:t>MECH 151 · Technical Design — Unit Reference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02240"/>
            <a:ext cx="603504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150" b="1" i="1">
                <a:solidFill>
                  <a:srgbClr val="8592A3"/>
                </a:solidFill>
                <a:latin typeface="Calibri"/>
              </a:rPr>
              <a:t>A short program, annotated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176560"/>
            <a:ext cx="6035040" cy="3247320"/>
          </a:xfrm>
          <a:prstGeom prst="roundRect">
            <a:avLst>
              <a:gd name="adj" fmla="val 3500"/>
            </a:avLst>
          </a:prstGeom>
          <a:solidFill>
            <a:srgbClr val="F3F6F9"/>
          </a:solidFill>
          <a:ln w="12700">
            <a:solidFill>
              <a:srgbClr val="E1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20" y="2436560"/>
            <a:ext cx="5475040" cy="278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0" i="1">
                <a:solidFill>
                  <a:srgbClr val="8592A3"/>
                </a:solidFill>
                <a:latin typeface="Consolas"/>
              </a:rPr>
              <a:t>(SLOT — 6MM 2-FLUTE ENDMILL)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G21 G90 G17  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mm, absolute, XY plane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G54          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work offset = part zero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G0 Z5.0      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rapid to safe height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M3 S10600    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spindle on CW, 10600 rpm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G0 X0 Y0     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rapid above the start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G1 Z-2.0 F300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feed down to depth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G1 X50.0 F640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cut the slot at feed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G0 Z5.0      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retract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M5           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spindle off</a:t>
            </a:r>
          </a:p>
          <a:p>
            <a:pPr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0F2942"/>
                </a:solidFill>
                <a:latin typeface="Consolas"/>
              </a:rPr>
              <a:t>M30            </a:t>
            </a:r>
            <a:r>
              <a:rPr sz="1000" b="0" i="0">
                <a:solidFill>
                  <a:srgbClr val="8592A3"/>
                </a:solidFill>
                <a:latin typeface="Consolas"/>
              </a:rPr>
              <a:t>end of program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48920" y="2176560"/>
            <a:ext cx="4954680" cy="1783080"/>
          </a:xfrm>
          <a:prstGeom prst="roundRect">
            <a:avLst>
              <a:gd name="adj" fmla="val 4500"/>
            </a:avLst>
          </a:prstGeom>
          <a:solidFill>
            <a:srgbClr val="F3F6F9"/>
          </a:solidFill>
          <a:ln w="15875">
            <a:solidFill>
              <a:srgbClr val="1B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77520" y="2340000"/>
            <a:ext cx="4497480" cy="15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1B8A8A"/>
                </a:solidFill>
                <a:latin typeface="Cambria"/>
              </a:rPr>
              <a:t>Safe to edit by hand</a:t>
            </a:r>
          </a:p>
          <a:p>
            <a:pPr marL="274320" indent="-274320">
              <a:lnSpc>
                <a:spcPct val="105000"/>
              </a:lnSpc>
              <a:spcAft>
                <a:spcPts val="350"/>
              </a:spcAft>
              <a:buChar char="●"/>
            </a:pPr>
            <a:r>
              <a:rPr sz="1000" b="0" i="0">
                <a:solidFill>
                  <a:srgbClr val="44536B"/>
                </a:solidFill>
                <a:latin typeface="Calibri"/>
              </a:rPr>
              <a:t>Feed (F) and spindle speed (S) — ease off for chatter or burning</a:t>
            </a:r>
          </a:p>
          <a:p>
            <a:pPr marL="274320" indent="-274320">
              <a:lnSpc>
                <a:spcPct val="105000"/>
              </a:lnSpc>
              <a:spcAft>
                <a:spcPts val="350"/>
              </a:spcAft>
              <a:buChar char="●"/>
            </a:pPr>
            <a:r>
              <a:rPr sz="1000" b="0" i="0">
                <a:solidFill>
                  <a:srgbClr val="44536B"/>
                </a:solidFill>
                <a:latin typeface="Calibri"/>
              </a:rPr>
              <a:t>Safe / clearance Z heights — after checking nothing is taller</a:t>
            </a:r>
          </a:p>
          <a:p>
            <a:pPr marL="274320" indent="-274320">
              <a:lnSpc>
                <a:spcPct val="105000"/>
              </a:lnSpc>
              <a:spcAft>
                <a:spcPts val="350"/>
              </a:spcAft>
              <a:buChar char="●"/>
            </a:pPr>
            <a:r>
              <a:rPr sz="1000" b="0" i="0">
                <a:solidFill>
                  <a:srgbClr val="44536B"/>
                </a:solidFill>
                <a:latin typeface="Calibri"/>
              </a:rPr>
              <a:t>Work offset (G54→G55); add a pause (M00) or dwell (G04)</a:t>
            </a:r>
          </a:p>
          <a:p>
            <a:pPr marL="274320" indent="-274320">
              <a:lnSpc>
                <a:spcPct val="105000"/>
              </a:lnSpc>
              <a:spcAft>
                <a:spcPts val="350"/>
              </a:spcAft>
              <a:buChar char="●"/>
            </a:pPr>
            <a:r>
              <a:rPr sz="1000" b="0" i="0">
                <a:solidFill>
                  <a:srgbClr val="44536B"/>
                </a:solidFill>
                <a:latin typeface="Calibri"/>
              </a:rPr>
              <a:t>Trim header/footer lines your machine doesn't use; drop an unused tool section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48920" y="4133088"/>
            <a:ext cx="4954680" cy="1430000"/>
          </a:xfrm>
          <a:prstGeom prst="roundRect">
            <a:avLst>
              <a:gd name="adj" fmla="val 4500"/>
            </a:avLst>
          </a:prstGeom>
          <a:solidFill>
            <a:srgbClr val="F3F6F9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77520" y="4286040"/>
            <a:ext cx="4497480" cy="123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400" b="1" i="0">
                <a:solidFill>
                  <a:srgbClr val="C0392B"/>
                </a:solidFill>
                <a:latin typeface="Cambria"/>
              </a:rPr>
              <a:t>Regenerate from CAM — don't hand-edit</a:t>
            </a:r>
          </a:p>
          <a:p>
            <a:pPr marL="274320" indent="-274320">
              <a:lnSpc>
                <a:spcPct val="105000"/>
              </a:lnSpc>
              <a:spcAft>
                <a:spcPts val="350"/>
              </a:spcAft>
              <a:buChar char="●"/>
            </a:pPr>
            <a:r>
              <a:rPr sz="1000" b="0" i="0">
                <a:solidFill>
                  <a:srgbClr val="44536B"/>
                </a:solidFill>
                <a:latin typeface="Calibri"/>
              </a:rPr>
              <a:t>Individual X / Y / Z cutting values, or arc I / J centres</a:t>
            </a:r>
          </a:p>
          <a:p>
            <a:pPr marL="274320" indent="-274320">
              <a:lnSpc>
                <a:spcPct val="105000"/>
              </a:lnSpc>
              <a:spcAft>
                <a:spcPts val="350"/>
              </a:spcAft>
              <a:buChar char="●"/>
            </a:pPr>
            <a:r>
              <a:rPr sz="1000" b="0" i="0">
                <a:solidFill>
                  <a:srgbClr val="44536B"/>
                </a:solidFill>
                <a:latin typeface="Calibri"/>
              </a:rPr>
              <a:t>Switching units (G20 ↔ G21) partway through</a:t>
            </a:r>
          </a:p>
          <a:p>
            <a:pPr marL="274320" indent="-274320">
              <a:lnSpc>
                <a:spcPct val="105000"/>
              </a:lnSpc>
              <a:spcAft>
                <a:spcPts val="350"/>
              </a:spcAft>
              <a:buChar char="●"/>
            </a:pPr>
            <a:r>
              <a:rPr sz="1000" b="0" i="0">
                <a:solidFill>
                  <a:srgbClr val="44536B"/>
                </a:solidFill>
                <a:latin typeface="Calibri"/>
              </a:rPr>
              <a:t>Cutter compensation (G41 / G42) offsets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989320"/>
            <a:ext cx="11201400" cy="466344"/>
          </a:xfrm>
          <a:prstGeom prst="roundRect">
            <a:avLst>
              <a:gd name="adj" fmla="val 14000"/>
            </a:avLst>
          </a:prstGeom>
          <a:solidFill>
            <a:srgbClr val="F3F6F9"/>
          </a:solidFill>
          <a:ln w="15875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5989320"/>
            <a:ext cx="10744200" cy="4663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200" b="1" i="0">
                <a:solidFill>
                  <a:srgbClr val="C0392B"/>
                </a:solidFill>
                <a:latin typeface="Calibri"/>
              </a:rPr>
              <a:t>Prove it before it cuts:  </a:t>
            </a:r>
            <a:r>
              <a:rPr sz="1200" b="0" i="0">
                <a:solidFill>
                  <a:srgbClr val="44536B"/>
                </a:solidFill>
                <a:latin typeface="Calibri"/>
              </a:rPr>
              <a:t>re-simulate the whole program, then run it once as an air pass with a hand on the feed-hold — a G-code error is found by the machine at full speed.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Laser Cutting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flat sheet by burning or vaporizing a narrow line through it — fast and precise in 2D, with its own rules.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783080"/>
            <a:ext cx="11201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Kerf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cut removes a finite width of material — account for it on tight-fitting parts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limits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wood, acrylic, paper, and cloth cut well</a:t>
            </a:r>
            <a:endParaRPr lang="en-US" sz="1250" dirty="0"/>
          </a:p>
          <a:p>
            <a:pPr marL="342900" indent="-342900">
              <a:buSzPct val="100000"/>
              <a:buChar char="●"/>
            </a:pPr>
            <a:r>
              <a:rPr lang="en-US" sz="12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Small-feature limits — </a:t>
            </a:r>
            <a:pPr indent="0" marL="0">
              <a:spcAft>
                <a:spcPts val="800"/>
              </a:spcAft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hole size and spacing relative to material thickness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97480"/>
            <a:ext cx="5486400" cy="2880360"/>
          </a:xfrm>
          <a:prstGeom prst="roundRect">
            <a:avLst>
              <a:gd name="adj" fmla="val 222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9" name="Image 0" descr="/tmp/mech151_deck/images/39_vector_ra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3482" y="2766060"/>
            <a:ext cx="4225276" cy="27432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217920" y="2697480"/>
            <a:ext cx="5486400" cy="2880360"/>
          </a:xfrm>
          <a:prstGeom prst="roundRect">
            <a:avLst>
              <a:gd name="adj" fmla="val 2222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pic>
        <p:nvPicPr>
          <p:cNvPr id="11" name="Image 1" descr="/tmp/mech151_deck/images/40_laser_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833866"/>
            <a:ext cx="5212080" cy="26075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02920" y="5715000"/>
            <a:ext cx="11201400" cy="502920"/>
          </a:xfrm>
          <a:prstGeom prst="roundRect">
            <a:avLst>
              <a:gd name="adj" fmla="val 14545"/>
            </a:avLst>
          </a:prstGeom>
          <a:solidFill>
            <a:srgbClr val="F3F6F9"/>
          </a:solidFill>
          <a:ln w="15875">
            <a:solidFill>
              <a:srgbClr val="C0392B"/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 txBox="1"/>
          <p:nvPr/>
        </p:nvSpPr>
        <p:spPr>
          <a:xfrm>
            <a:off x="731520" y="5824728"/>
            <a:ext cx="107442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cut:  </a:t>
            </a:r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PVC and other chlorinated plastics must never be cut on a laser — they release chlorine gas.</a:t>
            </a:r>
            <a:endParaRPr lang="en-US" sz="12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DFM Design Considerations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Shape the part so the chosen process can make it well, at reasonable cost, without special effort.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2057400"/>
            <a:ext cx="3563112" cy="1911096"/>
          </a:xfrm>
          <a:prstGeom prst="roundRect">
            <a:avLst>
              <a:gd name="adj" fmla="val 382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67512" y="220370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512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161288" y="216712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design to process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67512" y="2624328"/>
            <a:ext cx="32339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uniform walls for printing/casting, generous radii for machining, flat unfolded geometry for laser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22064" y="2057400"/>
            <a:ext cx="3563112" cy="1911096"/>
          </a:xfrm>
          <a:prstGeom prst="roundRect">
            <a:avLst>
              <a:gd name="adj" fmla="val 382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4486656" y="220370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4486656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980432" y="216712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setups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486656" y="2624328"/>
            <a:ext cx="32339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on one face are cheaper than features needing re-fixturing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141208" y="2057400"/>
            <a:ext cx="3563112" cy="1911096"/>
          </a:xfrm>
          <a:prstGeom prst="roundRect">
            <a:avLst>
              <a:gd name="adj" fmla="val 382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8305800" y="220370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305800" y="2203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8799576" y="216712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Tolerance only what matters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305800" y="2624328"/>
            <a:ext cx="32339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 tolerances drive cost — apply to mating/functional features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02920" y="4169664"/>
            <a:ext cx="3563112" cy="1911096"/>
          </a:xfrm>
          <a:prstGeom prst="roundRect">
            <a:avLst>
              <a:gd name="adj" fmla="val 382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667512" y="4315968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667512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1161288" y="4279392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standard stock &amp; tooling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667512" y="4736592"/>
            <a:ext cx="32339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sizes and drill/tool radii cost less, arrive faster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322064" y="4169664"/>
            <a:ext cx="3563112" cy="1911096"/>
          </a:xfrm>
          <a:prstGeom prst="roundRect">
            <a:avLst>
              <a:gd name="adj" fmla="val 3828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4486656" y="4315968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4486656" y="43159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4980432" y="4279392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for prototype AND product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486656" y="4736592"/>
            <a:ext cx="3233928" cy="1252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fine for a one-off print may not survive production</a:t>
            </a:r>
            <a:endParaRPr lang="en-US" sz="115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757123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Unit 3 Wrap-Up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502920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67512" y="215798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67512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Manufacturing-ready files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67512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exported for the chosen process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22064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486656" y="215798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486656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980432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GD&amp;T documentation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486656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at least one process, showing what you'd control and why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41208" y="2011680"/>
            <a:ext cx="3563112" cy="1920240"/>
          </a:xfrm>
          <a:prstGeom prst="roundRect">
            <a:avLst>
              <a:gd name="adj" fmla="val 3810"/>
            </a:avLst>
          </a:prstGeom>
          <a:solidFill>
            <a:srgbClr val="F3F6F9"/>
          </a:solidFill>
          <a:ln w="12700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305800" y="2157984"/>
            <a:ext cx="384048" cy="384048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8305800" y="2157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799576" y="2121408"/>
            <a:ext cx="2740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DFM-reviewed design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05800" y="2578608"/>
            <a:ext cx="323392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hand off to a shop process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02920" y="5532120"/>
            <a:ext cx="11201400" cy="868680"/>
          </a:xfrm>
          <a:prstGeom prst="roundRect">
            <a:avLst>
              <a:gd name="adj" fmla="val 10526"/>
            </a:avLst>
          </a:prstGeom>
          <a:solidFill>
            <a:srgbClr val="F3F6F9"/>
          </a:solidFill>
          <a:ln w="15875">
            <a:solidFill>
              <a:srgbClr val="D97706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713232" y="5751576"/>
            <a:ext cx="420624" cy="420624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713232" y="5751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1325880" y="5623560"/>
            <a:ext cx="10195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produce: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stated tolerances and fits, manufacturing-ready files and GD&amp;T documentation demonstrating your design-for-manufacturing reasoning, plus reading and safely editing a G-code file.   </a:t>
            </a:r>
            <a:endParaRPr lang="en-US" sz="1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Assessed by: </a:t>
            </a:r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Competency Check (Week 16). The physical prototype build &amp; presentation is graded separately as the course Final Exam.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11480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0F2942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502920" y="411480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REFERENCE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768096"/>
            <a:ext cx="11155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29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Units at a Glance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98448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page open while you work — every unit's timing, focus, and assessment in one place.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6565392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592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 151 · Technical Design — Unit Reference Guide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02920" y="1874520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40080" y="2157984"/>
            <a:ext cx="146304" cy="146304"/>
          </a:xfrm>
          <a:prstGeom prst="ellipse">
            <a:avLst/>
          </a:prstGeom>
          <a:solidFill>
            <a:srgbClr val="1B8A8A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914400" y="1874520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977640" y="1874520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Unit 1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5029200" y="1874520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problem, design intent, top-down vs. bottom-up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0652760" y="1874520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02920" y="2642616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640080" y="2926080"/>
            <a:ext cx="146304" cy="146304"/>
          </a:xfrm>
          <a:prstGeom prst="ellipse">
            <a:avLst/>
          </a:prstGeom>
          <a:solidFill>
            <a:srgbClr val="2F6FED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914400" y="2642616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1 — CAD Fundamentals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977640" y="2642616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4–8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2642616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sketches, multiview drawing, first parametric model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0652760" y="2642616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Competency Check, Wk 8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02920" y="3410712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640080" y="3694176"/>
            <a:ext cx="146304" cy="146304"/>
          </a:xfrm>
          <a:prstGeom prst="ellipse">
            <a:avLst/>
          </a:prstGeom>
          <a:solidFill>
            <a:srgbClr val="1E9E5A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914400" y="3410712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2 — Design for Assembly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3977640" y="3410712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8–11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029200" y="3410712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Threads &amp; fasteners, mates, joining methods, DFA principles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10652760" y="3410712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Competency Check, Wk 11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02920" y="4178808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640080" y="4462272"/>
            <a:ext cx="146304" cy="146304"/>
          </a:xfrm>
          <a:prstGeom prst="ellipse">
            <a:avLst/>
          </a:prstGeom>
          <a:solidFill>
            <a:srgbClr val="D97706"/>
          </a:solidFill>
          <a:ln/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914400" y="4178808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3 — Design for Manufacturing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3977640" y="4178808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12–16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4178808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Tolerancing &amp; fits, stackups, GD&amp;T, manufacturing files, G-code, additive/subtractive/laser, DFM, safety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652760" y="4178808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Competency Check, Wk 16</a:t>
            </a:r>
            <a:endParaRPr lang="en-US" sz="1050" dirty="0"/>
          </a:p>
        </p:txBody>
      </p:sp>
      <p:sp>
        <p:nvSpPr>
          <p:cNvPr id="100" name="Shape 17"/>
          <p:cNvSpPr/>
          <p:nvPr/>
        </p:nvSpPr>
        <p:spPr>
          <a:xfrm>
            <a:off x="502920" y="4946904"/>
            <a:ext cx="11201400" cy="713232"/>
          </a:xfrm>
          <a:prstGeom prst="roundRect">
            <a:avLst>
              <a:gd name="adj" fmla="val 7692"/>
            </a:avLst>
          </a:prstGeom>
          <a:solidFill>
            <a:srgbClr val="F3F6F9"/>
          </a:solidFill>
          <a:ln w="9525">
            <a:solidFill>
              <a:srgbClr val="E1E7EE"/>
            </a:solidFill>
            <a:prstDash val="solid"/>
          </a:ln>
        </p:spPr>
        <p:txBody>
          <a:bodyPr/>
          <a:p/>
        </p:txBody>
      </p:sp>
      <p:sp>
        <p:nvSpPr>
          <p:cNvPr id="101" name="Shape 18"/>
          <p:cNvSpPr/>
          <p:nvPr/>
        </p:nvSpPr>
        <p:spPr>
          <a:xfrm>
            <a:off x="640080" y="5230368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3" name="Text 31"/>
          <p:cNvSpPr txBox="1"/>
          <p:nvPr/>
        </p:nvSpPr>
        <p:spPr>
          <a:xfrm>
            <a:off x="914400" y="4946904"/>
            <a:ext cx="265176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0F29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Exam — Prototype Project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3977640" y="4946904"/>
            <a:ext cx="914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17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5029200" y="4946904"/>
            <a:ext cx="548640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Team-built physical prototype, manufacturing docs, presentation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0652760" y="4946904"/>
            <a:ext cx="1325880" cy="71323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4453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 (w/ prototype)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MECH 151 — Technical Design Unit Reference Guide</dc:title>
  <dc:subject>PptxGenJS Presentation</dc:subject>
  <dc:creator>MECH 151</dc:creator>
  <cp:lastModifiedBy>MECH 151</cp:lastModifiedBy>
  <cp:revision>1</cp:revision>
  <dcterms:created xsi:type="dcterms:W3CDTF">2026-09-08T17:09:47Z</dcterms:created>
  <dcterms:modified xsi:type="dcterms:W3CDTF">2026-09-08T17:09:47Z</dcterms:modified>
</cp:coreProperties>
</file>