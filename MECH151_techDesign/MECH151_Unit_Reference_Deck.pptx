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19659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1965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Design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Reference Guide</a:t>
            </a:r>
            <a:endParaRPr 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34340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AE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quick-reference for every unit — Design Fundamentals through Design for Manufacturing — for portfolio work, quizzes, and the final prototype.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5989320"/>
            <a:ext cx="121158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989320"/>
            <a:ext cx="1211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99132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99132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40964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40964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82796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082796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024628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4628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66460" y="5989320"/>
            <a:ext cx="1124712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66460" y="5989320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Roadmap, Weeks 4–17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project-based portfolio module per week; a short foundations unit precedes Unit 1.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49680" y="1965960"/>
            <a:ext cx="2932176" cy="777240"/>
          </a:xfrm>
          <a:prstGeom prst="roundRect">
            <a:avLst>
              <a:gd name="adj" fmla="val 7059"/>
            </a:avLst>
          </a:prstGeom>
          <a:solidFill>
            <a:srgbClr val="2F6FE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9680" y="2816352"/>
            <a:ext cx="298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 · Quiz Wk 7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3672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3672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 · Quiz Wk 10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7700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1E9E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700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 · Quiz Wk 13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71728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1728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 · Quiz Wk 16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95756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5756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Fundamentals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17920" y="3063240"/>
            <a:ext cx="201168" cy="20116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3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3566160"/>
            <a:ext cx="201168" cy="20116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406908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406908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62356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73328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grading lines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maps to a graded portfolio module and closes with a unit quiz; the Design Portfolio (50% of the course grade) and the Prototype + Final Exam (30%) are graded separately — see the syllabus for the remaining weighting.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Is CAD-Program-Agnostic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of CAD software is too broad to teach every package — so this course teaches the operations that transfer between all of them.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parametric CAD packages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used across industry — SolidWorks, Fusion 360, Onshape, Inventor, Creo, NX, CATIA, and more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impractical to teach all of them in one course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mastering only one would leave you stuck the moment a job, internship, or team uses something else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course teaches the operations every one of them shares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menu names are yours to look up in whatever software you're using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52344"/>
            <a:ext cx="5824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752344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Called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06324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Push/pull a 2D profile into a solid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306324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 · Pad · Boss / Cut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65576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46557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465576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Revolve · Rotate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67912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 sketch so it can't drift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386791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· Constraints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70248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270248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history of modeling steps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270248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· Timeline · Model Tree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672584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4672584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parts relative to each other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1676" y="467258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 · Joints · Assembly Constraints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07492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over or angle-cut a sharp edge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51676" y="507492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/ Chamfer · Round / Bevel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68696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678424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— sketching, feature trees, mates, GD&amp;T — describes the operation, not a specific menu path. Whatever software you're using in class, an internship, or a job, look for the tool that does the same job.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1412748" cy="420624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14127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from the software: what a CAD model is for, before Unit 1's sketches and features begin.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64592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Process Is a Cycle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loops — the first prototype is expected to be wrong, and that's the process working.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76479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0" name="Shape 8"/>
          <p:cNvSpPr/>
          <p:nvPr/>
        </p:nvSpPr>
        <p:spPr>
          <a:xfrm>
            <a:off x="298323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323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6222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3" name="Shape 11"/>
          <p:cNvSpPr/>
          <p:nvPr/>
        </p:nvSpPr>
        <p:spPr>
          <a:xfrm>
            <a:off x="528066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8066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965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6" name="Shape 14"/>
          <p:cNvSpPr/>
          <p:nvPr/>
        </p:nvSpPr>
        <p:spPr>
          <a:xfrm>
            <a:off x="757809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809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5708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9" name="Shape 17"/>
          <p:cNvSpPr/>
          <p:nvPr/>
        </p:nvSpPr>
        <p:spPr>
          <a:xfrm>
            <a:off x="987552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then back to Design (or Define), carrying what you learned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74904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the part must do, fit, withstand, and cost — before any geometry exists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options, then the parametric models and drawings that pin down every dimension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prototype — a print, a machined part, a mock-up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it, fit it, load it, use it the way it will really be used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what happened against the requirements; loop back with what you learned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669280"/>
            <a:ext cx="1101852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779008"/>
            <a:ext cx="105613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assume the first version is final, you build a model that's painful to change. If you assume you'll revise it, you build for iteration — clean sketches, captured intent, a readable feature tree.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Problem Before You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skipped most often — and the one that wastes the most time when skipped.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39596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39596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19556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8116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exactly what, for whom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5868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1586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195828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number you can check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92140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921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3721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80660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with your time &amp; tools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8412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8412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5483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456932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serves the need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44684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4468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724644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33204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by a defined 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133088"/>
            <a:ext cx="10515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 practice: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a phone at a comfortable viewing angle" is a direction. "Hold a 600 g phone at 55–70° without tipping, printable in under 4 hours, done by Week 12" is something you can design to and test against.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objectives, and constraints get lumped together as "the spec" — but they filter and rank designs differently (next: how each one works).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Objectives,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constraints filter designs to the acceptable ones; objectives rank the acceptable ones to find the best.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design must do — pass/fail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"Supports 5 kg without permanent deflection"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met or not; missing one disqualifies a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test or inspection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816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932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optimizing — directions of "better"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light as possible," "minimize cost"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pass/fail — compared by degree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trade against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340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456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on the solution space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"Fits a 150 mm cube," "$25 budget," "due Week 12"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function — about what's allowed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one disqualifies the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910328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them up and you either reject a good design for missing a "nice to have," or ship one that fails a real must-have.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success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objectives into weighted, measurable criteria and score concepts with a decision matrix — screen pass/fail items first, then rank.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to Stop: The 80/20 Rule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is ever perfect — chasing perfection is its own failure mode.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0F29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029968"/>
            <a:ext cx="3566160" cy="1378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46704"/>
            <a:ext cx="32004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 design's useful performance comes from the first 20% of the effort — chasing the rest costs far more than it returns.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965960"/>
            <a:ext cx="7360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forward once requirements are met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can see ways it could be nicer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designing is a cost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revision delays the prototype, the test, and everything you'd learn from them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enough" is a decision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against written requirements, not an imagined ideal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81888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both ideas at once: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first version to be wrong, and resist the urge to perfect it. The cycle moves forward when a design is good enough to learn from — not when it's flawless, and not before it meets its requirements.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a model should capture — what you expect to stay true when a dimension changes.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89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relations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equal, concentric, collinear say why geometry is where it is, so it stays right when dimensions change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dimensions you choose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from the reference that actually matters — a mounting face, a mating edge — not whatever's convenient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order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later features off stable geometry, not faces that may move or disappear in an edit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&amp; linked values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dimensions must always match or follow a rule, drive one from the other instead of typing both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5564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different intent — dimension a hole two ways: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04825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Dimensioned from the left edge: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286000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83780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940296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3" name="Shape 11"/>
          <p:cNvSpPr/>
          <p:nvPr/>
        </p:nvSpPr>
        <p:spPr>
          <a:xfrm>
            <a:off x="8513064" y="2286000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64624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686800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74152" y="2505456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91272" y="268833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3522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drifts off-center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4612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center by a symmetric relation: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3483864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83780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283196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13064" y="3483864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64624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464040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6" name="Shape 24"/>
          <p:cNvSpPr/>
          <p:nvPr/>
        </p:nvSpPr>
        <p:spPr>
          <a:xfrm>
            <a:off x="8074152" y="3703320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91272" y="3886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1330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stays centered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4480560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95160" y="4590288"/>
            <a:ext cx="4434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look identical until the block changes size — only the second one captures what you actually meant, not just a position that happened to look right.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7512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7512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Editability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model updates the way you intend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06824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71416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471416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65192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person can read the tree and see the logic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0728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75320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275320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769096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reuse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assemblies, drawings &amp; manufacturing files inherit 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Organizing a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design has more than one part, where do the controlling dimensions live?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each part alone, then assemble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are independent — editing one doesn't ripple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manage; easy to reuse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well-understood or off-the-shelf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when parts must share dimensions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194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assembly's shared geometry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4194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dimensions live in one place and propagate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mating parts fitting as the design evolves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new designs with moving interfaces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setup; unmanaged references get fragile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634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top-down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sketch (fixes key sizes before parts exist), skeleton/master model (shared reference geometry), in-context references (shape one part against another directly).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4864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5961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simplest structure that captures the intent — reach for top-down only where parts genuinely must share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Practices That Keep a Design Robust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 every sketch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under-defined sketch can drift on an unrelated edit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stable geometry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and default planes never move; a filleted edge might vanish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feature — complexity goes in the feature tree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organize features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of "Extrude7, Cut12" tells the next person nothing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2064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6656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486656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980432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dependency chains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6656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things a feature relies on means fewer ways it breaks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41208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5800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0580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799576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design, not just the shape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05800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governs the part, build the rule 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WEEKS 4–7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Sketching, views, and the first parametric model — the foundation every later unit depends on.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73736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7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Single "Right" 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can be built from a different base feature, sketch set, or feature order — with effectively infinite valid combinations.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good from poor: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classmates can hand in completely different feature trees and both be correct. What separates a good model from a poor one is whether it captures design intent, rebuilds without errors, and stays easy to edit — not whether it matches a canonical answer.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1201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deliberate choices you can explain, not on guessing the "expected" answer.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builds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and modeling foundation every later unit depends on — a controlled sketch, standard views, and a parametric solid that updates when you change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Origin: Where Every Model Begins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coordinate, sketch, and feature ultimately measures from one fixed point in space.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43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(0, 0, 0)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point in the file that never moves, no matter how the model is edited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default planes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Top, and Right all pass through the origin and split space along the X, Y, and Z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measured from it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or indirectly — a sketch plane, a mate, even a drawing's projected views all trace back to this fixed reference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origin (or geometry built from it) instead of an edge that might move, get filleted away, or get deleted in a later edit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default planes meet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0" y="2743200"/>
            <a:ext cx="1051560" cy="1051560"/>
          </a:xfrm>
          <a:prstGeom prst="line">
            <a:avLst/>
          </a:prstGeom>
          <a:noFill/>
          <a:ln w="19050">
            <a:solidFill>
              <a:srgbClr val="8592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8900000">
            <a:off x="7799832" y="2587752"/>
            <a:ext cx="146304" cy="146304"/>
          </a:xfrm>
          <a:prstGeom prst="triangle">
            <a:avLst/>
          </a:prstGeom>
          <a:solidFill>
            <a:srgbClr val="8592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0" y="23774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2514600"/>
            <a:ext cx="0" cy="128016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42248" y="244144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794760"/>
            <a:ext cx="1600200" cy="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10442448" y="372160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634472" y="36667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0536" y="373989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3867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(0, 0, 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507492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5184648"/>
            <a:ext cx="4434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pairing of planes to axes (which plane is "Front") varies by CAD program — but every parametric system anchors its geometry to an origin and a set of default planes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Point to Solid: Building Up in Dimensions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a stack of dimensions — each one built from the last.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4787" y="2450592"/>
            <a:ext cx="164592" cy="164592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Shape 9"/>
          <p:cNvSpPr/>
          <p:nvPr/>
        </p:nvSpPr>
        <p:spPr>
          <a:xfrm>
            <a:off x="3129534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— no length, area, or volume. A sketch point, a vertex, the origin itself.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278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04438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04438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8833" y="2660904"/>
            <a:ext cx="585216" cy="-256032"/>
          </a:xfrm>
          <a:prstGeom prst="line">
            <a:avLst/>
          </a:prstGeom>
          <a:noFill/>
          <a:ln w="31750">
            <a:solidFill>
              <a:srgbClr val="2F6F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93892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31870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Curve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50158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points — has length only. Lines, arcs, and splines: what you actually sketch.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1636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68796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6879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79767" y="2350008"/>
            <a:ext cx="512064" cy="384048"/>
          </a:xfrm>
          <a:prstGeom prst="triangle">
            <a:avLst/>
          </a:prstGeom>
          <a:ln w="25400">
            <a:solidFill>
              <a:srgbClr val="2F6F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8250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96228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(Profile)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of 1D entities that encloses an area. A triangle, rectangle, circle — any closed profile.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95994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3154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315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54437" y="2313432"/>
            <a:ext cx="310896" cy="310896"/>
          </a:xfrm>
          <a:prstGeom prst="rect">
            <a:avLst/>
          </a:prstGeom>
          <a:ln w="19050">
            <a:solidFill>
              <a:srgbClr val="8592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34981" y="2487168"/>
            <a:ext cx="310896" cy="310896"/>
          </a:xfrm>
          <a:prstGeom prst="rect">
            <a:avLst/>
          </a:prstGeom>
          <a:solidFill>
            <a:srgbClr val="2F6FE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60586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(Volume)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78874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spin, or sweep a profile through space and it gains volume. Extrude, revolve, sweep, loft.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528523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39496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several slides walk through sketching (0D → 1D → 2D) and solid modeling (2D → 3D) in detail — this is the map for where each one fits.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Body: The Feature Loop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feature repeats the same four steps — the feature tree is just this loop, run again and again.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120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Plane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6479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0" name="Shape 8"/>
          <p:cNvSpPr/>
          <p:nvPr/>
        </p:nvSpPr>
        <p:spPr>
          <a:xfrm>
            <a:off x="374904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Profile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2803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3" name="Shape 11"/>
          <p:cNvSpPr/>
          <p:nvPr/>
        </p:nvSpPr>
        <p:spPr>
          <a:xfrm>
            <a:off x="681228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4768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Volume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9127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6" name="Shape 14"/>
          <p:cNvSpPr/>
          <p:nvPr/>
        </p:nvSpPr>
        <p:spPr>
          <a:xfrm>
            <a:off x="987552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1092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It Up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00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repeat, starting the next loop from a face this feature just created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66744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Pick a plane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default planes, a flat face of the solid so far, or an offset/angled reference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Define a profile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closed, fully-defined 2D profile on that plane — points and lines built into a polygon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Create a volume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or loft the profile into a solid, then add, cut, or intersect it with what's already there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Dress it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fillets, chamfers, shells, drafts, or patterns — operations on the solid, not a new sketched volume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806440"/>
            <a:ext cx="1101852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916168"/>
            <a:ext cx="105613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the next loop is usually a face the previous loop just created, not a default plane — that dependency is exactly what builds the feature tree, one branch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Fundamentals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sketch is a 2D profile on a plane or face — the input to a 3D feature like an extrude or revolve.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entities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circles, rectangles, slots, splines, and 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2064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geometry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origin, the three default planes (front, top, right), and construction lines that guide without becoming part of the profile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41208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vs. open profiles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can be extruded into a solid; an open profile makes thin features, surfaces, or paths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3308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 — draw only the geometry the feature needs, keep profiles closed, and put complexity into separate features rather than one crowded sketch.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2D Construction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shape is a sketch, it's plane geometry — points, lines, and curves in defined relationships.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01_circl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2971" y="1956816"/>
            <a:ext cx="1079586" cy="11340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&amp; Arc Geometry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+ radius/diameter; a chord connects two points, a central angle subtends an arc.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3776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1" descr="/tmp/mech151_deck/images/02_polyg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752" y="1956816"/>
            <a:ext cx="2027736" cy="11340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6656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(flat-to-flat) vs. circumscribed (point-to-point) — matters for hex features and bolt heads.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4632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6" name="Image 2" descr="/tmp/mech151_deck/images/03_tan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220" y="1956816"/>
            <a:ext cx="1724512" cy="11340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87512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87512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line/arc touches a circle at exactly one point, perpendicular to the radius there.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0" name="Image 3" descr="/tmp/mech151_deck/images/04_fillet_chamf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604" y="4302252"/>
            <a:ext cx="2232320" cy="11340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Fillets &amp; Chamfers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fillet is a tangent arc replacing a sharp corner; a chamfer is a straight cut across it.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303776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4" name="Image 4" descr="/tmp/mech151_deck/images/05_bisector_offs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2515" y="4302252"/>
            <a:ext cx="2822210" cy="1134039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86656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Constructions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4486656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 bisector and offset — classic constructions, now done by relations.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8104632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8" name="Image 5" descr="/tmp/mech151_deck/images/06_symme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9496" y="4302252"/>
            <a:ext cx="1409961" cy="11340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287512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&amp; Centerlines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8287512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half a shape about a construction line and mirror it to guarantee identical halves.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Constraints &amp; Relations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lock down where sketch geometry can move, removing degrees of freedom until the sketch is fully defined.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92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Under-defined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can still be dragged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sketch is not fully controlled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932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defined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fixed by relations + dimensions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 before finishing a sketch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Over-defined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or redundant constraints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resolved, not ignored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886200"/>
            <a:ext cx="11201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relations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coincident, collinear, parallel, perpendicular, tangent, concentric, equal, horizontal, vertical, symmetric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radial, diameter, angular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relations before dimensions — relations capture intent (this hole stays centered) so changing one dimension updates the model predictably instead of distorting it.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Orthographic Projection &amp; Multiview Theory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part inside a glass box — each face of the box catches one view; unfolding it gives the standard view arrangement.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863840" y="1965960"/>
            <a:ext cx="1234440" cy="864108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0" y="1673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0" y="3058668"/>
            <a:ext cx="1234440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433882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0" y="3058668"/>
            <a:ext cx="864108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0" y="4338828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01168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Third-angle projection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standard — top view sits above front, right-side view sits to its right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conventions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edges solid, hidden edges dashed, centerlines for holes and symmetry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selection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front view with the most shape and fewest hidden lines; add only the views needed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geometry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length appears only when a line is parallel to the viewing plane; true shape only in a view perpendicular to that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vs. secondary views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view projects from a principal view; a secondary view projects from a primary view to reveal a feature still not true-size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Dimensioning Standards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tell the reader how big the part is and how precisely each feature must be made (ASME Y14.5 in the U.S.).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lines, dimension lines, arrowheads, and the value — kept off the outline and out of the 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to visible outlines, not hidden lines; group related dimensions; smallest closest to the view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over-dimension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located once — a redundant dimension creates conflict on the shop floor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callouts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diameter, radius, counterbore, countersink, and depth symbols for holes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Building 3D Solids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model is a running total: start with a volume, add more, and cut some away.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Extrude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profile along an axis</a:t>
            </a:r>
            <a:endParaRPr lang="en-US" sz="950" dirty="0"/>
          </a:p>
        </p:txBody>
      </p:sp>
      <p:pic>
        <p:nvPicPr>
          <p:cNvPr id="10" name="Image 0" descr="/tmp/mech151_deck/images/08_extr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578608"/>
            <a:ext cx="1783080" cy="1783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53562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90722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0722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950" dirty="0"/>
          </a:p>
        </p:txBody>
      </p:sp>
      <p:pic>
        <p:nvPicPr>
          <p:cNvPr id="14" name="Image 1" descr="/tmp/mech151_deck/images/09_revol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59" y="2578608"/>
            <a:ext cx="1783080" cy="17830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04204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41364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341364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profile along a path</a:t>
            </a:r>
            <a:endParaRPr lang="en-US" sz="950" dirty="0"/>
          </a:p>
        </p:txBody>
      </p:sp>
      <p:pic>
        <p:nvPicPr>
          <p:cNvPr id="18" name="Image 2" descr="/tmp/mech151_deck/images/10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401" y="2578608"/>
            <a:ext cx="1783080" cy="17830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54846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192006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192006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between different profiles</a:t>
            </a:r>
            <a:endParaRPr lang="en-US" sz="950" dirty="0"/>
          </a:p>
        </p:txBody>
      </p:sp>
      <p:pic>
        <p:nvPicPr>
          <p:cNvPr id="22" name="Image 3" descr="/tmp/mech151_deck/images/11_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043" y="2578608"/>
            <a:ext cx="178308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Primitives</a:t>
            </a:r>
            <a:endParaRPr lang="en-US" sz="1400" dirty="0"/>
          </a:p>
        </p:txBody>
      </p:sp>
      <p:pic>
        <p:nvPicPr>
          <p:cNvPr id="25" name="Image 4" descr="/tmp/mech151_deck/images/07_primitiv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29650"/>
            <a:ext cx="5134356" cy="1106691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204204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387084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 &amp; Dress-Up</a:t>
            </a:r>
            <a:endParaRPr lang="en-US" sz="1400" dirty="0"/>
          </a:p>
        </p:txBody>
      </p:sp>
      <p:pic>
        <p:nvPicPr>
          <p:cNvPr id="28" name="Image 5" descr="/tmp/mech151_deck/images/12_booleans_dres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7084" y="5175367"/>
            <a:ext cx="5134356" cy="85981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87084" y="6199632"/>
            <a:ext cx="5134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&amp; chamfer are shown on the sketching slide (2D construction).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Parametric Part Modeling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parametric model is a history of features, each driven by dimensions and relations — change a dimension and the model rebuilds.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feature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solid, usually an extrude or revolve of a fully defined sketch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features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cut, revolve, fillet, chamfer, hole, shell, pattern — each added in order on the feature tree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planes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where each feature's sketch lives so edits stay stable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driving dimensions, reordering/suppressing features, fixing rebuild errors — reading a feature tree and predicting what an edit will 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91032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CAD editable rather than something you redraw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Measurable Properties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carries numbers that follow from its geometry — the values a design is checked against.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2D profile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Area, perimeter, centroid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moment of area (I) — resistance to bending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modulus (I ÷ distance to extreme fiber)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078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194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3D solid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surface area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(volume × density), center of gravity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moment of inertia — resistance to angular acceleration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4456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only right if the material density is set correctly and the model is a single watertight solid — an open or multi-body model gives a meaningless mass.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1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defined, with relations that capture intent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Multiview drawing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projection, line types, and dimensions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parametric model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editable feature tree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a multiview drawing, and a first fully parametric part model.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Quiz (Week 7)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253996" cy="4206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253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WEEKS 7–10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Advanced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views, fasteners, and production drawings — turning a model into a document a shop can build from.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10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imaginary cutting plane slices the part to show what's inside, replacing hidden-line tangles with a clear cut face.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cutting plane passes entirely through the part, exposing the interior along its whole length.</a:t>
            </a:r>
            <a:endParaRPr lang="en-US" sz="1000" dirty="0"/>
          </a:p>
        </p:txBody>
      </p:sp>
      <p:pic>
        <p:nvPicPr>
          <p:cNvPr id="10" name="Image 0" descr="/tmp/mech151_deck/images/13_section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418" y="1874520"/>
            <a:ext cx="173736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04204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7084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Section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387084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quarter is removed — the exterior and the interior appear together in a single view. Best for symmetric parts.</a:t>
            </a:r>
            <a:endParaRPr lang="en-US" sz="1000" dirty="0"/>
          </a:p>
        </p:txBody>
      </p:sp>
      <p:pic>
        <p:nvPicPr>
          <p:cNvPr id="14" name="Image 1" descr="/tmp/mech151_deck/images/14_section_ha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02" y="1874520"/>
            <a:ext cx="1737360" cy="1737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2920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Section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is stepped (jogged) so it passes through features that aren't in line — each still appears true size.</a:t>
            </a:r>
            <a:endParaRPr lang="en-US" sz="950" dirty="0"/>
          </a:p>
        </p:txBody>
      </p:sp>
      <p:pic>
        <p:nvPicPr>
          <p:cNvPr id="18" name="Image 2" descr="/tmp/mech151_deck/images/15_section_offs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676" y="4654296"/>
            <a:ext cx="3526604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04204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87084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Sections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87084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Broken-out, revolved, and removed — used to show one local feature without a full cut.</a:t>
            </a:r>
            <a:endParaRPr lang="en-US" sz="950" dirty="0"/>
          </a:p>
        </p:txBody>
      </p:sp>
      <p:pic>
        <p:nvPicPr>
          <p:cNvPr id="22" name="Image 3" descr="/tmp/mech151_deck/images/16_section_lo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253" y="4654296"/>
            <a:ext cx="4378018" cy="11430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599846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6108192"/>
            <a:ext cx="10744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lining marks the cut face — but ribs, webs, fasteners, shafts, and pins are never hatched, even when the cutting plane passes through them.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Auxiliary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inclined face looks foreshortened in every principal view — an auxiliary view is projected perpendicular to it so it appears true-size.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17_auxiliary_pri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9838" y="1755648"/>
            <a:ext cx="6807563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809744"/>
            <a:ext cx="513435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from one principal view to show an inclined surface true-shape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inclined feature is drawn — the rest is omitted to avoid distortion and clutter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Reference-plane method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transferred across the fold line along projection lines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4204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1" name="Image 1" descr="/tmp/mech151_deck/images/18_auxiliary_par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0159" y="4764024"/>
            <a:ext cx="3208206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Threads &amp; Fastener Representation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are almost never drawn in full detail — a standardized representation plus a note carries the information a shop needs.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5661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Profile</a:t>
            </a:r>
            <a:endParaRPr lang="en-US" sz="1250" dirty="0"/>
          </a:p>
        </p:txBody>
      </p:sp>
      <p:pic>
        <p:nvPicPr>
          <p:cNvPr id="9" name="Image 0" descr="/tmp/mech151_deck/images/19_thread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604" y="2121408"/>
            <a:ext cx="2970792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51960" y="1737360"/>
            <a:ext cx="26517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Thread Is Cut</a:t>
            </a:r>
            <a:endParaRPr lang="en-US" sz="1250" dirty="0"/>
          </a:p>
        </p:txBody>
      </p:sp>
      <p:pic>
        <p:nvPicPr>
          <p:cNvPr id="12" name="Image 1" descr="/tmp/mech151_deck/images/20_thread_hel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537" y="2121408"/>
            <a:ext cx="2048605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086600" y="1737360"/>
            <a:ext cx="461772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69480" y="1883664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terms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major/minor diameter, pitch, lead, external vs. internal, right- vs. left-hand, class of fit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detailed, schematic, simplified — simplified is most common on production drawings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bolts, screws, nuts, washers, inserts — clearance and tap-drill holes are sized to fit them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notes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1/4-20 UNC-2A (inch) or M6 × 1 (metric) — diameter, pitch, and class in one callout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4297680"/>
            <a:ext cx="11201400" cy="2148840"/>
          </a:xfrm>
          <a:prstGeom prst="roundRect">
            <a:avLst>
              <a:gd name="adj" fmla="val 297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4407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Hole Types</a:t>
            </a:r>
            <a:endParaRPr lang="en-US" sz="1300" dirty="0"/>
          </a:p>
        </p:txBody>
      </p:sp>
      <p:pic>
        <p:nvPicPr>
          <p:cNvPr id="17" name="Image 2" descr="/tmp/mech151_deck/images/21_hole_ty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41" y="4681728"/>
            <a:ext cx="10326359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&amp; Detail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drawing is a controlled document — its format carries information that isn't in the geometry.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106070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9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1965960"/>
            <a:ext cx="10058400" cy="3703320"/>
          </a:xfrm>
          <a:prstGeom prst="rect">
            <a:avLst/>
          </a:prstGeom>
          <a:ln w="9525">
            <a:solidFill>
              <a:srgbClr val="0F29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802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430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9375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003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948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76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4521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49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7094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722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667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295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92240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868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04813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441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1146536" y="242887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164824" y="233743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1146536" y="335470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164824" y="326326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146536" y="428053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1164824" y="418909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1146536" y="520636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164824" y="511492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188720" y="2103120"/>
            <a:ext cx="9784080" cy="1325880"/>
          </a:xfrm>
          <a:prstGeom prst="rect">
            <a:avLst/>
          </a:prstGeom>
          <a:ln w="15875">
            <a:solidFill>
              <a:srgbClr val="E1E7EE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1188720" y="24460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VIEWS &amp; GEOMETRY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276606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(front, top, right-side views — dimensions and GD&amp;T applied directly on the geometry)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1560" y="3566160"/>
            <a:ext cx="2651760" cy="210312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43000" y="362102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NOTES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3840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(tolerance defaults, finish, material, heat-treat)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" y="422452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417320" y="4389120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143000" y="455371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17320" y="4718304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828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17320" y="5047488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43000" y="521208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417320" y="5376672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78040" y="3566160"/>
            <a:ext cx="3931920" cy="54864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51192" y="3602736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LIST  (assemblies only)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72237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76809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6352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0" y="378561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80924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149840" y="3785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10412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78040" y="4114800"/>
            <a:ext cx="3931920" cy="64008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223760" y="4160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680960" y="4160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63524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784080" y="4160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73836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32720" y="41605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8700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96328" y="4407408"/>
            <a:ext cx="3895344" cy="0"/>
          </a:xfrm>
          <a:prstGeom prst="line">
            <a:avLst/>
          </a:prstGeom>
          <a:noFill/>
          <a:ln w="6350">
            <a:solidFill>
              <a:srgbClr val="E1E7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78040" y="4754880"/>
            <a:ext cx="3931920" cy="914400"/>
          </a:xfrm>
          <a:prstGeom prst="rect">
            <a:avLst/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269480" y="48097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/ PART NAME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7178040" y="5138928"/>
            <a:ext cx="3931920" cy="0"/>
          </a:xfrm>
          <a:prstGeom prst="line">
            <a:avLst/>
          </a:prstGeom>
          <a:noFill/>
          <a:ln w="9525">
            <a:solidFill>
              <a:srgbClr val="0F2942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1461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BY / DATE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816102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19759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14400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18057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12698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1016355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 NO. / SHEET</a:t>
            </a:r>
            <a:endParaRPr lang="en-US" sz="700" dirty="0"/>
          </a:p>
        </p:txBody>
      </p:sp>
      <p:sp>
        <p:nvSpPr>
          <p:cNvPr id="75" name="Text 73"/>
          <p:cNvSpPr txBox="1"/>
          <p:nvPr/>
        </p:nvSpPr>
        <p:spPr>
          <a:xfrm>
            <a:off x="502920" y="601675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sheet layout — every real drawing fills these same zones with the part's views, dimensions, and notes.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Tolerancing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is made to an exact dimension — tolerancing states how much variation is acceptable so parts still fit and function.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19097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19097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64817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964817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5274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5274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Plus/Minus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80994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1451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1451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97171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7171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7628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67628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Radius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213348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3805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3805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°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29525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29525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9982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ln w="190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45702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Dimension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045702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416159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416159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)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10461879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Dim.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461879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Dimensions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33649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1.253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34540" y="3639312"/>
            <a:ext cx="548640" cy="0"/>
          </a:xfrm>
          <a:prstGeom prst="line">
            <a:avLst/>
          </a:prstGeom>
          <a:noFill/>
          <a:ln w="12700">
            <a:solidFill>
              <a:srgbClr val="0F29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36576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1264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limit over low limit — no math on the shop floor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29768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8912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Plus/Minus Tolerance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178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894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17820" y="3584448"/>
            <a:ext cx="137160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headEnd type="triangle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4434840" y="36941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1.250 ±0.003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shown; unilateral: +0.005 / −0.000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09244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18388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Callout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4292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85732" y="3483864"/>
            <a:ext cx="164592" cy="164592"/>
          </a:xfrm>
          <a:prstGeom prst="ellipse">
            <a:avLst/>
          </a:prstGeom>
          <a:ln w="19050">
            <a:solidFill>
              <a:srgbClr val="0F29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52814" y="3566160"/>
            <a:ext cx="230429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68028" y="3450946"/>
            <a:ext cx="0" cy="230429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⌀0.10 Ⓜ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20216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⌀0.10 at MMC, to datum A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50292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9436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Fit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089404" y="5148072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16836" y="5175504"/>
            <a:ext cx="384048" cy="384048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64008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H7/p6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gap — press or light-tap assembly (interference)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429768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38912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Fit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856732" y="512064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984748" y="5248656"/>
            <a:ext cx="237744" cy="237744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</p:sp>
      <p:sp>
        <p:nvSpPr>
          <p:cNvPr id="74" name="Text 72"/>
          <p:cNvSpPr txBox="1"/>
          <p:nvPr/>
        </p:nvSpPr>
        <p:spPr>
          <a:xfrm>
            <a:off x="443484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H11/c11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gap — free-running clearance, easy to assemble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809244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18388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Finish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432036" y="5522976"/>
            <a:ext cx="146304" cy="14630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578340" y="5669280"/>
            <a:ext cx="182880" cy="-42062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797796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1.6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820216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average (µin/µm) — smaller number = smoother surface</a:t>
            </a:r>
            <a:endParaRPr lang="en-US" sz="7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Software Configuration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 comes from configured software, not from fixing every file by hand.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assembly, drawing templates with the right units, standard,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dimensioning standard (ASME/ISO), grid, layers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metadata that auto-populates the title block and BOM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folder structure, keeping references intact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CAD/CAM Data Translation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model between systems means exporting to a neutral format — each keeps some information and loses the rest.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exchange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(AP203/214/242), IGES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preserved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feature history is not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816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932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formats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Parasolid, ACIS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between packages sharing a modeling kernel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340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456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formats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STL, 3MF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Faceted surface, no true curves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set at export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6817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or corrupted faces, gaps requiring geometry healing, and unit-scale errors are the common translation issues.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2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in modeling, discipline in documentation — how you build the part stays open-ended; the drawing follows shared conventions (ASME Y14.5, ISO) so anyone can read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Documentation-ready drawing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&amp; auxiliary views, complete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22064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fastener callouts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dimensional tolerances applied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41208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templates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clean, translated model export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detailed production drawing with section &amp; auxiliary views, fastener callouts, tolerances, plus a correctly configured template and clean export.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Quiz (Week 10)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WEEKS 11–13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 models into working assemblies, document them, and design them to be quick and cheap to put together.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13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Parts to Systems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relationship repeats at every scale: individual parts mate into a component, components combine into an assembly, and assemblies combine into a complete system.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30_assembly_hierarc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37528"/>
            <a:ext cx="11201400" cy="298878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60076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6117336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break it down: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large, complicated systems stay manageable — a vehicle or an instrument is never modeled as one flat list of thousands of parts. It's a tree of assemblies, each one a self-contained, testable unit.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Modeling: Mates &amp;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positions components relative to one another using mates — each removes degrees of freedom.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0F29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892808"/>
            <a:ext cx="2926080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88336"/>
            <a:ext cx="25603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 a free rigid body has — mates remove them one axis at a time.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783080"/>
            <a:ext cx="8001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component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placed is fixed and becomes the ground the rest is built against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rotational or linear freedom on purpose so a mechanism can be moved and checked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1201400" cy="2926080"/>
          </a:xfrm>
          <a:prstGeom prst="roundRect">
            <a:avLst>
              <a:gd name="adj" fmla="val 218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0" descr="/tmp/mech151_deck/images/29_mate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06765"/>
            <a:ext cx="10927080" cy="266199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two parts are held together is a design decision — choose deliberately, then design both parts to suit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Threaded Fasteners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tapped holes</a:t>
            </a:r>
            <a:endParaRPr lang="en-US" sz="950" dirty="0"/>
          </a:p>
        </p:txBody>
      </p:sp>
      <p:pic>
        <p:nvPicPr>
          <p:cNvPr id="10" name="Image 0" descr="/tmp/mech151_deck/images/22_threaded_fast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804993"/>
            <a:ext cx="3252216" cy="21715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metal-to-metal joints — strong, standard, and removable. Needs ~1.5–2× screw diameter of thread engagement plus tool access.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31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7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Heat-Set Inserts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47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plastic / 3D-printed parts</a:t>
            </a:r>
            <a:endParaRPr lang="en-US" sz="950" dirty="0"/>
          </a:p>
        </p:txBody>
      </p:sp>
      <p:pic>
        <p:nvPicPr>
          <p:cNvPr id="15" name="Image 1" descr="/tmp/mech151_deck/images/23_heat_set_ins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958533"/>
            <a:ext cx="3252216" cy="186447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7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brass insert is pressed into a boss with a soldering iron — melted plastic locks into its knurls, far more reusable than threading into plastic directly.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812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8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Snap-Fit Joints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8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hardware, no tools</a:t>
            </a:r>
            <a:endParaRPr lang="en-US" sz="950" dirty="0"/>
          </a:p>
        </p:txBody>
      </p:sp>
      <p:pic>
        <p:nvPicPr>
          <p:cNvPr id="20" name="Image 2" descr="/tmp/mech151_deck/images/24_snap_f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12" y="2566838"/>
            <a:ext cx="3252216" cy="26478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8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Cantilever, annular, and torsion snaps release or lock permanently depending on retention angle — design for allowable strain and a lead-in angle.</a:t>
            </a:r>
            <a:endParaRPr lang="en-US" sz="9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/ Interference Fits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by friction from a slight size mismatch between mating diameters — dowel pins, bushings, bearings. Cheap and precise, but hard to disassemble and tolerance-sensitive.</a:t>
            </a:r>
            <a:endParaRPr lang="en-US" sz="970" dirty="0"/>
          </a:p>
        </p:txBody>
      </p:sp>
      <p:pic>
        <p:nvPicPr>
          <p:cNvPr id="9" name="Image 0" descr="/tmp/mech151_deck/images/25_press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252" y="2240280"/>
            <a:ext cx="1747736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Mechanisms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or retention comes from the material's own flexibility — living hinges, flexure pivots, one-piece clips. Cuts part count to the extreme; limited travel and fatigue life.</a:t>
            </a:r>
            <a:endParaRPr lang="en-US" sz="970" dirty="0"/>
          </a:p>
        </p:txBody>
      </p:sp>
      <p:pic>
        <p:nvPicPr>
          <p:cNvPr id="13" name="Image 1" descr="/tmp/mech151_deck/images/26_compliant_hi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63" y="2240280"/>
            <a:ext cx="3299114" cy="1828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242816"/>
            <a:ext cx="11201400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Joints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43525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Adhesives, solvent/ultrasonic welding, and riveting — used only where the joint never needs to separate.</a:t>
            </a:r>
            <a:endParaRPr lang="en-US" sz="1000" dirty="0"/>
          </a:p>
        </p:txBody>
      </p:sp>
      <p:pic>
        <p:nvPicPr>
          <p:cNvPr id="17" name="Image 2" descr="/tmp/mech151_deck/images/27_permanent_jo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34" y="4681728"/>
            <a:ext cx="4941172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02920" y="6044184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6153912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DFA trade-off: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is universal and serviceable but adds parts, tools, and assembly time; snap-fits and compliant features add almost nothing to the parts list but must be designed carefully and are harder to revise once tooling is dialed in.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Online Component Repositories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not model a part you can download — this is normal professional practice, not a shortcut.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11201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models come from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McMaster-Carr (download STEP/native from almost any product page), manufacturer sites, TraceParts, GrabCAD, 3D ContentCentral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DFA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downloaded model is the real catalog part — correct dimensions and thread, a real part number for the BOM, at the price and lead time listed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them in cleanly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 a dedicated library folder, don't edit their geometry, mate to them like any other component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trust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units/scale on import, simplify heavy models, verify the part number matches what you intend to buy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drawing shows how parts go together — exploded, numbered, and tied to a parts list.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576072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28_exploded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380" y="1920240"/>
            <a:ext cx="3347800" cy="3840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57607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numbers are assigned in assembly order and match the item numbers in the parts list at right.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92240" y="1783080"/>
            <a:ext cx="521208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 of Materials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720840" y="2423160"/>
            <a:ext cx="4754880" cy="29260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7570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278624" y="242316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NO.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242316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2766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77570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278624" y="2715768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HW-0425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715768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head cap screw, M4 × 12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02766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20840" y="3191256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20840" y="3191256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77570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278624" y="3191256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100-002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330184" y="3191256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plate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02766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720840" y="3666744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7570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278624" y="3666744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100-003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3666744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Gasket, silicone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02766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20840" y="4142232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20840" y="4142232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7570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278624" y="4142232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100-001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330184" y="4142232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(base)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1102766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720840" y="4617720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20840" y="2423160"/>
            <a:ext cx="4754880" cy="2194560"/>
          </a:xfrm>
          <a:prstGeom prst="rect">
            <a:avLst/>
          </a:prstGeom>
          <a:ln w="12700">
            <a:solidFill>
              <a:srgbClr val="0F294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20840" y="48463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CAD, this table is generated directly from the assembly and stays linked — edit the model and the parts list updates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 (DFA) Principles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parts, easier insertion, less to get wrong on the line — DFA turns assembly time into a design variable.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part 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is a candidate for elimination unless it moves, needs a different material, or must be removable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off-the-shelf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faster, and more reliable than custom-fabricated — see the online repositories slide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insertion &amp; no reorientation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chamfers and self-locating features, assembling from one direction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fasteners &amp; use symmetry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unique sizes to stock and pick; make orientation obvious or irrelevant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&amp; iteration: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ends with a design review workshop — present an assembly, take feedback against the DFA principles, and produce a documented revision with a measurable improvement.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3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 assembly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mates, sub-assemblies, and library hardware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 drawing + BOM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balloons keyed to a linked bill of materials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revision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review turned into a measurable DFA improvement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multi-part assembly model with correct mates, an exploded drawing with balloons and a linked BOM, plus a documented design revision.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Quiz (Week 13)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· WEEKS 14–16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Manufacturing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from CAD model to physical part — manufacturing-ready files, process limits, and shop safety.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16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Standards Carry the 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design leaves your screen, the maker builds exactly what the documentation says.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maker is not the designer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conventions (ASME Y14.5, GD&amp;T, thread/finish callouts) let them read your intent without a phone call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dimensions must be stated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tolerance callout tells the shop where to spend effort and where a loose result is fine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formats preserve meaning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carries clean geometry between systems; a sloppy export arrives with gaps, wrong units, or lost features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expensive and slow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graded prototype, it comes back as a part you can't use and no time to redo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553212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64184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design intent, then communicate it in the form everyone downstream already knows how to read.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GD&amp;T: The Building Blocks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symbolic language (ASME Y14.5 / ISO GPS) for functional relationships — design intent written in symbols instead of prose.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of size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with an axis or centerplane — a hole, pin, slot, width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(A, B, C)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surfaces chosen to match how the part actually seats in use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reference frame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+ tertiary datums lock all six degrees of freedom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zone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space the feature must lie within — a gap, a cylinder, a band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families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— form, orientation, location, profile, and runout (next slide)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03720" y="2286000"/>
            <a:ext cx="118872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204" y="2409444"/>
            <a:ext cx="301752" cy="301752"/>
          </a:xfrm>
          <a:prstGeom prst="ellipse">
            <a:avLst/>
          </a:prstGeom>
          <a:ln w="22225">
            <a:solidFill>
              <a:srgbClr val="0F29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71766" y="2560320"/>
            <a:ext cx="452628" cy="0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0" y="2334006"/>
            <a:ext cx="0" cy="452628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(position)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⌀0.2  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907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907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referenced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control frame — read left to right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4800600" cy="146304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3813048"/>
            <a:ext cx="4343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beats plain ±: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± box on four hole dimensions creates a small square zone and over-constrains the part; a position callout defines a round zone tied to the surfaces that matter, letting more good parts through.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Symbol Categories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by what they control and whether they need a datum.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datum needed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73913" y="2809494"/>
            <a:ext cx="279806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1685" y="3209087"/>
            <a:ext cx="264262" cy="124358"/>
          </a:xfrm>
          <a:prstGeom prst="parallelogram">
            <a:avLst/>
          </a:prstGeom>
          <a:ln w="20320">
            <a:solidFill>
              <a:srgbClr val="0F29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12775" y="3631997"/>
            <a:ext cx="202082" cy="202082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Circularity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728320" y="4109314"/>
            <a:ext cx="170993" cy="170993"/>
          </a:xfrm>
          <a:prstGeom prst="ellipse">
            <a:avLst/>
          </a:prstGeom>
          <a:ln w="17780">
            <a:solidFill>
              <a:srgbClr val="0F29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6140" y="4171493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140" y="4283415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98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Cylindricity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360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43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543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datum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71316" y="2669591"/>
            <a:ext cx="0" cy="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54730" y="2902763"/>
            <a:ext cx="233172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927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Perpendicularity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3546958" y="3185770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46958" y="3279038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27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562502" y="3834079"/>
            <a:ext cx="23317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78047" y="3834079"/>
            <a:ext cx="139903" cy="-20208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27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Angularity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datums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43320" y="2723998"/>
            <a:ext cx="170993" cy="170993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96685" y="2809494"/>
            <a:ext cx="26426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28816" y="2677363"/>
            <a:ext cx="0" cy="26426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84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427775" y="3170225"/>
            <a:ext cx="202082" cy="202082"/>
          </a:xfrm>
          <a:prstGeom prst="donut">
            <a:avLst/>
          </a:prstGeom>
          <a:solidFill>
            <a:srgbClr val="E1E7EE"/>
          </a:solidFill>
          <a:ln w="16510">
            <a:solidFill>
              <a:srgbClr val="0F294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84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Concentricity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12230" y="3667750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12230" y="3733038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12230" y="3798326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84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9075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58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Runout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9258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no/some datums · Runout: datum axis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69730" y="2747315"/>
            <a:ext cx="233172" cy="155448"/>
          </a:xfrm>
          <a:prstGeom prst="arc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42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line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9269730" y="3209087"/>
            <a:ext cx="233172" cy="155448"/>
          </a:xfrm>
          <a:prstGeom prst="chord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642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surface</a:t>
            </a:r>
            <a:endParaRPr lang="en-US" sz="1080" dirty="0"/>
          </a:p>
        </p:txBody>
      </p:sp>
      <p:sp>
        <p:nvSpPr>
          <p:cNvPr id="52" name="Shape 50"/>
          <p:cNvSpPr/>
          <p:nvPr/>
        </p:nvSpPr>
        <p:spPr>
          <a:xfrm>
            <a:off x="9269730" y="3849624"/>
            <a:ext cx="217627" cy="-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9642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runout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9246413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331909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96423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runout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502920" y="473659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1520" y="484632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condition modifiers: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(maximum material condition) and LMC (least material condition) let a position tolerance earn bonus tolerance as the hole moves away from its worst-case size — matching how a bolted clearance-hole joint really behaves.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Manufacturing-Ready Files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consumes a different file — a good part starts with exporting the right one at the right settings.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 mesh: STL or 3MF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enough to hide facets, not so fine the file is unwieldy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932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vector profile (DXF)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and engrave lines on separate layers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model (STEP) + dimensioned drawing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tells the machinist which dimensions are critical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805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basics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setup, toolpath generation, simulation, and the post-processor that turns toolpaths into machine G-code.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 Manufacturing (3D Printing)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uses material-extrusion printing (FDM/FFF), building one deposited layer at a time.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PLA, PETG, ABS — printability, strength, and temperature trade-offs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are weakest in the build (Z) direction — a strength decision, not just fit-on-bed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overhangs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roughly 45° rule, bridging limits, designing to avoid support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that matter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height, wall count, infill density and pattern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print undersize, first layers spread — allow for it or drill/ream after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Print Issues &amp; Fixes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0" name="Image 0" descr="/tmp/mech151_deck/images/31_elephant_foo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504" y="4105656"/>
            <a:ext cx="1025732" cy="960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Elephant Footing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9224" y="5376672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3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layer over-extrudes and squishes outward under the nozzle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649224" y="5833872"/>
            <a:ext cx="2336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brim, or reduce first-layer horizontal expansion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3360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5" name="Image 1" descr="/tmp/mech151_deck/images/32_strin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866" y="4105656"/>
            <a:ext cx="1506008" cy="9601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497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506724" y="5376672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3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molten filament oozes from the nozzle while traveling between features</a:t>
            </a:r>
            <a:endParaRPr lang="en-US" sz="830" dirty="0"/>
          </a:p>
        </p:txBody>
      </p:sp>
      <p:sp>
        <p:nvSpPr>
          <p:cNvPr id="18" name="Text 14"/>
          <p:cNvSpPr txBox="1"/>
          <p:nvPr/>
        </p:nvSpPr>
        <p:spPr>
          <a:xfrm>
            <a:off x="3506724" y="5833872"/>
            <a:ext cx="2336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the filament; tighten retraction distance/speed</a:t>
            </a:r>
            <a:endParaRPr lang="en-US" sz="860" dirty="0"/>
          </a:p>
        </p:txBody>
      </p:sp>
      <p:sp>
        <p:nvSpPr>
          <p:cNvPr id="19" name="Shape 15"/>
          <p:cNvSpPr/>
          <p:nvPr/>
        </p:nvSpPr>
        <p:spPr>
          <a:xfrm>
            <a:off x="6217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0" name="Image 2" descr="/tmp/mech151_deck/images/33_war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279" y="4105656"/>
            <a:ext cx="2158183" cy="9601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Warping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5376672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3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edges cool and shrink faster than the center, curling corners up</a:t>
            </a:r>
            <a:endParaRPr lang="en-US" sz="830" dirty="0"/>
          </a:p>
        </p:txBody>
      </p:sp>
      <p:sp>
        <p:nvSpPr>
          <p:cNvPr id="23" name="Text 18"/>
          <p:cNvSpPr txBox="1"/>
          <p:nvPr/>
        </p:nvSpPr>
        <p:spPr>
          <a:xfrm>
            <a:off x="6364224" y="5833872"/>
            <a:ext cx="2336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brim/raft; enclose the printer or use a heated bed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9075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5" name="Image 3" descr="/tmp/mech151_deck/images/34_delami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85" y="4105656"/>
            <a:ext cx="1863170" cy="9601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12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Separation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221724" y="5376672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3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don't fully fuse — often too cold, or cooled by a draft</a:t>
            </a:r>
            <a:endParaRPr lang="en-US" sz="830" dirty="0"/>
          </a:p>
        </p:txBody>
      </p:sp>
      <p:sp>
        <p:nvSpPr>
          <p:cNvPr id="28" name="Text 22"/>
          <p:cNvSpPr txBox="1"/>
          <p:nvPr/>
        </p:nvSpPr>
        <p:spPr>
          <a:xfrm>
            <a:off x="9221724" y="5833872"/>
            <a:ext cx="23362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nozzle temp slightly; shield the print from drafts</a:t>
            </a:r>
            <a:endParaRPr lang="en-US" sz="86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Subtractive Manufacturing (CNC)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solid stock and cuts material away — design constraints come from the tool and how the part is held.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38_workho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58" y="1851660"/>
            <a:ext cx="3178524" cy="2468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1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0" name="Image 1" descr="/tmp/mech151_deck/images/35_tool_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614" y="1851660"/>
            <a:ext cx="2792013" cy="2468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2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2" descr="/tmp/mech151_deck/images/36_tool_defl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962" y="1851660"/>
            <a:ext cx="2663316" cy="2468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4517136"/>
            <a:ext cx="11201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Speeds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4791456"/>
            <a:ext cx="11201400" cy="1645920"/>
          </a:xfrm>
          <a:prstGeom prst="roundRect">
            <a:avLst>
              <a:gd name="adj" fmla="val 388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5" name="Image 3" descr="/tmp/mech151_deck/images/37_feeds_spee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209" y="4860036"/>
            <a:ext cx="4430822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flat sheet by burning or vaporizing a narrow line through it — fast and precise in 2D, with its own rules.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 removes a finite width of material — account for it on tight-fitting parts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cut vs. raster engrave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color/layer determines whether the laser cuts through or marks the surface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limits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wood, acrylic, paper, and cloth cut well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Small-feature limits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hole size and spacing relative to material thickness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00176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and other chlorinated plastics must never be cut on a laser — they release chlorine gas.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DFM Design Considerations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part so the chosen process can make it well, at reasonable cost, without special effort.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design to process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walls for printing/casting, generous radii for machining, flat unfolded geometry for laser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2064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setups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one face are cheaper than features needing re-fixturing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41208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only what matters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tolerances drive cost — apply to mating/functional features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stock &amp; tooling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sizes and drill/tool radii cost less, arrive faster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2064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86656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665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80432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prototype AND product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6656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fine for a one-off print may not survive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Safety, PPE &amp; Operation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are checked out on safe setup and operation before running any shop equipment.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Z87.1 safety glasses, closed-toe shoes, no loose clothing/jewelry/unrestrained hair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machinery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wear gloves near a spindle, chuck, or bit — a caught glove pulls the hand in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unattended; keep a view of the cut; know the extraction and fire response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nozzle and bed — let them cool, don't reach into an active machine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location of the e-stop, fire extinguisher, and first-aid kit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521208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32180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is not optional: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syllabus, a participant without proper PPE during machine use will be asked to leave the class for that session.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4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exported for the chosen process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 documentation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 least one process, showing what you'd control and why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DFM-reviewed design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hand off to a shop process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 and GD&amp;T documentation demonstrating your design-for-manufacturing reasoning.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Quiz (Week 16). The physical prototype build &amp; presentation is graded separately as the course Final Exam.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Units at a Glance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open while you work — every unit's timing, focus, and assessment in one place.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57984"/>
            <a:ext cx="146304" cy="146304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87452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87452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problem, design intent, top-down vs. bottom-up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652760" y="187452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4261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146304" cy="146304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642616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642616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642616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multiview drawing, first parametric model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2642616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1071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694176"/>
            <a:ext cx="146304" cy="1463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410712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410712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41071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Section/auxiliary views, threads, tolerancing, production drawing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52760" y="3410712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462272"/>
            <a:ext cx="146304" cy="146304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178808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78808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178808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Mates, joining methods, exploded drawing + BOM, DFA principles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52760" y="4178808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13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94690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230368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4946904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4946904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946904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GD&amp;T, manufacturing files, additive/subtractive/laser, DFM, safety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52760" y="4946904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16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571500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99846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71500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977640" y="571500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571500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Team-built physical prototype, manufacturing docs, presentation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652760" y="571500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(w/ prototype)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 151 — Technical Design Unit Reference Guide</dc:title>
  <dc:subject>PptxGenJS Presentation</dc:subject>
  <dc:creator>MECH 151</dc:creator>
  <cp:lastModifiedBy>MECH 151</cp:lastModifiedBy>
  <cp:revision>1</cp:revision>
  <dcterms:created xsi:type="dcterms:W3CDTF">2026-09-08T07:13:01Z</dcterms:created>
  <dcterms:modified xsi:type="dcterms:W3CDTF">2026-09-08T07:13:01Z</dcterms:modified>
</cp:coreProperties>
</file>