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notesMasterIdLst>
    <p:notesMasterId r:id="rId5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notesMaster" Target="notesMasters/notesMaster1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image" Target="../media/image-49-3.png"/><Relationship Id="rId4" Type="http://schemas.openxmlformats.org/officeDocument/2006/relationships/image" Target="../media/image-4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image" Target="../media/image-5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17904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76856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35808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94760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53712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12664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71616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30568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89520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48472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07424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866376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25328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143232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758952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1517904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2276856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035808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3794760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4553712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5312664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6071616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6830568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" y="1965960"/>
            <a:ext cx="2331720" cy="420624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22960" y="1965960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26060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Design</a:t>
            </a:r>
            <a:endParaRPr lang="en-US" sz="54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" y="34290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FE3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Reference Guide</a:t>
            </a:r>
            <a:endParaRPr lang="en-US" sz="32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434340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AE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quick-reference for every unit — Design Fundamentals through Design for Manufacturing — for portfolio work, quizzes, and the final prototype.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22960" y="5989320"/>
            <a:ext cx="1211580" cy="365760"/>
          </a:xfrm>
          <a:prstGeom prst="roundRect">
            <a:avLst>
              <a:gd name="adj" fmla="val 20000"/>
            </a:avLst>
          </a:prstGeom>
          <a:solidFill>
            <a:srgbClr val="16324F"/>
          </a:solidFill>
          <a:ln w="15875">
            <a:solidFill>
              <a:srgbClr val="1B8A8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2960" y="5989320"/>
            <a:ext cx="12115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199132" y="5989320"/>
            <a:ext cx="777240" cy="365760"/>
          </a:xfrm>
          <a:prstGeom prst="roundRect">
            <a:avLst>
              <a:gd name="adj" fmla="val 20000"/>
            </a:avLst>
          </a:prstGeom>
          <a:solidFill>
            <a:srgbClr val="16324F"/>
          </a:solidFill>
          <a:ln w="15875">
            <a:solidFill>
              <a:srgbClr val="2F6FE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199132" y="598932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140964" y="5989320"/>
            <a:ext cx="777240" cy="365760"/>
          </a:xfrm>
          <a:prstGeom prst="roundRect">
            <a:avLst>
              <a:gd name="adj" fmla="val 20000"/>
            </a:avLst>
          </a:prstGeom>
          <a:solidFill>
            <a:srgbClr val="16324F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140964" y="598932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082796" y="5989320"/>
            <a:ext cx="777240" cy="365760"/>
          </a:xfrm>
          <a:prstGeom prst="roundRect">
            <a:avLst>
              <a:gd name="adj" fmla="val 20000"/>
            </a:avLst>
          </a:prstGeom>
          <a:solidFill>
            <a:srgbClr val="16324F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082796" y="598932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024628" y="5989320"/>
            <a:ext cx="777240" cy="365760"/>
          </a:xfrm>
          <a:prstGeom prst="roundRect">
            <a:avLst>
              <a:gd name="adj" fmla="val 20000"/>
            </a:avLst>
          </a:prstGeom>
          <a:solidFill>
            <a:srgbClr val="16324F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024628" y="598932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966460" y="5989320"/>
            <a:ext cx="1124712" cy="365760"/>
          </a:xfrm>
          <a:prstGeom prst="roundRect">
            <a:avLst>
              <a:gd name="adj" fmla="val 20000"/>
            </a:avLst>
          </a:prstGeom>
          <a:solidFill>
            <a:srgbClr val="16324F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966460" y="5989320"/>
            <a:ext cx="1124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Exam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0F29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MAP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Semester Roadmap, Weeks 4–17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project-based portfolio module per week; a short foundations unit precedes Unit 1.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965960"/>
            <a:ext cx="691896" cy="777240"/>
          </a:xfrm>
          <a:prstGeom prst="roundRect">
            <a:avLst>
              <a:gd name="adj" fmla="val 7930"/>
            </a:avLst>
          </a:prstGeom>
          <a:solidFill>
            <a:srgbClr val="1B8A8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2816352"/>
            <a:ext cx="746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249680" y="1965960"/>
            <a:ext cx="2932176" cy="777240"/>
          </a:xfrm>
          <a:prstGeom prst="roundRect">
            <a:avLst>
              <a:gd name="adj" fmla="val 7059"/>
            </a:avLst>
          </a:prstGeom>
          <a:solidFill>
            <a:srgbClr val="2F6FE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49680" y="2816352"/>
            <a:ext cx="298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4–7 · Quiz Wk 7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36720" y="1965960"/>
            <a:ext cx="2185416" cy="777240"/>
          </a:xfrm>
          <a:prstGeom prst="roundRect">
            <a:avLst>
              <a:gd name="adj" fmla="val 7059"/>
            </a:avLst>
          </a:prstGeom>
          <a:solidFill>
            <a:srgbClr val="7C3AE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236720" y="281635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7–10 · Quiz Wk 10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77000" y="1965960"/>
            <a:ext cx="2185416" cy="777240"/>
          </a:xfrm>
          <a:prstGeom prst="roundRect">
            <a:avLst>
              <a:gd name="adj" fmla="val 7059"/>
            </a:avLst>
          </a:prstGeom>
          <a:solidFill>
            <a:srgbClr val="1E9E5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77000" y="281635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11–13 · Quiz Wk 13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717280" y="1965960"/>
            <a:ext cx="2185416" cy="777240"/>
          </a:xfrm>
          <a:prstGeom prst="roundRect">
            <a:avLst>
              <a:gd name="adj" fmla="val 7059"/>
            </a:avLst>
          </a:prstGeom>
          <a:solidFill>
            <a:srgbClr val="D9770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717280" y="281635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14–16 · Quiz Wk 16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957560" y="1965960"/>
            <a:ext cx="691896" cy="777240"/>
          </a:xfrm>
          <a:prstGeom prst="roundRect">
            <a:avLst>
              <a:gd name="adj" fmla="val 7930"/>
            </a:avLst>
          </a:prstGeom>
          <a:solidFill>
            <a:srgbClr val="C0392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957560" y="2816352"/>
            <a:ext cx="746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17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3063240"/>
            <a:ext cx="201168" cy="201168"/>
          </a:xfrm>
          <a:prstGeom prst="ellipse">
            <a:avLst/>
          </a:prstGeom>
          <a:solidFill>
            <a:srgbClr val="1B8A8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13816" y="2971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Fundamentals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217920" y="3063240"/>
            <a:ext cx="201168" cy="201168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28816" y="2971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— CAD Fundamentals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02920" y="3566160"/>
            <a:ext cx="201168" cy="20116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13816" y="3474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— CAD Advanced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217920" y="3566160"/>
            <a:ext cx="201168" cy="201168"/>
          </a:xfrm>
          <a:prstGeom prst="ellipse">
            <a:avLst/>
          </a:prstGeom>
          <a:solidFill>
            <a:srgbClr val="1E9E5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28816" y="3474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— Design for Assembly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502920" y="4069080"/>
            <a:ext cx="201168" cy="20116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13816" y="3977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 — Design for Manufacturing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217920" y="4069080"/>
            <a:ext cx="201168" cy="20116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528816" y="3977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Exam — Prototype Project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502920" y="5623560"/>
            <a:ext cx="11201400" cy="868680"/>
          </a:xfrm>
          <a:prstGeom prst="roundRect">
            <a:avLst>
              <a:gd name="adj" fmla="val 8421"/>
            </a:avLst>
          </a:prstGeom>
          <a:solidFill>
            <a:srgbClr val="F3F6F9"/>
          </a:solidFill>
          <a:ln w="15875">
            <a:solidFill>
              <a:srgbClr val="0F294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31520" y="5733288"/>
            <a:ext cx="10744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grading lines up: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unit maps to a graded portfolio module and closes with a unit quiz; the Design Portfolio (50% of the course grade) and the Prototype + Final Exam (30%) are graded separately — see the syllabus for the remaining weighting.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159459" cy="310896"/>
          </a:xfrm>
          <a:prstGeom prst="roundRect">
            <a:avLst>
              <a:gd name="adj" fmla="val 50000"/>
            </a:avLst>
          </a:prstGeom>
          <a:solidFill>
            <a:srgbClr val="0F29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11594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NOTE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Course Is CAD-Program-Agnostic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 of CAD software is too broad to teach every package — so this course teaches the operations that transfer between all of them.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783080"/>
            <a:ext cx="11201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Dozens of parametric CAD packages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used across industry — SolidWorks, Fusion 360, Onshape, Inventor, Creo, NX, CATIA, and more</a:t>
            </a:r>
            <a:endParaRPr lang="en-US" sz="1250" dirty="0"/>
          </a:p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impractical to teach all of them in one course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mastering only one would leave you stuck the moment a job, internship, or team uses something else</a:t>
            </a:r>
            <a:endParaRPr lang="en-US" sz="1250" dirty="0"/>
          </a:p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this course teaches the operations every one of them shares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specific menu names are yours to look up in whatever software you're using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752344"/>
            <a:ext cx="5824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Operation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551676" y="2752344"/>
            <a:ext cx="4928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Called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3063240"/>
            <a:ext cx="11201400" cy="365760"/>
          </a:xfrm>
          <a:prstGeom prst="roundRect">
            <a:avLst>
              <a:gd name="adj" fmla="val 1250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063240"/>
            <a:ext cx="5641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Push/pull a 2D profile into a solid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551676" y="3063240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Extrude · Pad · Boss / Cut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465576"/>
            <a:ext cx="112014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1E7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465576"/>
            <a:ext cx="5641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a profile around an axis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51676" y="3465576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Revolve · Rotate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3867912"/>
            <a:ext cx="11201400" cy="365760"/>
          </a:xfrm>
          <a:prstGeom prst="roundRect">
            <a:avLst>
              <a:gd name="adj" fmla="val 1250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867912"/>
            <a:ext cx="5641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a sketch so it can't drift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551676" y="3867912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 · Constraints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4270248"/>
            <a:ext cx="112014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1E7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4270248"/>
            <a:ext cx="5641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running history of modeling steps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51676" y="427024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Tree · Timeline · Model Tree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4672584"/>
            <a:ext cx="11201400" cy="365760"/>
          </a:xfrm>
          <a:prstGeom prst="roundRect">
            <a:avLst>
              <a:gd name="adj" fmla="val 1250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4672584"/>
            <a:ext cx="5641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parts relative to each other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551676" y="4672584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Mates · Joints · Assembly Constraints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2920" y="5074920"/>
            <a:ext cx="112014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1E7E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5074920"/>
            <a:ext cx="5641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over or angle-cut a sharp edge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551676" y="5074920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Fillet / Chamfer · Round / Bevel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02920" y="5568696"/>
            <a:ext cx="11201400" cy="868680"/>
          </a:xfrm>
          <a:prstGeom prst="roundRect">
            <a:avLst>
              <a:gd name="adj" fmla="val 8421"/>
            </a:avLst>
          </a:prstGeom>
          <a:solidFill>
            <a:srgbClr val="F3F6F9"/>
          </a:solidFill>
          <a:ln w="15875">
            <a:solidFill>
              <a:srgbClr val="0F294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1520" y="5678424"/>
            <a:ext cx="10744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this deck — sketching, feature trees, mates, GD&amp;T — describes the operation, not a specific menu path. Whatever software you're using in class, an internship, or a job, look for the tool that does the same job.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17904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76856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35808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94760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53712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12664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71616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30568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89520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48472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07424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866376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25328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143232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758952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1517904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2276856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035808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3794760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4553712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5312664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6071616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6830568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955280" y="365760"/>
            <a:ext cx="3931920" cy="612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b="1" dirty="0">
                <a:solidFill>
                  <a:srgbClr val="0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00</a:t>
            </a:r>
            <a:endParaRPr lang="en-US" sz="34000" dirty="0"/>
          </a:p>
        </p:txBody>
      </p:sp>
      <p:sp>
        <p:nvSpPr>
          <p:cNvPr id="28" name="Shape 26"/>
          <p:cNvSpPr/>
          <p:nvPr/>
        </p:nvSpPr>
        <p:spPr>
          <a:xfrm>
            <a:off x="685800" y="731520"/>
            <a:ext cx="1412748" cy="420624"/>
          </a:xfrm>
          <a:prstGeom prst="roundRect">
            <a:avLst>
              <a:gd name="adj" fmla="val 50000"/>
            </a:avLst>
          </a:prstGeom>
          <a:solidFill>
            <a:srgbClr val="1B8A8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85800" y="731520"/>
            <a:ext cx="14127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85800" y="2331720"/>
            <a:ext cx="8778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Fundamentals</a:t>
            </a:r>
            <a:endParaRPr lang="en-US" sz="40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" y="36118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back from the software: what a CAD model is for, before Unit 1's sketches and features begin.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685800" y="5806440"/>
            <a:ext cx="1645920" cy="438912"/>
          </a:xfrm>
          <a:prstGeom prst="roundRect">
            <a:avLst>
              <a:gd name="adj" fmla="val 20833"/>
            </a:avLst>
          </a:prstGeom>
          <a:solidFill>
            <a:srgbClr val="16324F"/>
          </a:solidFill>
          <a:ln w="12700">
            <a:solidFill>
              <a:srgbClr val="1B8A8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5800" y="580644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UNIT 1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159459" cy="310896"/>
          </a:xfrm>
          <a:prstGeom prst="roundRect">
            <a:avLst>
              <a:gd name="adj" fmla="val 50000"/>
            </a:avLst>
          </a:prstGeom>
          <a:solidFill>
            <a:srgbClr val="1B8A8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11594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Design Process Is a Cycle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design loops — the first prototype is expected to be wrong, and that's the process working.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2148840"/>
            <a:ext cx="1051560" cy="1051560"/>
          </a:xfrm>
          <a:prstGeom prst="ellipse">
            <a:avLst/>
          </a:prstGeom>
          <a:solidFill>
            <a:srgbClr val="1B8A8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21488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764792" y="2574036"/>
            <a:ext cx="1191006" cy="201168"/>
          </a:xfrm>
          <a:prstGeom prst="rightArrow">
            <a:avLst/>
          </a:prstGeom>
          <a:solidFill>
            <a:srgbClr val="8592A3"/>
          </a:solidFill>
          <a:ln/>
        </p:spPr>
      </p:sp>
      <p:sp>
        <p:nvSpPr>
          <p:cNvPr id="10" name="Shape 8"/>
          <p:cNvSpPr/>
          <p:nvPr/>
        </p:nvSpPr>
        <p:spPr>
          <a:xfrm>
            <a:off x="2983230" y="2148840"/>
            <a:ext cx="1051560" cy="1051560"/>
          </a:xfrm>
          <a:prstGeom prst="ellipse">
            <a:avLst/>
          </a:prstGeom>
          <a:solidFill>
            <a:srgbClr val="1B8A8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983230" y="21488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062222" y="2574036"/>
            <a:ext cx="1191006" cy="201168"/>
          </a:xfrm>
          <a:prstGeom prst="rightArrow">
            <a:avLst/>
          </a:prstGeom>
          <a:solidFill>
            <a:srgbClr val="8592A3"/>
          </a:solidFill>
          <a:ln/>
        </p:spPr>
      </p:sp>
      <p:sp>
        <p:nvSpPr>
          <p:cNvPr id="13" name="Shape 11"/>
          <p:cNvSpPr/>
          <p:nvPr/>
        </p:nvSpPr>
        <p:spPr>
          <a:xfrm>
            <a:off x="5280660" y="2148840"/>
            <a:ext cx="1051560" cy="1051560"/>
          </a:xfrm>
          <a:prstGeom prst="ellipse">
            <a:avLst/>
          </a:prstGeom>
          <a:solidFill>
            <a:srgbClr val="1B8A8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280660" y="21488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359652" y="2574036"/>
            <a:ext cx="1191006" cy="201168"/>
          </a:xfrm>
          <a:prstGeom prst="rightArrow">
            <a:avLst/>
          </a:prstGeom>
          <a:solidFill>
            <a:srgbClr val="8592A3"/>
          </a:solidFill>
          <a:ln/>
        </p:spPr>
      </p:sp>
      <p:sp>
        <p:nvSpPr>
          <p:cNvPr id="16" name="Shape 14"/>
          <p:cNvSpPr/>
          <p:nvPr/>
        </p:nvSpPr>
        <p:spPr>
          <a:xfrm>
            <a:off x="7578090" y="2148840"/>
            <a:ext cx="1051560" cy="1051560"/>
          </a:xfrm>
          <a:prstGeom prst="ellipse">
            <a:avLst/>
          </a:prstGeom>
          <a:solidFill>
            <a:srgbClr val="1B8A8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578090" y="21488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657082" y="2574036"/>
            <a:ext cx="1191006" cy="201168"/>
          </a:xfrm>
          <a:prstGeom prst="rightArrow">
            <a:avLst/>
          </a:prstGeom>
          <a:solidFill>
            <a:srgbClr val="8592A3"/>
          </a:solidFill>
          <a:ln/>
        </p:spPr>
      </p:sp>
      <p:sp>
        <p:nvSpPr>
          <p:cNvPr id="19" name="Shape 17"/>
          <p:cNvSpPr/>
          <p:nvPr/>
        </p:nvSpPr>
        <p:spPr>
          <a:xfrm>
            <a:off x="9875520" y="2148840"/>
            <a:ext cx="1051560" cy="1051560"/>
          </a:xfrm>
          <a:prstGeom prst="ellipse">
            <a:avLst/>
          </a:prstGeom>
          <a:solidFill>
            <a:srgbClr val="1B8A8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875520" y="21488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3310128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then back to Design (or Define), carrying what you learned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3749040"/>
            <a:ext cx="10241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—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what the part must do, fit, withstand, and cost — before any geometry exists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—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options, then the parametric models and drawings that pin down every dimension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—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prototype — a print, a machined part, a mock-up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—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it, fit it, load it, use it the way it will really be used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—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what happened against the requirements; loop back with what you learned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85800" y="5669280"/>
            <a:ext cx="11018520" cy="777240"/>
          </a:xfrm>
          <a:prstGeom prst="roundRect">
            <a:avLst>
              <a:gd name="adj" fmla="val 9412"/>
            </a:avLst>
          </a:prstGeom>
          <a:solidFill>
            <a:srgbClr val="F3F6F9"/>
          </a:solidFill>
          <a:ln w="15875">
            <a:solidFill>
              <a:srgbClr val="1B8A8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5779008"/>
            <a:ext cx="105613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assume the first version is final, you build a model that's painful to change. If you assume you'll revise it, you build for iteration — clean sketches, captured intent, a readable feature tree.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159459" cy="310896"/>
          </a:xfrm>
          <a:prstGeom prst="roundRect">
            <a:avLst>
              <a:gd name="adj" fmla="val 50000"/>
            </a:avLst>
          </a:prstGeom>
          <a:solidFill>
            <a:srgbClr val="1B8A8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11594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the Problem Before You Design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step skipped most often — and the one that wastes the most time when skipped.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339596" y="2057400"/>
            <a:ext cx="777240" cy="777240"/>
          </a:xfrm>
          <a:prstGeom prst="ellipse">
            <a:avLst/>
          </a:prstGeom>
          <a:solidFill>
            <a:srgbClr val="1B8A8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339596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019556" y="29260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928116" y="32461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says exactly what, for whom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15868" y="2057400"/>
            <a:ext cx="777240" cy="777240"/>
          </a:xfrm>
          <a:prstGeom prst="ellipse">
            <a:avLst/>
          </a:prstGeom>
          <a:solidFill>
            <a:srgbClr val="1B8A8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15868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3195828" y="29260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104388" y="32461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 number you can check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92140" y="2057400"/>
            <a:ext cx="777240" cy="777240"/>
          </a:xfrm>
          <a:prstGeom prst="ellipse">
            <a:avLst/>
          </a:prstGeom>
          <a:solidFill>
            <a:srgbClr val="1B8A8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69214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5372100" y="29260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Achievable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280660" y="32461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with your time &amp; tools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868412" y="2057400"/>
            <a:ext cx="777240" cy="777240"/>
          </a:xfrm>
          <a:prstGeom prst="ellipse">
            <a:avLst/>
          </a:prstGeom>
          <a:solidFill>
            <a:srgbClr val="1B8A8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868412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7548372" y="29260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456932" y="32461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serves the need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044684" y="2057400"/>
            <a:ext cx="777240" cy="777240"/>
          </a:xfrm>
          <a:prstGeom prst="ellipse">
            <a:avLst/>
          </a:prstGeom>
          <a:solidFill>
            <a:srgbClr val="1B8A8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044684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600" dirty="0"/>
          </a:p>
        </p:txBody>
      </p:sp>
      <p:sp>
        <p:nvSpPr>
          <p:cNvPr id="25" name="Text 23"/>
          <p:cNvSpPr txBox="1"/>
          <p:nvPr/>
        </p:nvSpPr>
        <p:spPr>
          <a:xfrm>
            <a:off x="9724644" y="29260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Time-bound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9633204" y="32461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by a defined point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" y="4023360"/>
            <a:ext cx="10972800" cy="777240"/>
          </a:xfrm>
          <a:prstGeom prst="roundRect">
            <a:avLst>
              <a:gd name="adj" fmla="val 9412"/>
            </a:avLst>
          </a:prstGeom>
          <a:solidFill>
            <a:srgbClr val="F3F6F9"/>
          </a:solidFill>
          <a:ln w="15875">
            <a:solidFill>
              <a:srgbClr val="1B8A8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68680" y="4133088"/>
            <a:ext cx="105156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 practice: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"hold a phone at a comfortable viewing angle" is a direction. "Hold a 600 g phone at 55–70° without tipping, printable in under 4 hours, done by Week 12" is something you can design to and test against.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4983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Requirements, objectives, and constraints get lumped together as "the spec" — but they filter and rank designs differently (next: how each one works).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159459" cy="310896"/>
          </a:xfrm>
          <a:prstGeom prst="roundRect">
            <a:avLst>
              <a:gd name="adj" fmla="val 50000"/>
            </a:avLst>
          </a:prstGeom>
          <a:solidFill>
            <a:srgbClr val="1B8A8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11594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Requirements, Objectives, Constraints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and constraints filter designs to the acceptable ones; objectives rank the acceptable ones to find the best.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3550920" cy="2743200"/>
          </a:xfrm>
          <a:prstGeom prst="roundRect">
            <a:avLst>
              <a:gd name="adj" fmla="val 2667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039112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704088" y="2441448"/>
            <a:ext cx="3148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design must do — pass/fail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04088" y="2807208"/>
            <a:ext cx="3148584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"Supports 5 kg without permanent deflection"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met or not; missing one disqualifies a design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by test or inspection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28160" y="1874520"/>
            <a:ext cx="3550920" cy="2743200"/>
          </a:xfrm>
          <a:prstGeom prst="roundRect">
            <a:avLst>
              <a:gd name="adj" fmla="val 2667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29328" y="2039112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4529328" y="2441448"/>
            <a:ext cx="3148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you're optimizing — directions of "better"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529328" y="2807208"/>
            <a:ext cx="3148584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"As light as possible," "minimize cost"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pass/fail — compared by degree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trade against each other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53400" y="1874520"/>
            <a:ext cx="3550920" cy="2743200"/>
          </a:xfrm>
          <a:prstGeom prst="roundRect">
            <a:avLst>
              <a:gd name="adj" fmla="val 2667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54568" y="2039112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Constraints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8354568" y="2441448"/>
            <a:ext cx="3148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limits on the solution space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354568" y="2807208"/>
            <a:ext cx="3148584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"Fits a 150 mm cube," "$25 budget," "due Week 12"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about function — about what's allowed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Violating one disqualifies the design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4800600"/>
            <a:ext cx="11201400" cy="640080"/>
          </a:xfrm>
          <a:prstGeom prst="roundRect">
            <a:avLst>
              <a:gd name="adj" fmla="val 11429"/>
            </a:avLst>
          </a:prstGeom>
          <a:solidFill>
            <a:srgbClr val="F3F6F9"/>
          </a:solidFill>
          <a:ln w="15875">
            <a:solidFill>
              <a:srgbClr val="1B8A8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4910328"/>
            <a:ext cx="10744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them up and you either reject a good design for missing a "nice to have," or ship one that fails a real must-have.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5577840"/>
            <a:ext cx="11201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success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objectives into weighted, measurable criteria and score concepts with a decision matrix — screen pass/fail items first, then rank.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159459" cy="310896"/>
          </a:xfrm>
          <a:prstGeom prst="roundRect">
            <a:avLst>
              <a:gd name="adj" fmla="val 50000"/>
            </a:avLst>
          </a:prstGeom>
          <a:solidFill>
            <a:srgbClr val="1B8A8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11594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Knowing When to Stop: The 80/20 Rule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design is ever perfect — chasing perfection is its own failure mode.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0F294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2029968"/>
            <a:ext cx="3566160" cy="1378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B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80/20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346704"/>
            <a:ext cx="3200400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~80% of a design's useful performance comes from the first 20% of the effort — chasing the rest costs far more than it returns.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343400" y="1965960"/>
            <a:ext cx="7360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14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forward once requirements are met — 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you can see ways it could be nicer</a:t>
            </a:r>
            <a:endParaRPr lang="en-US" sz="1450" dirty="0"/>
          </a:p>
          <a:p>
            <a:pPr marL="342900" indent="-342900">
              <a:buSzPct val="100000"/>
              <a:buChar char="●"/>
            </a:pPr>
            <a:r>
              <a:rPr lang="en-US" sz="14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Perpetual designing is a cost — 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revision delays the prototype, the test, and everything you'd learn from them</a:t>
            </a:r>
            <a:endParaRPr lang="en-US" sz="1450" dirty="0"/>
          </a:p>
          <a:p>
            <a:pPr marL="342900" indent="-342900">
              <a:buSzPct val="100000"/>
              <a:buChar char="●"/>
            </a:pPr>
            <a:r>
              <a:rPr lang="en-US" sz="14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"Good enough" is a decision — 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against written requirements, not an imagined ideal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02920" y="4709160"/>
            <a:ext cx="11201400" cy="1005840"/>
          </a:xfrm>
          <a:prstGeom prst="roundRect">
            <a:avLst>
              <a:gd name="adj" fmla="val 7273"/>
            </a:avLst>
          </a:prstGeom>
          <a:solidFill>
            <a:srgbClr val="F3F6F9"/>
          </a:solidFill>
          <a:ln w="15875">
            <a:solidFill>
              <a:srgbClr val="1B8A8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4818888"/>
            <a:ext cx="10744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both ideas at once: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 the first version to be wrong, and resist the urge to perfect it. The cycle moves forward when a design is good enough to learn from — not when it's flawless, and not before it meets its requirements.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159459" cy="310896"/>
          </a:xfrm>
          <a:prstGeom prst="roundRect">
            <a:avLst>
              <a:gd name="adj" fmla="val 50000"/>
            </a:avLst>
          </a:prstGeom>
          <a:solidFill>
            <a:srgbClr val="1B8A8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11594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Intent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reasoning a model should capture — what you expect to stay true when a dimension changes.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965960"/>
            <a:ext cx="59893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relations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symmetric, equal, concentric, collinear say why geometry is where it is, so it stays right when dimensions change</a:t>
            </a:r>
            <a:endParaRPr lang="en-US" sz="1250" dirty="0"/>
          </a:p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dimensions you choose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from the reference that actually matters — a mounting face, a mating edge — not whatever's convenient</a:t>
            </a:r>
            <a:endParaRPr lang="en-US" sz="1250" dirty="0"/>
          </a:p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order &amp; references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later features off stable geometry, not faces that may move or disappear in an edit</a:t>
            </a:r>
            <a:endParaRPr lang="en-US" sz="1250" dirty="0"/>
          </a:p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Equations &amp; linked values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two dimensions must always match or follow a rule, drive one from the other instead of typing both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766560" y="1755648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result, different intent — dimension a hole two ways: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766560" y="2048256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Dimensioned from the left edge: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766560" y="2286000"/>
            <a:ext cx="1234440" cy="603504"/>
          </a:xfrm>
          <a:prstGeom prst="rect">
            <a:avLst/>
          </a:prstGeom>
          <a:solidFill>
            <a:srgbClr val="F3F6F9"/>
          </a:solidFill>
          <a:ln w="15875">
            <a:solidFill>
              <a:srgbClr val="E1E7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83780" y="2240280"/>
            <a:ext cx="0" cy="694944"/>
          </a:xfrm>
          <a:prstGeom prst="line">
            <a:avLst/>
          </a:prstGeom>
          <a:noFill/>
          <a:ln w="12700">
            <a:solidFill>
              <a:srgbClr val="C7D0DA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6940296" y="2487168"/>
            <a:ext cx="201168" cy="201168"/>
          </a:xfrm>
          <a:prstGeom prst="ellipse">
            <a:avLst/>
          </a:prstGeom>
          <a:solidFill>
            <a:srgbClr val="1B8A8A"/>
          </a:solidFill>
          <a:ln/>
        </p:spPr>
      </p:sp>
      <p:sp>
        <p:nvSpPr>
          <p:cNvPr id="13" name="Shape 11"/>
          <p:cNvSpPr/>
          <p:nvPr/>
        </p:nvSpPr>
        <p:spPr>
          <a:xfrm>
            <a:off x="8513064" y="2286000"/>
            <a:ext cx="2103120" cy="603504"/>
          </a:xfrm>
          <a:prstGeom prst="rect">
            <a:avLst/>
          </a:prstGeom>
          <a:solidFill>
            <a:srgbClr val="F3F6F9"/>
          </a:solidFill>
          <a:ln w="15875">
            <a:solidFill>
              <a:srgbClr val="E1E7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64624" y="2240280"/>
            <a:ext cx="0" cy="694944"/>
          </a:xfrm>
          <a:prstGeom prst="line">
            <a:avLst/>
          </a:prstGeom>
          <a:noFill/>
          <a:ln w="12700">
            <a:solidFill>
              <a:srgbClr val="C7D0DA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8686800" y="2487168"/>
            <a:ext cx="201168" cy="201168"/>
          </a:xfrm>
          <a:prstGeom prst="ellipse">
            <a:avLst/>
          </a:prstGeom>
          <a:solidFill>
            <a:srgbClr val="1B8A8A"/>
          </a:solidFill>
          <a:ln/>
        </p:spPr>
      </p:sp>
      <p:sp>
        <p:nvSpPr>
          <p:cNvPr id="16" name="Shape 14"/>
          <p:cNvSpPr/>
          <p:nvPr/>
        </p:nvSpPr>
        <p:spPr>
          <a:xfrm>
            <a:off x="8074152" y="2505456"/>
            <a:ext cx="365760" cy="164592"/>
          </a:xfrm>
          <a:prstGeom prst="rightArrow">
            <a:avLst/>
          </a:prstGeom>
          <a:solidFill>
            <a:srgbClr val="8592A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891272" y="2688336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widen</a:t>
            </a:r>
            <a:endParaRPr lang="en-US" sz="75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2935224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widen the block and the hole drifts off-center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3246120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 to center by a symmetric relation: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66560" y="3483864"/>
            <a:ext cx="1234440" cy="603504"/>
          </a:xfrm>
          <a:prstGeom prst="rect">
            <a:avLst/>
          </a:prstGeom>
          <a:solidFill>
            <a:srgbClr val="F3F6F9"/>
          </a:solidFill>
          <a:ln w="15875">
            <a:solidFill>
              <a:srgbClr val="E1E7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83780" y="3438144"/>
            <a:ext cx="0" cy="694944"/>
          </a:xfrm>
          <a:prstGeom prst="line">
            <a:avLst/>
          </a:prstGeom>
          <a:noFill/>
          <a:ln w="12700">
            <a:solidFill>
              <a:srgbClr val="C7D0DA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7283196" y="3685032"/>
            <a:ext cx="201168" cy="201168"/>
          </a:xfrm>
          <a:prstGeom prst="ellipse">
            <a:avLst/>
          </a:prstGeom>
          <a:solidFill>
            <a:srgbClr val="1B8A8A"/>
          </a:solidFill>
          <a:ln/>
        </p:spPr>
      </p:sp>
      <p:sp>
        <p:nvSpPr>
          <p:cNvPr id="23" name="Shape 21"/>
          <p:cNvSpPr/>
          <p:nvPr/>
        </p:nvSpPr>
        <p:spPr>
          <a:xfrm>
            <a:off x="8513064" y="3483864"/>
            <a:ext cx="2103120" cy="603504"/>
          </a:xfrm>
          <a:prstGeom prst="rect">
            <a:avLst/>
          </a:prstGeom>
          <a:solidFill>
            <a:srgbClr val="F3F6F9"/>
          </a:solidFill>
          <a:ln w="15875">
            <a:solidFill>
              <a:srgbClr val="E1E7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564624" y="3438144"/>
            <a:ext cx="0" cy="694944"/>
          </a:xfrm>
          <a:prstGeom prst="line">
            <a:avLst/>
          </a:prstGeom>
          <a:noFill/>
          <a:ln w="12700">
            <a:solidFill>
              <a:srgbClr val="C7D0DA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9464040" y="3685032"/>
            <a:ext cx="201168" cy="201168"/>
          </a:xfrm>
          <a:prstGeom prst="ellipse">
            <a:avLst/>
          </a:prstGeom>
          <a:solidFill>
            <a:srgbClr val="1B8A8A"/>
          </a:solidFill>
          <a:ln/>
        </p:spPr>
      </p:sp>
      <p:sp>
        <p:nvSpPr>
          <p:cNvPr id="26" name="Shape 24"/>
          <p:cNvSpPr/>
          <p:nvPr/>
        </p:nvSpPr>
        <p:spPr>
          <a:xfrm>
            <a:off x="8074152" y="3703320"/>
            <a:ext cx="365760" cy="164592"/>
          </a:xfrm>
          <a:prstGeom prst="rightArrow">
            <a:avLst/>
          </a:prstGeom>
          <a:solidFill>
            <a:srgbClr val="8592A3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891272" y="3886200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widen</a:t>
            </a:r>
            <a:endParaRPr 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6766560" y="4133088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widen the block and the hole stays centered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766560" y="4480560"/>
            <a:ext cx="4892040" cy="777240"/>
          </a:xfrm>
          <a:prstGeom prst="roundRect">
            <a:avLst>
              <a:gd name="adj" fmla="val 9412"/>
            </a:avLst>
          </a:prstGeom>
          <a:solidFill>
            <a:srgbClr val="F3F6F9"/>
          </a:solidFill>
          <a:ln w="15875">
            <a:solidFill>
              <a:srgbClr val="1B8A8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995160" y="4590288"/>
            <a:ext cx="44348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look identical until the block changes size — only the second one captures what you actually meant, not just a position that happened to look right.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02920" y="5440680"/>
            <a:ext cx="3547872" cy="1005840"/>
          </a:xfrm>
          <a:prstGeom prst="roundRect">
            <a:avLst>
              <a:gd name="adj" fmla="val 7273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7512" y="5586984"/>
            <a:ext cx="384048" cy="384048"/>
          </a:xfrm>
          <a:prstGeom prst="ellipse">
            <a:avLst/>
          </a:prstGeom>
          <a:solidFill>
            <a:srgbClr val="1B8A8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67512" y="5586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1161288" y="5550408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Editability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67512" y="6007608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well-built model updates the way you intend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306824" y="5440680"/>
            <a:ext cx="3547872" cy="1005840"/>
          </a:xfrm>
          <a:prstGeom prst="roundRect">
            <a:avLst>
              <a:gd name="adj" fmla="val 7273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471416" y="5586984"/>
            <a:ext cx="384048" cy="384048"/>
          </a:xfrm>
          <a:prstGeom prst="ellipse">
            <a:avLst/>
          </a:prstGeom>
          <a:solidFill>
            <a:srgbClr val="1B8A8A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4471416" y="5586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4965192" y="5550408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4471416" y="6007608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person can read the tree and see the logic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110728" y="5440680"/>
            <a:ext cx="3547872" cy="1005840"/>
          </a:xfrm>
          <a:prstGeom prst="roundRect">
            <a:avLst>
              <a:gd name="adj" fmla="val 7273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275320" y="5586984"/>
            <a:ext cx="384048" cy="384048"/>
          </a:xfrm>
          <a:prstGeom prst="ellipse">
            <a:avLst/>
          </a:prstGeom>
          <a:solidFill>
            <a:srgbClr val="1B8A8A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8275320" y="5586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8769096" y="5550408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reuse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8275320" y="6007608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assemblies, drawings &amp; manufacturing files inherit it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159459" cy="310896"/>
          </a:xfrm>
          <a:prstGeom prst="roundRect">
            <a:avLst>
              <a:gd name="adj" fmla="val 50000"/>
            </a:avLst>
          </a:prstGeom>
          <a:solidFill>
            <a:srgbClr val="1B8A8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11594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Organizing a Design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design has more than one part, where do the controlling dimensions live?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5463540" cy="2651760"/>
          </a:xfrm>
          <a:prstGeom prst="roundRect">
            <a:avLst>
              <a:gd name="adj" fmla="val 2759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1993392"/>
            <a:ext cx="50612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Bottom-Up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704088" y="2395728"/>
            <a:ext cx="50612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each part alone, then assemble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04088" y="2761488"/>
            <a:ext cx="5061204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are independent — editing one doesn't ripple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manage; easy to reuse parts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well-understood or off-the-shelf parts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when parts must share dimensions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40780" y="1828800"/>
            <a:ext cx="5463540" cy="2651760"/>
          </a:xfrm>
          <a:prstGeom prst="roundRect">
            <a:avLst>
              <a:gd name="adj" fmla="val 2759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1948" y="1993392"/>
            <a:ext cx="50612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Top-Down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6441948" y="2395728"/>
            <a:ext cx="50612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the assembly's shared geometry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441948" y="2761488"/>
            <a:ext cx="5061204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dimensions live in one place and propagate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mating parts fitting as the design evolves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new designs with moving interfaces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setup; unmanaged references get fragile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4663440"/>
            <a:ext cx="11201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for top-down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sketch (fixes key sizes before parts exist), skeleton/master model (shared reference geometry), in-context references (shape one part against another directly).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5486400"/>
            <a:ext cx="11201400" cy="685800"/>
          </a:xfrm>
          <a:prstGeom prst="roundRect">
            <a:avLst>
              <a:gd name="adj" fmla="val 10667"/>
            </a:avLst>
          </a:prstGeom>
          <a:solidFill>
            <a:srgbClr val="F3F6F9"/>
          </a:solidFill>
          <a:ln w="15875">
            <a:solidFill>
              <a:srgbClr val="1B8A8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5596128"/>
            <a:ext cx="107442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simplest structure that captures the intent — reach for top-down only where parts genuinely must share dimensions.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159459" cy="310896"/>
          </a:xfrm>
          <a:prstGeom prst="roundRect">
            <a:avLst>
              <a:gd name="adj" fmla="val 50000"/>
            </a:avLst>
          </a:prstGeom>
          <a:solidFill>
            <a:srgbClr val="1B8A8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11594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Practices That Keep a Design Robust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965960"/>
            <a:ext cx="3563112" cy="1956816"/>
          </a:xfrm>
          <a:prstGeom prst="roundRect">
            <a:avLst>
              <a:gd name="adj" fmla="val 3738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7512" y="2112264"/>
            <a:ext cx="384048" cy="384048"/>
          </a:xfrm>
          <a:prstGeom prst="ellipse">
            <a:avLst/>
          </a:prstGeom>
          <a:solidFill>
            <a:srgbClr val="1B8A8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7512" y="2112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61288" y="2075688"/>
            <a:ext cx="274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define every sketch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67512" y="2532888"/>
            <a:ext cx="323392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under-defined sketch can drift on an unrelated edit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22064" y="1965960"/>
            <a:ext cx="3563112" cy="1956816"/>
          </a:xfrm>
          <a:prstGeom prst="roundRect">
            <a:avLst>
              <a:gd name="adj" fmla="val 3738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6656" y="2112264"/>
            <a:ext cx="384048" cy="384048"/>
          </a:xfrm>
          <a:prstGeom prst="ellipse">
            <a:avLst/>
          </a:prstGeom>
          <a:solidFill>
            <a:srgbClr val="1B8A8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86656" y="2112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980432" y="2075688"/>
            <a:ext cx="274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stable geometry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486656" y="2532888"/>
            <a:ext cx="323392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 and default planes never move; a filleted edge might vanish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41208" y="1965960"/>
            <a:ext cx="3563112" cy="1956816"/>
          </a:xfrm>
          <a:prstGeom prst="roundRect">
            <a:avLst>
              <a:gd name="adj" fmla="val 3738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05800" y="2112264"/>
            <a:ext cx="384048" cy="384048"/>
          </a:xfrm>
          <a:prstGeom prst="ellipse">
            <a:avLst/>
          </a:prstGeom>
          <a:solidFill>
            <a:srgbClr val="1B8A8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05800" y="2112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799576" y="2075688"/>
            <a:ext cx="274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sketches simple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305800" y="2532888"/>
            <a:ext cx="323392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idea per feature — complexity goes in the feature tree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4123944"/>
            <a:ext cx="3563112" cy="1956816"/>
          </a:xfrm>
          <a:prstGeom prst="roundRect">
            <a:avLst>
              <a:gd name="adj" fmla="val 3738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7512" y="4270248"/>
            <a:ext cx="384048" cy="384048"/>
          </a:xfrm>
          <a:prstGeom prst="ellipse">
            <a:avLst/>
          </a:prstGeom>
          <a:solidFill>
            <a:srgbClr val="1B8A8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7512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161288" y="4233672"/>
            <a:ext cx="274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&amp; organize features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67512" y="4690872"/>
            <a:ext cx="323392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tree of "Extrude7, Cut12" tells the next person nothing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322064" y="4123944"/>
            <a:ext cx="3563112" cy="1956816"/>
          </a:xfrm>
          <a:prstGeom prst="roundRect">
            <a:avLst>
              <a:gd name="adj" fmla="val 3738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86656" y="4270248"/>
            <a:ext cx="384048" cy="384048"/>
          </a:xfrm>
          <a:prstGeom prst="ellipse">
            <a:avLst/>
          </a:prstGeom>
          <a:solidFill>
            <a:srgbClr val="1B8A8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486656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4980432" y="4233672"/>
            <a:ext cx="274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dependency chains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486656" y="4690872"/>
            <a:ext cx="323392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things a feature relies on means fewer ways it breaks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141208" y="4123944"/>
            <a:ext cx="3563112" cy="1956816"/>
          </a:xfrm>
          <a:prstGeom prst="roundRect">
            <a:avLst>
              <a:gd name="adj" fmla="val 3738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05800" y="4270248"/>
            <a:ext cx="384048" cy="384048"/>
          </a:xfrm>
          <a:prstGeom prst="ellipse">
            <a:avLst/>
          </a:prstGeom>
          <a:solidFill>
            <a:srgbClr val="1B8A8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305800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8799576" y="4233672"/>
            <a:ext cx="274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the design, not just the shape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8305800" y="4690872"/>
            <a:ext cx="323392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rule governs the part, build the rule in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17904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76856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35808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94760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53712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12664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71616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30568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89520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48472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07424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866376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25328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143232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758952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1517904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2276856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035808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3794760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4553712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5312664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6071616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6830568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955280" y="365760"/>
            <a:ext cx="3931920" cy="612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b="1" dirty="0">
                <a:solidFill>
                  <a:srgbClr val="0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0" dirty="0"/>
          </a:p>
        </p:txBody>
      </p:sp>
      <p:sp>
        <p:nvSpPr>
          <p:cNvPr id="28" name="Shape 26"/>
          <p:cNvSpPr/>
          <p:nvPr/>
        </p:nvSpPr>
        <p:spPr>
          <a:xfrm>
            <a:off x="685800" y="731520"/>
            <a:ext cx="2148840" cy="420624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85800" y="731520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WEEKS 4–7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85800" y="2331720"/>
            <a:ext cx="8778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 Fundamentals</a:t>
            </a:r>
            <a:endParaRPr lang="en-US" sz="40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" y="36118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Sketching, views, and the first parametric model — the foundation every later unit depends on.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685800" y="5806440"/>
            <a:ext cx="1737360" cy="438912"/>
          </a:xfrm>
          <a:prstGeom prst="roundRect">
            <a:avLst>
              <a:gd name="adj" fmla="val 20833"/>
            </a:avLst>
          </a:prstGeom>
          <a:solidFill>
            <a:srgbClr val="16324F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5800" y="580644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IN WEEK 7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There Is No Single "Right" Model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shape can be built from a different base feature, sketch set, or feature order — with effectively infinite valid combinations.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11201400" cy="1005840"/>
          </a:xfrm>
          <a:prstGeom prst="roundRect">
            <a:avLst>
              <a:gd name="adj" fmla="val 7273"/>
            </a:avLst>
          </a:prstGeom>
          <a:solidFill>
            <a:srgbClr val="F3F6F9"/>
          </a:solidFill>
          <a:ln w="15875">
            <a:solidFill>
              <a:srgbClr val="2F6F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029968"/>
            <a:ext cx="10744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separates good from poor: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classmates can hand in completely different feature trees and both be correct. What separates a good model from a poor one is whether it captures design intent, rebuilds without errors, and stays easy to edit — not whether it matches a canonical answer.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154680"/>
            <a:ext cx="11201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—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deliberate choices you can explain, not on guessing the "expected" answer.</a:t>
            </a:r>
            <a:endParaRPr lang="en-US" sz="1400" dirty="0"/>
          </a:p>
          <a:p>
            <a:pPr marL="342900" indent="-342900">
              <a:buSzPct val="100000"/>
              <a:buChar char="●"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unit builds —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drawing and modeling foundation every later unit depends on — a controlled sketch, standard views, and a parametric solid that updates when you change it.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Origin: Where Every Model Begins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coordinate, sketch, and feature ultimately measures from one fixed point in space.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965960"/>
            <a:ext cx="5943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 (0, 0, 0)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point in the file that never moves, no matter how the model is edited</a:t>
            </a:r>
            <a:endParaRPr lang="en-US" sz="1250" dirty="0"/>
          </a:p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default planes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Front, Top, and Right all pass through the origin and split space along the X, Y, and Z axes</a:t>
            </a:r>
            <a:endParaRPr lang="en-US" sz="1250" dirty="0"/>
          </a:p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measured from it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or indirectly — a sketch plane, a mate, even a drawing's projected views all trace back to this fixed reference</a:t>
            </a:r>
            <a:endParaRPr lang="en-US" sz="1250" dirty="0"/>
          </a:p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the origin (or geometry built from it) instead of an edge that might move, get filleted away, or get deleted in a later edit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720840" y="178308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default planes meet here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863840" y="2743200"/>
            <a:ext cx="1051560" cy="1051560"/>
          </a:xfrm>
          <a:prstGeom prst="line">
            <a:avLst/>
          </a:prstGeom>
          <a:noFill/>
          <a:ln w="19050">
            <a:solidFill>
              <a:srgbClr val="8592A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8900000">
            <a:off x="7799832" y="2587752"/>
            <a:ext cx="146304" cy="146304"/>
          </a:xfrm>
          <a:prstGeom prst="triangle">
            <a:avLst/>
          </a:prstGeom>
          <a:solidFill>
            <a:srgbClr val="8592A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0" y="237744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915400" y="2514600"/>
            <a:ext cx="0" cy="1280160"/>
          </a:xfrm>
          <a:prstGeom prst="line">
            <a:avLst/>
          </a:prstGeom>
          <a:noFill/>
          <a:ln w="22225">
            <a:solidFill>
              <a:srgbClr val="2F6F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42248" y="2441448"/>
            <a:ext cx="146304" cy="146304"/>
          </a:xfrm>
          <a:prstGeom prst="triangle">
            <a:avLst/>
          </a:prstGeom>
          <a:solidFill>
            <a:srgbClr val="2F6FE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778240" y="213055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915400" y="3794760"/>
            <a:ext cx="1600200" cy="0"/>
          </a:xfrm>
          <a:prstGeom prst="line">
            <a:avLst/>
          </a:prstGeom>
          <a:noFill/>
          <a:ln w="22225">
            <a:solidFill>
              <a:srgbClr val="2F6F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5400000">
            <a:off x="10442448" y="3721608"/>
            <a:ext cx="146304" cy="146304"/>
          </a:xfrm>
          <a:prstGeom prst="triangle">
            <a:avLst/>
          </a:prstGeom>
          <a:solidFill>
            <a:srgbClr val="2F6FE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634472" y="3666744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860536" y="3739896"/>
            <a:ext cx="109728" cy="109728"/>
          </a:xfrm>
          <a:prstGeom prst="ellipse">
            <a:avLst/>
          </a:prstGeom>
          <a:solidFill>
            <a:srgbClr val="0F294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025128" y="38679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(0, 0, 0)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20840" y="5074920"/>
            <a:ext cx="4892040" cy="1234440"/>
          </a:xfrm>
          <a:prstGeom prst="roundRect">
            <a:avLst>
              <a:gd name="adj" fmla="val 5926"/>
            </a:avLst>
          </a:prstGeom>
          <a:solidFill>
            <a:srgbClr val="F3F6F9"/>
          </a:solidFill>
          <a:ln w="15875">
            <a:solidFill>
              <a:srgbClr val="2F6FE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49440" y="5184648"/>
            <a:ext cx="4434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pairing of planes to axes (which plane is "Front") varies by CAD program — but every parametric system anchors its geometry to an origin and a set of default planes the same way.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Point to Solid: Building Up in Dimensions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is a stack of dimensions — each one built from the last.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2608326" cy="3246120"/>
          </a:xfrm>
          <a:prstGeom prst="roundRect">
            <a:avLst>
              <a:gd name="adj" fmla="val 2805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01168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011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724787" y="2450592"/>
            <a:ext cx="164592" cy="164592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1" name="Shape 9"/>
          <p:cNvSpPr/>
          <p:nvPr/>
        </p:nvSpPr>
        <p:spPr>
          <a:xfrm>
            <a:off x="3129534" y="2450592"/>
            <a:ext cx="219456" cy="164592"/>
          </a:xfrm>
          <a:prstGeom prst="rightArrow">
            <a:avLst/>
          </a:prstGeom>
          <a:solidFill>
            <a:srgbClr val="8592A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7512" y="2926080"/>
            <a:ext cx="22791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291840"/>
            <a:ext cx="224256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location in space — no length, area, or volume. A sketch point, a vertex, the origin itself.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67278" y="1874520"/>
            <a:ext cx="2608326" cy="3246120"/>
          </a:xfrm>
          <a:prstGeom prst="roundRect">
            <a:avLst>
              <a:gd name="adj" fmla="val 2805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04438" y="201168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504438" y="2011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378833" y="2660904"/>
            <a:ext cx="585216" cy="-256032"/>
          </a:xfrm>
          <a:prstGeom prst="line">
            <a:avLst/>
          </a:prstGeom>
          <a:noFill/>
          <a:ln w="31750">
            <a:solidFill>
              <a:srgbClr val="2F6F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93892" y="2450592"/>
            <a:ext cx="219456" cy="164592"/>
          </a:xfrm>
          <a:prstGeom prst="rightArrow">
            <a:avLst/>
          </a:prstGeom>
          <a:solidFill>
            <a:srgbClr val="8592A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531870" y="2926080"/>
            <a:ext cx="22791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/ Curve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550158" y="3291840"/>
            <a:ext cx="224256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two points — has length only. Lines, arcs, and splines: what you actually sketch.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31636" y="1874520"/>
            <a:ext cx="2608326" cy="3246120"/>
          </a:xfrm>
          <a:prstGeom prst="roundRect">
            <a:avLst>
              <a:gd name="adj" fmla="val 2805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68796" y="201168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68796" y="2011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279767" y="2350008"/>
            <a:ext cx="512064" cy="384048"/>
          </a:xfrm>
          <a:prstGeom prst="triangle">
            <a:avLst/>
          </a:prstGeom>
          <a:ln w="25400">
            <a:solidFill>
              <a:srgbClr val="2F6F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58250" y="2450592"/>
            <a:ext cx="219456" cy="164592"/>
          </a:xfrm>
          <a:prstGeom prst="rightArrow">
            <a:avLst/>
          </a:prstGeom>
          <a:solidFill>
            <a:srgbClr val="8592A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96228" y="2926080"/>
            <a:ext cx="22791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 (Profile)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414516" y="3291840"/>
            <a:ext cx="224256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closed loop of 1D entities that encloses an area. A triangle, rectangle, circle — any closed profile.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095994" y="1874520"/>
            <a:ext cx="2608326" cy="3246120"/>
          </a:xfrm>
          <a:prstGeom prst="roundRect">
            <a:avLst>
              <a:gd name="adj" fmla="val 2805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233154" y="201168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233154" y="2011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10354437" y="2313432"/>
            <a:ext cx="310896" cy="310896"/>
          </a:xfrm>
          <a:prstGeom prst="rect">
            <a:avLst/>
          </a:prstGeom>
          <a:ln w="19050">
            <a:solidFill>
              <a:srgbClr val="8592A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134981" y="2487168"/>
            <a:ext cx="310896" cy="310896"/>
          </a:xfrm>
          <a:prstGeom prst="rect">
            <a:avLst/>
          </a:prstGeom>
          <a:solidFill>
            <a:srgbClr val="2F6FED"/>
          </a:solidFill>
          <a:ln w="19050">
            <a:solidFill>
              <a:srgbClr val="2F6FE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260586" y="2926080"/>
            <a:ext cx="22791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(Volume)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278874" y="3291840"/>
            <a:ext cx="224256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push, spin, or sweep a profile through space and it gains volume. Extrude, revolve, sweep, loft.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02920" y="5285232"/>
            <a:ext cx="11201400" cy="777240"/>
          </a:xfrm>
          <a:prstGeom prst="roundRect">
            <a:avLst>
              <a:gd name="adj" fmla="val 9412"/>
            </a:avLst>
          </a:prstGeom>
          <a:solidFill>
            <a:srgbClr val="F3F6F9"/>
          </a:solidFill>
          <a:ln w="15875">
            <a:solidFill>
              <a:srgbClr val="2F6FE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31520" y="5394960"/>
            <a:ext cx="107442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several slides walk through sketching (0D → 1D → 2D) and solid modeling (2D → 3D) in detail — this is the map for where each one fits.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a Body: The Feature Loop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solid feature repeats the same four steps — the feature tree is just this loop, run again and again.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2103120"/>
            <a:ext cx="1051560" cy="105156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21208" y="2103120"/>
            <a:ext cx="1380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Plane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764792" y="2528316"/>
            <a:ext cx="1956816" cy="201168"/>
          </a:xfrm>
          <a:prstGeom prst="rightArrow">
            <a:avLst/>
          </a:prstGeom>
          <a:solidFill>
            <a:srgbClr val="8592A3"/>
          </a:solidFill>
          <a:ln/>
        </p:spPr>
      </p:sp>
      <p:sp>
        <p:nvSpPr>
          <p:cNvPr id="10" name="Shape 8"/>
          <p:cNvSpPr/>
          <p:nvPr/>
        </p:nvSpPr>
        <p:spPr>
          <a:xfrm>
            <a:off x="3749040" y="2103120"/>
            <a:ext cx="1051560" cy="105156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84448" y="2103120"/>
            <a:ext cx="1380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Profile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828032" y="2528316"/>
            <a:ext cx="1956816" cy="201168"/>
          </a:xfrm>
          <a:prstGeom prst="rightArrow">
            <a:avLst/>
          </a:prstGeom>
          <a:solidFill>
            <a:srgbClr val="8592A3"/>
          </a:solidFill>
          <a:ln/>
        </p:spPr>
      </p:sp>
      <p:sp>
        <p:nvSpPr>
          <p:cNvPr id="13" name="Shape 11"/>
          <p:cNvSpPr/>
          <p:nvPr/>
        </p:nvSpPr>
        <p:spPr>
          <a:xfrm>
            <a:off x="6812280" y="2103120"/>
            <a:ext cx="1051560" cy="105156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47688" y="2103120"/>
            <a:ext cx="1380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Volume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891272" y="2528316"/>
            <a:ext cx="1956816" cy="201168"/>
          </a:xfrm>
          <a:prstGeom prst="rightArrow">
            <a:avLst/>
          </a:prstGeom>
          <a:solidFill>
            <a:srgbClr val="8592A3"/>
          </a:solidFill>
          <a:ln/>
        </p:spPr>
      </p:sp>
      <p:sp>
        <p:nvSpPr>
          <p:cNvPr id="16" name="Shape 14"/>
          <p:cNvSpPr/>
          <p:nvPr/>
        </p:nvSpPr>
        <p:spPr>
          <a:xfrm>
            <a:off x="9875520" y="2103120"/>
            <a:ext cx="1051560" cy="105156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710928" y="2103120"/>
            <a:ext cx="1380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Dress It Up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3300984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repeat, starting the next loop from a face this feature just created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666744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Pick a plane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three default planes, a flat face of the solid so far, or an offset/angled reference plane</a:t>
            </a:r>
            <a:endParaRPr lang="en-US" sz="1250" dirty="0"/>
          </a:p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Define a profile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a closed, fully-defined 2D profile on that plane — points and lines built into a polygon</a:t>
            </a:r>
            <a:endParaRPr lang="en-US" sz="1250" dirty="0"/>
          </a:p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Create a volume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extrude, revolve, sweep, or loft the profile into a solid, then add, cut, or intersect it with what's already there</a:t>
            </a:r>
            <a:endParaRPr lang="en-US" sz="1250" dirty="0"/>
          </a:p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Dress it up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fillets, chamfers, shells, drafts, or patterns — operations on the solid, not a new sketched volume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85800" y="5806440"/>
            <a:ext cx="11018520" cy="685800"/>
          </a:xfrm>
          <a:prstGeom prst="roundRect">
            <a:avLst>
              <a:gd name="adj" fmla="val 10667"/>
            </a:avLst>
          </a:prstGeom>
          <a:solidFill>
            <a:srgbClr val="F3F6F9"/>
          </a:solidFill>
          <a:ln w="15875">
            <a:solidFill>
              <a:srgbClr val="2F6FE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5916168"/>
            <a:ext cx="105613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of the next loop is usually a face the previous loop just created, not a default plane — that dependency is exactly what builds the feature tree, one branch at a time.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Sketching Fundamentals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sketch is a 2D profile on a plane or face — the input to a 3D feature like an extrude or revolve.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2011680"/>
            <a:ext cx="3563112" cy="1737360"/>
          </a:xfrm>
          <a:prstGeom prst="roundRect">
            <a:avLst>
              <a:gd name="adj" fmla="val 4211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7512" y="2157984"/>
            <a:ext cx="384048" cy="384048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67512" y="2157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61288" y="2121408"/>
            <a:ext cx="274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entities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67512" y="2578608"/>
            <a:ext cx="323392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lines, arcs, circles, rectangles, slots, splines, and points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22064" y="2011680"/>
            <a:ext cx="3563112" cy="1737360"/>
          </a:xfrm>
          <a:prstGeom prst="roundRect">
            <a:avLst>
              <a:gd name="adj" fmla="val 4211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6656" y="2157984"/>
            <a:ext cx="384048" cy="384048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486656" y="2157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980432" y="2121408"/>
            <a:ext cx="274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geometry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486656" y="2578608"/>
            <a:ext cx="323392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origin, the three default planes (front, top, right), and construction lines that guide without becoming part of the profile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41208" y="2011680"/>
            <a:ext cx="3563112" cy="1737360"/>
          </a:xfrm>
          <a:prstGeom prst="roundRect">
            <a:avLst>
              <a:gd name="adj" fmla="val 4211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05800" y="2157984"/>
            <a:ext cx="384048" cy="384048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05800" y="2157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799576" y="2121408"/>
            <a:ext cx="274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vs. open profiles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8305800" y="2578608"/>
            <a:ext cx="323392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closed loop can be extruded into a solid; an open profile makes thin features, surfaces, or paths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4023360"/>
            <a:ext cx="11201400" cy="777240"/>
          </a:xfrm>
          <a:prstGeom prst="roundRect">
            <a:avLst>
              <a:gd name="adj" fmla="val 9412"/>
            </a:avLst>
          </a:prstGeom>
          <a:solidFill>
            <a:srgbClr val="F3F6F9"/>
          </a:solidFill>
          <a:ln w="15875">
            <a:solidFill>
              <a:srgbClr val="2F6FE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4133088"/>
            <a:ext cx="107442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sketches simple — draw only the geometry the feature needs, keep profiles closed, and put complexity into separate features rather than one crowded sketch.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Geometry of Shapes: 2D Construction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 shape is a sketch, it's plane geometry — points, lines, and curves in defined relationships.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3599688" cy="2180844"/>
          </a:xfrm>
          <a:prstGeom prst="roundRect">
            <a:avLst>
              <a:gd name="adj" fmla="val 2935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pic>
        <p:nvPicPr>
          <p:cNvPr id="8" name="Image 0" descr="/tmp/mech151_deck/images/01_circle_ar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2971" y="1956816"/>
            <a:ext cx="1079586" cy="113403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85800" y="3145719"/>
            <a:ext cx="323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&amp; Arc Geometry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420039"/>
            <a:ext cx="3233928" cy="644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+ radius/diameter; a chord connects two points, a central angle subtends an arc.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303776" y="1828800"/>
            <a:ext cx="3599688" cy="2180844"/>
          </a:xfrm>
          <a:prstGeom prst="roundRect">
            <a:avLst>
              <a:gd name="adj" fmla="val 2935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pic>
        <p:nvPicPr>
          <p:cNvPr id="12" name="Image 1" descr="/tmp/mech151_deck/images/02_polyg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9752" y="1956816"/>
            <a:ext cx="2027736" cy="113403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486656" y="3145719"/>
            <a:ext cx="323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Polygons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4486656" y="3420039"/>
            <a:ext cx="3233928" cy="644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inscribed (flat-to-flat) vs. circumscribed (point-to-point) — matters for hex features and bolt heads.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8104632" y="1828800"/>
            <a:ext cx="3599688" cy="2180844"/>
          </a:xfrm>
          <a:prstGeom prst="roundRect">
            <a:avLst>
              <a:gd name="adj" fmla="val 2935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pic>
        <p:nvPicPr>
          <p:cNvPr id="16" name="Image 2" descr="/tmp/mech151_deck/images/03_tangenc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2220" y="1956816"/>
            <a:ext cx="1724512" cy="113403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87512" y="3145719"/>
            <a:ext cx="323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Tangency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8287512" y="3420039"/>
            <a:ext cx="3233928" cy="644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line/arc touches a circle at exactly one point, perpendicular to the radius there.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02920" y="4174236"/>
            <a:ext cx="3599688" cy="2180844"/>
          </a:xfrm>
          <a:prstGeom prst="roundRect">
            <a:avLst>
              <a:gd name="adj" fmla="val 2935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pic>
        <p:nvPicPr>
          <p:cNvPr id="20" name="Image 3" descr="/tmp/mech151_deck/images/04_fillet_chamf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6604" y="4302252"/>
            <a:ext cx="2232320" cy="1134039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85800" y="5491155"/>
            <a:ext cx="323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Fillets &amp; Chamfers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685800" y="5765475"/>
            <a:ext cx="3233928" cy="644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fillet is a tangent arc replacing a sharp corner; a chamfer is a straight cut across it.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4303776" y="4174236"/>
            <a:ext cx="3599688" cy="2180844"/>
          </a:xfrm>
          <a:prstGeom prst="roundRect">
            <a:avLst>
              <a:gd name="adj" fmla="val 2935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pic>
        <p:nvPicPr>
          <p:cNvPr id="24" name="Image 4" descr="/tmp/mech151_deck/images/05_bisector_offse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2515" y="4302252"/>
            <a:ext cx="2822210" cy="1134039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4486656" y="5491155"/>
            <a:ext cx="323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Constructions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4486656" y="5765475"/>
            <a:ext cx="3233928" cy="644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perpendicular bisector and offset — classic constructions, now done by relations.</a:t>
            </a:r>
            <a:endParaRPr lang="en-US" sz="950" dirty="0"/>
          </a:p>
        </p:txBody>
      </p:sp>
      <p:sp>
        <p:nvSpPr>
          <p:cNvPr id="27" name="Shape 20"/>
          <p:cNvSpPr/>
          <p:nvPr/>
        </p:nvSpPr>
        <p:spPr>
          <a:xfrm>
            <a:off x="8104632" y="4174236"/>
            <a:ext cx="3599688" cy="2180844"/>
          </a:xfrm>
          <a:prstGeom prst="roundRect">
            <a:avLst>
              <a:gd name="adj" fmla="val 2935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pic>
        <p:nvPicPr>
          <p:cNvPr id="28" name="Image 5" descr="/tmp/mech151_deck/images/06_symmetr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9496" y="4302252"/>
            <a:ext cx="1409961" cy="1134039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8287512" y="5491155"/>
            <a:ext cx="323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 &amp; Centerlines</a:t>
            </a:r>
            <a:endParaRPr lang="en-US" sz="1200" dirty="0"/>
          </a:p>
        </p:txBody>
      </p:sp>
      <p:sp>
        <p:nvSpPr>
          <p:cNvPr id="30" name="Text 22"/>
          <p:cNvSpPr txBox="1"/>
          <p:nvPr/>
        </p:nvSpPr>
        <p:spPr>
          <a:xfrm>
            <a:off x="8287512" y="5765475"/>
            <a:ext cx="3233928" cy="644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half a shape about a construction line and mirror it to guarantee identical halves.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Sketch Constraints &amp; Relations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lock down where sketch geometry can move, removing degrees of freedom until the sketch is fully defined.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3550920" cy="1737360"/>
          </a:xfrm>
          <a:prstGeom prst="roundRect">
            <a:avLst>
              <a:gd name="adj" fmla="val 4211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084832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8592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Under-defined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704088" y="2633472"/>
            <a:ext cx="314858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can still be dragged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sketch is not fully controlled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28160" y="1920240"/>
            <a:ext cx="3550920" cy="1737360"/>
          </a:xfrm>
          <a:prstGeom prst="roundRect">
            <a:avLst>
              <a:gd name="adj" fmla="val 4211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29328" y="2084832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F6F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Fully defined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4529328" y="2633472"/>
            <a:ext cx="314858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entity fixed by relations + dimensions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state before finishing a sketch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53400" y="1920240"/>
            <a:ext cx="3550920" cy="1737360"/>
          </a:xfrm>
          <a:prstGeom prst="roundRect">
            <a:avLst>
              <a:gd name="adj" fmla="val 4211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54568" y="2084832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Over-defined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8354568" y="2633472"/>
            <a:ext cx="314858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Conflicting or redundant constraints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resolved, not ignored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3886200"/>
            <a:ext cx="11201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relations —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coincident, collinear, parallel, perpendicular, tangent, concentric, equal, horizontal, vertical, symmetric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—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linear, radial, diameter, angular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5029200"/>
            <a:ext cx="11201400" cy="777240"/>
          </a:xfrm>
          <a:prstGeom prst="roundRect">
            <a:avLst>
              <a:gd name="adj" fmla="val 9412"/>
            </a:avLst>
          </a:prstGeom>
          <a:solidFill>
            <a:srgbClr val="F3F6F9"/>
          </a:solidFill>
          <a:ln w="15875">
            <a:solidFill>
              <a:srgbClr val="2F6FE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5138928"/>
            <a:ext cx="107442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relations before dimensions — relations capture intent (this hole stays centered) so changing one dimension updates the model predictably instead of distorting it.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Orthographic Projection &amp; Multiview Theory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the part inside a glass box — each face of the box catches one view; unfolding it gives the standard view arrangement.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863840" y="1965960"/>
            <a:ext cx="1234440" cy="864108"/>
          </a:xfrm>
          <a:prstGeom prst="rect">
            <a:avLst/>
          </a:prstGeom>
          <a:solidFill>
            <a:srgbClr val="F3F6F9"/>
          </a:solidFill>
          <a:ln w="19050">
            <a:solidFill>
              <a:srgbClr val="2F6F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63840" y="167335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863840" y="3058668"/>
            <a:ext cx="1234440" cy="1234440"/>
          </a:xfrm>
          <a:prstGeom prst="rect">
            <a:avLst/>
          </a:prstGeom>
          <a:solidFill>
            <a:srgbClr val="F3F6F9"/>
          </a:solidFill>
          <a:ln w="19050">
            <a:solidFill>
              <a:srgbClr val="2F6FE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63840" y="433882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326880" y="3058668"/>
            <a:ext cx="864108" cy="1234440"/>
          </a:xfrm>
          <a:prstGeom prst="rect">
            <a:avLst/>
          </a:prstGeom>
          <a:solidFill>
            <a:srgbClr val="F3F6F9"/>
          </a:solidFill>
          <a:ln w="19050">
            <a:solidFill>
              <a:srgbClr val="2F6FE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235440" y="4338828"/>
            <a:ext cx="11109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2011680"/>
            <a:ext cx="69494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Third-angle projection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U.S. standard — top view sits above front, right-side view sits to its right</a:t>
            </a:r>
            <a:endParaRPr lang="en-US" sz="1250" dirty="0"/>
          </a:p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conventions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edges solid, hidden edges dashed, centerlines for holes and symmetry axes</a:t>
            </a:r>
            <a:endParaRPr lang="en-US" sz="1250" dirty="0"/>
          </a:p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selection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front view with the most shape and fewest hidden lines; add only the views needed</a:t>
            </a:r>
            <a:endParaRPr lang="en-US" sz="1250" dirty="0"/>
          </a:p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geometry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length appears only when a line is parallel to the viewing plane; true shape only in a view perpendicular to that plane</a:t>
            </a:r>
            <a:endParaRPr lang="en-US" sz="1250" dirty="0"/>
          </a:p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vs. secondary views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primary view projects from a principal view; a secondary view projects from a primary view to reveal a feature still not true-size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Dimensioning Standards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tell the reader how big the part is and how precisely each feature must be made (ASME Y14.5 in the U.S.).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2011680"/>
            <a:ext cx="5472684" cy="1225296"/>
          </a:xfrm>
          <a:prstGeom prst="roundRect">
            <a:avLst>
              <a:gd name="adj" fmla="val 5970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7512" y="2157984"/>
            <a:ext cx="384048" cy="384048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67512" y="2157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61288" y="2121408"/>
            <a:ext cx="4649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67512" y="2578608"/>
            <a:ext cx="51435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lines, dimension lines, arrowheads, and the value — kept off the outline and out of the view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31636" y="2011680"/>
            <a:ext cx="5472684" cy="1225296"/>
          </a:xfrm>
          <a:prstGeom prst="roundRect">
            <a:avLst>
              <a:gd name="adj" fmla="val 5970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96228" y="2157984"/>
            <a:ext cx="384048" cy="384048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96228" y="2157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890004" y="2121408"/>
            <a:ext cx="4649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396228" y="2578608"/>
            <a:ext cx="51435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to visible outlines, not hidden lines; group related dimensions; smallest closest to the view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3438144"/>
            <a:ext cx="5472684" cy="1225296"/>
          </a:xfrm>
          <a:prstGeom prst="roundRect">
            <a:avLst>
              <a:gd name="adj" fmla="val 5970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7512" y="3584448"/>
            <a:ext cx="384048" cy="384048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7512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161288" y="3547872"/>
            <a:ext cx="4649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over-dimension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" y="4005072"/>
            <a:ext cx="51435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feature is located once — a redundant dimension creates conflict on the shop floor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31636" y="3438144"/>
            <a:ext cx="5472684" cy="1225296"/>
          </a:xfrm>
          <a:prstGeom prst="roundRect">
            <a:avLst>
              <a:gd name="adj" fmla="val 5970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96228" y="3584448"/>
            <a:ext cx="384048" cy="384048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396228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890004" y="3547872"/>
            <a:ext cx="4649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callouts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396228" y="4005072"/>
            <a:ext cx="51435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diameter, radius, counterbore, countersink, and depth symbols for holes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Geometry of Shapes: Building 3D Solids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solid model is a running total: start with a volume, add more, and cut some away.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755648"/>
            <a:ext cx="2649474" cy="2743200"/>
          </a:xfrm>
          <a:prstGeom prst="roundRect">
            <a:avLst>
              <a:gd name="adj" fmla="val 2416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874520"/>
            <a:ext cx="23751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F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Extrude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157984"/>
            <a:ext cx="23751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 profile along an axis</a:t>
            </a:r>
            <a:endParaRPr lang="en-US" sz="950" dirty="0"/>
          </a:p>
        </p:txBody>
      </p:sp>
      <p:pic>
        <p:nvPicPr>
          <p:cNvPr id="10" name="Image 0" descr="/tmp/mech151_deck/images/08_extru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117" y="2578608"/>
            <a:ext cx="1783080" cy="17830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353562" y="1755648"/>
            <a:ext cx="2649474" cy="2743200"/>
          </a:xfrm>
          <a:prstGeom prst="roundRect">
            <a:avLst>
              <a:gd name="adj" fmla="val 2416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490722" y="1874520"/>
            <a:ext cx="23751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F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Revolve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490722" y="2157984"/>
            <a:ext cx="23751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a profile around an axis</a:t>
            </a:r>
            <a:endParaRPr lang="en-US" sz="950" dirty="0"/>
          </a:p>
        </p:txBody>
      </p:sp>
      <p:pic>
        <p:nvPicPr>
          <p:cNvPr id="14" name="Image 1" descr="/tmp/mech151_deck/images/09_revol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6759" y="2578608"/>
            <a:ext cx="1783080" cy="17830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204204" y="1755648"/>
            <a:ext cx="2649474" cy="2743200"/>
          </a:xfrm>
          <a:prstGeom prst="roundRect">
            <a:avLst>
              <a:gd name="adj" fmla="val 2416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341364" y="1874520"/>
            <a:ext cx="23751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F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Sweep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6341364" y="2157984"/>
            <a:ext cx="23751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profile along a path</a:t>
            </a:r>
            <a:endParaRPr lang="en-US" sz="950" dirty="0"/>
          </a:p>
        </p:txBody>
      </p:sp>
      <p:pic>
        <p:nvPicPr>
          <p:cNvPr id="18" name="Image 2" descr="/tmp/mech151_deck/images/10_swee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7401" y="2578608"/>
            <a:ext cx="1783080" cy="178308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9054846" y="1755648"/>
            <a:ext cx="2649474" cy="2743200"/>
          </a:xfrm>
          <a:prstGeom prst="roundRect">
            <a:avLst>
              <a:gd name="adj" fmla="val 2416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9192006" y="1874520"/>
            <a:ext cx="23751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F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Loft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9192006" y="2157984"/>
            <a:ext cx="23751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between different profiles</a:t>
            </a:r>
            <a:endParaRPr lang="en-US" sz="950" dirty="0"/>
          </a:p>
        </p:txBody>
      </p:sp>
      <p:pic>
        <p:nvPicPr>
          <p:cNvPr id="22" name="Image 3" descr="/tmp/mech151_deck/images/11_lof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8043" y="2578608"/>
            <a:ext cx="1783080" cy="178308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502920" y="4645152"/>
            <a:ext cx="5500116" cy="1810512"/>
          </a:xfrm>
          <a:prstGeom prst="roundRect">
            <a:avLst>
              <a:gd name="adj" fmla="val 3535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685800" y="4736592"/>
            <a:ext cx="51343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Primitives</a:t>
            </a:r>
            <a:endParaRPr lang="en-US" sz="1400" dirty="0"/>
          </a:p>
        </p:txBody>
      </p:sp>
      <p:pic>
        <p:nvPicPr>
          <p:cNvPr id="25" name="Image 4" descr="/tmp/mech151_deck/images/07_primitive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129650"/>
            <a:ext cx="5134356" cy="1106691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6204204" y="4645152"/>
            <a:ext cx="5500116" cy="1810512"/>
          </a:xfrm>
          <a:prstGeom prst="roundRect">
            <a:avLst>
              <a:gd name="adj" fmla="val 3535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6387084" y="4736592"/>
            <a:ext cx="51343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Booleans &amp; Dress-Up</a:t>
            </a:r>
            <a:endParaRPr lang="en-US" sz="1400" dirty="0"/>
          </a:p>
        </p:txBody>
      </p:sp>
      <p:pic>
        <p:nvPicPr>
          <p:cNvPr id="28" name="Image 5" descr="/tmp/mech151_deck/images/12_booleans_dressu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7084" y="5175367"/>
            <a:ext cx="5134356" cy="859811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6387084" y="6199632"/>
            <a:ext cx="51343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Fillet &amp; chamfer are shown on the sketching slide (2D construction).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Parametric Part Modeling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parametric model is a history of features, each driven by dimensions and relations — change a dimension and the model rebuilds.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965960"/>
            <a:ext cx="11201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13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feature — 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solid, usually an extrude or revolve of a fully defined sketch</a:t>
            </a:r>
            <a:endParaRPr lang="en-US" sz="1350" dirty="0"/>
          </a:p>
          <a:p>
            <a:pPr marL="342900" indent="-342900">
              <a:buSzPct val="100000"/>
              <a:buChar char="●"/>
            </a:pPr>
            <a:r>
              <a:rPr lang="en-US" sz="13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features — 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extrude, cut, revolve, fillet, chamfer, hole, shell, pattern — each added in order on the feature tree</a:t>
            </a:r>
            <a:endParaRPr lang="en-US" sz="1350" dirty="0"/>
          </a:p>
          <a:p>
            <a:pPr marL="342900" indent="-342900">
              <a:buSzPct val="100000"/>
              <a:buChar char="●"/>
            </a:pPr>
            <a:r>
              <a:rPr lang="en-US" sz="13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planes &amp; references — 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where each feature's sketch lives so edits stay stable</a:t>
            </a:r>
            <a:endParaRPr lang="en-US" sz="1350" dirty="0"/>
          </a:p>
          <a:p>
            <a:pPr marL="342900" indent="-342900">
              <a:buSzPct val="100000"/>
              <a:buChar char="●"/>
            </a:pPr>
            <a:r>
              <a:rPr lang="en-US" sz="13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— 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driving dimensions, reordering/suppressing features, fixing rebuild errors — reading a feature tree and predicting what an edit will do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4800600"/>
            <a:ext cx="11201400" cy="594360"/>
          </a:xfrm>
          <a:prstGeom prst="roundRect">
            <a:avLst>
              <a:gd name="adj" fmla="val 12308"/>
            </a:avLst>
          </a:prstGeom>
          <a:solidFill>
            <a:srgbClr val="F3F6F9"/>
          </a:solidFill>
          <a:ln w="15875">
            <a:solidFill>
              <a:srgbClr val="2F6FE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4910328"/>
            <a:ext cx="107442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makes CAD editable rather than something you redraw from scratch.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Geometry of Shapes: Measurable Properties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shape carries numbers that follow from its geometry — the values a design is checked against.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965960"/>
            <a:ext cx="5463540" cy="2286000"/>
          </a:xfrm>
          <a:prstGeom prst="roundRect">
            <a:avLst>
              <a:gd name="adj" fmla="val 3200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130552"/>
            <a:ext cx="50612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F6F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a 2D profile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704088" y="2679192"/>
            <a:ext cx="5061204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Area, perimeter, centroid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moment of area (I) — resistance to bending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modulus (I ÷ distance to extreme fiber)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40780" y="1965960"/>
            <a:ext cx="5463540" cy="2286000"/>
          </a:xfrm>
          <a:prstGeom prst="roundRect">
            <a:avLst>
              <a:gd name="adj" fmla="val 3200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1948" y="2130552"/>
            <a:ext cx="50612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F6F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a 3D solid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6441948" y="2679192"/>
            <a:ext cx="5061204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Volume, surface area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(volume × density), center of gravity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moment of inertia — resistance to angular acceleration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4434840"/>
            <a:ext cx="11201400" cy="777240"/>
          </a:xfrm>
          <a:prstGeom prst="roundRect">
            <a:avLst>
              <a:gd name="adj" fmla="val 9412"/>
            </a:avLst>
          </a:prstGeom>
          <a:solidFill>
            <a:srgbClr val="F3F6F9"/>
          </a:solidFill>
          <a:ln w="15875">
            <a:solidFill>
              <a:srgbClr val="2F6F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544568"/>
            <a:ext cx="107442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 in, garbage out: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are only right if the material density is set correctly and the model is a single watertight solid — an open or multi-body model gives a meaningless mass.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1 Wrap-Up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965960"/>
            <a:ext cx="3563112" cy="1920240"/>
          </a:xfrm>
          <a:prstGeom prst="roundRect">
            <a:avLst>
              <a:gd name="adj" fmla="val 3810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7512" y="2112264"/>
            <a:ext cx="384048" cy="384048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7512" y="2112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61288" y="2075688"/>
            <a:ext cx="274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sketches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67512" y="2532888"/>
            <a:ext cx="323392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defined, with relations that capture intent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22064" y="1965960"/>
            <a:ext cx="3563112" cy="1920240"/>
          </a:xfrm>
          <a:prstGeom prst="roundRect">
            <a:avLst>
              <a:gd name="adj" fmla="val 3810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6656" y="2112264"/>
            <a:ext cx="384048" cy="384048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86656" y="2112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980432" y="2075688"/>
            <a:ext cx="274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Multiview drawing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486656" y="2532888"/>
            <a:ext cx="323392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projection, line types, and dimensions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41208" y="1965960"/>
            <a:ext cx="3563112" cy="1920240"/>
          </a:xfrm>
          <a:prstGeom prst="roundRect">
            <a:avLst>
              <a:gd name="adj" fmla="val 3810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05800" y="2112264"/>
            <a:ext cx="384048" cy="384048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05800" y="2112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799576" y="2075688"/>
            <a:ext cx="274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parametric model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305800" y="2532888"/>
            <a:ext cx="323392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clean, editable feature tree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2920" y="5532120"/>
            <a:ext cx="11201400" cy="868680"/>
          </a:xfrm>
          <a:prstGeom prst="roundRect">
            <a:avLst>
              <a:gd name="adj" fmla="val 10526"/>
            </a:avLst>
          </a:prstGeom>
          <a:solidFill>
            <a:srgbClr val="F3F6F9"/>
          </a:solidFill>
          <a:ln w="15875">
            <a:solidFill>
              <a:srgbClr val="2F6F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3232" y="5751576"/>
            <a:ext cx="420624" cy="420624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13232" y="5751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1325880" y="5623560"/>
            <a:ext cx="10195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produce: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sketches, a multiview drawing, and a first fully parametric part model.   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by: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Quiz (Week 7) and the corresponding portfolio modules.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17904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76856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35808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94760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53712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12664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71616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30568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89520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48472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07424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866376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25328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143232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758952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1517904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2276856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035808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3794760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4553712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5312664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6071616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6830568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955280" y="365760"/>
            <a:ext cx="3931920" cy="612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b="1" dirty="0">
                <a:solidFill>
                  <a:srgbClr val="0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0" dirty="0"/>
          </a:p>
        </p:txBody>
      </p:sp>
      <p:sp>
        <p:nvSpPr>
          <p:cNvPr id="28" name="Shape 26"/>
          <p:cNvSpPr/>
          <p:nvPr/>
        </p:nvSpPr>
        <p:spPr>
          <a:xfrm>
            <a:off x="685800" y="731520"/>
            <a:ext cx="2253996" cy="42062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85800" y="731520"/>
            <a:ext cx="22539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· WEEKS 7–10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85800" y="2331720"/>
            <a:ext cx="8778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 Advanced</a:t>
            </a:r>
            <a:endParaRPr lang="en-US" sz="40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" y="36118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views, fasteners, and production drawings — turning a model into a document a shop can build from.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685800" y="5806440"/>
            <a:ext cx="1828800" cy="438912"/>
          </a:xfrm>
          <a:prstGeom prst="roundRect">
            <a:avLst>
              <a:gd name="adj" fmla="val 20833"/>
            </a:avLst>
          </a:prstGeom>
          <a:solidFill>
            <a:srgbClr val="16324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5800" y="58064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IN WEEK 10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Views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imaginary cutting plane slices the part to show what's inside, replacing hidden-line tangles with a clear cut face.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737360"/>
            <a:ext cx="5500116" cy="2011680"/>
          </a:xfrm>
          <a:prstGeom prst="roundRect">
            <a:avLst>
              <a:gd name="adj" fmla="val 3182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90195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Section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359152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cutting plane passes entirely through the part, exposing the interior along its whole length.</a:t>
            </a:r>
            <a:endParaRPr lang="en-US" sz="1000" dirty="0"/>
          </a:p>
        </p:txBody>
      </p:sp>
      <p:pic>
        <p:nvPicPr>
          <p:cNvPr id="10" name="Image 0" descr="/tmp/mech151_deck/images/13_section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4418" y="1874520"/>
            <a:ext cx="1737360" cy="17373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204204" y="1737360"/>
            <a:ext cx="5500116" cy="2011680"/>
          </a:xfrm>
          <a:prstGeom prst="roundRect">
            <a:avLst>
              <a:gd name="adj" fmla="val 3182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87084" y="190195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Half Section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6387084" y="2359152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quarter is removed — the exterior and the interior appear together in a single view. Best for symmetric parts.</a:t>
            </a:r>
            <a:endParaRPr lang="en-US" sz="1000" dirty="0"/>
          </a:p>
        </p:txBody>
      </p:sp>
      <p:pic>
        <p:nvPicPr>
          <p:cNvPr id="14" name="Image 1" descr="/tmp/mech151_deck/images/14_section_hal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5702" y="1874520"/>
            <a:ext cx="1737360" cy="173736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02920" y="3877056"/>
            <a:ext cx="5500116" cy="2011680"/>
          </a:xfrm>
          <a:prstGeom prst="roundRect">
            <a:avLst>
              <a:gd name="adj" fmla="val 3182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85800" y="3995928"/>
            <a:ext cx="51343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Offset Section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685800" y="4242816"/>
            <a:ext cx="51343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plane is stepped (jogged) so it passes through features that aren't in line — each still appears true size.</a:t>
            </a:r>
            <a:endParaRPr lang="en-US" sz="950" dirty="0"/>
          </a:p>
        </p:txBody>
      </p:sp>
      <p:pic>
        <p:nvPicPr>
          <p:cNvPr id="18" name="Image 2" descr="/tmp/mech151_deck/images/15_section_offs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9676" y="4654296"/>
            <a:ext cx="3526604" cy="11430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204204" y="3877056"/>
            <a:ext cx="5500116" cy="2011680"/>
          </a:xfrm>
          <a:prstGeom prst="roundRect">
            <a:avLst>
              <a:gd name="adj" fmla="val 3182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387084" y="3995928"/>
            <a:ext cx="51343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Sections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6387084" y="4242816"/>
            <a:ext cx="51343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Broken-out, revolved, and removed — used to show one local feature without a full cut.</a:t>
            </a:r>
            <a:endParaRPr lang="en-US" sz="950" dirty="0"/>
          </a:p>
        </p:txBody>
      </p:sp>
      <p:pic>
        <p:nvPicPr>
          <p:cNvPr id="22" name="Image 3" descr="/tmp/mech151_deck/images/16_section_loc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5253" y="4654296"/>
            <a:ext cx="4378018" cy="114300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502920" y="5998464"/>
            <a:ext cx="11201400" cy="457200"/>
          </a:xfrm>
          <a:prstGeom prst="roundRect">
            <a:avLst>
              <a:gd name="adj" fmla="val 16000"/>
            </a:avLst>
          </a:prstGeom>
          <a:solidFill>
            <a:srgbClr val="F3F6F9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731520" y="6108192"/>
            <a:ext cx="10744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lining marks the cut face — but ribs, webs, fasteners, shafts, and pins are never hatched, even when the cutting plane passes through them.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Auxiliary Views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inclined face looks foreshortened in every principal view — an auxiliary view is projected perpendicular to it so it appears true-size.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pic>
        <p:nvPicPr>
          <p:cNvPr id="7" name="Image 0" descr="/tmp/mech151_deck/images/17_auxiliary_pri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9838" y="1755648"/>
            <a:ext cx="6807563" cy="2788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4672584"/>
            <a:ext cx="5500116" cy="1691640"/>
          </a:xfrm>
          <a:prstGeom prst="roundRect">
            <a:avLst>
              <a:gd name="adj" fmla="val 3784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4809744"/>
            <a:ext cx="513435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●"/>
            </a:pPr>
            <a:r>
              <a:rPr lang="en-US" sz="10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auxiliary —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from one principal view to show an inclined surface true-shape</a:t>
            </a:r>
            <a:endParaRPr lang="en-US" sz="1050" dirty="0"/>
          </a:p>
          <a:p>
            <a:pPr marL="342900" indent="-342900">
              <a:lnSpc>
                <a:spcPct val="105000"/>
              </a:lnSpc>
              <a:buSzPct val="100000"/>
              <a:buChar char="●"/>
            </a:pPr>
            <a:r>
              <a:rPr lang="en-US" sz="10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auxiliary —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inclined feature is drawn — the rest is omitted to avoid distortion and clutter</a:t>
            </a:r>
            <a:endParaRPr lang="en-US" sz="1050" dirty="0"/>
          </a:p>
          <a:p>
            <a:pPr marL="342900" indent="-342900">
              <a:lnSpc>
                <a:spcPct val="105000"/>
              </a:lnSpc>
              <a:buSzPct val="100000"/>
              <a:buChar char="●"/>
            </a:pPr>
            <a:r>
              <a:rPr lang="en-US" sz="10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Reference-plane method —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measurements are transferred across the fold line along projection lines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04204" y="4672584"/>
            <a:ext cx="5500116" cy="1691640"/>
          </a:xfrm>
          <a:prstGeom prst="roundRect">
            <a:avLst>
              <a:gd name="adj" fmla="val 3784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pic>
        <p:nvPicPr>
          <p:cNvPr id="11" name="Image 1" descr="/tmp/mech151_deck/images/18_auxiliary_parti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0159" y="4764024"/>
            <a:ext cx="3208206" cy="150876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Threads &amp; Fastener Representation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 are almost never drawn in full detail — a standardized representation plus a note carries the information a shop needs.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737360"/>
            <a:ext cx="3566160" cy="2423160"/>
          </a:xfrm>
          <a:prstGeom prst="roundRect">
            <a:avLst>
              <a:gd name="adj" fmla="val 2642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8470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Thread Profile</a:t>
            </a:r>
            <a:endParaRPr lang="en-US" sz="1250" dirty="0"/>
          </a:p>
        </p:txBody>
      </p:sp>
      <p:pic>
        <p:nvPicPr>
          <p:cNvPr id="9" name="Image 0" descr="/tmp/mech151_deck/images/19_thread_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604" y="2121408"/>
            <a:ext cx="2970792" cy="19202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251960" y="1737360"/>
            <a:ext cx="2651760" cy="2423160"/>
          </a:xfrm>
          <a:prstGeom prst="roundRect">
            <a:avLst>
              <a:gd name="adj" fmla="val 2642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389120" y="18470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Thread Is Cut</a:t>
            </a:r>
            <a:endParaRPr lang="en-US" sz="1250" dirty="0"/>
          </a:p>
        </p:txBody>
      </p:sp>
      <p:pic>
        <p:nvPicPr>
          <p:cNvPr id="12" name="Image 1" descr="/tmp/mech151_deck/images/20_thread_heli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537" y="2121408"/>
            <a:ext cx="2048605" cy="19202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086600" y="1737360"/>
            <a:ext cx="4617720" cy="2423160"/>
          </a:xfrm>
          <a:prstGeom prst="roundRect">
            <a:avLst>
              <a:gd name="adj" fmla="val 2642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269480" y="1883664"/>
            <a:ext cx="4251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●"/>
            </a:pPr>
            <a:r>
              <a:rPr lang="en-US" sz="10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terms — </a:t>
            </a:r>
            <a:pPr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major/minor diameter, pitch, lead, external vs. internal, right- vs. left-hand, class of fit</a:t>
            </a:r>
            <a:endParaRPr lang="en-US" sz="1000" dirty="0"/>
          </a:p>
          <a:p>
            <a:pPr marL="342900" indent="-342900">
              <a:lnSpc>
                <a:spcPct val="108000"/>
              </a:lnSpc>
              <a:buSzPct val="100000"/>
              <a:buChar char="●"/>
            </a:pPr>
            <a:r>
              <a:rPr lang="en-US" sz="10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 — </a:t>
            </a:r>
            <a:pPr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detailed, schematic, simplified — simplified is most common on production drawings</a:t>
            </a:r>
            <a:endParaRPr lang="en-US" sz="1000" dirty="0"/>
          </a:p>
          <a:p>
            <a:pPr marL="342900" indent="-342900">
              <a:lnSpc>
                <a:spcPct val="108000"/>
              </a:lnSpc>
              <a:buSzPct val="100000"/>
              <a:buChar char="●"/>
            </a:pPr>
            <a:r>
              <a:rPr lang="en-US" sz="10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Fasteners — </a:t>
            </a:r>
            <a:pPr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bolts, screws, nuts, washers, inserts — clearance and tap-drill holes are sized to fit them</a:t>
            </a:r>
            <a:endParaRPr lang="en-US" sz="1000" dirty="0"/>
          </a:p>
          <a:p>
            <a:pPr marL="342900" indent="-342900">
              <a:lnSpc>
                <a:spcPct val="108000"/>
              </a:lnSpc>
              <a:buSzPct val="100000"/>
              <a:buChar char="●"/>
            </a:pPr>
            <a:r>
              <a:rPr lang="en-US" sz="10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notes — </a:t>
            </a:r>
            <a:pPr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1/4-20 UNC-2A (inch) or M6 × 1 (metric) — diameter, pitch, and class in one callout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02920" y="4297680"/>
            <a:ext cx="11201400" cy="2148840"/>
          </a:xfrm>
          <a:prstGeom prst="roundRect">
            <a:avLst>
              <a:gd name="adj" fmla="val 2979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85800" y="44074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Hole Types</a:t>
            </a:r>
            <a:endParaRPr lang="en-US" sz="1300" dirty="0"/>
          </a:p>
        </p:txBody>
      </p:sp>
      <p:pic>
        <p:nvPicPr>
          <p:cNvPr id="17" name="Image 2" descr="/tmp/mech151_deck/images/21_hole_typ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441" y="4681728"/>
            <a:ext cx="10326359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&amp; Detail Drawings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detail drawing is a controlled document — its format carries information that isn't in the geometry.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77240" y="1691640"/>
            <a:ext cx="10607040" cy="4251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F29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1965960"/>
            <a:ext cx="10058400" cy="3703320"/>
          </a:xfrm>
          <a:prstGeom prst="rect">
            <a:avLst/>
          </a:prstGeom>
          <a:ln w="9525">
            <a:solidFill>
              <a:srgbClr val="0F29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80210" y="1746504"/>
            <a:ext cx="0" cy="182880"/>
          </a:xfrm>
          <a:prstGeom prst="line">
            <a:avLst/>
          </a:prstGeom>
          <a:noFill/>
          <a:ln w="6350">
            <a:solidFill>
              <a:srgbClr val="8592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543050" y="17190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937510" y="1746504"/>
            <a:ext cx="0" cy="182880"/>
          </a:xfrm>
          <a:prstGeom prst="line">
            <a:avLst/>
          </a:prstGeom>
          <a:noFill/>
          <a:ln w="6350">
            <a:solidFill>
              <a:srgbClr val="8592A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00350" y="17190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194810" y="1746504"/>
            <a:ext cx="0" cy="182880"/>
          </a:xfrm>
          <a:prstGeom prst="line">
            <a:avLst/>
          </a:prstGeom>
          <a:noFill/>
          <a:ln w="6350">
            <a:solidFill>
              <a:srgbClr val="8592A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057650" y="17190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5452110" y="1746504"/>
            <a:ext cx="0" cy="182880"/>
          </a:xfrm>
          <a:prstGeom prst="line">
            <a:avLst/>
          </a:prstGeom>
          <a:noFill/>
          <a:ln w="6350">
            <a:solidFill>
              <a:srgbClr val="8592A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14950" y="17190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6709410" y="1746504"/>
            <a:ext cx="0" cy="182880"/>
          </a:xfrm>
          <a:prstGeom prst="line">
            <a:avLst/>
          </a:prstGeom>
          <a:noFill/>
          <a:ln w="6350">
            <a:solidFill>
              <a:srgbClr val="8592A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72250" y="17190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7966710" y="1746504"/>
            <a:ext cx="0" cy="182880"/>
          </a:xfrm>
          <a:prstGeom prst="line">
            <a:avLst/>
          </a:prstGeom>
          <a:noFill/>
          <a:ln w="6350">
            <a:solidFill>
              <a:srgbClr val="8592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829550" y="17190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9224010" y="1746504"/>
            <a:ext cx="0" cy="182880"/>
          </a:xfrm>
          <a:prstGeom prst="line">
            <a:avLst/>
          </a:prstGeom>
          <a:noFill/>
          <a:ln w="6350">
            <a:solidFill>
              <a:srgbClr val="8592A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086850" y="17190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0481310" y="1746504"/>
            <a:ext cx="0" cy="182880"/>
          </a:xfrm>
          <a:prstGeom prst="line">
            <a:avLst/>
          </a:prstGeom>
          <a:noFill/>
          <a:ln w="6350">
            <a:solidFill>
              <a:srgbClr val="8592A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344150" y="17190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11146536" y="2428875"/>
            <a:ext cx="182880" cy="0"/>
          </a:xfrm>
          <a:prstGeom prst="line">
            <a:avLst/>
          </a:prstGeom>
          <a:noFill/>
          <a:ln w="6350">
            <a:solidFill>
              <a:srgbClr val="8592A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1164824" y="2337435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11146536" y="3354705"/>
            <a:ext cx="182880" cy="0"/>
          </a:xfrm>
          <a:prstGeom prst="line">
            <a:avLst/>
          </a:prstGeom>
          <a:noFill/>
          <a:ln w="6350">
            <a:solidFill>
              <a:srgbClr val="8592A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1164824" y="3263265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11146536" y="4280535"/>
            <a:ext cx="182880" cy="0"/>
          </a:xfrm>
          <a:prstGeom prst="line">
            <a:avLst/>
          </a:prstGeom>
          <a:noFill/>
          <a:ln w="6350">
            <a:solidFill>
              <a:srgbClr val="8592A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1164824" y="4189095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1146536" y="5206365"/>
            <a:ext cx="182880" cy="0"/>
          </a:xfrm>
          <a:prstGeom prst="line">
            <a:avLst/>
          </a:prstGeom>
          <a:noFill/>
          <a:ln w="6350">
            <a:solidFill>
              <a:srgbClr val="8592A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1164824" y="5114925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1188720" y="2103120"/>
            <a:ext cx="9784080" cy="1325880"/>
          </a:xfrm>
          <a:prstGeom prst="rect">
            <a:avLst/>
          </a:prstGeom>
          <a:ln w="15875">
            <a:solidFill>
              <a:srgbClr val="E1E7EE"/>
            </a:solidFill>
            <a:prstDash val="dash"/>
          </a:ln>
        </p:spPr>
      </p:sp>
      <p:sp>
        <p:nvSpPr>
          <p:cNvPr id="34" name="Text 32"/>
          <p:cNvSpPr txBox="1"/>
          <p:nvPr/>
        </p:nvSpPr>
        <p:spPr>
          <a:xfrm>
            <a:off x="1188720" y="2446020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 VIEWS &amp; GEOMETRY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1188720" y="2766060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(front, top, right-side views — dimensions and GD&amp;T applied directly on the geometry)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051560" y="3566160"/>
            <a:ext cx="2651760" cy="2103120"/>
          </a:xfrm>
          <a:prstGeom prst="rect">
            <a:avLst/>
          </a:prstGeom>
          <a:solidFill>
            <a:srgbClr val="F3F6F9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143000" y="362102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NOTES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1143000" y="3840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(tolerance defaults, finish, material, heat-treat)</a:t>
            </a:r>
            <a:endParaRPr lang="en-US" sz="750" dirty="0"/>
          </a:p>
        </p:txBody>
      </p:sp>
      <p:sp>
        <p:nvSpPr>
          <p:cNvPr id="39" name="Text 37"/>
          <p:cNvSpPr txBox="1"/>
          <p:nvPr/>
        </p:nvSpPr>
        <p:spPr>
          <a:xfrm>
            <a:off x="1143000" y="4224528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417320" y="4389120"/>
            <a:ext cx="2148840" cy="0"/>
          </a:xfrm>
          <a:prstGeom prst="line">
            <a:avLst/>
          </a:prstGeom>
          <a:noFill/>
          <a:ln w="9525">
            <a:solidFill>
              <a:srgbClr val="E1E7E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143000" y="455371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417320" y="4718304"/>
            <a:ext cx="2148840" cy="0"/>
          </a:xfrm>
          <a:prstGeom prst="line">
            <a:avLst/>
          </a:prstGeom>
          <a:noFill/>
          <a:ln w="9525">
            <a:solidFill>
              <a:srgbClr val="E1E7E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143000" y="488289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417320" y="5047488"/>
            <a:ext cx="2148840" cy="0"/>
          </a:xfrm>
          <a:prstGeom prst="line">
            <a:avLst/>
          </a:prstGeom>
          <a:noFill/>
          <a:ln w="9525">
            <a:solidFill>
              <a:srgbClr val="E1E7EE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143000" y="5212080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417320" y="5376672"/>
            <a:ext cx="2148840" cy="0"/>
          </a:xfrm>
          <a:prstGeom prst="line">
            <a:avLst/>
          </a:prstGeom>
          <a:noFill/>
          <a:ln w="9525">
            <a:solidFill>
              <a:srgbClr val="E1E7E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178040" y="3566160"/>
            <a:ext cx="3931920" cy="548640"/>
          </a:xfrm>
          <a:prstGeom prst="rect">
            <a:avLst/>
          </a:prstGeom>
          <a:solidFill>
            <a:srgbClr val="F3F6F9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251192" y="3602736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LIST  (assemblies only)</a:t>
            </a:r>
            <a:endParaRPr lang="en-US" sz="800" dirty="0"/>
          </a:p>
        </p:txBody>
      </p:sp>
      <p:sp>
        <p:nvSpPr>
          <p:cNvPr id="49" name="Text 47"/>
          <p:cNvSpPr txBox="1"/>
          <p:nvPr/>
        </p:nvSpPr>
        <p:spPr>
          <a:xfrm>
            <a:off x="7223760" y="37856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endParaRPr lang="en-US" sz="700" dirty="0"/>
          </a:p>
        </p:txBody>
      </p:sp>
      <p:sp>
        <p:nvSpPr>
          <p:cNvPr id="50" name="Text 48"/>
          <p:cNvSpPr txBox="1"/>
          <p:nvPr/>
        </p:nvSpPr>
        <p:spPr>
          <a:xfrm>
            <a:off x="7680960" y="37856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7635240" y="3767328"/>
            <a:ext cx="0" cy="329184"/>
          </a:xfrm>
          <a:prstGeom prst="line">
            <a:avLst/>
          </a:prstGeom>
          <a:noFill/>
          <a:ln w="9525">
            <a:solidFill>
              <a:srgbClr val="E1E7EE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138160" y="378561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8092440" y="3767328"/>
            <a:ext cx="0" cy="329184"/>
          </a:xfrm>
          <a:prstGeom prst="line">
            <a:avLst/>
          </a:prstGeom>
          <a:noFill/>
          <a:ln w="9525">
            <a:solidFill>
              <a:srgbClr val="E1E7EE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10149840" y="378561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10104120" y="3767328"/>
            <a:ext cx="0" cy="329184"/>
          </a:xfrm>
          <a:prstGeom prst="line">
            <a:avLst/>
          </a:prstGeom>
          <a:noFill/>
          <a:ln w="9525">
            <a:solidFill>
              <a:srgbClr val="E1E7E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178040" y="4114800"/>
            <a:ext cx="3931920" cy="640080"/>
          </a:xfrm>
          <a:prstGeom prst="rect">
            <a:avLst/>
          </a:prstGeom>
          <a:solidFill>
            <a:srgbClr val="F3F6F9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7223760" y="4160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</a:t>
            </a:r>
            <a:endParaRPr lang="en-US" sz="750" dirty="0"/>
          </a:p>
        </p:txBody>
      </p:sp>
      <p:sp>
        <p:nvSpPr>
          <p:cNvPr id="58" name="Text 56"/>
          <p:cNvSpPr txBox="1"/>
          <p:nvPr/>
        </p:nvSpPr>
        <p:spPr>
          <a:xfrm>
            <a:off x="7680960" y="41605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7635240" y="4133088"/>
            <a:ext cx="0" cy="603504"/>
          </a:xfrm>
          <a:prstGeom prst="line">
            <a:avLst/>
          </a:prstGeom>
          <a:noFill/>
          <a:ln w="9525">
            <a:solidFill>
              <a:srgbClr val="E1E7EE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9784080" y="4160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9738360" y="4133088"/>
            <a:ext cx="0" cy="603504"/>
          </a:xfrm>
          <a:prstGeom prst="line">
            <a:avLst/>
          </a:prstGeom>
          <a:noFill/>
          <a:ln w="9525">
            <a:solidFill>
              <a:srgbClr val="E1E7EE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10332720" y="41605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APPR.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10287000" y="4133088"/>
            <a:ext cx="0" cy="603504"/>
          </a:xfrm>
          <a:prstGeom prst="line">
            <a:avLst/>
          </a:prstGeom>
          <a:noFill/>
          <a:ln w="9525">
            <a:solidFill>
              <a:srgbClr val="E1E7E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196328" y="4407408"/>
            <a:ext cx="3895344" cy="0"/>
          </a:xfrm>
          <a:prstGeom prst="line">
            <a:avLst/>
          </a:prstGeom>
          <a:noFill/>
          <a:ln w="6350">
            <a:solidFill>
              <a:srgbClr val="E1E7E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178040" y="4754880"/>
            <a:ext cx="3931920" cy="914400"/>
          </a:xfrm>
          <a:prstGeom prst="rect">
            <a:avLst/>
          </a:prstGeom>
          <a:solidFill>
            <a:srgbClr val="F3F6F9"/>
          </a:solidFill>
          <a:ln w="15875">
            <a:solidFill>
              <a:srgbClr val="0F2942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7269480" y="480974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 / PART NAME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7178040" y="5138928"/>
            <a:ext cx="3931920" cy="0"/>
          </a:xfrm>
          <a:prstGeom prst="line">
            <a:avLst/>
          </a:prstGeom>
          <a:noFill/>
          <a:ln w="9525">
            <a:solidFill>
              <a:srgbClr val="0F2942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7214616" y="5193792"/>
            <a:ext cx="9098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DRAWN BY / DATE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8161020" y="5138928"/>
            <a:ext cx="0" cy="530352"/>
          </a:xfrm>
          <a:prstGeom prst="line">
            <a:avLst/>
          </a:prstGeom>
          <a:noFill/>
          <a:ln w="9525">
            <a:solidFill>
              <a:srgbClr val="E1E7EE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8197596" y="5193792"/>
            <a:ext cx="9098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9144000" y="5138928"/>
            <a:ext cx="0" cy="530352"/>
          </a:xfrm>
          <a:prstGeom prst="line">
            <a:avLst/>
          </a:prstGeom>
          <a:noFill/>
          <a:ln w="9525">
            <a:solidFill>
              <a:srgbClr val="E1E7EE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9180576" y="5193792"/>
            <a:ext cx="9098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10126980" y="5138928"/>
            <a:ext cx="0" cy="530352"/>
          </a:xfrm>
          <a:prstGeom prst="line">
            <a:avLst/>
          </a:prstGeom>
          <a:noFill/>
          <a:ln w="9525">
            <a:solidFill>
              <a:srgbClr val="E1E7EE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10163556" y="5193792"/>
            <a:ext cx="9098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DWG NO. / SHEET</a:t>
            </a:r>
            <a:endParaRPr lang="en-US" sz="700" dirty="0"/>
          </a:p>
        </p:txBody>
      </p:sp>
      <p:sp>
        <p:nvSpPr>
          <p:cNvPr id="75" name="Text 73"/>
          <p:cNvSpPr txBox="1"/>
          <p:nvPr/>
        </p:nvSpPr>
        <p:spPr>
          <a:xfrm>
            <a:off x="502920" y="6016752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blank sheet layout — every real drawing fills these same zones with the part's views, dimensions, and notes.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Tolerancing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part is made to an exact dimension — tolerancing states how much variation is acceptable so parts still fit and function.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719072"/>
            <a:ext cx="1288161" cy="1115568"/>
          </a:xfrm>
          <a:prstGeom prst="roundRect">
            <a:avLst>
              <a:gd name="adj" fmla="val 5738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810512"/>
            <a:ext cx="128816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⌀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176272"/>
            <a:ext cx="11967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Diameter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578608"/>
            <a:ext cx="119672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⌀25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19097" y="1719072"/>
            <a:ext cx="1288161" cy="1115568"/>
          </a:xfrm>
          <a:prstGeom prst="roundRect">
            <a:avLst>
              <a:gd name="adj" fmla="val 5738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919097" y="1810512"/>
            <a:ext cx="128816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964817" y="2176272"/>
            <a:ext cx="11967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Radius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964817" y="2578608"/>
            <a:ext cx="119672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35274" y="1719072"/>
            <a:ext cx="1288161" cy="1115568"/>
          </a:xfrm>
          <a:prstGeom prst="roundRect">
            <a:avLst>
              <a:gd name="adj" fmla="val 5738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35274" y="1810512"/>
            <a:ext cx="128816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3380994" y="2176272"/>
            <a:ext cx="11967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Plus/Minus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3380994" y="2578608"/>
            <a:ext cx="119672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±0.01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1451" y="1719072"/>
            <a:ext cx="1288161" cy="1115568"/>
          </a:xfrm>
          <a:prstGeom prst="roundRect">
            <a:avLst>
              <a:gd name="adj" fmla="val 5738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51451" y="1810512"/>
            <a:ext cx="128816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4797171" y="2176272"/>
            <a:ext cx="11967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797171" y="2578608"/>
            <a:ext cx="119672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SQ20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67628" y="1719072"/>
            <a:ext cx="1288161" cy="1115568"/>
          </a:xfrm>
          <a:prstGeom prst="roundRect">
            <a:avLst>
              <a:gd name="adj" fmla="val 5738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167628" y="1810512"/>
            <a:ext cx="128816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6213348" y="2176272"/>
            <a:ext cx="11967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Spherical Radius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6213348" y="2578608"/>
            <a:ext cx="119672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SR10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583805" y="1719072"/>
            <a:ext cx="1288161" cy="1115568"/>
          </a:xfrm>
          <a:prstGeom prst="roundRect">
            <a:avLst>
              <a:gd name="adj" fmla="val 5738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583805" y="1810512"/>
            <a:ext cx="128816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°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7629525" y="2176272"/>
            <a:ext cx="11967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Degrees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7629525" y="2578608"/>
            <a:ext cx="119672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45°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999982" y="1719072"/>
            <a:ext cx="1288161" cy="1115568"/>
          </a:xfrm>
          <a:prstGeom prst="roundRect">
            <a:avLst>
              <a:gd name="adj" fmla="val 5738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415463" y="1837944"/>
            <a:ext cx="457200" cy="256032"/>
          </a:xfrm>
          <a:prstGeom prst="rect">
            <a:avLst/>
          </a:prstGeom>
          <a:ln w="1905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415463" y="183794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045702" y="2176272"/>
            <a:ext cx="11967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Dimension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9045702" y="2578608"/>
            <a:ext cx="119672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[25]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0416159" y="1719072"/>
            <a:ext cx="1288161" cy="1115568"/>
          </a:xfrm>
          <a:prstGeom prst="roundRect">
            <a:avLst>
              <a:gd name="adj" fmla="val 5738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416159" y="1810512"/>
            <a:ext cx="128816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 )</a:t>
            </a:r>
            <a:endParaRPr lang="en-US" sz="2000" dirty="0"/>
          </a:p>
        </p:txBody>
      </p:sp>
      <p:sp>
        <p:nvSpPr>
          <p:cNvPr id="38" name="Text 36"/>
          <p:cNvSpPr txBox="1"/>
          <p:nvPr/>
        </p:nvSpPr>
        <p:spPr>
          <a:xfrm>
            <a:off x="10461879" y="2176272"/>
            <a:ext cx="11967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Dim.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0461879" y="2578608"/>
            <a:ext cx="119672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(25)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02920" y="3017520"/>
            <a:ext cx="3611880" cy="1572768"/>
          </a:xfrm>
          <a:prstGeom prst="roundRect">
            <a:avLst>
              <a:gd name="adj" fmla="val 4070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94360" y="309067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 Dimensions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640080" y="336499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1.253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2034540" y="3639312"/>
            <a:ext cx="548640" cy="0"/>
          </a:xfrm>
          <a:prstGeom prst="line">
            <a:avLst/>
          </a:prstGeom>
          <a:noFill/>
          <a:ln w="12700">
            <a:solidFill>
              <a:srgbClr val="0F294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40080" y="365760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1.247</a:t>
            </a:r>
            <a:endParaRPr lang="en-US" sz="1250" dirty="0"/>
          </a:p>
        </p:txBody>
      </p:sp>
      <p:sp>
        <p:nvSpPr>
          <p:cNvPr id="45" name="Text 43"/>
          <p:cNvSpPr txBox="1"/>
          <p:nvPr/>
        </p:nvSpPr>
        <p:spPr>
          <a:xfrm>
            <a:off x="612648" y="4261104"/>
            <a:ext cx="33924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limit over low limit — no math on the shop floor</a:t>
            </a:r>
            <a:endParaRPr lang="en-US" sz="780" dirty="0"/>
          </a:p>
        </p:txBody>
      </p:sp>
      <p:sp>
        <p:nvSpPr>
          <p:cNvPr id="46" name="Shape 44"/>
          <p:cNvSpPr/>
          <p:nvPr/>
        </p:nvSpPr>
        <p:spPr>
          <a:xfrm>
            <a:off x="4297680" y="3017520"/>
            <a:ext cx="3611880" cy="1572768"/>
          </a:xfrm>
          <a:prstGeom prst="roundRect">
            <a:avLst>
              <a:gd name="adj" fmla="val 4070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389120" y="309067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Plus/Minus Tolerance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5417820" y="3364992"/>
            <a:ext cx="0" cy="219456"/>
          </a:xfrm>
          <a:prstGeom prst="line">
            <a:avLst/>
          </a:prstGeom>
          <a:noFill/>
          <a:ln w="9525">
            <a:solidFill>
              <a:srgbClr val="8592A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789420" y="3364992"/>
            <a:ext cx="0" cy="219456"/>
          </a:xfrm>
          <a:prstGeom prst="line">
            <a:avLst/>
          </a:prstGeom>
          <a:noFill/>
          <a:ln w="9525">
            <a:solidFill>
              <a:srgbClr val="8592A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417820" y="3584448"/>
            <a:ext cx="1371600" cy="0"/>
          </a:xfrm>
          <a:prstGeom prst="line">
            <a:avLst/>
          </a:prstGeom>
          <a:noFill/>
          <a:ln w="15875">
            <a:solidFill>
              <a:srgbClr val="0F2942"/>
            </a:solidFill>
            <a:prstDash val="solid"/>
            <a:headEnd type="triangle"/>
            <a:tailEnd type="triangle"/>
          </a:ln>
        </p:spPr>
      </p:sp>
      <p:sp>
        <p:nvSpPr>
          <p:cNvPr id="51" name="Text 49"/>
          <p:cNvSpPr txBox="1"/>
          <p:nvPr/>
        </p:nvSpPr>
        <p:spPr>
          <a:xfrm>
            <a:off x="4434840" y="369417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1.250 ±0.003</a:t>
            </a:r>
            <a:endParaRPr lang="en-US" sz="1250" dirty="0"/>
          </a:p>
        </p:txBody>
      </p:sp>
      <p:sp>
        <p:nvSpPr>
          <p:cNvPr id="52" name="Text 50"/>
          <p:cNvSpPr txBox="1"/>
          <p:nvPr/>
        </p:nvSpPr>
        <p:spPr>
          <a:xfrm>
            <a:off x="4407408" y="4261104"/>
            <a:ext cx="33924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 shown; unilateral: +0.005 / −0.000</a:t>
            </a:r>
            <a:endParaRPr lang="en-US" sz="780" dirty="0"/>
          </a:p>
        </p:txBody>
      </p:sp>
      <p:sp>
        <p:nvSpPr>
          <p:cNvPr id="53" name="Shape 51"/>
          <p:cNvSpPr/>
          <p:nvPr/>
        </p:nvSpPr>
        <p:spPr>
          <a:xfrm>
            <a:off x="8092440" y="3017520"/>
            <a:ext cx="3611880" cy="1572768"/>
          </a:xfrm>
          <a:prstGeom prst="roundRect">
            <a:avLst>
              <a:gd name="adj" fmla="val 4070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183880" y="309067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GD&amp;T Callout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9194292" y="3401568"/>
            <a:ext cx="347472" cy="329184"/>
          </a:xfrm>
          <a:prstGeom prst="rect">
            <a:avLst/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285732" y="3483864"/>
            <a:ext cx="164592" cy="164592"/>
          </a:xfrm>
          <a:prstGeom prst="ellipse">
            <a:avLst/>
          </a:prstGeom>
          <a:ln w="19050">
            <a:solidFill>
              <a:srgbClr val="0F294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252814" y="3566160"/>
            <a:ext cx="230429" cy="0"/>
          </a:xfrm>
          <a:prstGeom prst="line">
            <a:avLst/>
          </a:prstGeom>
          <a:noFill/>
          <a:ln w="19050">
            <a:solidFill>
              <a:srgbClr val="0F294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368028" y="3450946"/>
            <a:ext cx="0" cy="230429"/>
          </a:xfrm>
          <a:prstGeom prst="line">
            <a:avLst/>
          </a:prstGeom>
          <a:noFill/>
          <a:ln w="19050">
            <a:solidFill>
              <a:srgbClr val="0F294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541764" y="3401568"/>
            <a:ext cx="713232" cy="329184"/>
          </a:xfrm>
          <a:prstGeom prst="rect">
            <a:avLst/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9541764" y="3401568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⌀0.10 Ⓜ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10254996" y="3401568"/>
            <a:ext cx="347472" cy="329184"/>
          </a:xfrm>
          <a:prstGeom prst="rect">
            <a:avLst/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10254996" y="3401568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50" dirty="0"/>
          </a:p>
        </p:txBody>
      </p:sp>
      <p:sp>
        <p:nvSpPr>
          <p:cNvPr id="63" name="Text 61"/>
          <p:cNvSpPr txBox="1"/>
          <p:nvPr/>
        </p:nvSpPr>
        <p:spPr>
          <a:xfrm>
            <a:off x="8202168" y="4261104"/>
            <a:ext cx="33924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position, ⌀0.10 at MMC, to datum A</a:t>
            </a:r>
            <a:endParaRPr lang="en-US" sz="780" dirty="0"/>
          </a:p>
        </p:txBody>
      </p:sp>
      <p:sp>
        <p:nvSpPr>
          <p:cNvPr id="64" name="Shape 62"/>
          <p:cNvSpPr/>
          <p:nvPr/>
        </p:nvSpPr>
        <p:spPr>
          <a:xfrm>
            <a:off x="502920" y="4773168"/>
            <a:ext cx="3611880" cy="1572768"/>
          </a:xfrm>
          <a:prstGeom prst="roundRect">
            <a:avLst>
              <a:gd name="adj" fmla="val 4070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594360" y="484632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 Fit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2089404" y="5148072"/>
            <a:ext cx="438912" cy="43891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294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116836" y="5175504"/>
            <a:ext cx="384048" cy="384048"/>
          </a:xfrm>
          <a:prstGeom prst="ellipse">
            <a:avLst/>
          </a:prstGeom>
          <a:ln w="19050">
            <a:solidFill>
              <a:srgbClr val="7C3AED"/>
            </a:solidFill>
            <a:prstDash val="dash"/>
          </a:ln>
        </p:spPr>
      </p:sp>
      <p:sp>
        <p:nvSpPr>
          <p:cNvPr id="68" name="Text 66"/>
          <p:cNvSpPr txBox="1"/>
          <p:nvPr/>
        </p:nvSpPr>
        <p:spPr>
          <a:xfrm>
            <a:off x="640080" y="56692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⌀25 H7/p6</a:t>
            </a:r>
            <a:endParaRPr lang="en-US" sz="1250" dirty="0"/>
          </a:p>
        </p:txBody>
      </p:sp>
      <p:sp>
        <p:nvSpPr>
          <p:cNvPr id="69" name="Text 67"/>
          <p:cNvSpPr txBox="1"/>
          <p:nvPr/>
        </p:nvSpPr>
        <p:spPr>
          <a:xfrm>
            <a:off x="612648" y="6016752"/>
            <a:ext cx="33924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gap — press or light-tap assembly (interference)</a:t>
            </a:r>
            <a:endParaRPr lang="en-US" sz="780" dirty="0"/>
          </a:p>
        </p:txBody>
      </p:sp>
      <p:sp>
        <p:nvSpPr>
          <p:cNvPr id="70" name="Shape 68"/>
          <p:cNvSpPr/>
          <p:nvPr/>
        </p:nvSpPr>
        <p:spPr>
          <a:xfrm>
            <a:off x="4297680" y="4773168"/>
            <a:ext cx="3611880" cy="1572768"/>
          </a:xfrm>
          <a:prstGeom prst="roundRect">
            <a:avLst>
              <a:gd name="adj" fmla="val 4070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4389120" y="484632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Loose Fit</a:t>
            </a:r>
            <a:endParaRPr lang="en-US" sz="1150" dirty="0"/>
          </a:p>
        </p:txBody>
      </p:sp>
      <p:sp>
        <p:nvSpPr>
          <p:cNvPr id="72" name="Shape 70"/>
          <p:cNvSpPr/>
          <p:nvPr/>
        </p:nvSpPr>
        <p:spPr>
          <a:xfrm>
            <a:off x="5856732" y="5120640"/>
            <a:ext cx="493776" cy="49377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294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984748" y="5248656"/>
            <a:ext cx="237744" cy="237744"/>
          </a:xfrm>
          <a:prstGeom prst="ellipse">
            <a:avLst/>
          </a:prstGeom>
          <a:ln w="19050">
            <a:solidFill>
              <a:srgbClr val="7C3AED"/>
            </a:solidFill>
            <a:prstDash val="dash"/>
          </a:ln>
        </p:spPr>
      </p:sp>
      <p:sp>
        <p:nvSpPr>
          <p:cNvPr id="74" name="Text 72"/>
          <p:cNvSpPr txBox="1"/>
          <p:nvPr/>
        </p:nvSpPr>
        <p:spPr>
          <a:xfrm>
            <a:off x="4434840" y="56692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⌀25 H11/c11</a:t>
            </a:r>
            <a:endParaRPr lang="en-US" sz="1250" dirty="0"/>
          </a:p>
        </p:txBody>
      </p:sp>
      <p:sp>
        <p:nvSpPr>
          <p:cNvPr id="75" name="Text 73"/>
          <p:cNvSpPr txBox="1"/>
          <p:nvPr/>
        </p:nvSpPr>
        <p:spPr>
          <a:xfrm>
            <a:off x="4407408" y="6016752"/>
            <a:ext cx="33924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gap — free-running clearance, easy to assemble</a:t>
            </a:r>
            <a:endParaRPr lang="en-US" sz="780" dirty="0"/>
          </a:p>
        </p:txBody>
      </p:sp>
      <p:sp>
        <p:nvSpPr>
          <p:cNvPr id="76" name="Shape 74"/>
          <p:cNvSpPr/>
          <p:nvPr/>
        </p:nvSpPr>
        <p:spPr>
          <a:xfrm>
            <a:off x="8092440" y="4773168"/>
            <a:ext cx="3611880" cy="1572768"/>
          </a:xfrm>
          <a:prstGeom prst="roundRect">
            <a:avLst>
              <a:gd name="adj" fmla="val 4070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8183880" y="484632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Surface Finish</a:t>
            </a:r>
            <a:endParaRPr lang="en-US" sz="1150" dirty="0"/>
          </a:p>
        </p:txBody>
      </p:sp>
      <p:sp>
        <p:nvSpPr>
          <p:cNvPr id="78" name="Shape 76"/>
          <p:cNvSpPr/>
          <p:nvPr/>
        </p:nvSpPr>
        <p:spPr>
          <a:xfrm>
            <a:off x="9432036" y="5522976"/>
            <a:ext cx="146304" cy="146304"/>
          </a:xfrm>
          <a:prstGeom prst="line">
            <a:avLst/>
          </a:prstGeom>
          <a:noFill/>
          <a:ln w="22225">
            <a:solidFill>
              <a:srgbClr val="0F294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9578340" y="5669280"/>
            <a:ext cx="182880" cy="-420624"/>
          </a:xfrm>
          <a:prstGeom prst="line">
            <a:avLst/>
          </a:prstGeom>
          <a:noFill/>
          <a:ln w="22225">
            <a:solidFill>
              <a:srgbClr val="0F2942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9797796" y="5120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 1.6</a:t>
            </a:r>
            <a:endParaRPr lang="en-US" sz="1250" dirty="0"/>
          </a:p>
        </p:txBody>
      </p:sp>
      <p:sp>
        <p:nvSpPr>
          <p:cNvPr id="81" name="Text 79"/>
          <p:cNvSpPr txBox="1"/>
          <p:nvPr/>
        </p:nvSpPr>
        <p:spPr>
          <a:xfrm>
            <a:off x="8202168" y="6016752"/>
            <a:ext cx="33924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roughness average (µin/µm) — smaller number = smoother surface</a:t>
            </a:r>
            <a:endParaRPr lang="en-US" sz="78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 Software Configuration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output comes from configured software, not from fixing every file by hand.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2011680"/>
            <a:ext cx="5472684" cy="1225296"/>
          </a:xfrm>
          <a:prstGeom prst="roundRect">
            <a:avLst>
              <a:gd name="adj" fmla="val 5970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7512" y="2157984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67512" y="2157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61288" y="2121408"/>
            <a:ext cx="4649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67512" y="2578608"/>
            <a:ext cx="51435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part, assembly, drawing templates with the right units, standard, title block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31636" y="2011680"/>
            <a:ext cx="5472684" cy="1225296"/>
          </a:xfrm>
          <a:prstGeom prst="roundRect">
            <a:avLst>
              <a:gd name="adj" fmla="val 5970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96228" y="2157984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96228" y="2157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890004" y="2121408"/>
            <a:ext cx="4649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properties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396228" y="2578608"/>
            <a:ext cx="51435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units, dimensioning standard (ASME/ISO), grid, layers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3438144"/>
            <a:ext cx="5472684" cy="1225296"/>
          </a:xfrm>
          <a:prstGeom prst="roundRect">
            <a:avLst>
              <a:gd name="adj" fmla="val 5970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7512" y="3584448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7512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161288" y="3547872"/>
            <a:ext cx="4649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properties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" y="4005072"/>
            <a:ext cx="51435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metadata that auto-populates the title block and BOM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31636" y="3438144"/>
            <a:ext cx="5472684" cy="1225296"/>
          </a:xfrm>
          <a:prstGeom prst="roundRect">
            <a:avLst>
              <a:gd name="adj" fmla="val 5970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96228" y="3584448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396228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890004" y="3547872"/>
            <a:ext cx="4649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management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396228" y="4005072"/>
            <a:ext cx="51435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naming, folder structure, keeping references intact</a:t>
            </a:r>
            <a:endParaRPr lang="en-US" sz="12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CAD/CAM Data Translation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a model between systems means exporting to a neutral format — each keeps some information and loses the rest.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2011680"/>
            <a:ext cx="3550920" cy="2377440"/>
          </a:xfrm>
          <a:prstGeom prst="roundRect">
            <a:avLst>
              <a:gd name="adj" fmla="val 3077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176272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Solid exchange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704088" y="2578608"/>
            <a:ext cx="3148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(AP203/214/242), IGES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04088" y="2944368"/>
            <a:ext cx="314858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preserved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 feature history is not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28160" y="2011680"/>
            <a:ext cx="3550920" cy="2377440"/>
          </a:xfrm>
          <a:prstGeom prst="roundRect">
            <a:avLst>
              <a:gd name="adj" fmla="val 3077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29328" y="2176272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Kernel formats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4529328" y="2578608"/>
            <a:ext cx="3148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Parasolid, ACIS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529328" y="2944368"/>
            <a:ext cx="314858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between packages sharing a modeling kernel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53400" y="2011680"/>
            <a:ext cx="3550920" cy="2377440"/>
          </a:xfrm>
          <a:prstGeom prst="roundRect">
            <a:avLst>
              <a:gd name="adj" fmla="val 3077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54568" y="2176272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Mesh formats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8354568" y="2578608"/>
            <a:ext cx="3148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STL, 3MF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354568" y="2944368"/>
            <a:ext cx="314858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Faceted surface, no true curves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set at export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4572000"/>
            <a:ext cx="11201400" cy="685800"/>
          </a:xfrm>
          <a:prstGeom prst="roundRect">
            <a:avLst>
              <a:gd name="adj" fmla="val 10667"/>
            </a:avLst>
          </a:prstGeom>
          <a:solidFill>
            <a:srgbClr val="F3F6F9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4681728"/>
            <a:ext cx="107442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or corrupted faces, gaps requiring geometry healing, and unit-scale errors are the common translation issues.</a:t>
            </a:r>
            <a:endParaRPr lang="en-US" sz="1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2 Wrap-Up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Freedom in modeling, discipline in documentation — how you build the part stays open-ended; the drawing follows shared conventions (ASME Y14.5, ISO) so anyone can read it.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3563112" cy="2194560"/>
          </a:xfrm>
          <a:prstGeom prst="roundRect">
            <a:avLst>
              <a:gd name="adj" fmla="val 3333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7512" y="2295144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67512" y="2295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61288" y="2258568"/>
            <a:ext cx="274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Documentation-ready drawing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67512" y="2715768"/>
            <a:ext cx="3233928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&amp; auxiliary views, complete title block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22064" y="2148840"/>
            <a:ext cx="3563112" cy="2194560"/>
          </a:xfrm>
          <a:prstGeom prst="roundRect">
            <a:avLst>
              <a:gd name="adj" fmla="val 3333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6656" y="2295144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486656" y="2295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980432" y="2258568"/>
            <a:ext cx="274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&amp; fastener callouts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486656" y="2715768"/>
            <a:ext cx="3233928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dimensional tolerances applied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41208" y="2148840"/>
            <a:ext cx="3563112" cy="2194560"/>
          </a:xfrm>
          <a:prstGeom prst="roundRect">
            <a:avLst>
              <a:gd name="adj" fmla="val 3333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05800" y="2295144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05800" y="2295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799576" y="2258568"/>
            <a:ext cx="274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templates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305800" y="2715768"/>
            <a:ext cx="3233928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 clean, translated model export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02920" y="5532120"/>
            <a:ext cx="11201400" cy="868680"/>
          </a:xfrm>
          <a:prstGeom prst="roundRect">
            <a:avLst>
              <a:gd name="adj" fmla="val 10526"/>
            </a:avLst>
          </a:prstGeom>
          <a:solidFill>
            <a:srgbClr val="F3F6F9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5751576"/>
            <a:ext cx="420624" cy="42062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13232" y="5751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5623560"/>
            <a:ext cx="10195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produce: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detailed production drawing with section &amp; auxiliary views, fastener callouts, tolerances, plus a correctly configured template and clean export.   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by: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Quiz (Week 10) and the corresponding portfolio modules.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17904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76856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35808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94760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53712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12664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71616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30568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89520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48472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07424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866376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25328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143232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758952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1517904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2276856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035808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3794760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4553712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5312664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6071616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6830568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955280" y="365760"/>
            <a:ext cx="3931920" cy="612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b="1" dirty="0">
                <a:solidFill>
                  <a:srgbClr val="0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0" dirty="0"/>
          </a:p>
        </p:txBody>
      </p:sp>
      <p:sp>
        <p:nvSpPr>
          <p:cNvPr id="28" name="Shape 26"/>
          <p:cNvSpPr/>
          <p:nvPr/>
        </p:nvSpPr>
        <p:spPr>
          <a:xfrm>
            <a:off x="685800" y="731520"/>
            <a:ext cx="2359152" cy="420624"/>
          </a:xfrm>
          <a:prstGeom prst="roundRect">
            <a:avLst>
              <a:gd name="adj" fmla="val 50000"/>
            </a:avLst>
          </a:prstGeom>
          <a:solidFill>
            <a:srgbClr val="1E9E5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85800" y="731520"/>
            <a:ext cx="2359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· WEEKS 11–13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85800" y="2331720"/>
            <a:ext cx="8778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for Assembly</a:t>
            </a:r>
            <a:endParaRPr lang="en-US" sz="40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" y="36118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part models into working assemblies, document them, and design them to be quick and cheap to put together.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685800" y="5806440"/>
            <a:ext cx="1828800" cy="438912"/>
          </a:xfrm>
          <a:prstGeom prst="roundRect">
            <a:avLst>
              <a:gd name="adj" fmla="val 20833"/>
            </a:avLst>
          </a:prstGeom>
          <a:solidFill>
            <a:srgbClr val="16324F"/>
          </a:solidFill>
          <a:ln w="12700">
            <a:solidFill>
              <a:srgbClr val="1E9E5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5800" y="58064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IN WEEK 13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1E9E5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Parts to Systems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relationship repeats at every scale: individual parts mate into a component, components combine into an assembly, and assemblies combine into a complete system.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pic>
        <p:nvPicPr>
          <p:cNvPr id="7" name="Image 0" descr="/tmp/mech151_deck/images/30_assembly_hierarch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437528"/>
            <a:ext cx="11201400" cy="298878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6007608"/>
            <a:ext cx="11201400" cy="640080"/>
          </a:xfrm>
          <a:prstGeom prst="roundRect">
            <a:avLst>
              <a:gd name="adj" fmla="val 11429"/>
            </a:avLst>
          </a:prstGeom>
          <a:solidFill>
            <a:srgbClr val="F3F6F9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6117336"/>
            <a:ext cx="10744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break it down: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how large, complicated systems stay manageable — a vehicle or an instrument is never modeled as one flat list of thousands of parts. It's a tree of assemblies, each one a self-contained, testable unit.</a:t>
            </a:r>
            <a:endParaRPr lang="en-US" sz="12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1E9E5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Assembly Modeling: Mates &amp; Constraints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assembly positions components relative to one another using mates — each removes degrees of freedom.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783080"/>
            <a:ext cx="2926080" cy="1508760"/>
          </a:xfrm>
          <a:prstGeom prst="roundRect">
            <a:avLst>
              <a:gd name="adj" fmla="val 6061"/>
            </a:avLst>
          </a:prstGeom>
          <a:solidFill>
            <a:srgbClr val="0F294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1892808"/>
            <a:ext cx="2926080" cy="8750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9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688336"/>
            <a:ext cx="2560320" cy="573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degrees of freedom a free rigid body has — mates remove them one axis at a time.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1783080"/>
            <a:ext cx="8001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3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component — 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part placed is fixed and becomes the ground the rest is built against</a:t>
            </a:r>
            <a:endParaRPr lang="en-US" sz="1350" dirty="0"/>
          </a:p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3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— 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leaving rotational or linear freedom on purpose so a mechanism can be moved and checked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02920" y="3474720"/>
            <a:ext cx="11201400" cy="2926080"/>
          </a:xfrm>
          <a:prstGeom prst="roundRect">
            <a:avLst>
              <a:gd name="adj" fmla="val 2188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pic>
        <p:nvPicPr>
          <p:cNvPr id="12" name="Image 0" descr="/tmp/mech151_deck/images/29_mate_typ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06765"/>
            <a:ext cx="10927080" cy="266199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1E9E5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Methods of Joining, Part 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two parts are held together is a design decision — choose deliberately, then design both parts to suit it.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783080"/>
            <a:ext cx="3581400" cy="4434840"/>
          </a:xfrm>
          <a:prstGeom prst="roundRect">
            <a:avLst>
              <a:gd name="adj" fmla="val 1787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7512" y="1929384"/>
            <a:ext cx="325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9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Threaded Fasteners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2221992"/>
            <a:ext cx="3252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tapped holes</a:t>
            </a:r>
            <a:endParaRPr lang="en-US" sz="950" dirty="0"/>
          </a:p>
        </p:txBody>
      </p:sp>
      <p:pic>
        <p:nvPicPr>
          <p:cNvPr id="10" name="Image 0" descr="/tmp/mech151_deck/images/22_threaded_faste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804993"/>
            <a:ext cx="3252216" cy="217155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67512" y="5394960"/>
            <a:ext cx="3252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for metal-to-metal joints — strong, standard, and removable. Needs ~1.5–2× screw diameter of thread engagement plus tool access.</a:t>
            </a:r>
            <a:endParaRPr lang="en-US" sz="930" dirty="0"/>
          </a:p>
        </p:txBody>
      </p:sp>
      <p:sp>
        <p:nvSpPr>
          <p:cNvPr id="12" name="Shape 9"/>
          <p:cNvSpPr/>
          <p:nvPr/>
        </p:nvSpPr>
        <p:spPr>
          <a:xfrm>
            <a:off x="4312920" y="1783080"/>
            <a:ext cx="3581400" cy="4434840"/>
          </a:xfrm>
          <a:prstGeom prst="roundRect">
            <a:avLst>
              <a:gd name="adj" fmla="val 1787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477512" y="1929384"/>
            <a:ext cx="325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9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Heat-Set Inserts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477512" y="2221992"/>
            <a:ext cx="3252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plastic / 3D-printed parts</a:t>
            </a:r>
            <a:endParaRPr lang="en-US" sz="950" dirty="0"/>
          </a:p>
        </p:txBody>
      </p:sp>
      <p:pic>
        <p:nvPicPr>
          <p:cNvPr id="15" name="Image 1" descr="/tmp/mech151_deck/images/23_heat_set_inse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7512" y="2958533"/>
            <a:ext cx="3252216" cy="186447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477512" y="5394960"/>
            <a:ext cx="3252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brass insert is pressed into a boss with a soldering iron — melted plastic locks into its knurls, far more reusable than threading into plastic directly.</a:t>
            </a:r>
            <a:endParaRPr lang="en-US" sz="930" dirty="0"/>
          </a:p>
        </p:txBody>
      </p:sp>
      <p:sp>
        <p:nvSpPr>
          <p:cNvPr id="17" name="Shape 13"/>
          <p:cNvSpPr/>
          <p:nvPr/>
        </p:nvSpPr>
        <p:spPr>
          <a:xfrm>
            <a:off x="8122920" y="1783080"/>
            <a:ext cx="3581400" cy="4434840"/>
          </a:xfrm>
          <a:prstGeom prst="roundRect">
            <a:avLst>
              <a:gd name="adj" fmla="val 1787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287512" y="1929384"/>
            <a:ext cx="325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9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Snap-Fit Joints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8287512" y="2221992"/>
            <a:ext cx="3252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hardware, no tools</a:t>
            </a:r>
            <a:endParaRPr lang="en-US" sz="950" dirty="0"/>
          </a:p>
        </p:txBody>
      </p:sp>
      <p:pic>
        <p:nvPicPr>
          <p:cNvPr id="20" name="Image 2" descr="/tmp/mech151_deck/images/24_snap_fi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7512" y="2566838"/>
            <a:ext cx="3252216" cy="2647867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287512" y="5394960"/>
            <a:ext cx="3252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Cantilever, annular, and torsion snaps release or lock permanently depending on retention angle — design for allowable strain and a lead-in angle.</a:t>
            </a:r>
            <a:endParaRPr lang="en-US" sz="93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1E9E5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Methods of Joining, Part 2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86400" cy="2697480"/>
          </a:xfrm>
          <a:prstGeom prst="roundRect">
            <a:avLst>
              <a:gd name="adj" fmla="val 2373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5361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9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Press / Interference Fits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7830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7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by friction from a slight size mismatch between mating diameters — dowel pins, bushings, bearings. Cheap and precise, but hard to disassemble and tolerance-sensitive.</a:t>
            </a:r>
            <a:endParaRPr lang="en-US" sz="970" dirty="0"/>
          </a:p>
        </p:txBody>
      </p:sp>
      <p:pic>
        <p:nvPicPr>
          <p:cNvPr id="9" name="Image 0" descr="/tmp/mech151_deck/images/25_press_f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2252" y="2240280"/>
            <a:ext cx="1747736" cy="18288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17920" y="1417320"/>
            <a:ext cx="5486400" cy="2697480"/>
          </a:xfrm>
          <a:prstGeom prst="roundRect">
            <a:avLst>
              <a:gd name="adj" fmla="val 2373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0" y="15361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9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Compliant Mechanisms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400800" y="17830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7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or retention comes from the material's own flexibility — living hinges, flexure pivots, one-piece clips. Cuts part count to the extreme; limited travel and fatigue life.</a:t>
            </a:r>
            <a:endParaRPr lang="en-US" sz="970" dirty="0"/>
          </a:p>
        </p:txBody>
      </p:sp>
      <p:pic>
        <p:nvPicPr>
          <p:cNvPr id="13" name="Image 1" descr="/tmp/mech151_deck/images/26_compliant_hi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1563" y="2240280"/>
            <a:ext cx="3299114" cy="18288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02920" y="4242816"/>
            <a:ext cx="11201400" cy="1691640"/>
          </a:xfrm>
          <a:prstGeom prst="roundRect">
            <a:avLst>
              <a:gd name="adj" fmla="val 3784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85800" y="43525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9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Permanent Joints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3108960" y="435254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Adhesives, solvent/ultrasonic welding, and riveting — used only where the joint never needs to separate.</a:t>
            </a:r>
            <a:endParaRPr lang="en-US" sz="1000" dirty="0"/>
          </a:p>
        </p:txBody>
      </p:sp>
      <p:pic>
        <p:nvPicPr>
          <p:cNvPr id="17" name="Image 2" descr="/tmp/mech151_deck/images/27_permanent_joint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3034" y="4681728"/>
            <a:ext cx="4941172" cy="118872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502920" y="6044184"/>
            <a:ext cx="11201400" cy="502920"/>
          </a:xfrm>
          <a:prstGeom prst="roundRect">
            <a:avLst>
              <a:gd name="adj" fmla="val 14545"/>
            </a:avLst>
          </a:prstGeom>
          <a:solidFill>
            <a:srgbClr val="F3F6F9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731520" y="6153912"/>
            <a:ext cx="10744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DFA trade-off: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is universal and serviceable but adds parts, tools, and assembly time; snap-fits and compliant features add almost nothing to the parts list but must be designed carefully and are harder to revise once tooling is dialed in.</a:t>
            </a:r>
            <a:endParaRPr lang="en-US" sz="12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1E9E5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Online Component Repositories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not model a part you can download — this is normal professional practice, not a shortcut.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057400"/>
            <a:ext cx="112014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models come from —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McMaster-Carr (download STEP/native from almost any product page), manufacturer sites, TraceParts, GrabCAD, 3D ContentCentral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for DFA —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downloaded model is the real catalog part — correct dimensions and thread, a real part number for the BOM, at the price and lead time listed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them in cleanly —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in a dedicated library folder, don't edit their geometry, mate to them like any other component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before you trust —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units/scale on import, simplify heavy models, verify the part number matches what you intend to buy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1E9E5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Assembly Drawings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assembly drawing shows how parts go together — exploded, numbered, and tied to a parts list.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783080"/>
            <a:ext cx="5760720" cy="4434840"/>
          </a:xfrm>
          <a:prstGeom prst="roundRect">
            <a:avLst>
              <a:gd name="adj" fmla="val 1443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pic>
        <p:nvPicPr>
          <p:cNvPr id="8" name="Image 0" descr="/tmp/mech151_deck/images/28_exploded_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9380" y="1920240"/>
            <a:ext cx="3347800" cy="3840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31520" y="576072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Balloon numbers are assigned in assembly order and match the item numbers in the parts list at right.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492240" y="1783080"/>
            <a:ext cx="5212080" cy="4434840"/>
          </a:xfrm>
          <a:prstGeom prst="roundRect">
            <a:avLst>
              <a:gd name="adj" fmla="val 1443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720840" y="19659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9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 of Materials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6720840" y="2423160"/>
            <a:ext cx="4754880" cy="292608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775704" y="2423160"/>
            <a:ext cx="393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7278624" y="2423160"/>
            <a:ext cx="941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NO.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8330184" y="2423160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11027664" y="2423160"/>
            <a:ext cx="393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6775704" y="2715768"/>
            <a:ext cx="393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7278624" y="2715768"/>
            <a:ext cx="941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HW-0425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8330184" y="2715768"/>
            <a:ext cx="2587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 head cap screw, M4 × 12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11027664" y="2715768"/>
            <a:ext cx="393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720840" y="3191256"/>
            <a:ext cx="4754880" cy="0"/>
          </a:xfrm>
          <a:prstGeom prst="line">
            <a:avLst/>
          </a:prstGeom>
          <a:noFill/>
          <a:ln w="9525">
            <a:solidFill>
              <a:srgbClr val="E1E7E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720840" y="3191256"/>
            <a:ext cx="47548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775704" y="3191256"/>
            <a:ext cx="393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7278624" y="3191256"/>
            <a:ext cx="941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100-002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8330184" y="3191256"/>
            <a:ext cx="2587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plate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11027664" y="3191256"/>
            <a:ext cx="393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720840" y="3666744"/>
            <a:ext cx="4754880" cy="0"/>
          </a:xfrm>
          <a:prstGeom prst="line">
            <a:avLst/>
          </a:prstGeom>
          <a:noFill/>
          <a:ln w="9525">
            <a:solidFill>
              <a:srgbClr val="E1E7E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775704" y="3666744"/>
            <a:ext cx="393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7278624" y="3666744"/>
            <a:ext cx="941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100-003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8330184" y="3666744"/>
            <a:ext cx="2587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Gasket, silicone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11027664" y="3666744"/>
            <a:ext cx="393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6720840" y="4142232"/>
            <a:ext cx="4754880" cy="0"/>
          </a:xfrm>
          <a:prstGeom prst="line">
            <a:avLst/>
          </a:prstGeom>
          <a:noFill/>
          <a:ln w="9525">
            <a:solidFill>
              <a:srgbClr val="E1E7EE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720840" y="4142232"/>
            <a:ext cx="47548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6775704" y="4142232"/>
            <a:ext cx="393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7278624" y="4142232"/>
            <a:ext cx="941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100-001</a:t>
            </a:r>
            <a:endParaRPr lang="en-US" sz="1050" dirty="0"/>
          </a:p>
        </p:txBody>
      </p:sp>
      <p:sp>
        <p:nvSpPr>
          <p:cNvPr id="36" name="Text 33"/>
          <p:cNvSpPr txBox="1"/>
          <p:nvPr/>
        </p:nvSpPr>
        <p:spPr>
          <a:xfrm>
            <a:off x="8330184" y="4142232"/>
            <a:ext cx="2587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(base)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11027664" y="4142232"/>
            <a:ext cx="393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6720840" y="4617720"/>
            <a:ext cx="4754880" cy="0"/>
          </a:xfrm>
          <a:prstGeom prst="line">
            <a:avLst/>
          </a:prstGeom>
          <a:noFill/>
          <a:ln w="9525">
            <a:solidFill>
              <a:srgbClr val="E1E7EE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720840" y="2423160"/>
            <a:ext cx="4754880" cy="2194560"/>
          </a:xfrm>
          <a:prstGeom prst="rect">
            <a:avLst/>
          </a:prstGeom>
          <a:ln w="12700">
            <a:solidFill>
              <a:srgbClr val="0F2942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720840" y="484632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CAD, this table is generated directly from the assembly and stays linked — edit the model and the parts list updates automatically.</a:t>
            </a:r>
            <a:endParaRPr lang="en-US" sz="10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1E9E5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for Assembly (DFA) Principles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parts, easier insertion, less to get wrong on the line — DFA turns assembly time into a design variable.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2057400"/>
            <a:ext cx="5472684" cy="1431036"/>
          </a:xfrm>
          <a:prstGeom prst="roundRect">
            <a:avLst>
              <a:gd name="adj" fmla="val 5112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7512" y="2203704"/>
            <a:ext cx="384048" cy="384048"/>
          </a:xfrm>
          <a:prstGeom prst="ellipse">
            <a:avLst/>
          </a:prstGeom>
          <a:solidFill>
            <a:srgbClr val="1E9E5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67512" y="2203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61288" y="2167128"/>
            <a:ext cx="4649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part count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67512" y="2624328"/>
            <a:ext cx="5143500" cy="772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 is a candidate for elimination unless it moves, needs a different material, or must be removable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31636" y="2057400"/>
            <a:ext cx="5472684" cy="1431036"/>
          </a:xfrm>
          <a:prstGeom prst="roundRect">
            <a:avLst>
              <a:gd name="adj" fmla="val 5112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96228" y="2203704"/>
            <a:ext cx="384048" cy="384048"/>
          </a:xfrm>
          <a:prstGeom prst="ellipse">
            <a:avLst/>
          </a:prstGeom>
          <a:solidFill>
            <a:srgbClr val="1E9E5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96228" y="2203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890004" y="2167128"/>
            <a:ext cx="4649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off-the-shelf parts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396228" y="2624328"/>
            <a:ext cx="5143500" cy="772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cheaper, faster, and more reliable than custom-fabricated — see the online repositories slide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3689604"/>
            <a:ext cx="5472684" cy="1431036"/>
          </a:xfrm>
          <a:prstGeom prst="roundRect">
            <a:avLst>
              <a:gd name="adj" fmla="val 5112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7512" y="3835908"/>
            <a:ext cx="384048" cy="384048"/>
          </a:xfrm>
          <a:prstGeom prst="ellipse">
            <a:avLst/>
          </a:prstGeom>
          <a:solidFill>
            <a:srgbClr val="1E9E5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7512" y="38359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161288" y="3799332"/>
            <a:ext cx="4649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insertion &amp; no reorientation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" y="4256532"/>
            <a:ext cx="5143500" cy="772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chamfers and self-locating features, assembling from one direction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31636" y="3689604"/>
            <a:ext cx="5472684" cy="1431036"/>
          </a:xfrm>
          <a:prstGeom prst="roundRect">
            <a:avLst>
              <a:gd name="adj" fmla="val 5112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96228" y="3835908"/>
            <a:ext cx="384048" cy="384048"/>
          </a:xfrm>
          <a:prstGeom prst="ellipse">
            <a:avLst/>
          </a:prstGeom>
          <a:solidFill>
            <a:srgbClr val="1E9E5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396228" y="38359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890004" y="3799332"/>
            <a:ext cx="4649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fasteners &amp; use symmetry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396228" y="4256532"/>
            <a:ext cx="5143500" cy="772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unique sizes to stock and pick; make orientation obvious or irrelevant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02920" y="5257800"/>
            <a:ext cx="11201400" cy="868680"/>
          </a:xfrm>
          <a:prstGeom prst="roundRect">
            <a:avLst>
              <a:gd name="adj" fmla="val 8421"/>
            </a:avLst>
          </a:prstGeom>
          <a:solidFill>
            <a:srgbClr val="F3F6F9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1520" y="5367528"/>
            <a:ext cx="10744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review &amp; iteration: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 ends with a design review workshop — present an assembly, take feedback against the DFA principles, and produce a documented revision with a measurable improvement.</a:t>
            </a:r>
            <a:endParaRPr lang="en-US" sz="12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1E9E5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3 Wrap-Up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3563112" cy="1920240"/>
          </a:xfrm>
          <a:prstGeom prst="roundRect">
            <a:avLst>
              <a:gd name="adj" fmla="val 3810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7512" y="2157984"/>
            <a:ext cx="384048" cy="384048"/>
          </a:xfrm>
          <a:prstGeom prst="ellipse">
            <a:avLst/>
          </a:prstGeom>
          <a:solidFill>
            <a:srgbClr val="1E9E5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7512" y="2157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61288" y="2121408"/>
            <a:ext cx="274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Multi-part assembly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67512" y="2578608"/>
            <a:ext cx="323392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mates, sub-assemblies, and library hardware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22064" y="2011680"/>
            <a:ext cx="3563112" cy="1920240"/>
          </a:xfrm>
          <a:prstGeom prst="roundRect">
            <a:avLst>
              <a:gd name="adj" fmla="val 3810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6656" y="2157984"/>
            <a:ext cx="384048" cy="384048"/>
          </a:xfrm>
          <a:prstGeom prst="ellipse">
            <a:avLst/>
          </a:prstGeom>
          <a:solidFill>
            <a:srgbClr val="1E9E5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86656" y="2157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980432" y="2121408"/>
            <a:ext cx="274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Exploded drawing + BOM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486656" y="2578608"/>
            <a:ext cx="323392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balloons keyed to a linked bill of materials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41208" y="2011680"/>
            <a:ext cx="3563112" cy="1920240"/>
          </a:xfrm>
          <a:prstGeom prst="roundRect">
            <a:avLst>
              <a:gd name="adj" fmla="val 3810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05800" y="2157984"/>
            <a:ext cx="384048" cy="384048"/>
          </a:xfrm>
          <a:prstGeom prst="ellipse">
            <a:avLst/>
          </a:prstGeom>
          <a:solidFill>
            <a:srgbClr val="1E9E5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05800" y="2157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799576" y="2121408"/>
            <a:ext cx="274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revision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305800" y="2578608"/>
            <a:ext cx="323392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design review turned into a measurable DFA improvement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2920" y="5532120"/>
            <a:ext cx="11201400" cy="868680"/>
          </a:xfrm>
          <a:prstGeom prst="roundRect">
            <a:avLst>
              <a:gd name="adj" fmla="val 10526"/>
            </a:avLst>
          </a:prstGeom>
          <a:solidFill>
            <a:srgbClr val="F3F6F9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3232" y="5751576"/>
            <a:ext cx="420624" cy="420624"/>
          </a:xfrm>
          <a:prstGeom prst="ellipse">
            <a:avLst/>
          </a:prstGeom>
          <a:solidFill>
            <a:srgbClr val="1E9E5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13232" y="5751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1325880" y="5623560"/>
            <a:ext cx="10195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produce: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multi-part assembly model with correct mates, an exploded drawing with balloons and a linked BOM, plus a documented design revision.   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by: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Quiz (Week 13) and the corresponding portfolio modules.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17904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76856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35808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94760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53712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12664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71616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30568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89520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48472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07424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866376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25328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143232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758952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1517904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2276856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035808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3794760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4553712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5312664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6071616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6830568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955280" y="365760"/>
            <a:ext cx="3931920" cy="612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b="1" dirty="0">
                <a:solidFill>
                  <a:srgbClr val="0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0" dirty="0"/>
          </a:p>
        </p:txBody>
      </p:sp>
      <p:sp>
        <p:nvSpPr>
          <p:cNvPr id="28" name="Shape 26"/>
          <p:cNvSpPr/>
          <p:nvPr/>
        </p:nvSpPr>
        <p:spPr>
          <a:xfrm>
            <a:off x="685800" y="731520"/>
            <a:ext cx="2359152" cy="420624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85800" y="731520"/>
            <a:ext cx="2359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 · WEEKS 14–16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85800" y="2331720"/>
            <a:ext cx="8778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for Manufacturing</a:t>
            </a:r>
            <a:endParaRPr lang="en-US" sz="40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" y="36118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loop from CAD model to physical part — manufacturing-ready files, process limits, and shop safety.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685800" y="5806440"/>
            <a:ext cx="1828800" cy="438912"/>
          </a:xfrm>
          <a:prstGeom prst="roundRect">
            <a:avLst>
              <a:gd name="adj" fmla="val 20833"/>
            </a:avLst>
          </a:prstGeom>
          <a:solidFill>
            <a:srgbClr val="16324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5800" y="58064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IN WEEK 16</a:t>
            </a:r>
            <a:endParaRPr lang="en-US" sz="13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Standards Carry the Design Intent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design leaves your screen, the maker builds exactly what the documentation says.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965960"/>
            <a:ext cx="11201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maker is not the designer —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conventions (ASME Y14.5, GD&amp;T, thread/finish callouts) let them read your intent without a phone call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dimensions must be stated —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tolerance callout tells the shop where to spend effort and where a loose result is fine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formats preserve meaning —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carries clean geometry between systems; a sloppy export arrives with gaps, wrong units, or lost features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Ambiguity is expensive and slow —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graded prototype, it comes back as a part you can't use and no time to redo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5532120"/>
            <a:ext cx="11201400" cy="594360"/>
          </a:xfrm>
          <a:prstGeom prst="roundRect">
            <a:avLst>
              <a:gd name="adj" fmla="val 12308"/>
            </a:avLst>
          </a:prstGeom>
          <a:solidFill>
            <a:srgbClr val="F3F6F9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5641848"/>
            <a:ext cx="107442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the design intent, then communicate it in the form everyone downstream already knows how to read.</a:t>
            </a:r>
            <a:endParaRPr lang="en-US" sz="12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GD&amp;T: The Building Blocks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symbolic language (ASME Y14.5 / ISO GPS) for functional relationships — design intent written in symbols instead of prose.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057400"/>
            <a:ext cx="6035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of size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feature with an axis or centerplane — a hole, pin, slot, width</a:t>
            </a:r>
            <a:endParaRPr lang="en-US" sz="1250" dirty="0"/>
          </a:p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Datums (A, B, C)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surfaces chosen to match how the part actually seats in use</a:t>
            </a:r>
            <a:endParaRPr lang="en-US" sz="1250" dirty="0"/>
          </a:p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Datum reference frame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+ secondary + tertiary datums lock all six degrees of freedom</a:t>
            </a:r>
            <a:endParaRPr lang="en-US" sz="1250" dirty="0"/>
          </a:p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Tolerance zone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geometric space the feature must lie within — a gap, a cylinder, a band</a:t>
            </a:r>
            <a:endParaRPr lang="en-US" sz="1250" dirty="0"/>
          </a:p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 families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standard's ~14 geometric characteristic symbols sort into five families — form, orientation, location, profile, and runout (next slide)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903720" y="2286000"/>
            <a:ext cx="1188720" cy="548640"/>
          </a:xfrm>
          <a:prstGeom prst="rect">
            <a:avLst/>
          </a:prstGeom>
          <a:solidFill>
            <a:srgbClr val="F3F6F9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47204" y="2409444"/>
            <a:ext cx="301752" cy="301752"/>
          </a:xfrm>
          <a:prstGeom prst="ellipse">
            <a:avLst/>
          </a:prstGeom>
          <a:ln w="22225">
            <a:solidFill>
              <a:srgbClr val="0F29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71766" y="2560320"/>
            <a:ext cx="452628" cy="0"/>
          </a:xfrm>
          <a:prstGeom prst="line">
            <a:avLst/>
          </a:prstGeom>
          <a:noFill/>
          <a:ln w="22225">
            <a:solidFill>
              <a:srgbClr val="0F29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0" y="2334006"/>
            <a:ext cx="0" cy="452628"/>
          </a:xfrm>
          <a:prstGeom prst="line">
            <a:avLst/>
          </a:prstGeom>
          <a:noFill/>
          <a:ln w="22225">
            <a:solidFill>
              <a:srgbClr val="0F2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12280" y="29077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 (position)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092440" y="2286000"/>
            <a:ext cx="1828800" cy="548640"/>
          </a:xfrm>
          <a:prstGeom prst="rect">
            <a:avLst/>
          </a:prstGeom>
          <a:solidFill>
            <a:srgbClr val="F3F6F9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92440" y="22860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⌀0.2  M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001000" y="29077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Tolerance value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921240" y="2286000"/>
            <a:ext cx="1737360" cy="548640"/>
          </a:xfrm>
          <a:prstGeom prst="rect">
            <a:avLst/>
          </a:prstGeom>
          <a:solidFill>
            <a:srgbClr val="F3F6F9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921240" y="22860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 C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829800" y="29077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Datums referenced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19659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control frame — read left to right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03720" y="3703320"/>
            <a:ext cx="4800600" cy="1463040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0" y="3813048"/>
            <a:ext cx="43434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beats plain ±: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± box on four hole dimensions creates a small square zone and over-constrains the part; a position callout defines a round zone tied to the surfaces that matter, letting more good parts through.</a:t>
            </a:r>
            <a:endParaRPr lang="en-US" sz="12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GD&amp;T Symbol Categories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standard's ~14 geometric characteristic symbols sort into five families by what they control and whether they need a datum.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2628900" cy="2697480"/>
          </a:xfrm>
          <a:prstGeom prst="roundRect">
            <a:avLst>
              <a:gd name="adj" fmla="val 2435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993392"/>
            <a:ext cx="2263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276856"/>
            <a:ext cx="22631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datum needed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73913" y="2809494"/>
            <a:ext cx="279806" cy="0"/>
          </a:xfrm>
          <a:prstGeom prst="line">
            <a:avLst/>
          </a:prstGeom>
          <a:noFill/>
          <a:ln w="22860">
            <a:solidFill>
              <a:srgbClr val="0F294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69848" y="2606040"/>
            <a:ext cx="189738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Straightness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681685" y="3209087"/>
            <a:ext cx="264262" cy="124358"/>
          </a:xfrm>
          <a:prstGeom prst="parallelogram">
            <a:avLst/>
          </a:prstGeom>
          <a:ln w="20320">
            <a:solidFill>
              <a:srgbClr val="0F294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69848" y="3067812"/>
            <a:ext cx="189738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Flatness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712775" y="3631997"/>
            <a:ext cx="202082" cy="202082"/>
          </a:xfrm>
          <a:prstGeom prst="ellipse">
            <a:avLst/>
          </a:prstGeom>
          <a:ln w="21590">
            <a:solidFill>
              <a:srgbClr val="0F294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69848" y="3529584"/>
            <a:ext cx="189738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Circularity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728320" y="4109314"/>
            <a:ext cx="170993" cy="170993"/>
          </a:xfrm>
          <a:prstGeom prst="ellipse">
            <a:avLst/>
          </a:prstGeom>
          <a:ln w="17780">
            <a:solidFill>
              <a:srgbClr val="0F29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6140" y="4171493"/>
            <a:ext cx="295351" cy="-65288"/>
          </a:xfrm>
          <a:prstGeom prst="line">
            <a:avLst/>
          </a:prstGeom>
          <a:noFill/>
          <a:ln w="19050">
            <a:solidFill>
              <a:srgbClr val="0F29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6140" y="4283415"/>
            <a:ext cx="295351" cy="-65288"/>
          </a:xfrm>
          <a:prstGeom prst="line">
            <a:avLst/>
          </a:prstGeom>
          <a:noFill/>
          <a:ln w="19050">
            <a:solidFill>
              <a:srgbClr val="0F294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69848" y="3991356"/>
            <a:ext cx="189738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Cylindricity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3360420" y="1874520"/>
            <a:ext cx="2628900" cy="2697480"/>
          </a:xfrm>
          <a:prstGeom prst="roundRect">
            <a:avLst>
              <a:gd name="adj" fmla="val 2435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543300" y="1993392"/>
            <a:ext cx="2263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Orientation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3543300" y="2276856"/>
            <a:ext cx="22631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datum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71316" y="2669591"/>
            <a:ext cx="0" cy="233172"/>
          </a:xfrm>
          <a:prstGeom prst="line">
            <a:avLst/>
          </a:prstGeom>
          <a:noFill/>
          <a:ln w="22860">
            <a:solidFill>
              <a:srgbClr val="0F294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54730" y="2902763"/>
            <a:ext cx="233172" cy="0"/>
          </a:xfrm>
          <a:prstGeom prst="line">
            <a:avLst/>
          </a:prstGeom>
          <a:noFill/>
          <a:ln w="22860">
            <a:solidFill>
              <a:srgbClr val="0F294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927348" y="2606040"/>
            <a:ext cx="189738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Perpendicularity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3546958" y="3185770"/>
            <a:ext cx="248717" cy="77724"/>
          </a:xfrm>
          <a:prstGeom prst="line">
            <a:avLst/>
          </a:prstGeom>
          <a:noFill/>
          <a:ln w="20320">
            <a:solidFill>
              <a:srgbClr val="0F294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46958" y="3279038"/>
            <a:ext cx="248717" cy="77724"/>
          </a:xfrm>
          <a:prstGeom prst="line">
            <a:avLst/>
          </a:prstGeom>
          <a:noFill/>
          <a:ln w="20320">
            <a:solidFill>
              <a:srgbClr val="0F294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927348" y="3067812"/>
            <a:ext cx="189738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Parallelism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3562502" y="3834079"/>
            <a:ext cx="233172" cy="0"/>
          </a:xfrm>
          <a:prstGeom prst="line">
            <a:avLst/>
          </a:prstGeom>
          <a:noFill/>
          <a:ln w="21590">
            <a:solidFill>
              <a:srgbClr val="0F294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78047" y="3834079"/>
            <a:ext cx="139903" cy="-202082"/>
          </a:xfrm>
          <a:prstGeom prst="line">
            <a:avLst/>
          </a:prstGeom>
          <a:noFill/>
          <a:ln w="21590">
            <a:solidFill>
              <a:srgbClr val="0F294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927348" y="3529584"/>
            <a:ext cx="189738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Angularity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6217920" y="1874520"/>
            <a:ext cx="2628900" cy="2697480"/>
          </a:xfrm>
          <a:prstGeom prst="roundRect">
            <a:avLst>
              <a:gd name="adj" fmla="val 2435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00800" y="1993392"/>
            <a:ext cx="2263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Location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6400800" y="2276856"/>
            <a:ext cx="22631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datums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443320" y="2723998"/>
            <a:ext cx="170993" cy="170993"/>
          </a:xfrm>
          <a:prstGeom prst="ellipse">
            <a:avLst/>
          </a:prstGeom>
          <a:ln w="21590">
            <a:solidFill>
              <a:srgbClr val="0F294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96685" y="2809494"/>
            <a:ext cx="264262" cy="0"/>
          </a:xfrm>
          <a:prstGeom prst="line">
            <a:avLst/>
          </a:prstGeom>
          <a:noFill/>
          <a:ln w="21590">
            <a:solidFill>
              <a:srgbClr val="0F294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28816" y="2677363"/>
            <a:ext cx="0" cy="264262"/>
          </a:xfrm>
          <a:prstGeom prst="line">
            <a:avLst/>
          </a:prstGeom>
          <a:noFill/>
          <a:ln w="21590">
            <a:solidFill>
              <a:srgbClr val="0F294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784848" y="2606040"/>
            <a:ext cx="189738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</a:t>
            </a:r>
            <a:endParaRPr lang="en-US" sz="1080" dirty="0"/>
          </a:p>
        </p:txBody>
      </p:sp>
      <p:sp>
        <p:nvSpPr>
          <p:cNvPr id="39" name="Shape 37"/>
          <p:cNvSpPr/>
          <p:nvPr/>
        </p:nvSpPr>
        <p:spPr>
          <a:xfrm>
            <a:off x="6427775" y="3170225"/>
            <a:ext cx="202082" cy="202082"/>
          </a:xfrm>
          <a:prstGeom prst="donut">
            <a:avLst/>
          </a:prstGeom>
          <a:solidFill>
            <a:srgbClr val="E1E7EE"/>
          </a:solidFill>
          <a:ln w="16510">
            <a:solidFill>
              <a:srgbClr val="0F294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784848" y="3067812"/>
            <a:ext cx="189738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Concentricity</a:t>
            </a:r>
            <a:endParaRPr lang="en-US" sz="1080" dirty="0"/>
          </a:p>
        </p:txBody>
      </p:sp>
      <p:sp>
        <p:nvSpPr>
          <p:cNvPr id="41" name="Shape 39"/>
          <p:cNvSpPr/>
          <p:nvPr/>
        </p:nvSpPr>
        <p:spPr>
          <a:xfrm>
            <a:off x="6412230" y="3667750"/>
            <a:ext cx="233172" cy="0"/>
          </a:xfrm>
          <a:prstGeom prst="line">
            <a:avLst/>
          </a:prstGeom>
          <a:noFill/>
          <a:ln w="20320">
            <a:solidFill>
              <a:srgbClr val="0F294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12230" y="3733038"/>
            <a:ext cx="233172" cy="0"/>
          </a:xfrm>
          <a:prstGeom prst="line">
            <a:avLst/>
          </a:prstGeom>
          <a:noFill/>
          <a:ln w="20320">
            <a:solidFill>
              <a:srgbClr val="0F294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12230" y="3798326"/>
            <a:ext cx="233172" cy="0"/>
          </a:xfrm>
          <a:prstGeom prst="line">
            <a:avLst/>
          </a:prstGeom>
          <a:noFill/>
          <a:ln w="20320">
            <a:solidFill>
              <a:srgbClr val="0F294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784848" y="3529584"/>
            <a:ext cx="189738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</a:t>
            </a:r>
            <a:endParaRPr lang="en-US" sz="1080" dirty="0"/>
          </a:p>
        </p:txBody>
      </p:sp>
      <p:sp>
        <p:nvSpPr>
          <p:cNvPr id="45" name="Shape 43"/>
          <p:cNvSpPr/>
          <p:nvPr/>
        </p:nvSpPr>
        <p:spPr>
          <a:xfrm>
            <a:off x="9075420" y="1874520"/>
            <a:ext cx="2628900" cy="2697480"/>
          </a:xfrm>
          <a:prstGeom prst="roundRect">
            <a:avLst>
              <a:gd name="adj" fmla="val 2435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258300" y="1993392"/>
            <a:ext cx="2263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Profile &amp; Runout</a:t>
            </a:r>
            <a:endParaRPr lang="en-US" sz="1450" dirty="0"/>
          </a:p>
        </p:txBody>
      </p:sp>
      <p:sp>
        <p:nvSpPr>
          <p:cNvPr id="47" name="Text 45"/>
          <p:cNvSpPr txBox="1"/>
          <p:nvPr/>
        </p:nvSpPr>
        <p:spPr>
          <a:xfrm>
            <a:off x="9258300" y="2276856"/>
            <a:ext cx="22631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Profile: no/some datums · Runout: datum axis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9269730" y="2747315"/>
            <a:ext cx="233172" cy="155448"/>
          </a:xfrm>
          <a:prstGeom prst="arc">
            <a:avLst>
              <a:gd name="adj1" fmla="val 10800000"/>
              <a:gd name="adj2" fmla="val 21600000"/>
            </a:avLst>
          </a:prstGeom>
          <a:ln w="21590">
            <a:solidFill>
              <a:srgbClr val="0F2942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642348" y="2606040"/>
            <a:ext cx="189738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of a line</a:t>
            </a:r>
            <a:endParaRPr lang="en-US" sz="1080" dirty="0"/>
          </a:p>
        </p:txBody>
      </p:sp>
      <p:sp>
        <p:nvSpPr>
          <p:cNvPr id="50" name="Shape 48"/>
          <p:cNvSpPr/>
          <p:nvPr/>
        </p:nvSpPr>
        <p:spPr>
          <a:xfrm>
            <a:off x="9269730" y="3209087"/>
            <a:ext cx="233172" cy="155448"/>
          </a:xfrm>
          <a:prstGeom prst="chord">
            <a:avLst>
              <a:gd name="adj1" fmla="val 10800000"/>
              <a:gd name="adj2" fmla="val 21600000"/>
            </a:avLst>
          </a:prstGeom>
          <a:ln w="21590">
            <a:solidFill>
              <a:srgbClr val="0F2942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9642348" y="3067812"/>
            <a:ext cx="189738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of a surface</a:t>
            </a:r>
            <a:endParaRPr lang="en-US" sz="1080" dirty="0"/>
          </a:p>
        </p:txBody>
      </p:sp>
      <p:sp>
        <p:nvSpPr>
          <p:cNvPr id="52" name="Shape 50"/>
          <p:cNvSpPr/>
          <p:nvPr/>
        </p:nvSpPr>
        <p:spPr>
          <a:xfrm>
            <a:off x="9269730" y="3849624"/>
            <a:ext cx="217627" cy="-233172"/>
          </a:xfrm>
          <a:prstGeom prst="line">
            <a:avLst/>
          </a:prstGeom>
          <a:noFill/>
          <a:ln w="22860">
            <a:solidFill>
              <a:srgbClr val="0F2942"/>
            </a:solidFill>
            <a:prstDash val="solid"/>
            <a:tailEnd type="triangle"/>
          </a:ln>
        </p:spPr>
      </p:sp>
      <p:sp>
        <p:nvSpPr>
          <p:cNvPr id="53" name="Text 51"/>
          <p:cNvSpPr txBox="1"/>
          <p:nvPr/>
        </p:nvSpPr>
        <p:spPr>
          <a:xfrm>
            <a:off x="9642348" y="3529584"/>
            <a:ext cx="189738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runout</a:t>
            </a:r>
            <a:endParaRPr lang="en-US" sz="1080" dirty="0"/>
          </a:p>
        </p:txBody>
      </p:sp>
      <p:sp>
        <p:nvSpPr>
          <p:cNvPr id="54" name="Shape 52"/>
          <p:cNvSpPr/>
          <p:nvPr/>
        </p:nvSpPr>
        <p:spPr>
          <a:xfrm>
            <a:off x="9246413" y="4311396"/>
            <a:ext cx="217627" cy="-233172"/>
          </a:xfrm>
          <a:prstGeom prst="line">
            <a:avLst/>
          </a:prstGeom>
          <a:noFill/>
          <a:ln w="19050">
            <a:solidFill>
              <a:srgbClr val="0F2942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9331909" y="4311396"/>
            <a:ext cx="217627" cy="-233172"/>
          </a:xfrm>
          <a:prstGeom prst="line">
            <a:avLst/>
          </a:prstGeom>
          <a:noFill/>
          <a:ln w="19050">
            <a:solidFill>
              <a:srgbClr val="0F2942"/>
            </a:solidFill>
            <a:prstDash val="solid"/>
            <a:tailEnd type="triangle"/>
          </a:ln>
        </p:spPr>
      </p:sp>
      <p:sp>
        <p:nvSpPr>
          <p:cNvPr id="56" name="Text 54"/>
          <p:cNvSpPr txBox="1"/>
          <p:nvPr/>
        </p:nvSpPr>
        <p:spPr>
          <a:xfrm>
            <a:off x="9642348" y="3991356"/>
            <a:ext cx="189738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runout</a:t>
            </a:r>
            <a:endParaRPr lang="en-US" sz="1080" dirty="0"/>
          </a:p>
        </p:txBody>
      </p:sp>
      <p:sp>
        <p:nvSpPr>
          <p:cNvPr id="57" name="Shape 55"/>
          <p:cNvSpPr/>
          <p:nvPr/>
        </p:nvSpPr>
        <p:spPr>
          <a:xfrm>
            <a:off x="502920" y="4736592"/>
            <a:ext cx="11201400" cy="777240"/>
          </a:xfrm>
          <a:prstGeom prst="roundRect">
            <a:avLst>
              <a:gd name="adj" fmla="val 9412"/>
            </a:avLst>
          </a:prstGeom>
          <a:solidFill>
            <a:srgbClr val="F3F6F9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731520" y="4846320"/>
            <a:ext cx="107442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condition modifiers: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MMC (maximum material condition) and LMC (least material condition) let a position tolerance earn bonus tolerance as the hole moves away from its worst-case size — matching how a bolted clearance-hole joint really behaves.</a:t>
            </a:r>
            <a:endParaRPr lang="en-US" sz="12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Manufacturing-Ready Files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process consumes a different file — a good part starts with exporting the right one at the right settings.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965960"/>
            <a:ext cx="3550920" cy="2286000"/>
          </a:xfrm>
          <a:prstGeom prst="roundRect">
            <a:avLst>
              <a:gd name="adj" fmla="val 3200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130552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Additive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704088" y="2679192"/>
            <a:ext cx="3148584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Watertight mesh: STL or 3MF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enough to hide facets, not so fine the file is unwieldy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28160" y="1965960"/>
            <a:ext cx="3550920" cy="2286000"/>
          </a:xfrm>
          <a:prstGeom prst="roundRect">
            <a:avLst>
              <a:gd name="adj" fmla="val 3200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29328" y="2130552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Laser Cutting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4529328" y="2679192"/>
            <a:ext cx="3148584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vector profile (DXF)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and engrave lines on separate layers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53400" y="1965960"/>
            <a:ext cx="3550920" cy="2286000"/>
          </a:xfrm>
          <a:prstGeom prst="roundRect">
            <a:avLst>
              <a:gd name="adj" fmla="val 3200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54568" y="2130552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CNC Machining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8354568" y="2679192"/>
            <a:ext cx="3148584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model (STEP) + dimensioned drawing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 tells the machinist which dimensions are critical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4480560"/>
            <a:ext cx="11201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 basics —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setup, toolpath generation, simulation, and the post-processor that turns toolpaths into machine G-code.</a:t>
            </a:r>
            <a:endParaRPr lang="en-US" sz="13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Additive Manufacturing (3D Printing)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course uses material-extrusion printing (FDM/FFF), building one deposited layer at a time.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965960"/>
            <a:ext cx="11201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PLA, PETG, ABS — printability, strength, and temperature trade-offs</a:t>
            </a:r>
            <a:endParaRPr lang="en-US" sz="1250" dirty="0"/>
          </a:p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are weakest in the build (Z) direction — a strength decision, not just fit-on-bed</a:t>
            </a:r>
            <a:endParaRPr lang="en-US" sz="1250" dirty="0"/>
          </a:p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&amp; overhangs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roughly 45° rule, bridging limits, designing to avoid support</a:t>
            </a:r>
            <a:endParaRPr lang="en-US" sz="1250" dirty="0"/>
          </a:p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that matter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height, wall count, infill density and pattern</a:t>
            </a:r>
            <a:endParaRPr lang="en-US" sz="1250" dirty="0"/>
          </a:p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Tolerances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holes print undersize, first layers spread — allow for it or drill/ream after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657600"/>
            <a:ext cx="11201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Print Issues &amp; Fixes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3977640"/>
            <a:ext cx="2628900" cy="2423160"/>
          </a:xfrm>
          <a:prstGeom prst="roundRect">
            <a:avLst>
              <a:gd name="adj" fmla="val 2642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pic>
        <p:nvPicPr>
          <p:cNvPr id="10" name="Image 0" descr="/tmp/mech151_deck/images/31_elephant_foo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4504" y="4105656"/>
            <a:ext cx="1025732" cy="9601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40080" y="5120640"/>
            <a:ext cx="23545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Elephant Footing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649224" y="5376672"/>
            <a:ext cx="23362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3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layer over-extrudes and squishes outward under the nozzle</a:t>
            </a:r>
            <a:endParaRPr lang="en-US" sz="830" dirty="0"/>
          </a:p>
        </p:txBody>
      </p:sp>
      <p:sp>
        <p:nvSpPr>
          <p:cNvPr id="13" name="Text 10"/>
          <p:cNvSpPr txBox="1"/>
          <p:nvPr/>
        </p:nvSpPr>
        <p:spPr>
          <a:xfrm>
            <a:off x="649224" y="5833872"/>
            <a:ext cx="23362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60" b="1" dirty="0">
                <a:solidFill>
                  <a:srgbClr val="1B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— </a:t>
            </a:r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brim, or reduce first-layer horizontal expansion</a:t>
            </a:r>
            <a:endParaRPr lang="en-US" sz="860" dirty="0"/>
          </a:p>
        </p:txBody>
      </p:sp>
      <p:sp>
        <p:nvSpPr>
          <p:cNvPr id="14" name="Shape 11"/>
          <p:cNvSpPr/>
          <p:nvPr/>
        </p:nvSpPr>
        <p:spPr>
          <a:xfrm>
            <a:off x="3360420" y="3977640"/>
            <a:ext cx="2628900" cy="2423160"/>
          </a:xfrm>
          <a:prstGeom prst="roundRect">
            <a:avLst>
              <a:gd name="adj" fmla="val 2642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pic>
        <p:nvPicPr>
          <p:cNvPr id="15" name="Image 1" descr="/tmp/mech151_deck/images/32_string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1866" y="4105656"/>
            <a:ext cx="1506008" cy="96012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497580" y="5120640"/>
            <a:ext cx="23545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Stringing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3506724" y="5376672"/>
            <a:ext cx="23362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3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molten filament oozes from the nozzle while traveling between features</a:t>
            </a:r>
            <a:endParaRPr lang="en-US" sz="830" dirty="0"/>
          </a:p>
        </p:txBody>
      </p:sp>
      <p:sp>
        <p:nvSpPr>
          <p:cNvPr id="18" name="Text 14"/>
          <p:cNvSpPr txBox="1"/>
          <p:nvPr/>
        </p:nvSpPr>
        <p:spPr>
          <a:xfrm>
            <a:off x="3506724" y="5833872"/>
            <a:ext cx="23362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60" b="1" dirty="0">
                <a:solidFill>
                  <a:srgbClr val="1B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— </a:t>
            </a:r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the filament; tighten retraction distance/speed</a:t>
            </a:r>
            <a:endParaRPr lang="en-US" sz="860" dirty="0"/>
          </a:p>
        </p:txBody>
      </p:sp>
      <p:sp>
        <p:nvSpPr>
          <p:cNvPr id="19" name="Shape 15"/>
          <p:cNvSpPr/>
          <p:nvPr/>
        </p:nvSpPr>
        <p:spPr>
          <a:xfrm>
            <a:off x="6217920" y="3977640"/>
            <a:ext cx="2628900" cy="2423160"/>
          </a:xfrm>
          <a:prstGeom prst="roundRect">
            <a:avLst>
              <a:gd name="adj" fmla="val 2642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pic>
        <p:nvPicPr>
          <p:cNvPr id="20" name="Image 2" descr="/tmp/mech151_deck/images/33_warp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3279" y="4105656"/>
            <a:ext cx="2158183" cy="96012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355080" y="5120640"/>
            <a:ext cx="23545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Warping</a:t>
            </a:r>
            <a:endParaRPr lang="en-US" sz="1250" dirty="0"/>
          </a:p>
        </p:txBody>
      </p:sp>
      <p:sp>
        <p:nvSpPr>
          <p:cNvPr id="22" name="Text 17"/>
          <p:cNvSpPr txBox="1"/>
          <p:nvPr/>
        </p:nvSpPr>
        <p:spPr>
          <a:xfrm>
            <a:off x="6364224" y="5376672"/>
            <a:ext cx="23362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3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edges cool and shrink faster than the center, curling corners up</a:t>
            </a:r>
            <a:endParaRPr lang="en-US" sz="830" dirty="0"/>
          </a:p>
        </p:txBody>
      </p:sp>
      <p:sp>
        <p:nvSpPr>
          <p:cNvPr id="23" name="Text 18"/>
          <p:cNvSpPr txBox="1"/>
          <p:nvPr/>
        </p:nvSpPr>
        <p:spPr>
          <a:xfrm>
            <a:off x="6364224" y="5833872"/>
            <a:ext cx="23362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60" b="1" dirty="0">
                <a:solidFill>
                  <a:srgbClr val="1B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— </a:t>
            </a:r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brim/raft; enclose the printer or use a heated bed</a:t>
            </a:r>
            <a:endParaRPr lang="en-US" sz="860" dirty="0"/>
          </a:p>
        </p:txBody>
      </p:sp>
      <p:sp>
        <p:nvSpPr>
          <p:cNvPr id="24" name="Shape 19"/>
          <p:cNvSpPr/>
          <p:nvPr/>
        </p:nvSpPr>
        <p:spPr>
          <a:xfrm>
            <a:off x="9075420" y="3977640"/>
            <a:ext cx="2628900" cy="2423160"/>
          </a:xfrm>
          <a:prstGeom prst="roundRect">
            <a:avLst>
              <a:gd name="adj" fmla="val 2642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pic>
        <p:nvPicPr>
          <p:cNvPr id="25" name="Image 3" descr="/tmp/mech151_deck/images/34_delamina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8285" y="4105656"/>
            <a:ext cx="1863170" cy="96012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212580" y="5120640"/>
            <a:ext cx="23545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Separation</a:t>
            </a:r>
            <a:endParaRPr lang="en-US" sz="1250" dirty="0"/>
          </a:p>
        </p:txBody>
      </p:sp>
      <p:sp>
        <p:nvSpPr>
          <p:cNvPr id="27" name="Text 21"/>
          <p:cNvSpPr txBox="1"/>
          <p:nvPr/>
        </p:nvSpPr>
        <p:spPr>
          <a:xfrm>
            <a:off x="9221724" y="5376672"/>
            <a:ext cx="23362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3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don't fully fuse — often too cold, or cooled by a draft</a:t>
            </a:r>
            <a:endParaRPr lang="en-US" sz="830" dirty="0"/>
          </a:p>
        </p:txBody>
      </p:sp>
      <p:sp>
        <p:nvSpPr>
          <p:cNvPr id="28" name="Text 22"/>
          <p:cNvSpPr txBox="1"/>
          <p:nvPr/>
        </p:nvSpPr>
        <p:spPr>
          <a:xfrm>
            <a:off x="9221724" y="5833872"/>
            <a:ext cx="23362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60" b="1" dirty="0">
                <a:solidFill>
                  <a:srgbClr val="1B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— </a:t>
            </a:r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nozzle temp slightly; shield the print from drafts</a:t>
            </a:r>
            <a:endParaRPr lang="en-US" sz="86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Subtractive Manufacturing (CNC)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with solid stock and cuts material away — design constraints come from the tool and how the part is held.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783080"/>
            <a:ext cx="5440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11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—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mills, lathes, and routers — what each is shaped to produce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172200" y="1783080"/>
            <a:ext cx="5532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11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Workholding —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vises, clamps, fixtures — the part must be held rigidly and the tool must reach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542032"/>
            <a:ext cx="11201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Access &amp; Geometry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798064"/>
            <a:ext cx="5486400" cy="1874520"/>
          </a:xfrm>
          <a:prstGeom prst="roundRect">
            <a:avLst>
              <a:gd name="adj" fmla="val 3415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pic>
        <p:nvPicPr>
          <p:cNvPr id="11" name="Image 0" descr="/tmp/mech151_deck/images/35_tool_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3745" y="2866644"/>
            <a:ext cx="1964750" cy="173736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217920" y="2798064"/>
            <a:ext cx="5486400" cy="1874520"/>
          </a:xfrm>
          <a:prstGeom prst="roundRect">
            <a:avLst>
              <a:gd name="adj" fmla="val 3415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pic>
        <p:nvPicPr>
          <p:cNvPr id="13" name="Image 1" descr="/tmp/mech151_deck/images/36_tool_deflec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751" y="2866644"/>
            <a:ext cx="3466738" cy="17373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02920" y="4800600"/>
            <a:ext cx="11201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&amp; Speeds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02920" y="5056632"/>
            <a:ext cx="11201400" cy="1536192"/>
          </a:xfrm>
          <a:prstGeom prst="roundRect">
            <a:avLst>
              <a:gd name="adj" fmla="val 4167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pic>
        <p:nvPicPr>
          <p:cNvPr id="16" name="Image 2" descr="/tmp/mech151_deck/images/37_feeds_speed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9330" y="5125212"/>
            <a:ext cx="4108581" cy="1399032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Laser Cutting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flat sheet by burning or vaporizing a narrow line through it — fast and precise in 2D, with its own rules.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011680"/>
            <a:ext cx="11201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13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Kerf — 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cut removes a finite width of material — account for it on tight-fitting parts</a:t>
            </a:r>
            <a:endParaRPr lang="en-US" sz="1350" dirty="0"/>
          </a:p>
          <a:p>
            <a:pPr marL="342900" indent="-342900">
              <a:buSzPct val="100000"/>
              <a:buChar char="●"/>
            </a:pPr>
            <a:r>
              <a:rPr lang="en-US" sz="13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cut vs. raster engrave — 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color/layer determines whether the laser cuts through or marks the surface</a:t>
            </a:r>
            <a:endParaRPr lang="en-US" sz="1350" dirty="0"/>
          </a:p>
          <a:p>
            <a:pPr marL="342900" indent="-342900">
              <a:buSzPct val="100000"/>
              <a:buChar char="●"/>
            </a:pPr>
            <a:r>
              <a:rPr lang="en-US" sz="13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limits — 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wood, acrylic, paper, and cloth cut well</a:t>
            </a:r>
            <a:endParaRPr lang="en-US" sz="1350" dirty="0"/>
          </a:p>
          <a:p>
            <a:pPr marL="342900" indent="-342900">
              <a:buSzPct val="100000"/>
              <a:buChar char="●"/>
            </a:pPr>
            <a:r>
              <a:rPr lang="en-US" sz="13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Small-feature limits — 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hole size and spacing relative to material thickness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4892040"/>
            <a:ext cx="11201400" cy="685800"/>
          </a:xfrm>
          <a:prstGeom prst="roundRect">
            <a:avLst>
              <a:gd name="adj" fmla="val 10667"/>
            </a:avLst>
          </a:prstGeom>
          <a:solidFill>
            <a:srgbClr val="F3F6F9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5001768"/>
            <a:ext cx="107442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cut: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PVC and other chlorinated plastics must never be cut on a laser — they release chlorine gas.</a:t>
            </a:r>
            <a:endParaRPr lang="en-US" sz="12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DFM Design Considerations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the part so the chosen process can make it well, at reasonable cost, without special effort.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2057400"/>
            <a:ext cx="3563112" cy="1911096"/>
          </a:xfrm>
          <a:prstGeom prst="roundRect">
            <a:avLst>
              <a:gd name="adj" fmla="val 3828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7512" y="2203704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67512" y="2203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61288" y="2167128"/>
            <a:ext cx="274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design to process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67512" y="2624328"/>
            <a:ext cx="323392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walls for printing/casting, generous radii for machining, flat unfolded geometry for laser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22064" y="2057400"/>
            <a:ext cx="3563112" cy="1911096"/>
          </a:xfrm>
          <a:prstGeom prst="roundRect">
            <a:avLst>
              <a:gd name="adj" fmla="val 3828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6656" y="2203704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486656" y="2203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980432" y="2167128"/>
            <a:ext cx="274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setups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486656" y="2624328"/>
            <a:ext cx="323392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on one face are cheaper than features needing re-fixturing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41208" y="2057400"/>
            <a:ext cx="3563112" cy="1911096"/>
          </a:xfrm>
          <a:prstGeom prst="roundRect">
            <a:avLst>
              <a:gd name="adj" fmla="val 3828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05800" y="2203704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05800" y="2203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799576" y="2167128"/>
            <a:ext cx="274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Tolerance only what matters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305800" y="2624328"/>
            <a:ext cx="323392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tolerances drive cost — apply to mating/functional features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4169664"/>
            <a:ext cx="3563112" cy="1911096"/>
          </a:xfrm>
          <a:prstGeom prst="roundRect">
            <a:avLst>
              <a:gd name="adj" fmla="val 3828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7512" y="4315968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67512" y="4315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161288" y="4279392"/>
            <a:ext cx="274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standard stock &amp; tooling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67512" y="4736592"/>
            <a:ext cx="323392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sizes and drill/tool radii cost less, arrive faster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322064" y="4169664"/>
            <a:ext cx="3563112" cy="1911096"/>
          </a:xfrm>
          <a:prstGeom prst="roundRect">
            <a:avLst>
              <a:gd name="adj" fmla="val 3828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86656" y="4315968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486656" y="4315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4980432" y="4279392"/>
            <a:ext cx="274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for prototype AND product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4486656" y="4736592"/>
            <a:ext cx="323392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fine for a one-off print may not survive production</a:t>
            </a:r>
            <a:endParaRPr lang="en-US" sz="11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Safety, PPE &amp; Operation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are checked out on safe setup and operation before running any shop equipment.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011680"/>
            <a:ext cx="11201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PPE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 Z87.1 safety glasses, closed-toe shoes, no loose clothing/jewelry/unrestrained hair</a:t>
            </a:r>
            <a:endParaRPr lang="en-US" sz="1250" dirty="0"/>
          </a:p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Rotating machinery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wear gloves near a spindle, chuck, or bit — a caught glove pulls the hand in</a:t>
            </a:r>
            <a:endParaRPr lang="en-US" sz="1250" dirty="0"/>
          </a:p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 cutter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run unattended; keep a view of the cut; know the extraction and fire response</a:t>
            </a:r>
            <a:endParaRPr lang="en-US" sz="1250" dirty="0"/>
          </a:p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printers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nozzle and bed — let them cool, don't reach into an active machine</a:t>
            </a:r>
            <a:endParaRPr lang="en-US" sz="1250" dirty="0"/>
          </a:p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starting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location of the e-stop, fire extinguisher, and first-aid kit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5212080"/>
            <a:ext cx="11201400" cy="777240"/>
          </a:xfrm>
          <a:prstGeom prst="roundRect">
            <a:avLst>
              <a:gd name="adj" fmla="val 9412"/>
            </a:avLst>
          </a:prstGeom>
          <a:solidFill>
            <a:srgbClr val="F3F6F9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5321808"/>
            <a:ext cx="107442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 is not optional: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the syllabus, a participant without proper PPE during machine use will be asked to leave the class for that session.</a:t>
            </a:r>
            <a:endParaRPr lang="en-US" sz="12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4 Wrap-Up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3563112" cy="1920240"/>
          </a:xfrm>
          <a:prstGeom prst="roundRect">
            <a:avLst>
              <a:gd name="adj" fmla="val 3810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7512" y="2157984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7512" y="2157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61288" y="2121408"/>
            <a:ext cx="274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Manufacturing-ready files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67512" y="2578608"/>
            <a:ext cx="323392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exported for the chosen process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22064" y="2011680"/>
            <a:ext cx="3563112" cy="1920240"/>
          </a:xfrm>
          <a:prstGeom prst="roundRect">
            <a:avLst>
              <a:gd name="adj" fmla="val 3810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6656" y="2157984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86656" y="2157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980432" y="2121408"/>
            <a:ext cx="274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GD&amp;T documentation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486656" y="2578608"/>
            <a:ext cx="323392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at least one process, showing what you'd control and why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41208" y="2011680"/>
            <a:ext cx="3563112" cy="1920240"/>
          </a:xfrm>
          <a:prstGeom prst="roundRect">
            <a:avLst>
              <a:gd name="adj" fmla="val 3810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05800" y="2157984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05800" y="2157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799576" y="2121408"/>
            <a:ext cx="274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DFM-reviewed design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305800" y="2578608"/>
            <a:ext cx="323392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hand off to a shop process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2920" y="5532120"/>
            <a:ext cx="11201400" cy="868680"/>
          </a:xfrm>
          <a:prstGeom prst="roundRect">
            <a:avLst>
              <a:gd name="adj" fmla="val 10526"/>
            </a:avLst>
          </a:prstGeom>
          <a:solidFill>
            <a:srgbClr val="F3F6F9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3232" y="5751576"/>
            <a:ext cx="420624" cy="42062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13232" y="5751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1325880" y="5623560"/>
            <a:ext cx="10195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produce: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manufacturing-ready files and GD&amp;T documentation demonstrating your design-for-manufacturing reasoning.   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by: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 Quiz (Week 16). The physical prototype build &amp; presentation is graded separately as the course Final Exam.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0F29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Units at a Glance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this page open while you work — every unit's timing, focus, and assessment in one place.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11201400" cy="713232"/>
          </a:xfrm>
          <a:prstGeom prst="roundRect">
            <a:avLst>
              <a:gd name="adj" fmla="val 7692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157984"/>
            <a:ext cx="146304" cy="146304"/>
          </a:xfrm>
          <a:prstGeom prst="ellipse">
            <a:avLst/>
          </a:prstGeom>
          <a:solidFill>
            <a:srgbClr val="1B8A8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1874520"/>
            <a:ext cx="265176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977640" y="1874520"/>
            <a:ext cx="9144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Unit 1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1874520"/>
            <a:ext cx="54864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problem, design intent, top-down vs. bottom-up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0652760" y="1874520"/>
            <a:ext cx="132588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642616"/>
            <a:ext cx="112014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1E7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146304" cy="146304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2642616"/>
            <a:ext cx="265176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— CAD Fundamentals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3977640" y="2642616"/>
            <a:ext cx="9144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4–7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029200" y="2642616"/>
            <a:ext cx="54864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sketches, multiview drawing, first parametric model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0652760" y="2642616"/>
            <a:ext cx="132588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Quiz, Wk 7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410712"/>
            <a:ext cx="11201400" cy="713232"/>
          </a:xfrm>
          <a:prstGeom prst="roundRect">
            <a:avLst>
              <a:gd name="adj" fmla="val 7692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694176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3410712"/>
            <a:ext cx="265176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— CAD Advanced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977640" y="3410712"/>
            <a:ext cx="9144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7–10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029200" y="3410712"/>
            <a:ext cx="54864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Section/auxiliary views, threads, tolerancing, production drawing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10652760" y="3410712"/>
            <a:ext cx="132588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Quiz, Wk 10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4178808"/>
            <a:ext cx="112014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1E7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4462272"/>
            <a:ext cx="146304" cy="146304"/>
          </a:xfrm>
          <a:prstGeom prst="ellipse">
            <a:avLst/>
          </a:prstGeom>
          <a:solidFill>
            <a:srgbClr val="1E9E5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14400" y="4178808"/>
            <a:ext cx="265176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— Design for Assembly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3977640" y="4178808"/>
            <a:ext cx="9144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11–13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029200" y="4178808"/>
            <a:ext cx="54864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Mates, joining methods, exploded drawing + BOM, DFA principles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10652760" y="4178808"/>
            <a:ext cx="132588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Quiz, Wk 13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02920" y="4946904"/>
            <a:ext cx="11201400" cy="713232"/>
          </a:xfrm>
          <a:prstGeom prst="roundRect">
            <a:avLst>
              <a:gd name="adj" fmla="val 7692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" y="5230368"/>
            <a:ext cx="146304" cy="14630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14400" y="4946904"/>
            <a:ext cx="265176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 — Design for Manufacturing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3977640" y="4946904"/>
            <a:ext cx="9144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14–16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5029200" y="4946904"/>
            <a:ext cx="54864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GD&amp;T, manufacturing files, additive/subtractive/laser, DFM, safety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10652760" y="4946904"/>
            <a:ext cx="132588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Quiz, Wk 16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02920" y="5715000"/>
            <a:ext cx="112014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1E7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0080" y="5998464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14400" y="5715000"/>
            <a:ext cx="265176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Exam — Prototype Project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3977640" y="5715000"/>
            <a:ext cx="9144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17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5029200" y="5715000"/>
            <a:ext cx="54864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Team-built physical prototype, manufacturing docs, presentation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10652760" y="5715000"/>
            <a:ext cx="132588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(w/ prototype)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MECH 151 — Technical Design Unit Reference Guide</dc:title>
  <dc:subject>PptxGenJS Presentation</dc:subject>
  <dc:creator>MECH 151</dc:creator>
  <cp:lastModifiedBy>MECH 151</cp:lastModifiedBy>
  <cp:revision>1</cp:revision>
  <dcterms:created xsi:type="dcterms:W3CDTF">2026-09-08T07:02:18Z</dcterms:created>
  <dcterms:modified xsi:type="dcterms:W3CDTF">2026-09-08T07:02:18Z</dcterms:modified>
</cp:coreProperties>
</file>