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9144000" cy="5143679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"/>
            <a:ext cx="9143644" cy="514332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"/>
            <a:ext cx="9144000" cy="5143677"/>
          </a:xfrm>
          <a:prstGeom prst="rect">
            <a:avLst/>
          </a:prstGeom>
          <a:solidFill>
            <a:srgbClr val="1C2B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09435" cy="5143309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65404" y="3063242"/>
            <a:ext cx="4571631" cy="45364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42696" y="1003499"/>
            <a:ext cx="2505719" cy="2523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300">
                <a:solidFill>
                  <a:srgbClr val="E07B39"/>
                </a:solidFill>
                <a:latin typeface="Calibri"/>
              </a:rPr>
              <a:t>M E C H 1 9 1 — M e t a l l u r g 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42696" y="1382427"/>
            <a:ext cx="2428084" cy="98057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6000">
                <a:solidFill>
                  <a:srgbClr val="FFFFFF"/>
                </a:solidFill>
                <a:latin typeface="Calibri"/>
              </a:rPr>
              <a:t>Week 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42696" y="2435080"/>
            <a:ext cx="2728040" cy="42279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2400">
                <a:solidFill>
                  <a:srgbClr val="CADCFC"/>
                </a:solidFill>
                <a:latin typeface="Calibri"/>
              </a:rPr>
              <a:t>Carbon &amp; Alloy Steels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2696" y="3311813"/>
            <a:ext cx="3494845" cy="2523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300">
                <a:solidFill>
                  <a:srgbClr val="CADCFC"/>
                </a:solidFill>
                <a:latin typeface="Calibri"/>
              </a:rPr>
              <a:t>September 14, 2026  ·  5:00 – 7:30 PM  ·  Kai Santos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"/>
            <a:ext cx="9143644" cy="514332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"/>
            <a:ext cx="9144000" cy="5143677"/>
          </a:xfrm>
          <a:prstGeom prst="rect">
            <a:avLst/>
          </a:prstGeom>
          <a:solidFill>
            <a:srgbClr val="1C2B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09435" cy="5143309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65404" y="1435686"/>
            <a:ext cx="5303151" cy="45351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404" y="1627202"/>
            <a:ext cx="639711" cy="639724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404" y="2724482"/>
            <a:ext cx="639711" cy="639724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65404" y="3821762"/>
            <a:ext cx="639711" cy="639724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42696" y="782571"/>
            <a:ext cx="2696648" cy="63977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3800">
                <a:solidFill>
                  <a:srgbClr val="FFFFFF"/>
                </a:solidFill>
                <a:latin typeface="Calibri"/>
              </a:rPr>
              <a:t>Class Agenda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31622" y="1767484"/>
            <a:ext cx="357517" cy="39162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2200">
                <a:solidFill>
                  <a:srgbClr val="FFFFFF"/>
                </a:solidFill>
                <a:latin typeface="Calibri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75664" y="1657693"/>
            <a:ext cx="2351601" cy="39162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2200">
                <a:solidFill>
                  <a:srgbClr val="FFFFFF"/>
                </a:solidFill>
                <a:latin typeface="Calibri"/>
              </a:rPr>
              <a:t>Steel Fundamentals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75664" y="2034416"/>
            <a:ext cx="4812914" cy="26776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400">
                <a:solidFill>
                  <a:srgbClr val="CADCFC"/>
                </a:solidFill>
                <a:latin typeface="Calibri"/>
              </a:rPr>
              <a:t>What steel is, why it matters, and how carbon controls everything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1622" y="2864764"/>
            <a:ext cx="357517" cy="39162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2200">
                <a:solidFill>
                  <a:srgbClr val="FFFFFF"/>
                </a:solidFill>
                <a:latin typeface="Calibri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75664" y="2754973"/>
            <a:ext cx="2651916" cy="39162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2200">
                <a:solidFill>
                  <a:srgbClr val="FFFFFF"/>
                </a:solidFill>
                <a:latin typeface="Calibri"/>
              </a:rPr>
              <a:t>AISI/SAE Classification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75664" y="3131696"/>
            <a:ext cx="4217159" cy="26776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400">
                <a:solidFill>
                  <a:srgbClr val="CADCFC"/>
                </a:solidFill>
                <a:latin typeface="Calibri"/>
              </a:rPr>
              <a:t>How to read and use the four-digit steel designation code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31622" y="3962044"/>
            <a:ext cx="357517" cy="39162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2200">
                <a:solidFill>
                  <a:srgbClr val="FFFFFF"/>
                </a:solidFill>
                <a:latin typeface="Calibri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75664" y="3852253"/>
            <a:ext cx="3544758" cy="39162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2200">
                <a:solidFill>
                  <a:srgbClr val="FFFFFF"/>
                </a:solidFill>
                <a:latin typeface="Calibri"/>
              </a:rPr>
              <a:t>Alloy Steels &amp; Heat Treatment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75664" y="4228976"/>
            <a:ext cx="6078409" cy="26776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400">
                <a:solidFill>
                  <a:srgbClr val="CADCFC"/>
                </a:solidFill>
                <a:latin typeface="Calibri"/>
              </a:rPr>
              <a:t>Alloying elements, alloy steel families, CCT diagrams, and heat treatment processes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"/>
            <a:ext cx="9143644" cy="514332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"/>
            <a:ext cx="9144000" cy="5143677"/>
          </a:xfrm>
          <a:prstGeom prst="rect">
            <a:avLst/>
          </a:prstGeom>
          <a:solidFill>
            <a:srgbClr val="1C2B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09435" cy="5143309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1"/>
            <a:ext cx="9143631" cy="621360"/>
          </a:xfrm>
          <a:prstGeom prst="rect">
            <a:avLst/>
          </a:prstGeom>
          <a:solidFill>
            <a:srgbClr val="1C2B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55600" y="749886"/>
            <a:ext cx="4151160" cy="4187519"/>
          </a:xfrm>
          <a:prstGeom prst="rect">
            <a:avLst/>
          </a:prstGeom>
          <a:solidFill>
            <a:srgbClr val="1A2E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55600" y="749517"/>
            <a:ext cx="4151160" cy="402120"/>
          </a:xfrm>
          <a:prstGeom prst="rect">
            <a:avLst/>
          </a:prstGeom>
          <a:solidFill>
            <a:srgbClr val="2E4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02475" y="1791718"/>
            <a:ext cx="3858488" cy="36359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0" y="749886"/>
            <a:ext cx="4315676" cy="4187519"/>
          </a:xfrm>
          <a:prstGeom prst="rect">
            <a:avLst/>
          </a:prstGeom>
          <a:solidFill>
            <a:srgbClr val="1A2E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0" y="749517"/>
            <a:ext cx="4315676" cy="40212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717796" y="2559966"/>
            <a:ext cx="4023004" cy="36360"/>
          </a:xfrm>
          <a:prstGeom prst="rect">
            <a:avLst/>
          </a:prstGeom>
          <a:solidFill>
            <a:srgbClr val="6474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0" y="4534918"/>
            <a:ext cx="4315676" cy="40212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52704" y="144840"/>
            <a:ext cx="3397884" cy="360881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r>
              <a:rPr b="1" i="0" sz="2000">
                <a:solidFill>
                  <a:srgbClr val="E07B39"/>
                </a:solidFill>
                <a:latin typeface="Calibri"/>
              </a:rPr>
              <a:t>Alloy Research Portfolio — Module 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16344" y="193848"/>
            <a:ext cx="2224316" cy="252392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r>
              <a:rPr b="0" i="0" sz="1300">
                <a:solidFill>
                  <a:srgbClr val="64748B"/>
                </a:solidFill>
                <a:latin typeface="Calibri"/>
              </a:rPr>
              <a:t>No Microscope Required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89775" y="831872"/>
            <a:ext cx="1327075" cy="2365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200">
                <a:solidFill>
                  <a:srgbClr val="FFFFFF"/>
                </a:solidFill>
                <a:latin typeface="Calibri"/>
              </a:rPr>
              <a:t>Module 3  ·  Week 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89775" y="1352353"/>
            <a:ext cx="1883616" cy="29850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600">
                <a:solidFill>
                  <a:srgbClr val="FFFFFF"/>
                </a:solidFill>
                <a:latin typeface="Calibri"/>
              </a:rPr>
              <a:t>Carbon &amp; Alloy Steels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89775" y="1963827"/>
            <a:ext cx="1356597" cy="22120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100">
                <a:solidFill>
                  <a:srgbClr val="E07B39"/>
                </a:solidFill>
                <a:latin typeface="Calibri"/>
              </a:rPr>
              <a:t>What to do this week: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89775" y="2582361"/>
            <a:ext cx="3764042" cy="213301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r>
              <a:rPr b="0" i="0" sz="1000">
                <a:solidFill>
                  <a:srgbClr val="CADCFC"/>
                </a:solidFill>
                <a:latin typeface="Calibri"/>
              </a:rPr>
              <a:t>Research 1018, 1045, and 1075 steel: composition and published hardness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89775" y="2742204"/>
            <a:ext cx="2115721" cy="213301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r>
              <a:rPr b="0" i="0" sz="1000">
                <a:solidFill>
                  <a:srgbClr val="CADCFC"/>
                </a:solidFill>
                <a:latin typeface="Calibri"/>
              </a:rPr>
              <a:t>across the carbon range, then apply the lever rule.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89775" y="3435871"/>
            <a:ext cx="428459" cy="22120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100">
                <a:solidFill>
                  <a:srgbClr val="E07B39"/>
                </a:solidFill>
                <a:latin typeface="Calibri"/>
              </a:rPr>
              <a:t>Steps: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89775" y="3838821"/>
            <a:ext cx="1965187" cy="205833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r>
              <a:rPr b="0" i="0" sz="1000">
                <a:solidFill>
                  <a:srgbClr val="CADCFC"/>
                </a:solidFill>
                <a:latin typeface="Calibri"/>
              </a:rPr>
              <a:t>1  Research — record data &amp; sources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89775" y="3991462"/>
            <a:ext cx="2314392" cy="205833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r>
              <a:rPr b="0" i="0" sz="1000">
                <a:solidFill>
                  <a:srgbClr val="CADCFC"/>
                </a:solidFill>
                <a:latin typeface="Calibri"/>
              </a:rPr>
              <a:t>2  Answer — short-answer questions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89775" y="4144104"/>
            <a:ext cx="1640508" cy="205833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r>
              <a:rPr b="0" i="0" sz="1000">
                <a:solidFill>
                  <a:srgbClr val="CADCFC"/>
                </a:solidFill>
                <a:latin typeface="Calibri"/>
              </a:rPr>
              <a:t>3  Apply — critical-thinking &amp; equations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705096" y="831872"/>
            <a:ext cx="1597840" cy="236588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r>
              <a:rPr b="1" i="0" sz="1200">
                <a:solidFill>
                  <a:srgbClr val="FFFFFF"/>
                </a:solidFill>
                <a:latin typeface="Calibri"/>
              </a:rPr>
              <a:t>Alloys of Record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705096" y="1309034"/>
            <a:ext cx="1501146" cy="213301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r>
              <a:rPr b="0" i="0" sz="1000">
                <a:solidFill>
                  <a:srgbClr val="CADCFC"/>
                </a:solidFill>
                <a:latin typeface="Calibri"/>
              </a:rPr>
              <a:t>· Alloy A — 1018 steel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705096" y="1601718"/>
            <a:ext cx="1496750" cy="213301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r>
              <a:rPr b="0" i="0" sz="1000">
                <a:solidFill>
                  <a:srgbClr val="CADCFC"/>
                </a:solidFill>
                <a:latin typeface="Calibri"/>
              </a:rPr>
              <a:t>· Alloy B — 1045 steel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705096" y="1894402"/>
            <a:ext cx="1494885" cy="213301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r>
              <a:rPr b="0" i="0" sz="1000">
                <a:solidFill>
                  <a:srgbClr val="CADCFC"/>
                </a:solidFill>
                <a:latin typeface="Calibri"/>
              </a:rPr>
              <a:t>· Alloy C — 1075 steel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705096" y="2731707"/>
            <a:ext cx="1535518" cy="221202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r>
              <a:rPr b="1" i="0" sz="1100">
                <a:solidFill>
                  <a:srgbClr val="E07B39"/>
                </a:solidFill>
                <a:latin typeface="Calibri"/>
              </a:rPr>
              <a:t>How to Complete This Module: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705096" y="3219620"/>
            <a:ext cx="1771904" cy="205832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r>
              <a:rPr b="0" i="0" sz="1000">
                <a:solidFill>
                  <a:srgbClr val="CADCFC"/>
                </a:solidFill>
                <a:latin typeface="Calibri"/>
              </a:rPr>
              <a:t>1  Research the alloy(s) using credible sources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705096" y="3372261"/>
            <a:ext cx="1562482" cy="205833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r>
              <a:rPr b="0" i="0" sz="1000">
                <a:solidFill>
                  <a:srgbClr val="CADCFC"/>
                </a:solidFill>
                <a:latin typeface="Calibri"/>
              </a:rPr>
              <a:t>2  Record data with a source citation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705096" y="3524903"/>
            <a:ext cx="2208537" cy="205833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r>
              <a:rPr b="0" i="0" sz="1000">
                <a:solidFill>
                  <a:srgbClr val="CADCFC"/>
                </a:solidFill>
                <a:latin typeface="Calibri"/>
              </a:rPr>
              <a:t>3  Answer the short-answer questions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705096" y="3677544"/>
            <a:ext cx="1728317" cy="205833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r>
              <a:rPr b="0" i="0" sz="1000">
                <a:solidFill>
                  <a:srgbClr val="CADCFC"/>
                </a:solidFill>
                <a:latin typeface="Calibri"/>
              </a:rPr>
              <a:t>4  Answer the critical-thinking questions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705096" y="3830185"/>
            <a:ext cx="2548850" cy="205833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r>
              <a:rPr b="0" i="0" sz="1000">
                <a:solidFill>
                  <a:srgbClr val="CADCFC"/>
                </a:solidFill>
                <a:latin typeface="Calibri"/>
              </a:rPr>
              <a:t>5  Keep the module with your portfolio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705096" y="4637234"/>
            <a:ext cx="1765012" cy="21330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000">
                <a:solidFill>
                  <a:srgbClr val="FFFFFF"/>
                </a:solidFill>
                <a:latin typeface="Calibri"/>
              </a:rPr>
              <a:t>Portfolio Handout — Module 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"/>
            <a:ext cx="9143644" cy="514332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"/>
            <a:ext cx="9144000" cy="5143677"/>
          </a:xfrm>
          <a:prstGeom prst="rect">
            <a:avLst/>
          </a:prstGeom>
          <a:solidFill>
            <a:srgbClr val="EE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"/>
            <a:ext cx="9143631" cy="685444"/>
          </a:xfrm>
          <a:prstGeom prst="rect">
            <a:avLst/>
          </a:prstGeom>
          <a:solidFill>
            <a:srgbClr val="1C2B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82879" y="731522"/>
            <a:ext cx="1691284" cy="502564"/>
          </a:xfrm>
          <a:prstGeom prst="rect">
            <a:avLst/>
          </a:prstGeom>
          <a:solidFill>
            <a:srgbClr val="2E4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82879" y="1234086"/>
            <a:ext cx="1691284" cy="785876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82879" y="2057046"/>
            <a:ext cx="1691284" cy="785876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897557" y="731522"/>
            <a:ext cx="1691284" cy="502564"/>
          </a:xfrm>
          <a:prstGeom prst="rect">
            <a:avLst/>
          </a:prstGeom>
          <a:solidFill>
            <a:srgbClr val="1E6C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897557" y="1234086"/>
            <a:ext cx="1691284" cy="785876"/>
          </a:xfrm>
          <a:prstGeom prst="rect">
            <a:avLst/>
          </a:prstGeom>
          <a:solidFill>
            <a:srgbClr val="FFF3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897557" y="2057046"/>
            <a:ext cx="1691284" cy="785876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897557" y="2880006"/>
            <a:ext cx="1691284" cy="785876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611879" y="731522"/>
            <a:ext cx="1691284" cy="502564"/>
          </a:xfrm>
          <a:prstGeom prst="rect">
            <a:avLst/>
          </a:prstGeom>
          <a:solidFill>
            <a:srgbClr val="6B52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611879" y="1234086"/>
            <a:ext cx="1691284" cy="785876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611879" y="2057046"/>
            <a:ext cx="1691284" cy="785876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611879" y="2880006"/>
            <a:ext cx="1691284" cy="785876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326557" y="731522"/>
            <a:ext cx="1691284" cy="502564"/>
          </a:xfrm>
          <a:prstGeom prst="rect">
            <a:avLst/>
          </a:prstGeom>
          <a:solidFill>
            <a:srgbClr val="6B3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326557" y="1234086"/>
            <a:ext cx="1691284" cy="785876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326557" y="2057046"/>
            <a:ext cx="1691284" cy="785876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326557" y="2880006"/>
            <a:ext cx="1691284" cy="785876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326557" y="3702966"/>
            <a:ext cx="1691284" cy="785876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040880" y="731522"/>
            <a:ext cx="1691284" cy="502564"/>
          </a:xfrm>
          <a:prstGeom prst="rect">
            <a:avLst/>
          </a:prstGeom>
          <a:solidFill>
            <a:srgbClr val="5B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040880" y="1234086"/>
            <a:ext cx="1691284" cy="785876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040880" y="2057046"/>
            <a:ext cx="1691284" cy="785876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7040880" y="2880006"/>
            <a:ext cx="1691284" cy="785876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182879" y="4580638"/>
            <a:ext cx="8549284" cy="484199"/>
          </a:xfrm>
          <a:prstGeom prst="rect">
            <a:avLst/>
          </a:prstGeom>
          <a:solidFill>
            <a:srgbClr val="1C2B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98424" y="158292"/>
            <a:ext cx="4418042" cy="39162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2200">
                <a:solidFill>
                  <a:srgbClr val="FFFFFF"/>
                </a:solidFill>
                <a:latin typeface="Calibri"/>
              </a:rPr>
              <a:t>MECH 191 — Course &amp; Unit Roadmap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43255" y="765894"/>
            <a:ext cx="488803" cy="2523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300">
                <a:solidFill>
                  <a:srgbClr val="FFFFFF"/>
                </a:solidFill>
                <a:latin typeface="Calibri"/>
              </a:rPr>
              <a:t>Unit 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43255" y="1010671"/>
            <a:ext cx="1314684" cy="2058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000">
                <a:solidFill>
                  <a:srgbClr val="FFFFFF"/>
                </a:solidFill>
                <a:latin typeface="Calibri"/>
              </a:rPr>
              <a:t>Materials Fundamentals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15900" y="1293983"/>
            <a:ext cx="343187" cy="2058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000">
                <a:solidFill>
                  <a:srgbClr val="2E4A6B"/>
                </a:solidFill>
                <a:latin typeface="Calibri"/>
              </a:rPr>
              <a:t>Wk 1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43255" y="1476863"/>
            <a:ext cx="431886" cy="2058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000">
                <a:solidFill>
                  <a:srgbClr val="64748B"/>
                </a:solidFill>
                <a:latin typeface="Calibri"/>
              </a:rPr>
              <a:t>Aug 24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43255" y="1651356"/>
            <a:ext cx="1037161" cy="22120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100">
                <a:solidFill>
                  <a:srgbClr val="1A2433"/>
                </a:solidFill>
                <a:latin typeface="Calibri"/>
              </a:rPr>
              <a:t>Atomic Structure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43255" y="1819110"/>
            <a:ext cx="671074" cy="22120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100">
                <a:solidFill>
                  <a:srgbClr val="1A2433"/>
                </a:solidFill>
                <a:latin typeface="Calibri"/>
              </a:rPr>
              <a:t>&amp; Bonding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15900" y="2116943"/>
            <a:ext cx="343187" cy="2058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000">
                <a:solidFill>
                  <a:srgbClr val="2E4A6B"/>
                </a:solidFill>
                <a:latin typeface="Calibri"/>
              </a:rPr>
              <a:t>Wk 2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43255" y="2299823"/>
            <a:ext cx="431886" cy="2058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000">
                <a:solidFill>
                  <a:srgbClr val="64748B"/>
                </a:solidFill>
                <a:latin typeface="Calibri"/>
              </a:rPr>
              <a:t>Aug 31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43255" y="2474316"/>
            <a:ext cx="727642" cy="22120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100">
                <a:solidFill>
                  <a:srgbClr val="1A2433"/>
                </a:solidFill>
                <a:latin typeface="Calibri"/>
              </a:rPr>
              <a:t>Mechanical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43255" y="2642070"/>
            <a:ext cx="661995" cy="22120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100">
                <a:solidFill>
                  <a:srgbClr val="1A2433"/>
                </a:solidFill>
                <a:latin typeface="Calibri"/>
              </a:rPr>
              <a:t>Properties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957946" y="765894"/>
            <a:ext cx="488803" cy="2523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300">
                <a:solidFill>
                  <a:srgbClr val="FFFFFF"/>
                </a:solidFill>
                <a:latin typeface="Calibri"/>
              </a:rPr>
              <a:t>Unit 2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957946" y="1010671"/>
            <a:ext cx="776516" cy="2058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000">
                <a:solidFill>
                  <a:srgbClr val="FFFFFF"/>
                </a:solidFill>
                <a:latin typeface="Calibri"/>
              </a:rPr>
              <a:t>Steel &amp; Alloys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930577" y="1293983"/>
            <a:ext cx="783124" cy="2058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000">
                <a:solidFill>
                  <a:srgbClr val="E07B39"/>
                </a:solidFill>
                <a:latin typeface="Calibri"/>
              </a:rPr>
              <a:t>Wk 4  ← here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957946" y="1476863"/>
            <a:ext cx="419432" cy="2058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000">
                <a:solidFill>
                  <a:srgbClr val="64748B"/>
                </a:solidFill>
                <a:latin typeface="Calibri"/>
              </a:rPr>
              <a:t>Sep 14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957946" y="1651356"/>
            <a:ext cx="614366" cy="22120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100">
                <a:solidFill>
                  <a:srgbClr val="1A2433"/>
                </a:solidFill>
                <a:latin typeface="Calibri"/>
              </a:rPr>
              <a:t>Carbon &amp;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957946" y="1819110"/>
            <a:ext cx="724569" cy="22120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100">
                <a:solidFill>
                  <a:srgbClr val="1A2433"/>
                </a:solidFill>
                <a:latin typeface="Calibri"/>
              </a:rPr>
              <a:t>Alloy Steels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930577" y="2116943"/>
            <a:ext cx="343186" cy="2058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000">
                <a:solidFill>
                  <a:srgbClr val="1E6C52"/>
                </a:solidFill>
                <a:latin typeface="Calibri"/>
              </a:rPr>
              <a:t>Wk 5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957946" y="2299823"/>
            <a:ext cx="419432" cy="2058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000">
                <a:solidFill>
                  <a:srgbClr val="64748B"/>
                </a:solidFill>
                <a:latin typeface="Calibri"/>
              </a:rPr>
              <a:t>Sep 21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957946" y="2474316"/>
            <a:ext cx="696634" cy="22120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100">
                <a:solidFill>
                  <a:srgbClr val="1A2433"/>
                </a:solidFill>
                <a:latin typeface="Calibri"/>
              </a:rPr>
              <a:t>Stainless &amp;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957946" y="2642070"/>
            <a:ext cx="633082" cy="22120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100">
                <a:solidFill>
                  <a:srgbClr val="1A2433"/>
                </a:solidFill>
                <a:latin typeface="Calibri"/>
              </a:rPr>
              <a:t>Cast Irons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930577" y="2939903"/>
            <a:ext cx="343186" cy="2058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000">
                <a:solidFill>
                  <a:srgbClr val="1E6C52"/>
                </a:solidFill>
                <a:latin typeface="Calibri"/>
              </a:rPr>
              <a:t>Wk 6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957946" y="3122783"/>
            <a:ext cx="419432" cy="2058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000">
                <a:solidFill>
                  <a:srgbClr val="64748B"/>
                </a:solidFill>
                <a:latin typeface="Calibri"/>
              </a:rPr>
              <a:t>Sep 28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957946" y="3297276"/>
            <a:ext cx="845667" cy="22120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100">
                <a:solidFill>
                  <a:srgbClr val="1A2433"/>
                </a:solidFill>
                <a:latin typeface="Calibri"/>
              </a:rPr>
              <a:t>Nonferrous &amp;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957946" y="3465030"/>
            <a:ext cx="975843" cy="22120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100">
                <a:solidFill>
                  <a:srgbClr val="1A2433"/>
                </a:solidFill>
                <a:latin typeface="Calibri"/>
              </a:rPr>
              <a:t>Phase Diagrams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3672255" y="765894"/>
            <a:ext cx="488803" cy="2523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300">
                <a:solidFill>
                  <a:srgbClr val="FFFFFF"/>
                </a:solidFill>
                <a:latin typeface="Calibri"/>
              </a:rPr>
              <a:t>Unit 3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3672255" y="1010671"/>
            <a:ext cx="947307" cy="2058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000">
                <a:solidFill>
                  <a:srgbClr val="FFFFFF"/>
                </a:solidFill>
                <a:latin typeface="Calibri"/>
              </a:rPr>
              <a:t>Testing &amp; Quality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3644900" y="1293983"/>
            <a:ext cx="343187" cy="2058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000">
                <a:solidFill>
                  <a:srgbClr val="6B5219"/>
                </a:solidFill>
                <a:latin typeface="Calibri"/>
              </a:rPr>
              <a:t>Wk 7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3672255" y="1476863"/>
            <a:ext cx="347762" cy="2058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000">
                <a:solidFill>
                  <a:srgbClr val="64748B"/>
                </a:solidFill>
                <a:latin typeface="Calibri"/>
              </a:rPr>
              <a:t>Oct 5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3672255" y="1651356"/>
            <a:ext cx="727642" cy="22120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100">
                <a:solidFill>
                  <a:srgbClr val="1A2433"/>
                </a:solidFill>
                <a:latin typeface="Calibri"/>
              </a:rPr>
              <a:t>Mechanical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3672255" y="1819110"/>
            <a:ext cx="470780" cy="22120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100">
                <a:solidFill>
                  <a:srgbClr val="1A2433"/>
                </a:solidFill>
                <a:latin typeface="Calibri"/>
              </a:rPr>
              <a:t>Testing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3644900" y="2116943"/>
            <a:ext cx="343187" cy="2058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000">
                <a:solidFill>
                  <a:srgbClr val="6B5219"/>
                </a:solidFill>
                <a:latin typeface="Calibri"/>
              </a:rPr>
              <a:t>Wk 8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3672255" y="2299823"/>
            <a:ext cx="411935" cy="2058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000">
                <a:solidFill>
                  <a:srgbClr val="64748B"/>
                </a:solidFill>
                <a:latin typeface="Calibri"/>
              </a:rPr>
              <a:t>Oct 12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3672255" y="2558187"/>
            <a:ext cx="861450" cy="22120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100">
                <a:solidFill>
                  <a:srgbClr val="1A2433"/>
                </a:solidFill>
                <a:latin typeface="Calibri"/>
              </a:rPr>
              <a:t>NDT Methods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3644900" y="2939903"/>
            <a:ext cx="343187" cy="2058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000">
                <a:solidFill>
                  <a:srgbClr val="6B5219"/>
                </a:solidFill>
                <a:latin typeface="Calibri"/>
              </a:rPr>
              <a:t>Wk 9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3672255" y="3122783"/>
            <a:ext cx="411935" cy="2058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000">
                <a:solidFill>
                  <a:srgbClr val="64748B"/>
                </a:solidFill>
                <a:latin typeface="Calibri"/>
              </a:rPr>
              <a:t>Oct 19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3672255" y="3297276"/>
            <a:ext cx="484888" cy="22120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100">
                <a:solidFill>
                  <a:srgbClr val="1A2433"/>
                </a:solidFill>
                <a:latin typeface="Calibri"/>
              </a:rPr>
              <a:t>Quality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3672255" y="3465030"/>
            <a:ext cx="641044" cy="22120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100">
                <a:solidFill>
                  <a:srgbClr val="1A2433"/>
                </a:solidFill>
                <a:latin typeface="Calibri"/>
              </a:rPr>
              <a:t>Standards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5386946" y="765894"/>
            <a:ext cx="488803" cy="2523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300">
                <a:solidFill>
                  <a:srgbClr val="FFFFFF"/>
                </a:solidFill>
                <a:latin typeface="Calibri"/>
              </a:rPr>
              <a:t>Unit 4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5386946" y="1010671"/>
            <a:ext cx="835226" cy="2058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000">
                <a:solidFill>
                  <a:srgbClr val="FFFFFF"/>
                </a:solidFill>
                <a:latin typeface="Calibri"/>
              </a:rPr>
              <a:t>Manufacturing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5359577" y="1293983"/>
            <a:ext cx="407360" cy="2058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000">
                <a:solidFill>
                  <a:srgbClr val="6B3A2E"/>
                </a:solidFill>
                <a:latin typeface="Calibri"/>
              </a:rPr>
              <a:t>Wk 10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5386946" y="1476863"/>
            <a:ext cx="411935" cy="2058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000">
                <a:solidFill>
                  <a:srgbClr val="64748B"/>
                </a:solidFill>
                <a:latin typeface="Calibri"/>
              </a:rPr>
              <a:t>Oct 26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5386946" y="1735227"/>
            <a:ext cx="487541" cy="22120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100">
                <a:solidFill>
                  <a:srgbClr val="1A2433"/>
                </a:solidFill>
                <a:latin typeface="Calibri"/>
              </a:rPr>
              <a:t>Casting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5359577" y="2116943"/>
            <a:ext cx="407360" cy="2058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000">
                <a:solidFill>
                  <a:srgbClr val="6B3A2E"/>
                </a:solidFill>
                <a:latin typeface="Calibri"/>
              </a:rPr>
              <a:t>Wk 11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5386946" y="2299823"/>
            <a:ext cx="373685" cy="2058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000">
                <a:solidFill>
                  <a:srgbClr val="64748B"/>
                </a:solidFill>
                <a:latin typeface="Calibri"/>
              </a:rPr>
              <a:t>Nov 2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5386946" y="2558187"/>
            <a:ext cx="543970" cy="22120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100">
                <a:solidFill>
                  <a:srgbClr val="1A2433"/>
                </a:solidFill>
                <a:latin typeface="Calibri"/>
              </a:rPr>
              <a:t>Forming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5359577" y="2939903"/>
            <a:ext cx="407360" cy="2058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000">
                <a:solidFill>
                  <a:srgbClr val="6B3A2E"/>
                </a:solidFill>
                <a:latin typeface="Calibri"/>
              </a:rPr>
              <a:t>Wk 12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5386946" y="3122783"/>
            <a:ext cx="373685" cy="2058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000">
                <a:solidFill>
                  <a:srgbClr val="64748B"/>
                </a:solidFill>
                <a:latin typeface="Calibri"/>
              </a:rPr>
              <a:t>Nov 9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5386946" y="3381147"/>
            <a:ext cx="671633" cy="22120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100">
                <a:solidFill>
                  <a:srgbClr val="1A2433"/>
                </a:solidFill>
                <a:latin typeface="Calibri"/>
              </a:rPr>
              <a:t>Machining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5359577" y="3762862"/>
            <a:ext cx="407360" cy="20583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000">
                <a:solidFill>
                  <a:srgbClr val="6B3A2E"/>
                </a:solidFill>
                <a:latin typeface="Calibri"/>
              </a:rPr>
              <a:t>Wk 13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5386946" y="3945743"/>
            <a:ext cx="437858" cy="20583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000">
                <a:solidFill>
                  <a:srgbClr val="64748B"/>
                </a:solidFill>
                <a:latin typeface="Calibri"/>
              </a:rPr>
              <a:t>Nov 16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5386946" y="4120236"/>
            <a:ext cx="508632" cy="22120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100">
                <a:solidFill>
                  <a:srgbClr val="1A2433"/>
                </a:solidFill>
                <a:latin typeface="Calibri"/>
              </a:rPr>
              <a:t>Powder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5386946" y="4287990"/>
            <a:ext cx="690349" cy="22120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100">
                <a:solidFill>
                  <a:srgbClr val="1A2433"/>
                </a:solidFill>
                <a:latin typeface="Calibri"/>
              </a:rPr>
              <a:t>Metallurgy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7101255" y="765894"/>
            <a:ext cx="488803" cy="2523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300">
                <a:solidFill>
                  <a:srgbClr val="FFFFFF"/>
                </a:solidFill>
                <a:latin typeface="Calibri"/>
              </a:rPr>
              <a:t>Unit 5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7101255" y="1010671"/>
            <a:ext cx="921257" cy="2058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000">
                <a:solidFill>
                  <a:srgbClr val="FFFFFF"/>
                </a:solidFill>
                <a:latin typeface="Calibri"/>
              </a:rPr>
              <a:t>Joining &amp; Failure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7073900" y="1293983"/>
            <a:ext cx="407360" cy="2058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000">
                <a:solidFill>
                  <a:srgbClr val="5B2E6B"/>
                </a:solidFill>
                <a:latin typeface="Calibri"/>
              </a:rPr>
              <a:t>Wk 14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7101255" y="1476863"/>
            <a:ext cx="437859" cy="2058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000">
                <a:solidFill>
                  <a:srgbClr val="64748B"/>
                </a:solidFill>
                <a:latin typeface="Calibri"/>
              </a:rPr>
              <a:t>Nov 23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7101255" y="1651356"/>
            <a:ext cx="542014" cy="22120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100">
                <a:solidFill>
                  <a:srgbClr val="1A2433"/>
                </a:solidFill>
                <a:latin typeface="Calibri"/>
              </a:rPr>
              <a:t>Welding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7101255" y="1819110"/>
            <a:ext cx="631686" cy="22120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100">
                <a:solidFill>
                  <a:srgbClr val="1A2433"/>
                </a:solidFill>
                <a:latin typeface="Calibri"/>
              </a:rPr>
              <a:t>Processes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7073900" y="2116943"/>
            <a:ext cx="407360" cy="2058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000">
                <a:solidFill>
                  <a:srgbClr val="5B2E6B"/>
                </a:solidFill>
                <a:latin typeface="Calibri"/>
              </a:rPr>
              <a:t>Wk 15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7101255" y="2299823"/>
            <a:ext cx="437859" cy="2058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000">
                <a:solidFill>
                  <a:srgbClr val="64748B"/>
                </a:solidFill>
                <a:latin typeface="Calibri"/>
              </a:rPr>
              <a:t>Nov 30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7101255" y="2474316"/>
            <a:ext cx="1016210" cy="22120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100">
                <a:solidFill>
                  <a:srgbClr val="1A2433"/>
                </a:solidFill>
                <a:latin typeface="Calibri"/>
              </a:rPr>
              <a:t>Weld Metallurgy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7101255" y="2642070"/>
            <a:ext cx="584057" cy="22120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100">
                <a:solidFill>
                  <a:srgbClr val="1A2433"/>
                </a:solidFill>
                <a:latin typeface="Calibri"/>
              </a:rPr>
              <a:t>&amp; Failure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7073900" y="2939903"/>
            <a:ext cx="407360" cy="2058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000">
                <a:solidFill>
                  <a:srgbClr val="5B2E6B"/>
                </a:solidFill>
                <a:latin typeface="Calibri"/>
              </a:rPr>
              <a:t>Wk 16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7101255" y="3122783"/>
            <a:ext cx="362883" cy="2058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000">
                <a:solidFill>
                  <a:srgbClr val="64748B"/>
                </a:solidFill>
                <a:latin typeface="Calibri"/>
              </a:rPr>
              <a:t>Dec 7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7101255" y="3297276"/>
            <a:ext cx="627636" cy="22120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100">
                <a:solidFill>
                  <a:srgbClr val="1A2433"/>
                </a:solidFill>
                <a:latin typeface="Calibri"/>
              </a:rPr>
              <a:t>Corrosion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7101255" y="3465030"/>
            <a:ext cx="699009" cy="22120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100">
                <a:solidFill>
                  <a:srgbClr val="1A2433"/>
                </a:solidFill>
                <a:latin typeface="Calibri"/>
              </a:rPr>
              <a:t>&amp; Wrap-up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3559936" y="4699854"/>
            <a:ext cx="1843553" cy="26776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400">
                <a:solidFill>
                  <a:srgbClr val="FFFFFF"/>
                </a:solidFill>
                <a:latin typeface="Calibri"/>
              </a:rPr>
              <a:t>Week 17  ·  FINAL EXAM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"/>
            <a:ext cx="9143644" cy="514332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"/>
            <a:ext cx="9144000" cy="5143677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"/>
            <a:ext cx="9143631" cy="685444"/>
          </a:xfrm>
          <a:prstGeom prst="rect">
            <a:avLst/>
          </a:prstGeom>
          <a:solidFill>
            <a:srgbClr val="1C2B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65404" y="804242"/>
            <a:ext cx="5120271" cy="4114444"/>
          </a:xfrm>
          <a:prstGeom prst="rect">
            <a:avLst/>
          </a:prstGeom>
          <a:solidFill>
            <a:srgbClr val="EE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404" y="804597"/>
            <a:ext cx="5120271" cy="438480"/>
          </a:xfrm>
          <a:prstGeom prst="rect">
            <a:avLst/>
          </a:prstGeom>
          <a:solidFill>
            <a:srgbClr val="2E4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623204" y="804242"/>
            <a:ext cx="3291471" cy="4114444"/>
          </a:xfrm>
          <a:prstGeom prst="rect">
            <a:avLst/>
          </a:prstGeom>
          <a:solidFill>
            <a:srgbClr val="EE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623204" y="804597"/>
            <a:ext cx="3291471" cy="43848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806084" y="2303997"/>
            <a:ext cx="2834271" cy="27000"/>
          </a:xfrm>
          <a:prstGeom prst="rect">
            <a:avLst/>
          </a:prstGeom>
          <a:solidFill>
            <a:srgbClr val="C8D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806084" y="3035518"/>
            <a:ext cx="2834271" cy="27000"/>
          </a:xfrm>
          <a:prstGeom prst="rect">
            <a:avLst/>
          </a:prstGeom>
          <a:solidFill>
            <a:srgbClr val="C8D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806084" y="3949917"/>
            <a:ext cx="2834271" cy="27000"/>
          </a:xfrm>
          <a:prstGeom prst="rect">
            <a:avLst/>
          </a:prstGeom>
          <a:solidFill>
            <a:srgbClr val="C8D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98424" y="158292"/>
            <a:ext cx="2625936" cy="39162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2200">
                <a:solidFill>
                  <a:srgbClr val="FFFFFF"/>
                </a:solidFill>
                <a:latin typeface="Calibri"/>
              </a:rPr>
              <a:t>Week 4 — At a Glance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5584" y="905094"/>
            <a:ext cx="529153" cy="26776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400">
                <a:solidFill>
                  <a:srgbClr val="FFFFFF"/>
                </a:solidFill>
                <a:latin typeface="Calibri"/>
              </a:rPr>
              <a:t>Topics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5576" y="1357950"/>
            <a:ext cx="132560" cy="24734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300">
                <a:solidFill>
                  <a:srgbClr val="1A2433"/>
                </a:solidFill>
                <a:latin typeface="Calibri"/>
              </a:rPr>
              <a:t>•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8654" y="1380454"/>
            <a:ext cx="2995686" cy="24449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300">
                <a:solidFill>
                  <a:srgbClr val="1A2433"/>
                </a:solidFill>
                <a:latin typeface="Calibri"/>
              </a:rPr>
              <a:t>Iron and steel — the difference carbon makes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5576" y="1548386"/>
            <a:ext cx="132560" cy="24734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300">
                <a:solidFill>
                  <a:srgbClr val="1A2433"/>
                </a:solidFill>
                <a:latin typeface="Calibri"/>
              </a:rPr>
              <a:t>•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8654" y="1570903"/>
            <a:ext cx="4148303" cy="24449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300">
                <a:solidFill>
                  <a:srgbClr val="1A2433"/>
                </a:solidFill>
                <a:latin typeface="Calibri"/>
              </a:rPr>
              <a:t>How carbon content controls strength, ductility, and weldability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5576" y="1738823"/>
            <a:ext cx="132560" cy="24734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300">
                <a:solidFill>
                  <a:srgbClr val="1A2433"/>
                </a:solidFill>
                <a:latin typeface="Calibri"/>
              </a:rPr>
              <a:t>•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8654" y="1761340"/>
            <a:ext cx="4052253" cy="24449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300">
                <a:solidFill>
                  <a:srgbClr val="1A2433"/>
                </a:solidFill>
                <a:latin typeface="Calibri"/>
              </a:rPr>
              <a:t>The carbon content spectrum: pure iron → low → medium → 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8654" y="1951776"/>
            <a:ext cx="1596670" cy="24449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300">
                <a:solidFill>
                  <a:srgbClr val="1A2433"/>
                </a:solidFill>
                <a:latin typeface="Calibri"/>
              </a:rPr>
              <a:t>high carbon → cast iron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5576" y="2119709"/>
            <a:ext cx="132560" cy="24734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300">
                <a:solidFill>
                  <a:srgbClr val="1A2433"/>
                </a:solidFill>
                <a:latin typeface="Calibri"/>
              </a:rPr>
              <a:t>•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68654" y="2142225"/>
            <a:ext cx="2586714" cy="24449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300">
                <a:solidFill>
                  <a:srgbClr val="1A2433"/>
                </a:solidFill>
                <a:latin typeface="Calibri"/>
              </a:rPr>
              <a:t>AISI/SAE four-digit classification system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5576" y="2310145"/>
            <a:ext cx="132560" cy="24734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300">
                <a:solidFill>
                  <a:srgbClr val="1A2433"/>
                </a:solidFill>
                <a:latin typeface="Calibri"/>
              </a:rPr>
              <a:t>•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68654" y="2332662"/>
            <a:ext cx="3101263" cy="24449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300">
                <a:solidFill>
                  <a:srgbClr val="1A2433"/>
                </a:solidFill>
                <a:latin typeface="Calibri"/>
              </a:rPr>
              <a:t>Plain carbon steel grades and their applications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5576" y="2500582"/>
            <a:ext cx="132560" cy="24734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300">
                <a:solidFill>
                  <a:srgbClr val="1A2433"/>
                </a:solidFill>
                <a:latin typeface="Calibri"/>
              </a:rPr>
              <a:t>•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68654" y="2523098"/>
            <a:ext cx="3695195" cy="24449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300">
                <a:solidFill>
                  <a:srgbClr val="1A2433"/>
                </a:solidFill>
                <a:latin typeface="Calibri"/>
              </a:rPr>
              <a:t>Alloying elements (Mn, Cr, Ni, Mo, V, Si) and their effects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5576" y="2691031"/>
            <a:ext cx="132560" cy="24734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300">
                <a:solidFill>
                  <a:srgbClr val="1A2433"/>
                </a:solidFill>
                <a:latin typeface="Calibri"/>
              </a:rPr>
              <a:t>•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68654" y="2713535"/>
            <a:ext cx="3724248" cy="24449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300">
                <a:solidFill>
                  <a:srgbClr val="1A2433"/>
                </a:solidFill>
                <a:latin typeface="Calibri"/>
              </a:rPr>
              <a:t>When and why to specify an alloy steel over plain carbon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793384" y="905094"/>
            <a:ext cx="821342" cy="26776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400">
                <a:solidFill>
                  <a:srgbClr val="FFFFFF"/>
                </a:solidFill>
                <a:latin typeface="Calibri"/>
              </a:rPr>
              <a:t>Resources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793384" y="1389871"/>
            <a:ext cx="1279561" cy="2365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200">
                <a:solidFill>
                  <a:srgbClr val="E07B39"/>
                </a:solidFill>
                <a:latin typeface="Calibri"/>
              </a:rPr>
              <a:t>Reference Material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793384" y="1755631"/>
            <a:ext cx="1849869" cy="2365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200">
                <a:solidFill>
                  <a:srgbClr val="1A2433"/>
                </a:solidFill>
                <a:latin typeface="Calibri"/>
              </a:rPr>
              <a:t>Moniz 5th — Ch. 11, 12 &amp; 14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793384" y="1938511"/>
            <a:ext cx="2870641" cy="2365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200">
                <a:solidFill>
                  <a:srgbClr val="1A2433"/>
                </a:solidFill>
                <a:latin typeface="Calibri"/>
              </a:rPr>
              <a:t>Iron &amp; Steel / Carbon Steels / Heat Treatment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793384" y="2487151"/>
            <a:ext cx="1715098" cy="2365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200">
                <a:solidFill>
                  <a:srgbClr val="1A2433"/>
                </a:solidFill>
                <a:latin typeface="Calibri"/>
              </a:rPr>
              <a:t>Kalpakjian 6th — Ch. 5 &amp; 6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793384" y="2670031"/>
            <a:ext cx="1930734" cy="2365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200">
                <a:solidFill>
                  <a:srgbClr val="1A2433"/>
                </a:solidFill>
                <a:latin typeface="Calibri"/>
              </a:rPr>
              <a:t>Metal Alloys &amp; Ferrous Metals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793384" y="3145583"/>
            <a:ext cx="682906" cy="2365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200">
                <a:solidFill>
                  <a:srgbClr val="E07B39"/>
                </a:solidFill>
                <a:latin typeface="Calibri"/>
              </a:rPr>
              <a:t>Visualizer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793384" y="3456631"/>
            <a:ext cx="1770529" cy="2365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200">
                <a:solidFill>
                  <a:srgbClr val="1A2433"/>
                </a:solidFill>
                <a:latin typeface="Calibri"/>
              </a:rPr>
              <a:t>Iron-Carbon Phase Diagram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793384" y="3639511"/>
            <a:ext cx="824075" cy="2365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200">
                <a:solidFill>
                  <a:srgbClr val="1A2433"/>
                </a:solidFill>
                <a:latin typeface="Calibri"/>
              </a:rPr>
              <a:t>(Interactive)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793384" y="4041631"/>
            <a:ext cx="707119" cy="2365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200">
                <a:solidFill>
                  <a:srgbClr val="E07B39"/>
                </a:solidFill>
                <a:latin typeface="Calibri"/>
              </a:rPr>
              <a:t>Reference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793384" y="4425387"/>
            <a:ext cx="2116066" cy="2365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200">
                <a:solidFill>
                  <a:srgbClr val="1A2433"/>
                </a:solidFill>
                <a:latin typeface="Calibri"/>
              </a:rPr>
              <a:t>AISI/SAE Steel Designation Codes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"/>
            <a:ext cx="9143644" cy="514332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"/>
            <a:ext cx="9144000" cy="5143677"/>
          </a:xfrm>
          <a:prstGeom prst="rect">
            <a:avLst/>
          </a:prstGeom>
          <a:solidFill>
            <a:srgbClr val="1C2B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09435" cy="5143309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65404" y="1389966"/>
            <a:ext cx="8320671" cy="45351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404" y="1919886"/>
            <a:ext cx="402120" cy="40212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404" y="2541602"/>
            <a:ext cx="402120" cy="40212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65404" y="3163317"/>
            <a:ext cx="402120" cy="40212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65404" y="3785402"/>
            <a:ext cx="402120" cy="40212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65404" y="4407117"/>
            <a:ext cx="402120" cy="40212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42696" y="806275"/>
            <a:ext cx="2642450" cy="54665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3200">
                <a:solidFill>
                  <a:srgbClr val="FFFFFF"/>
                </a:solidFill>
                <a:latin typeface="Calibri"/>
              </a:rPr>
              <a:t>Core Questions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2696" y="1547097"/>
            <a:ext cx="6146943" cy="2523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300">
                <a:solidFill>
                  <a:srgbClr val="CADCFC"/>
                </a:solidFill>
                <a:latin typeface="Calibri"/>
              </a:rPr>
              <a:t>Try to answer these before we dive in — we'll revisit them with answers at the end of class.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95617" y="1969530"/>
            <a:ext cx="191871" cy="3296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80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9700" y="1978732"/>
            <a:ext cx="7195883" cy="2523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300">
                <a:solidFill>
                  <a:srgbClr val="FFFFFF"/>
                </a:solidFill>
                <a:latin typeface="Calibri"/>
              </a:rPr>
              <a:t>Why is low-carbon steel easy to weld while welding high-carbon steel requires preheat and post-weld heat 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9700" y="2177093"/>
            <a:ext cx="829858" cy="2523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300">
                <a:solidFill>
                  <a:srgbClr val="FFFFFF"/>
                </a:solidFill>
                <a:latin typeface="Calibri"/>
              </a:rPr>
              <a:t>treatment?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95617" y="2591259"/>
            <a:ext cx="191871" cy="3296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80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09700" y="2699812"/>
            <a:ext cx="7276354" cy="2523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300">
                <a:solidFill>
                  <a:srgbClr val="FFFFFF"/>
                </a:solidFill>
                <a:latin typeface="Calibri"/>
              </a:rPr>
              <a:t>An AISI/SAE designation reads 4340. What does each part tell you about the composition and intended use?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95617" y="3212975"/>
            <a:ext cx="191871" cy="3296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80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9700" y="3222176"/>
            <a:ext cx="7126814" cy="2523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300">
                <a:solidFill>
                  <a:srgbClr val="FFFFFF"/>
                </a:solidFill>
                <a:latin typeface="Calibri"/>
              </a:rPr>
              <a:t>Nickel, chromium, and molybdenum are all common alloying elements. What specific property does each 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09700" y="3420537"/>
            <a:ext cx="1487512" cy="2523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300">
                <a:solidFill>
                  <a:srgbClr val="FFFFFF"/>
                </a:solidFill>
                <a:latin typeface="Calibri"/>
              </a:rPr>
              <a:t>primarily contribute?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95617" y="3835059"/>
            <a:ext cx="191871" cy="32969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80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09700" y="3843892"/>
            <a:ext cx="7466544" cy="2523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300">
                <a:solidFill>
                  <a:srgbClr val="FFFFFF"/>
                </a:solidFill>
                <a:latin typeface="Calibri"/>
              </a:rPr>
              <a:t>Two steels with the same ultimate tensile strength: one plain carbon, one quenched-and-tempered alloy steel. 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09700" y="4042253"/>
            <a:ext cx="2643528" cy="2523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300">
                <a:solidFill>
                  <a:srgbClr val="FFFFFF"/>
                </a:solidFill>
                <a:latin typeface="Calibri"/>
              </a:rPr>
              <a:t>Why might you choose the alloy steel?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95617" y="4456775"/>
            <a:ext cx="191871" cy="32969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80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09700" y="4465608"/>
            <a:ext cx="7348401" cy="2523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300">
                <a:solidFill>
                  <a:srgbClr val="FFFFFF"/>
                </a:solidFill>
                <a:latin typeface="Calibri"/>
              </a:rPr>
              <a:t>You need steel for a cutting tool that must hold a sharp edge under high contact stress. What carbon content 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9700" y="4663969"/>
            <a:ext cx="3057950" cy="2523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300">
                <a:solidFill>
                  <a:srgbClr val="FFFFFF"/>
                </a:solidFill>
                <a:latin typeface="Calibri"/>
              </a:rPr>
              <a:t>range and steel category should you specify?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"/>
            <a:ext cx="9143644" cy="514332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"/>
            <a:ext cx="9144000" cy="5143677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"/>
            <a:ext cx="9143631" cy="685444"/>
          </a:xfrm>
          <a:prstGeom prst="rect">
            <a:avLst/>
          </a:prstGeom>
          <a:solidFill>
            <a:srgbClr val="1C2B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65759" y="1279806"/>
            <a:ext cx="4251604" cy="3748671"/>
          </a:xfrm>
          <a:prstGeom prst="rect">
            <a:avLst/>
          </a:prstGeom>
          <a:solidFill>
            <a:srgbClr val="EE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59" y="1280162"/>
            <a:ext cx="4251604" cy="475195"/>
          </a:xfrm>
          <a:prstGeom prst="rect">
            <a:avLst/>
          </a:prstGeom>
          <a:solidFill>
            <a:srgbClr val="3B6FB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19" y="4169157"/>
            <a:ext cx="3977284" cy="27000"/>
          </a:xfrm>
          <a:prstGeom prst="rect">
            <a:avLst/>
          </a:prstGeom>
          <a:solidFill>
            <a:srgbClr val="3B6FB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800600" y="1279806"/>
            <a:ext cx="4251604" cy="3748671"/>
          </a:xfrm>
          <a:prstGeom prst="rect">
            <a:avLst/>
          </a:prstGeom>
          <a:solidFill>
            <a:srgbClr val="EE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800600" y="1280162"/>
            <a:ext cx="4251604" cy="475195"/>
          </a:xfrm>
          <a:prstGeom prst="rect">
            <a:avLst/>
          </a:prstGeom>
          <a:solidFill>
            <a:srgbClr val="1E6C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937759" y="4169157"/>
            <a:ext cx="3977284" cy="27000"/>
          </a:xfrm>
          <a:prstGeom prst="rect">
            <a:avLst/>
          </a:prstGeom>
          <a:solidFill>
            <a:srgbClr val="1E6C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98424" y="158292"/>
            <a:ext cx="4109067" cy="39162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2200">
                <a:solidFill>
                  <a:srgbClr val="FFFFFF"/>
                </a:solidFill>
                <a:latin typeface="Calibri"/>
              </a:rPr>
              <a:t>Iron vs. Steel — What Carbon Does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8416" y="740534"/>
            <a:ext cx="8015944" cy="27566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1" sz="1500">
                <a:solidFill>
                  <a:srgbClr val="1C2B3A"/>
                </a:solidFill>
                <a:latin typeface="Calibri"/>
              </a:rPr>
              <a:t>Pure iron is a soft, weak metal with limited structural use. Steel is what happens when you dissolve carbon 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8416" y="961577"/>
            <a:ext cx="3225409" cy="27566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1" sz="1500">
                <a:solidFill>
                  <a:srgbClr val="1C2B3A"/>
                </a:solidFill>
                <a:latin typeface="Calibri"/>
              </a:rPr>
              <a:t>into iron — and control exactly how much.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0860" y="1393625"/>
            <a:ext cx="243367" cy="26776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400">
                <a:solidFill>
                  <a:srgbClr val="FFFFFF"/>
                </a:solidFill>
                <a:latin typeface="Calibri"/>
              </a:rPr>
              <a:t>Fe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67460" y="1372762"/>
            <a:ext cx="903054" cy="31432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700">
                <a:solidFill>
                  <a:srgbClr val="FFFFFF"/>
                </a:solidFill>
                <a:latin typeface="Calibri"/>
              </a:rPr>
              <a:t>Pure Iron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80224" y="2264425"/>
            <a:ext cx="132560" cy="24734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300">
                <a:solidFill>
                  <a:srgbClr val="1A2433"/>
                </a:solidFill>
                <a:latin typeface="Calibri"/>
              </a:rPr>
              <a:t>•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23302" y="2286942"/>
            <a:ext cx="3317974" cy="24449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300">
                <a:solidFill>
                  <a:srgbClr val="1A2433"/>
                </a:solidFill>
                <a:latin typeface="Calibri"/>
              </a:rPr>
              <a:t>BCC crystal structure at room temperature (ferrite 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23302" y="2477378"/>
            <a:ext cx="506447" cy="24449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300">
                <a:solidFill>
                  <a:srgbClr val="1A2433"/>
                </a:solidFill>
                <a:latin typeface="Calibri"/>
              </a:rPr>
              <a:t>phase)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80224" y="2645311"/>
            <a:ext cx="132560" cy="24734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300">
                <a:solidFill>
                  <a:srgbClr val="1A2433"/>
                </a:solidFill>
                <a:latin typeface="Calibri"/>
              </a:rPr>
              <a:t>•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23302" y="2667815"/>
            <a:ext cx="2808981" cy="24449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300">
                <a:solidFill>
                  <a:srgbClr val="1A2433"/>
                </a:solidFill>
                <a:latin typeface="Calibri"/>
              </a:rPr>
              <a:t>Extremely soft — yield strength ≈ 130 MPa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80224" y="2835747"/>
            <a:ext cx="132560" cy="24734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300">
                <a:solidFill>
                  <a:srgbClr val="1A2433"/>
                </a:solidFill>
                <a:latin typeface="Calibri"/>
              </a:rPr>
              <a:t>•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23302" y="2858264"/>
            <a:ext cx="2825652" cy="24449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300">
                <a:solidFill>
                  <a:srgbClr val="1A2433"/>
                </a:solidFill>
                <a:latin typeface="Calibri"/>
              </a:rPr>
              <a:t>High ductility — almost too easy to deform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80224" y="3026184"/>
            <a:ext cx="132560" cy="24734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300">
                <a:solidFill>
                  <a:srgbClr val="1A2433"/>
                </a:solidFill>
                <a:latin typeface="Calibri"/>
              </a:rPr>
              <a:t>•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23302" y="3048701"/>
            <a:ext cx="3233829" cy="24449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300">
                <a:solidFill>
                  <a:srgbClr val="1A2433"/>
                </a:solidFill>
                <a:latin typeface="Calibri"/>
              </a:rPr>
              <a:t>No carbon = no lattice distortion = no dislocation 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23302" y="3239137"/>
            <a:ext cx="612024" cy="24449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300">
                <a:solidFill>
                  <a:srgbClr val="1A2433"/>
                </a:solidFill>
                <a:latin typeface="Calibri"/>
              </a:rPr>
              <a:t>blocking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80224" y="3407069"/>
            <a:ext cx="132560" cy="24734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300">
                <a:solidFill>
                  <a:srgbClr val="1A2433"/>
                </a:solidFill>
                <a:latin typeface="Calibri"/>
              </a:rPr>
              <a:t>•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23302" y="3429574"/>
            <a:ext cx="2287605" cy="24449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300">
                <a:solidFill>
                  <a:srgbClr val="1A2433"/>
                </a:solidFill>
                <a:latin typeface="Calibri"/>
              </a:rPr>
              <a:t>Rarely used structurally on its own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90219" y="4337673"/>
            <a:ext cx="3708439" cy="22120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1" sz="1100">
                <a:solidFill>
                  <a:srgbClr val="64748B"/>
                </a:solidFill>
                <a:latin typeface="Calibri"/>
              </a:rPr>
              <a:t>Iron is BCC below 912°C (ferrite) and FCC above (austenite). This 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90219" y="4505427"/>
            <a:ext cx="3972842" cy="22120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1" sz="1100">
                <a:solidFill>
                  <a:srgbClr val="64748B"/>
                </a:solidFill>
                <a:latin typeface="Calibri"/>
              </a:rPr>
              <a:t>allotropy is the foundation of all heat treatment — revisited in detail 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90219" y="4673194"/>
            <a:ext cx="665208" cy="22120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1" sz="1100">
                <a:solidFill>
                  <a:srgbClr val="64748B"/>
                </a:solidFill>
                <a:latin typeface="Calibri"/>
              </a:rPr>
              <a:t>in Week 6.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915699" y="1393625"/>
            <a:ext cx="427252" cy="26776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400">
                <a:solidFill>
                  <a:srgbClr val="FFFFFF"/>
                </a:solidFill>
                <a:latin typeface="Calibri"/>
              </a:rPr>
              <a:t>Fe+C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702300" y="1372762"/>
            <a:ext cx="520731" cy="31432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700">
                <a:solidFill>
                  <a:srgbClr val="FFFFFF"/>
                </a:solidFill>
                <a:latin typeface="Calibri"/>
              </a:rPr>
              <a:t>Steel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015064" y="1978942"/>
            <a:ext cx="132560" cy="24734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300">
                <a:solidFill>
                  <a:srgbClr val="1A2433"/>
                </a:solidFill>
                <a:latin typeface="Calibri"/>
              </a:rPr>
              <a:t>•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358142" y="2001459"/>
            <a:ext cx="3539773" cy="24449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300">
                <a:solidFill>
                  <a:srgbClr val="1A2433"/>
                </a:solidFill>
                <a:latin typeface="Calibri"/>
              </a:rPr>
              <a:t>Carbon dissolves interstitially into the iron lattice (like 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358142" y="2191895"/>
            <a:ext cx="1002739" cy="24449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300">
                <a:solidFill>
                  <a:srgbClr val="1A2433"/>
                </a:solidFill>
                <a:latin typeface="Calibri"/>
              </a:rPr>
              <a:t>Week 1 alloys)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015064" y="2359828"/>
            <a:ext cx="132560" cy="24734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300">
                <a:solidFill>
                  <a:srgbClr val="1A2433"/>
                </a:solidFill>
                <a:latin typeface="Calibri"/>
              </a:rPr>
              <a:t>•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358142" y="2382344"/>
            <a:ext cx="3437211" cy="24449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300">
                <a:solidFill>
                  <a:srgbClr val="1A2433"/>
                </a:solidFill>
                <a:latin typeface="Calibri"/>
              </a:rPr>
              <a:t>Carbon atoms distort the lattice → block dislocation 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358142" y="2572781"/>
            <a:ext cx="1528085" cy="24449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300">
                <a:solidFill>
                  <a:srgbClr val="1A2433"/>
                </a:solidFill>
                <a:latin typeface="Calibri"/>
              </a:rPr>
              <a:t>movement → stronger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015064" y="2740713"/>
            <a:ext cx="132560" cy="24734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300">
                <a:solidFill>
                  <a:srgbClr val="1A2433"/>
                </a:solidFill>
                <a:latin typeface="Calibri"/>
              </a:rPr>
              <a:t>•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358142" y="2763217"/>
            <a:ext cx="3291623" cy="24449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300">
                <a:solidFill>
                  <a:srgbClr val="1A2433"/>
                </a:solidFill>
                <a:latin typeface="Calibri"/>
              </a:rPr>
              <a:t>Yield strength ranges from 250 MPa to over 2,000 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358142" y="2953654"/>
            <a:ext cx="365783" cy="24449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300">
                <a:solidFill>
                  <a:srgbClr val="1A2433"/>
                </a:solidFill>
                <a:latin typeface="Calibri"/>
              </a:rPr>
              <a:t>MPa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015064" y="3121586"/>
            <a:ext cx="132560" cy="24734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300">
                <a:solidFill>
                  <a:srgbClr val="1A2433"/>
                </a:solidFill>
                <a:latin typeface="Calibri"/>
              </a:rPr>
              <a:t>•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358142" y="3144103"/>
            <a:ext cx="3480394" cy="24449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300">
                <a:solidFill>
                  <a:srgbClr val="1A2433"/>
                </a:solidFill>
                <a:latin typeface="Calibri"/>
              </a:rPr>
              <a:t>Properties tunable through carbon content, alloying, 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358142" y="3334540"/>
            <a:ext cx="1330266" cy="24449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300">
                <a:solidFill>
                  <a:srgbClr val="1A2433"/>
                </a:solidFill>
                <a:latin typeface="Calibri"/>
              </a:rPr>
              <a:t>and heat treatment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015064" y="3502472"/>
            <a:ext cx="132560" cy="24734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300">
                <a:solidFill>
                  <a:srgbClr val="1A2433"/>
                </a:solidFill>
                <a:latin typeface="Calibri"/>
              </a:rPr>
              <a:t>•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358142" y="3524976"/>
            <a:ext cx="3039667" cy="24449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300">
                <a:solidFill>
                  <a:srgbClr val="1A2433"/>
                </a:solidFill>
                <a:latin typeface="Calibri"/>
              </a:rPr>
              <a:t>0.02% to 2.14% carbon by weight — a narrow 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358142" y="3715425"/>
            <a:ext cx="3051574" cy="24449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300">
                <a:solidFill>
                  <a:srgbClr val="1A2433"/>
                </a:solidFill>
                <a:latin typeface="Calibri"/>
              </a:rPr>
              <a:t>window covering an enormous property range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925059" y="4337673"/>
            <a:ext cx="3746844" cy="22120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1" sz="1100">
                <a:solidFill>
                  <a:srgbClr val="64748B"/>
                </a:solidFill>
                <a:latin typeface="Calibri"/>
              </a:rPr>
              <a:t>Above 2.14% C, excess carbon can no longer stay in solution — it 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925059" y="4505427"/>
            <a:ext cx="3737209" cy="22120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1" sz="1100">
                <a:solidFill>
                  <a:srgbClr val="64748B"/>
                </a:solidFill>
                <a:latin typeface="Calibri"/>
              </a:rPr>
              <a:t>precipitates as iron carbide. This is cast iron, which behaves very 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925059" y="4673194"/>
            <a:ext cx="2116986" cy="22120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1" sz="1100">
                <a:solidFill>
                  <a:srgbClr val="64748B"/>
                </a:solidFill>
                <a:latin typeface="Calibri"/>
              </a:rPr>
              <a:t>differently and is covered in Week 5.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"/>
            <a:ext cx="9143644" cy="514332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"/>
            <a:ext cx="9144000" cy="5143677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"/>
            <a:ext cx="9143631" cy="685444"/>
          </a:xfrm>
          <a:prstGeom prst="rect">
            <a:avLst/>
          </a:prstGeom>
          <a:solidFill>
            <a:srgbClr val="1C2B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74320" y="1279806"/>
            <a:ext cx="1663915" cy="3748671"/>
          </a:xfrm>
          <a:prstGeom prst="rect">
            <a:avLst/>
          </a:prstGeom>
          <a:solidFill>
            <a:srgbClr val="EE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74320" y="1280162"/>
            <a:ext cx="1663915" cy="475195"/>
          </a:xfrm>
          <a:prstGeom prst="rect">
            <a:avLst/>
          </a:prstGeom>
          <a:solidFill>
            <a:srgbClr val="1E6C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59" y="2175842"/>
            <a:ext cx="1481036" cy="27000"/>
          </a:xfrm>
          <a:prstGeom prst="rect">
            <a:avLst/>
          </a:prstGeom>
          <a:solidFill>
            <a:srgbClr val="1E6C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030044" y="1279806"/>
            <a:ext cx="1663916" cy="3748671"/>
          </a:xfrm>
          <a:prstGeom prst="rect">
            <a:avLst/>
          </a:prstGeom>
          <a:solidFill>
            <a:srgbClr val="EE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030044" y="1280162"/>
            <a:ext cx="1663916" cy="475195"/>
          </a:xfrm>
          <a:prstGeom prst="rect">
            <a:avLst/>
          </a:prstGeom>
          <a:solidFill>
            <a:srgbClr val="1E6C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121484" y="2175842"/>
            <a:ext cx="1481035" cy="27000"/>
          </a:xfrm>
          <a:prstGeom prst="rect">
            <a:avLst/>
          </a:prstGeom>
          <a:solidFill>
            <a:srgbClr val="1E6C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785755" y="1279806"/>
            <a:ext cx="1663928" cy="3748671"/>
          </a:xfrm>
          <a:prstGeom prst="rect">
            <a:avLst/>
          </a:prstGeom>
          <a:solidFill>
            <a:srgbClr val="EE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785755" y="1280162"/>
            <a:ext cx="1663928" cy="475195"/>
          </a:xfrm>
          <a:prstGeom prst="rect">
            <a:avLst/>
          </a:prstGeom>
          <a:solidFill>
            <a:srgbClr val="B832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877195" y="2175842"/>
            <a:ext cx="1481048" cy="27000"/>
          </a:xfrm>
          <a:prstGeom prst="rect">
            <a:avLst/>
          </a:prstGeom>
          <a:solidFill>
            <a:srgbClr val="B832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541124" y="1279806"/>
            <a:ext cx="1663915" cy="3748671"/>
          </a:xfrm>
          <a:prstGeom prst="rect">
            <a:avLst/>
          </a:prstGeom>
          <a:solidFill>
            <a:srgbClr val="EE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541124" y="1280162"/>
            <a:ext cx="1663915" cy="475195"/>
          </a:xfrm>
          <a:prstGeom prst="rect">
            <a:avLst/>
          </a:prstGeom>
          <a:solidFill>
            <a:srgbClr val="B832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632564" y="2175842"/>
            <a:ext cx="1481035" cy="27000"/>
          </a:xfrm>
          <a:prstGeom prst="rect">
            <a:avLst/>
          </a:prstGeom>
          <a:solidFill>
            <a:srgbClr val="B832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296836" y="1279806"/>
            <a:ext cx="1663928" cy="3748671"/>
          </a:xfrm>
          <a:prstGeom prst="rect">
            <a:avLst/>
          </a:prstGeom>
          <a:solidFill>
            <a:srgbClr val="EE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296836" y="1280162"/>
            <a:ext cx="1663928" cy="475195"/>
          </a:xfrm>
          <a:prstGeom prst="rect">
            <a:avLst/>
          </a:prstGeom>
          <a:solidFill>
            <a:srgbClr val="B832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388276" y="2175842"/>
            <a:ext cx="1481048" cy="27000"/>
          </a:xfrm>
          <a:prstGeom prst="rect">
            <a:avLst/>
          </a:prstGeom>
          <a:solidFill>
            <a:srgbClr val="B832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98424" y="158292"/>
            <a:ext cx="4507159" cy="39162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2200">
                <a:solidFill>
                  <a:srgbClr val="FFFFFF"/>
                </a:solidFill>
                <a:latin typeface="Calibri"/>
              </a:rPr>
              <a:t>Carbon's Effect — The Central Tradeoff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88416" y="740534"/>
            <a:ext cx="8249839" cy="27566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500">
                <a:solidFill>
                  <a:srgbClr val="1C2B3A"/>
                </a:solidFill>
                <a:latin typeface="Calibri"/>
              </a:rPr>
              <a:t>Carbon is the most powerful and cost-effective strengthening tool in steel — but every increase is a trade-off. 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88416" y="961577"/>
            <a:ext cx="3890601" cy="27566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500">
                <a:solidFill>
                  <a:srgbClr val="1C2B3A"/>
                </a:solidFill>
                <a:latin typeface="Calibri"/>
              </a:rPr>
              <a:t>You cannot maximize all properties simultaneously.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53059" y="1318542"/>
            <a:ext cx="397218" cy="24449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300">
                <a:solidFill>
                  <a:srgbClr val="FFFFFF"/>
                </a:solidFill>
                <a:latin typeface="Calibri"/>
              </a:rPr>
              <a:t>Yield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53059" y="1508978"/>
            <a:ext cx="638061" cy="24449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300">
                <a:solidFill>
                  <a:srgbClr val="FFFFFF"/>
                </a:solidFill>
                <a:latin typeface="Calibri"/>
              </a:rPr>
              <a:t>Strength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53059" y="1860185"/>
            <a:ext cx="960164" cy="26776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400">
                <a:solidFill>
                  <a:srgbClr val="1E6C52"/>
                </a:solidFill>
                <a:latin typeface="Calibri"/>
              </a:rPr>
              <a:t>↑ increases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53059" y="2716537"/>
            <a:ext cx="1391971" cy="2291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200">
                <a:solidFill>
                  <a:srgbClr val="1A2433"/>
                </a:solidFill>
                <a:latin typeface="Calibri"/>
              </a:rPr>
              <a:t>More carbon → more 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53059" y="2891848"/>
            <a:ext cx="1245953" cy="2291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200">
                <a:solidFill>
                  <a:srgbClr val="1A2433"/>
                </a:solidFill>
                <a:latin typeface="Calibri"/>
              </a:rPr>
              <a:t>lattice distortion → 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53059" y="3067171"/>
            <a:ext cx="1302518" cy="2291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200">
                <a:solidFill>
                  <a:srgbClr val="1A2433"/>
                </a:solidFill>
                <a:latin typeface="Calibri"/>
              </a:rPr>
              <a:t>dislocations blocked 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53059" y="3242495"/>
            <a:ext cx="1229143" cy="2291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200">
                <a:solidFill>
                  <a:srgbClr val="1A2433"/>
                </a:solidFill>
                <a:latin typeface="Calibri"/>
              </a:rPr>
              <a:t>more effectively → 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53059" y="3417818"/>
            <a:ext cx="1463299" cy="2291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200">
                <a:solidFill>
                  <a:srgbClr val="1A2433"/>
                </a:solidFill>
                <a:latin typeface="Calibri"/>
              </a:rPr>
              <a:t>higher force needed to 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53059" y="3593129"/>
            <a:ext cx="1141007" cy="2291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200">
                <a:solidFill>
                  <a:srgbClr val="1A2433"/>
                </a:solidFill>
                <a:latin typeface="Calibri"/>
              </a:rPr>
              <a:t>cause permanent 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53059" y="3768452"/>
            <a:ext cx="1425442" cy="2291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200">
                <a:solidFill>
                  <a:srgbClr val="1A2433"/>
                </a:solidFill>
                <a:latin typeface="Calibri"/>
              </a:rPr>
              <a:t>deformation. Strength 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53059" y="3943776"/>
            <a:ext cx="1182810" cy="2291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200">
                <a:solidFill>
                  <a:srgbClr val="1A2433"/>
                </a:solidFill>
                <a:latin typeface="Calibri"/>
              </a:rPr>
              <a:t>can be doubled or 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53059" y="4119087"/>
            <a:ext cx="1099057" cy="2291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200">
                <a:solidFill>
                  <a:srgbClr val="1A2433"/>
                </a:solidFill>
                <a:latin typeface="Calibri"/>
              </a:rPr>
              <a:t>tripled with heat 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53059" y="4294410"/>
            <a:ext cx="715376" cy="2291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200">
                <a:solidFill>
                  <a:srgbClr val="1A2433"/>
                </a:solidFill>
                <a:latin typeface="Calibri"/>
              </a:rPr>
              <a:t>treatment.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108784" y="1413944"/>
            <a:ext cx="684895" cy="24449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300">
                <a:solidFill>
                  <a:srgbClr val="FFFFFF"/>
                </a:solidFill>
                <a:latin typeface="Calibri"/>
              </a:rPr>
              <a:t>Hardness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108784" y="1860185"/>
            <a:ext cx="960151" cy="26776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400">
                <a:solidFill>
                  <a:srgbClr val="1E6C52"/>
                </a:solidFill>
                <a:latin typeface="Calibri"/>
              </a:rPr>
              <a:t>↑ increases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108784" y="2716537"/>
            <a:ext cx="1122589" cy="2291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200">
                <a:solidFill>
                  <a:srgbClr val="1A2433"/>
                </a:solidFill>
                <a:latin typeface="Calibri"/>
              </a:rPr>
              <a:t>Carbon increases 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108784" y="2891848"/>
            <a:ext cx="1327950" cy="2291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200">
                <a:solidFill>
                  <a:srgbClr val="1A2433"/>
                </a:solidFill>
                <a:latin typeface="Calibri"/>
              </a:rPr>
              <a:t>resistance to surface 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108784" y="3067171"/>
            <a:ext cx="1146707" cy="2291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200">
                <a:solidFill>
                  <a:srgbClr val="1A2433"/>
                </a:solidFill>
                <a:latin typeface="Calibri"/>
              </a:rPr>
              <a:t>indentation. Heat 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108784" y="3242495"/>
            <a:ext cx="1435236" cy="2291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200">
                <a:solidFill>
                  <a:srgbClr val="1A2433"/>
                </a:solidFill>
                <a:latin typeface="Calibri"/>
              </a:rPr>
              <a:t>treatment (hardening) 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108784" y="3417818"/>
            <a:ext cx="1286148" cy="2291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200">
                <a:solidFill>
                  <a:srgbClr val="1A2433"/>
                </a:solidFill>
                <a:latin typeface="Calibri"/>
              </a:rPr>
              <a:t>exploits this — high-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108784" y="3593129"/>
            <a:ext cx="1315965" cy="2291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200">
                <a:solidFill>
                  <a:srgbClr val="1A2433"/>
                </a:solidFill>
                <a:latin typeface="Calibri"/>
              </a:rPr>
              <a:t>carbon steels can be 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108784" y="3768452"/>
            <a:ext cx="1507733" cy="2291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200">
                <a:solidFill>
                  <a:srgbClr val="1A2433"/>
                </a:solidFill>
                <a:latin typeface="Calibri"/>
              </a:rPr>
              <a:t>hardened to Rockwell C 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2108784" y="3943776"/>
            <a:ext cx="1394747" cy="2291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200">
                <a:solidFill>
                  <a:srgbClr val="1A2433"/>
                </a:solidFill>
                <a:latin typeface="Calibri"/>
              </a:rPr>
              <a:t>60+, making excellent 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2108784" y="4119087"/>
            <a:ext cx="1485076" cy="2291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200">
                <a:solidFill>
                  <a:srgbClr val="1A2433"/>
                </a:solidFill>
                <a:latin typeface="Calibri"/>
              </a:rPr>
              <a:t>cutting edges and wear 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2108784" y="4294410"/>
            <a:ext cx="600637" cy="2291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200">
                <a:solidFill>
                  <a:srgbClr val="1A2433"/>
                </a:solidFill>
                <a:latin typeface="Calibri"/>
              </a:rPr>
              <a:t>surfaces.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3864495" y="1413944"/>
            <a:ext cx="626154" cy="24449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300">
                <a:solidFill>
                  <a:srgbClr val="FFFFFF"/>
                </a:solidFill>
                <a:latin typeface="Calibri"/>
              </a:rPr>
              <a:t>Ductility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3864495" y="1860185"/>
            <a:ext cx="1006936" cy="26776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400">
                <a:solidFill>
                  <a:srgbClr val="B83232"/>
                </a:solidFill>
                <a:latin typeface="Calibri"/>
              </a:rPr>
              <a:t>↓ decreases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3864495" y="2716537"/>
            <a:ext cx="1197427" cy="2291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200">
                <a:solidFill>
                  <a:srgbClr val="1A2433"/>
                </a:solidFill>
                <a:latin typeface="Calibri"/>
              </a:rPr>
              <a:t>High carbon steels 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3864495" y="2891848"/>
            <a:ext cx="1218767" cy="2291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200">
                <a:solidFill>
                  <a:srgbClr val="1A2433"/>
                </a:solidFill>
                <a:latin typeface="Calibri"/>
              </a:rPr>
              <a:t>deform less before 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3864495" y="3067171"/>
            <a:ext cx="1443422" cy="2291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200">
                <a:solidFill>
                  <a:srgbClr val="1A2433"/>
                </a:solidFill>
                <a:latin typeface="Calibri"/>
              </a:rPr>
              <a:t>fracture. The distorted 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3864495" y="3242495"/>
            <a:ext cx="1553629" cy="2291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200">
                <a:solidFill>
                  <a:srgbClr val="1A2433"/>
                </a:solidFill>
                <a:latin typeface="Calibri"/>
              </a:rPr>
              <a:t>lattice resists dislocation 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3864495" y="3417818"/>
            <a:ext cx="1305442" cy="2291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200">
                <a:solidFill>
                  <a:srgbClr val="1A2433"/>
                </a:solidFill>
                <a:latin typeface="Calibri"/>
              </a:rPr>
              <a:t>movement — which 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3864495" y="3593129"/>
            <a:ext cx="1169363" cy="2291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200">
                <a:solidFill>
                  <a:srgbClr val="1A2433"/>
                </a:solidFill>
                <a:latin typeface="Calibri"/>
              </a:rPr>
              <a:t>gives strength but 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3864495" y="3768452"/>
            <a:ext cx="1262907" cy="2291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200">
                <a:solidFill>
                  <a:srgbClr val="1A2433"/>
                </a:solidFill>
                <a:latin typeface="Calibri"/>
              </a:rPr>
              <a:t>removes the plastic 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3864495" y="3943776"/>
            <a:ext cx="1457891" cy="2291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200">
                <a:solidFill>
                  <a:srgbClr val="1A2433"/>
                </a:solidFill>
                <a:latin typeface="Calibri"/>
              </a:rPr>
              <a:t>warning before failure. 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3864495" y="4119087"/>
            <a:ext cx="1559330" cy="2291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200">
                <a:solidFill>
                  <a:srgbClr val="1A2433"/>
                </a:solidFill>
                <a:latin typeface="Calibri"/>
              </a:rPr>
              <a:t>High-carbon steels snap, 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3864495" y="4294410"/>
            <a:ext cx="652380" cy="2291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200">
                <a:solidFill>
                  <a:srgbClr val="1A2433"/>
                </a:solidFill>
                <a:latin typeface="Calibri"/>
              </a:rPr>
              <a:t>not bend.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5619864" y="1413944"/>
            <a:ext cx="760466" cy="24449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300">
                <a:solidFill>
                  <a:srgbClr val="FFFFFF"/>
                </a:solidFill>
                <a:latin typeface="Calibri"/>
              </a:rPr>
              <a:t>Toughness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5619864" y="1860185"/>
            <a:ext cx="1006924" cy="26776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400">
                <a:solidFill>
                  <a:srgbClr val="B83232"/>
                </a:solidFill>
                <a:latin typeface="Calibri"/>
              </a:rPr>
              <a:t>↓ decreases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5619864" y="2716537"/>
            <a:ext cx="1564737" cy="2291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200">
                <a:solidFill>
                  <a:srgbClr val="1A2433"/>
                </a:solidFill>
                <a:latin typeface="Calibri"/>
              </a:rPr>
              <a:t>Toughness requires both 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5619864" y="2891848"/>
            <a:ext cx="1445173" cy="2291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200">
                <a:solidFill>
                  <a:srgbClr val="1A2433"/>
                </a:solidFill>
                <a:latin typeface="Calibri"/>
              </a:rPr>
              <a:t>strength AND ductility. 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5619864" y="3067171"/>
            <a:ext cx="1556406" cy="2291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200">
                <a:solidFill>
                  <a:srgbClr val="1A2433"/>
                </a:solidFill>
                <a:latin typeface="Calibri"/>
              </a:rPr>
              <a:t>High carbon reduces the 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5619864" y="3242495"/>
            <a:ext cx="1374723" cy="2291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200">
                <a:solidFill>
                  <a:srgbClr val="1A2433"/>
                </a:solidFill>
                <a:latin typeface="Calibri"/>
              </a:rPr>
              <a:t>area under the stress-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5619864" y="3417818"/>
            <a:ext cx="1223151" cy="2291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200">
                <a:solidFill>
                  <a:srgbClr val="1A2433"/>
                </a:solidFill>
                <a:latin typeface="Calibri"/>
              </a:rPr>
              <a:t>strain curve — less 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5619864" y="3593129"/>
            <a:ext cx="1528197" cy="2291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200">
                <a:solidFill>
                  <a:srgbClr val="1A2433"/>
                </a:solidFill>
                <a:latin typeface="Calibri"/>
              </a:rPr>
              <a:t>energy absorbed before 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5619864" y="3768452"/>
            <a:ext cx="1377939" cy="2291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200">
                <a:solidFill>
                  <a:srgbClr val="1A2433"/>
                </a:solidFill>
                <a:latin typeface="Calibri"/>
              </a:rPr>
              <a:t>fracture. High-carbon 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5619864" y="3943776"/>
            <a:ext cx="1160154" cy="2291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200">
                <a:solidFill>
                  <a:srgbClr val="1A2433"/>
                </a:solidFill>
                <a:latin typeface="Calibri"/>
              </a:rPr>
              <a:t>steels fail without 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5619864" y="4119087"/>
            <a:ext cx="1331167" cy="2291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200">
                <a:solidFill>
                  <a:srgbClr val="1A2433"/>
                </a:solidFill>
                <a:latin typeface="Calibri"/>
              </a:rPr>
              <a:t>absorbing significant 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5619864" y="4294410"/>
            <a:ext cx="519954" cy="2291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200">
                <a:solidFill>
                  <a:srgbClr val="1A2433"/>
                </a:solidFill>
                <a:latin typeface="Calibri"/>
              </a:rPr>
              <a:t>impact.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7375576" y="1318542"/>
            <a:ext cx="465645" cy="24449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300">
                <a:solidFill>
                  <a:srgbClr val="FFFFFF"/>
                </a:solidFill>
                <a:latin typeface="Calibri"/>
              </a:rPr>
              <a:t>Weld-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7375576" y="1508978"/>
            <a:ext cx="484537" cy="24449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300">
                <a:solidFill>
                  <a:srgbClr val="FFFFFF"/>
                </a:solidFill>
                <a:latin typeface="Calibri"/>
              </a:rPr>
              <a:t>ability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7375576" y="1860185"/>
            <a:ext cx="1006936" cy="26776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400">
                <a:solidFill>
                  <a:srgbClr val="B83232"/>
                </a:solidFill>
                <a:latin typeface="Calibri"/>
              </a:rPr>
              <a:t>↓ decreases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7375576" y="2716537"/>
            <a:ext cx="1286586" cy="2291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200">
                <a:solidFill>
                  <a:srgbClr val="1A2433"/>
                </a:solidFill>
                <a:latin typeface="Calibri"/>
              </a:rPr>
              <a:t>High carbon creates 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7375576" y="2891848"/>
            <a:ext cx="1118642" cy="2291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200">
                <a:solidFill>
                  <a:srgbClr val="1A2433"/>
                </a:solidFill>
                <a:latin typeface="Calibri"/>
              </a:rPr>
              <a:t>hard, brittle heat-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7375576" y="3067171"/>
            <a:ext cx="1506270" cy="2291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200">
                <a:solidFill>
                  <a:srgbClr val="1A2433"/>
                </a:solidFill>
                <a:latin typeface="Calibri"/>
              </a:rPr>
              <a:t>affected zones prone to 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7375576" y="3242495"/>
            <a:ext cx="1224760" cy="2291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200">
                <a:solidFill>
                  <a:srgbClr val="1A2433"/>
                </a:solidFill>
                <a:latin typeface="Calibri"/>
              </a:rPr>
              <a:t>hydrogen cracking. 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7375576" y="3417818"/>
            <a:ext cx="1466659" cy="2291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200">
                <a:solidFill>
                  <a:srgbClr val="1A2433"/>
                </a:solidFill>
                <a:latin typeface="Calibri"/>
              </a:rPr>
              <a:t>Carbon equivalent (CE) 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7375576" y="3593129"/>
            <a:ext cx="1285417" cy="2291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200">
                <a:solidFill>
                  <a:srgbClr val="1A2433"/>
                </a:solidFill>
                <a:latin typeface="Calibri"/>
              </a:rPr>
              <a:t>determines preheat 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7375576" y="3768452"/>
            <a:ext cx="1356308" cy="2291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200">
                <a:solidFill>
                  <a:srgbClr val="1A2433"/>
                </a:solidFill>
                <a:latin typeface="Calibri"/>
              </a:rPr>
              <a:t>requirements. Above 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7375576" y="3943776"/>
            <a:ext cx="1203270" cy="2291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200">
                <a:solidFill>
                  <a:srgbClr val="1A2433"/>
                </a:solidFill>
                <a:latin typeface="Calibri"/>
              </a:rPr>
              <a:t>~0.40% CE, careful 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7375576" y="4119087"/>
            <a:ext cx="1139399" cy="2291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200">
                <a:solidFill>
                  <a:srgbClr val="1A2433"/>
                </a:solidFill>
                <a:latin typeface="Calibri"/>
              </a:rPr>
              <a:t>process control is 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7375576" y="4294410"/>
            <a:ext cx="633086" cy="2291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200">
                <a:solidFill>
                  <a:srgbClr val="1A2433"/>
                </a:solidFill>
                <a:latin typeface="Calibri"/>
              </a:rPr>
              <a:t>essential.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"/>
            <a:ext cx="9143644" cy="514332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"/>
            <a:ext cx="9144000" cy="5143677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"/>
            <a:ext cx="9143631" cy="685444"/>
          </a:xfrm>
          <a:prstGeom prst="rect">
            <a:avLst/>
          </a:prstGeom>
          <a:solidFill>
            <a:srgbClr val="1C2B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74320" y="1261442"/>
            <a:ext cx="1663915" cy="3748684"/>
          </a:xfrm>
          <a:prstGeom prst="rect">
            <a:avLst/>
          </a:prstGeom>
          <a:solidFill>
            <a:srgbClr val="EE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74320" y="1261797"/>
            <a:ext cx="1663915" cy="475208"/>
          </a:xfrm>
          <a:prstGeom prst="rect">
            <a:avLst/>
          </a:prstGeom>
          <a:solidFill>
            <a:srgbClr val="3B6FB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59" y="2084402"/>
            <a:ext cx="1481036" cy="27000"/>
          </a:xfrm>
          <a:prstGeom prst="rect">
            <a:avLst/>
          </a:prstGeom>
          <a:solidFill>
            <a:srgbClr val="3B6FB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65759" y="3254757"/>
            <a:ext cx="1481036" cy="27000"/>
          </a:xfrm>
          <a:prstGeom prst="rect">
            <a:avLst/>
          </a:prstGeom>
          <a:solidFill>
            <a:srgbClr val="C8D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006993" y="1261442"/>
            <a:ext cx="1663928" cy="3748684"/>
          </a:xfrm>
          <a:prstGeom prst="rect">
            <a:avLst/>
          </a:prstGeom>
          <a:solidFill>
            <a:srgbClr val="EE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006993" y="1261797"/>
            <a:ext cx="1663928" cy="475208"/>
          </a:xfrm>
          <a:prstGeom prst="rect">
            <a:avLst/>
          </a:prstGeom>
          <a:solidFill>
            <a:srgbClr val="2E6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098433" y="2084402"/>
            <a:ext cx="1481048" cy="27000"/>
          </a:xfrm>
          <a:prstGeom prst="rect">
            <a:avLst/>
          </a:prstGeom>
          <a:solidFill>
            <a:srgbClr val="2E6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098433" y="3254757"/>
            <a:ext cx="1481048" cy="27000"/>
          </a:xfrm>
          <a:prstGeom prst="rect">
            <a:avLst/>
          </a:prstGeom>
          <a:solidFill>
            <a:srgbClr val="C8D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740035" y="1261442"/>
            <a:ext cx="1663928" cy="3748684"/>
          </a:xfrm>
          <a:prstGeom prst="rect">
            <a:avLst/>
          </a:prstGeom>
          <a:solidFill>
            <a:srgbClr val="EE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740035" y="1261797"/>
            <a:ext cx="1663928" cy="475208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831475" y="2084402"/>
            <a:ext cx="1481048" cy="2700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831475" y="3254757"/>
            <a:ext cx="1481048" cy="27000"/>
          </a:xfrm>
          <a:prstGeom prst="rect">
            <a:avLst/>
          </a:prstGeom>
          <a:solidFill>
            <a:srgbClr val="C8D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472722" y="1261442"/>
            <a:ext cx="1663915" cy="3748684"/>
          </a:xfrm>
          <a:prstGeom prst="rect">
            <a:avLst/>
          </a:prstGeom>
          <a:solidFill>
            <a:srgbClr val="EE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472722" y="1261797"/>
            <a:ext cx="1663915" cy="475208"/>
          </a:xfrm>
          <a:prstGeom prst="rect">
            <a:avLst/>
          </a:prstGeom>
          <a:solidFill>
            <a:srgbClr val="6B52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564161" y="2084402"/>
            <a:ext cx="1481035" cy="27000"/>
          </a:xfrm>
          <a:prstGeom prst="rect">
            <a:avLst/>
          </a:prstGeom>
          <a:solidFill>
            <a:srgbClr val="6B52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564161" y="3254757"/>
            <a:ext cx="1481035" cy="27000"/>
          </a:xfrm>
          <a:prstGeom prst="rect">
            <a:avLst/>
          </a:prstGeom>
          <a:solidFill>
            <a:srgbClr val="C8D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205395" y="1261442"/>
            <a:ext cx="1663928" cy="3748684"/>
          </a:xfrm>
          <a:prstGeom prst="rect">
            <a:avLst/>
          </a:prstGeom>
          <a:solidFill>
            <a:srgbClr val="EE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205395" y="1261797"/>
            <a:ext cx="1663928" cy="475208"/>
          </a:xfrm>
          <a:prstGeom prst="rect">
            <a:avLst/>
          </a:prstGeom>
          <a:solidFill>
            <a:srgbClr val="B832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296836" y="2084402"/>
            <a:ext cx="1481048" cy="27000"/>
          </a:xfrm>
          <a:prstGeom prst="rect">
            <a:avLst/>
          </a:prstGeom>
          <a:solidFill>
            <a:srgbClr val="B832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7296836" y="3254757"/>
            <a:ext cx="1481048" cy="27000"/>
          </a:xfrm>
          <a:prstGeom prst="rect">
            <a:avLst/>
          </a:prstGeom>
          <a:solidFill>
            <a:srgbClr val="C8D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98424" y="158292"/>
            <a:ext cx="4795739" cy="39162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2200">
                <a:solidFill>
                  <a:srgbClr val="FFFFFF"/>
                </a:solidFill>
                <a:latin typeface="Calibri"/>
              </a:rPr>
              <a:t>Carbon Content — From Iron to Cast Iron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88416" y="740534"/>
            <a:ext cx="7856325" cy="27566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500">
                <a:solidFill>
                  <a:srgbClr val="1C2B3A"/>
                </a:solidFill>
                <a:latin typeface="Calibri"/>
              </a:rPr>
              <a:t>A narrow range of carbon content spans the entire world of iron-based materials. Each zone has its own 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88416" y="961577"/>
            <a:ext cx="2934558" cy="27566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500">
                <a:solidFill>
                  <a:srgbClr val="1C2B3A"/>
                </a:solidFill>
                <a:latin typeface="Calibri"/>
              </a:rPr>
              <a:t>properties, applications, and behavior.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53059" y="1399231"/>
            <a:ext cx="658692" cy="2365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200">
                <a:solidFill>
                  <a:srgbClr val="FFFFFF"/>
                </a:solidFill>
                <a:latin typeface="Calibri"/>
              </a:rPr>
              <a:t>Pure Iron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53059" y="1822647"/>
            <a:ext cx="659103" cy="2291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200">
                <a:solidFill>
                  <a:srgbClr val="3B6FBA"/>
                </a:solidFill>
                <a:latin typeface="Calibri"/>
              </a:rPr>
              <a:t>&lt; 0.02% C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53059" y="2174075"/>
            <a:ext cx="831700" cy="22120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100">
                <a:solidFill>
                  <a:srgbClr val="64748B"/>
                </a:solidFill>
                <a:latin typeface="Calibri"/>
              </a:rPr>
              <a:t>Applications: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53059" y="2604218"/>
            <a:ext cx="999666" cy="2291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200">
                <a:solidFill>
                  <a:srgbClr val="1A2433"/>
                </a:solidFill>
                <a:latin typeface="Calibri"/>
              </a:rPr>
              <a:t>Electrical cores,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53059" y="2779529"/>
            <a:ext cx="1369023" cy="2291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200">
                <a:solidFill>
                  <a:srgbClr val="1A2433"/>
                </a:solidFill>
                <a:latin typeface="Calibri"/>
              </a:rPr>
              <a:t>magnetic applications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53059" y="3955352"/>
            <a:ext cx="776807" cy="22120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1" sz="1100">
                <a:solidFill>
                  <a:srgbClr val="64748B"/>
                </a:solidFill>
                <a:latin typeface="Calibri"/>
              </a:rPr>
              <a:t>Soft, ductile.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53059" y="4123106"/>
            <a:ext cx="1048893" cy="22120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1" sz="1100">
                <a:solidFill>
                  <a:srgbClr val="64748B"/>
                </a:solidFill>
                <a:latin typeface="Calibri"/>
              </a:rPr>
              <a:t>Rarely structural.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085733" y="1307791"/>
            <a:ext cx="821029" cy="2365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200">
                <a:solidFill>
                  <a:srgbClr val="FFFFFF"/>
                </a:solidFill>
                <a:latin typeface="Calibri"/>
              </a:rPr>
              <a:t>Low Carbon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085733" y="1490671"/>
            <a:ext cx="388842" cy="2365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200">
                <a:solidFill>
                  <a:srgbClr val="FFFFFF"/>
                </a:solidFill>
                <a:latin typeface="Calibri"/>
              </a:rPr>
              <a:t>Steel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085733" y="1822647"/>
            <a:ext cx="778080" cy="2291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200">
                <a:solidFill>
                  <a:srgbClr val="2E6B8A"/>
                </a:solidFill>
                <a:latin typeface="Calibri"/>
              </a:rPr>
              <a:t>0.02–0.30%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085733" y="2174075"/>
            <a:ext cx="831700" cy="22120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100">
                <a:solidFill>
                  <a:srgbClr val="64748B"/>
                </a:solidFill>
                <a:latin typeface="Calibri"/>
              </a:rPr>
              <a:t>Applications: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085733" y="2604218"/>
            <a:ext cx="1009751" cy="2291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200">
                <a:solidFill>
                  <a:srgbClr val="1A2433"/>
                </a:solidFill>
                <a:latin typeface="Calibri"/>
              </a:rPr>
              <a:t>Structural steel,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085733" y="2779529"/>
            <a:ext cx="1440205" cy="2291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200">
                <a:solidFill>
                  <a:srgbClr val="1A2433"/>
                </a:solidFill>
                <a:latin typeface="Calibri"/>
              </a:rPr>
              <a:t>sheet, pipe, fabrication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085733" y="3955352"/>
            <a:ext cx="1255751" cy="22120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1" sz="1100">
                <a:solidFill>
                  <a:srgbClr val="64748B"/>
                </a:solidFill>
                <a:latin typeface="Calibri"/>
              </a:rPr>
              <a:t>Excellent weldability.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085733" y="4123106"/>
            <a:ext cx="1262037" cy="22120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1" sz="1100">
                <a:solidFill>
                  <a:srgbClr val="64748B"/>
                </a:solidFill>
                <a:latin typeface="Calibri"/>
              </a:rPr>
              <a:t>Most produced steel.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818775" y="1307791"/>
            <a:ext cx="1098037" cy="2365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200">
                <a:solidFill>
                  <a:srgbClr val="FFFFFF"/>
                </a:solidFill>
                <a:latin typeface="Calibri"/>
              </a:rPr>
              <a:t>Medium Carbon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818775" y="1490671"/>
            <a:ext cx="388842" cy="2365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200">
                <a:solidFill>
                  <a:srgbClr val="FFFFFF"/>
                </a:solidFill>
                <a:latin typeface="Calibri"/>
              </a:rPr>
              <a:t>Steel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818775" y="1822647"/>
            <a:ext cx="778080" cy="2291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200">
                <a:solidFill>
                  <a:srgbClr val="E07B39"/>
                </a:solidFill>
                <a:latin typeface="Calibri"/>
              </a:rPr>
              <a:t>0.30–0.60%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818775" y="2174075"/>
            <a:ext cx="831700" cy="22120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100">
                <a:solidFill>
                  <a:srgbClr val="64748B"/>
                </a:solidFill>
                <a:latin typeface="Calibri"/>
              </a:rPr>
              <a:t>Applications: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3818775" y="2604218"/>
            <a:ext cx="1169509" cy="2291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200">
                <a:solidFill>
                  <a:srgbClr val="1A2433"/>
                </a:solidFill>
                <a:latin typeface="Calibri"/>
              </a:rPr>
              <a:t>Shafts, gears, rails,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3818775" y="2779529"/>
            <a:ext cx="1097450" cy="2291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200">
                <a:solidFill>
                  <a:srgbClr val="1A2433"/>
                </a:solidFill>
                <a:latin typeface="Calibri"/>
              </a:rPr>
              <a:t>automotive parts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3818775" y="3955352"/>
            <a:ext cx="944138" cy="22120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1" sz="1100">
                <a:solidFill>
                  <a:srgbClr val="64748B"/>
                </a:solidFill>
                <a:latin typeface="Calibri"/>
              </a:rPr>
              <a:t>Heat-treatable.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3818775" y="4123106"/>
            <a:ext cx="1006152" cy="22120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1" sz="1100">
                <a:solidFill>
                  <a:srgbClr val="64748B"/>
                </a:solidFill>
                <a:latin typeface="Calibri"/>
              </a:rPr>
              <a:t>Preheat to weld.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551461" y="1307791"/>
            <a:ext cx="851182" cy="2365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200">
                <a:solidFill>
                  <a:srgbClr val="FFFFFF"/>
                </a:solidFill>
                <a:latin typeface="Calibri"/>
              </a:rPr>
              <a:t>High Carbon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551461" y="1490671"/>
            <a:ext cx="388842" cy="2365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200">
                <a:solidFill>
                  <a:srgbClr val="FFFFFF"/>
                </a:solidFill>
                <a:latin typeface="Calibri"/>
              </a:rPr>
              <a:t>Steel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551461" y="1822647"/>
            <a:ext cx="778080" cy="2291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200">
                <a:solidFill>
                  <a:srgbClr val="6B5219"/>
                </a:solidFill>
                <a:latin typeface="Calibri"/>
              </a:rPr>
              <a:t>0.60–2.14%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551461" y="2174075"/>
            <a:ext cx="831700" cy="22120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100">
                <a:solidFill>
                  <a:srgbClr val="64748B"/>
                </a:solidFill>
                <a:latin typeface="Calibri"/>
              </a:rPr>
              <a:t>Applications: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5551461" y="2604218"/>
            <a:ext cx="863734" cy="2291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200">
                <a:solidFill>
                  <a:srgbClr val="1A2433"/>
                </a:solidFill>
                <a:latin typeface="Calibri"/>
              </a:rPr>
              <a:t>Cutting tools,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5551461" y="2779529"/>
            <a:ext cx="1134868" cy="2291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200">
                <a:solidFill>
                  <a:srgbClr val="1A2433"/>
                </a:solidFill>
                <a:latin typeface="Calibri"/>
              </a:rPr>
              <a:t>springs, wire rope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5551461" y="3955352"/>
            <a:ext cx="796223" cy="22120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1" sz="1100">
                <a:solidFill>
                  <a:srgbClr val="64748B"/>
                </a:solidFill>
                <a:latin typeface="Calibri"/>
              </a:rPr>
              <a:t>Hard, brittle.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5551461" y="4123106"/>
            <a:ext cx="1003499" cy="22120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1" sz="1100">
                <a:solidFill>
                  <a:srgbClr val="64748B"/>
                </a:solidFill>
                <a:latin typeface="Calibri"/>
              </a:rPr>
              <a:t>Difficult to weld.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7284136" y="1399231"/>
            <a:ext cx="634021" cy="2365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200">
                <a:solidFill>
                  <a:srgbClr val="FFFFFF"/>
                </a:solidFill>
                <a:latin typeface="Calibri"/>
              </a:rPr>
              <a:t>Cast Iron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7284136" y="1822647"/>
            <a:ext cx="659101" cy="2291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200">
                <a:solidFill>
                  <a:srgbClr val="B83232"/>
                </a:solidFill>
                <a:latin typeface="Calibri"/>
              </a:rPr>
              <a:t>&gt; 2.14% C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7284136" y="2174075"/>
            <a:ext cx="831701" cy="22120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100">
                <a:solidFill>
                  <a:srgbClr val="64748B"/>
                </a:solidFill>
                <a:latin typeface="Calibri"/>
              </a:rPr>
              <a:t>Applications: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7284136" y="2604218"/>
            <a:ext cx="916790" cy="2291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200">
                <a:solidFill>
                  <a:srgbClr val="1A2433"/>
                </a:solidFill>
                <a:latin typeface="Calibri"/>
              </a:rPr>
              <a:t>Engine blocks,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7284136" y="2779529"/>
            <a:ext cx="1123467" cy="2291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200">
                <a:solidFill>
                  <a:srgbClr val="1A2433"/>
                </a:solidFill>
                <a:latin typeface="Calibri"/>
              </a:rPr>
              <a:t>brake rotors, pipe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7284136" y="3955352"/>
            <a:ext cx="614924" cy="22120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1" sz="1100">
                <a:solidFill>
                  <a:srgbClr val="64748B"/>
                </a:solidFill>
                <a:latin typeface="Calibri"/>
              </a:rPr>
              <a:t>Not steel.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7284136" y="4123106"/>
            <a:ext cx="1156300" cy="22120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1" sz="1100">
                <a:solidFill>
                  <a:srgbClr val="64748B"/>
                </a:solidFill>
                <a:latin typeface="Calibri"/>
              </a:rPr>
              <a:t>Covered in Week 5.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"/>
            <a:ext cx="9143644" cy="514332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"/>
            <a:ext cx="9144000" cy="5143677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"/>
            <a:ext cx="9143631" cy="685444"/>
          </a:xfrm>
          <a:prstGeom prst="rect">
            <a:avLst/>
          </a:prstGeom>
          <a:solidFill>
            <a:srgbClr val="1C2B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65404" y="1261442"/>
            <a:ext cx="8412111" cy="1188364"/>
          </a:xfrm>
          <a:prstGeom prst="rect">
            <a:avLst/>
          </a:prstGeom>
          <a:solidFill>
            <a:srgbClr val="EE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749040" y="1371601"/>
            <a:ext cx="959764" cy="621360"/>
          </a:xfrm>
          <a:prstGeom prst="rect">
            <a:avLst/>
          </a:prstGeom>
          <a:solidFill>
            <a:srgbClr val="2E4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773244" y="1371601"/>
            <a:ext cx="959751" cy="62136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65404" y="2541957"/>
            <a:ext cx="8412111" cy="319684"/>
          </a:xfrm>
          <a:prstGeom prst="rect">
            <a:avLst/>
          </a:prstGeom>
          <a:solidFill>
            <a:srgbClr val="1C2B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65404" y="2871002"/>
            <a:ext cx="8412111" cy="402120"/>
          </a:xfrm>
          <a:prstGeom prst="rect">
            <a:avLst/>
          </a:prstGeom>
          <a:solidFill>
            <a:srgbClr val="EE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65404" y="3291486"/>
            <a:ext cx="8412111" cy="40211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65404" y="3711957"/>
            <a:ext cx="8412111" cy="402120"/>
          </a:xfrm>
          <a:prstGeom prst="rect">
            <a:avLst/>
          </a:prstGeom>
          <a:solidFill>
            <a:srgbClr val="EE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65404" y="4132798"/>
            <a:ext cx="8412111" cy="4021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65404" y="4553282"/>
            <a:ext cx="8412111" cy="402120"/>
          </a:xfrm>
          <a:prstGeom prst="rect">
            <a:avLst/>
          </a:prstGeom>
          <a:solidFill>
            <a:srgbClr val="EE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98424" y="158292"/>
            <a:ext cx="4493471" cy="39162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2200">
                <a:solidFill>
                  <a:srgbClr val="FFFFFF"/>
                </a:solidFill>
                <a:latin typeface="Calibri"/>
              </a:rPr>
              <a:t>Steel Classification — AISI/SAE System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8416" y="740534"/>
            <a:ext cx="8041744" cy="27566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500">
                <a:solidFill>
                  <a:srgbClr val="1C2B3A"/>
                </a:solidFill>
                <a:latin typeface="Calibri"/>
              </a:rPr>
              <a:t>AISI and SAE jointly developed the four-digit designation system used throughout industry. Reading a code 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8416" y="961577"/>
            <a:ext cx="2482801" cy="27566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500">
                <a:solidFill>
                  <a:srgbClr val="1C2B3A"/>
                </a:solidFill>
                <a:latin typeface="Calibri"/>
              </a:rPr>
              <a:t>fluently is a core technician skill.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81304" y="1384621"/>
            <a:ext cx="1585156" cy="26776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400">
                <a:solidFill>
                  <a:srgbClr val="2E4A6B"/>
                </a:solidFill>
                <a:latin typeface="Calibri"/>
              </a:rPr>
              <a:t>The Four-Digit Code: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021099" y="1460480"/>
            <a:ext cx="467087" cy="4847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2800">
                <a:solidFill>
                  <a:srgbClr val="FFFFFF"/>
                </a:solidFill>
                <a:latin typeface="Calibri"/>
              </a:rPr>
              <a:t>XX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45303" y="1460480"/>
            <a:ext cx="467087" cy="4847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2800">
                <a:solidFill>
                  <a:srgbClr val="FFFFFF"/>
                </a:solidFill>
                <a:latin typeface="Calibri"/>
              </a:rPr>
              <a:t>XX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874579" y="2031624"/>
            <a:ext cx="785920" cy="2058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000">
                <a:solidFill>
                  <a:srgbClr val="2E4A6B"/>
                </a:solidFill>
                <a:latin typeface="Calibri"/>
              </a:rPr>
              <a:t>Steel family &amp;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563899" y="2184266"/>
            <a:ext cx="1408848" cy="2058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000">
                <a:solidFill>
                  <a:srgbClr val="2E4A6B"/>
                </a:solidFill>
                <a:latin typeface="Calibri"/>
              </a:rPr>
              <a:t>primary alloying elements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856302" y="2031624"/>
            <a:ext cx="871315" cy="2058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000">
                <a:solidFill>
                  <a:srgbClr val="E07B39"/>
                </a:solidFill>
                <a:latin typeface="Calibri"/>
              </a:rPr>
              <a:t>Carbon content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767745" y="2184266"/>
            <a:ext cx="1048841" cy="2058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000">
                <a:solidFill>
                  <a:srgbClr val="E07B39"/>
                </a:solidFill>
                <a:latin typeface="Calibri"/>
              </a:rPr>
              <a:t>in hundredths of 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89864" y="2603907"/>
            <a:ext cx="370075" cy="22120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100">
                <a:solidFill>
                  <a:srgbClr val="CADCFC"/>
                </a:solidFill>
                <a:latin typeface="Calibri"/>
              </a:rPr>
              <a:t>Code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404264" y="2603907"/>
            <a:ext cx="454438" cy="22120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100">
                <a:solidFill>
                  <a:srgbClr val="CADCFC"/>
                </a:solidFill>
                <a:latin typeface="Calibri"/>
              </a:rPr>
              <a:t>Family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330344" y="2603907"/>
            <a:ext cx="1471269" cy="22120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100">
                <a:solidFill>
                  <a:srgbClr val="CADCFC"/>
                </a:solidFill>
                <a:latin typeface="Calibri"/>
              </a:rPr>
              <a:t>Notes / Example Grades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89864" y="2950060"/>
            <a:ext cx="381977" cy="24449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300">
                <a:solidFill>
                  <a:srgbClr val="2E4A6B"/>
                </a:solidFill>
                <a:latin typeface="Calibri"/>
              </a:rPr>
              <a:t>10xx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404264" y="2953343"/>
            <a:ext cx="1224281" cy="2365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200">
                <a:solidFill>
                  <a:srgbClr val="1A2433"/>
                </a:solidFill>
                <a:latin typeface="Calibri"/>
              </a:rPr>
              <a:t>Plain Carbon Steel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330344" y="2876436"/>
            <a:ext cx="4164194" cy="22120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100">
                <a:solidFill>
                  <a:srgbClr val="64748B"/>
                </a:solidFill>
                <a:latin typeface="Calibri"/>
              </a:rPr>
              <a:t>1020 — 0.20% C (low)  /  1045 — 0.45% C (medium)  /  1095 — 0.95% C 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330344" y="3044190"/>
            <a:ext cx="404855" cy="22120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100">
                <a:solidFill>
                  <a:srgbClr val="64748B"/>
                </a:solidFill>
                <a:latin typeface="Calibri"/>
              </a:rPr>
              <a:t>(high)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89864" y="3370900"/>
            <a:ext cx="381977" cy="24449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300">
                <a:solidFill>
                  <a:srgbClr val="2E4A6B"/>
                </a:solidFill>
                <a:latin typeface="Calibri"/>
              </a:rPr>
              <a:t>41xx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404264" y="3374183"/>
            <a:ext cx="1983425" cy="2365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200">
                <a:solidFill>
                  <a:srgbClr val="1A2433"/>
                </a:solidFill>
                <a:latin typeface="Calibri"/>
              </a:rPr>
              <a:t>Chromium-Molybdenum Steel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330344" y="3297276"/>
            <a:ext cx="4143244" cy="22120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100">
                <a:solidFill>
                  <a:srgbClr val="64748B"/>
                </a:solidFill>
                <a:latin typeface="Calibri"/>
              </a:rPr>
              <a:t>4140 — 0.40% C  /  excellent hardenability, the shop workhorse of alloy 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330344" y="3465030"/>
            <a:ext cx="400105" cy="22120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100">
                <a:solidFill>
                  <a:srgbClr val="64748B"/>
                </a:solidFill>
                <a:latin typeface="Calibri"/>
              </a:rPr>
              <a:t>steels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89864" y="3791384"/>
            <a:ext cx="381977" cy="24449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300">
                <a:solidFill>
                  <a:srgbClr val="2E4A6B"/>
                </a:solidFill>
                <a:latin typeface="Calibri"/>
              </a:rPr>
              <a:t>43xx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404264" y="3794667"/>
            <a:ext cx="1882612" cy="2365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200">
                <a:solidFill>
                  <a:srgbClr val="1A2433"/>
                </a:solidFill>
                <a:latin typeface="Calibri"/>
              </a:rPr>
              <a:t>Nickel-Cr-Molybdenum Steel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330344" y="3801631"/>
            <a:ext cx="4233334" cy="22120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100">
                <a:solidFill>
                  <a:srgbClr val="64748B"/>
                </a:solidFill>
                <a:latin typeface="Calibri"/>
              </a:rPr>
              <a:t>4340 — 0.40% C  /  very high strength, aerospace &amp; defense, landing gear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89864" y="4212224"/>
            <a:ext cx="381977" cy="24449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300">
                <a:solidFill>
                  <a:srgbClr val="2E4A6B"/>
                </a:solidFill>
                <a:latin typeface="Calibri"/>
              </a:rPr>
              <a:t>31xx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404264" y="4215507"/>
            <a:ext cx="1516060" cy="2365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200">
                <a:solidFill>
                  <a:srgbClr val="1A2433"/>
                </a:solidFill>
                <a:latin typeface="Calibri"/>
              </a:rPr>
              <a:t>Nickel-Chromium Steel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330344" y="4222471"/>
            <a:ext cx="3373359" cy="22120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100">
                <a:solidFill>
                  <a:srgbClr val="64748B"/>
                </a:solidFill>
                <a:latin typeface="Calibri"/>
              </a:rPr>
              <a:t>3160 — 0.60% C  /  improved toughness and hardenability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89864" y="4632696"/>
            <a:ext cx="301166" cy="24449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300">
                <a:solidFill>
                  <a:srgbClr val="2E4A6B"/>
                </a:solidFill>
                <a:latin typeface="Calibri"/>
              </a:rPr>
              <a:t>3xx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404264" y="4635991"/>
            <a:ext cx="1714336" cy="2365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200">
                <a:solidFill>
                  <a:srgbClr val="1A2433"/>
                </a:solidFill>
                <a:latin typeface="Calibri"/>
              </a:rPr>
              <a:t>Austenitic Stainless (300s)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330344" y="4642955"/>
            <a:ext cx="4245205" cy="22120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100">
                <a:solidFill>
                  <a:srgbClr val="64748B"/>
                </a:solidFill>
                <a:latin typeface="Calibri"/>
              </a:rPr>
              <a:t>304, 316 — different naming convention; ≥10.5% Cr — covered in Week 5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"/>
            <a:ext cx="9143644" cy="514332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"/>
            <a:ext cx="9144000" cy="5143677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"/>
            <a:ext cx="9143631" cy="685444"/>
          </a:xfrm>
          <a:prstGeom prst="rect">
            <a:avLst/>
          </a:prstGeom>
          <a:solidFill>
            <a:srgbClr val="1C2B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20040" y="1279806"/>
            <a:ext cx="4251604" cy="1736991"/>
          </a:xfrm>
          <a:prstGeom prst="rect">
            <a:avLst/>
          </a:prstGeom>
          <a:solidFill>
            <a:srgbClr val="EE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20040" y="1279806"/>
            <a:ext cx="4251604" cy="420116"/>
          </a:xfrm>
          <a:prstGeom prst="rect">
            <a:avLst/>
          </a:prstGeom>
          <a:solidFill>
            <a:srgbClr val="3B6FB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754879" y="1279806"/>
            <a:ext cx="4251604" cy="1736991"/>
          </a:xfrm>
          <a:prstGeom prst="rect">
            <a:avLst/>
          </a:prstGeom>
          <a:solidFill>
            <a:srgbClr val="EE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754879" y="1279806"/>
            <a:ext cx="4251604" cy="420116"/>
          </a:xfrm>
          <a:prstGeom prst="rect">
            <a:avLst/>
          </a:prstGeom>
          <a:solidFill>
            <a:srgbClr val="2E6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20040" y="3126957"/>
            <a:ext cx="4251604" cy="1737004"/>
          </a:xfrm>
          <a:prstGeom prst="rect">
            <a:avLst/>
          </a:prstGeom>
          <a:solidFill>
            <a:srgbClr val="EE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20040" y="3126957"/>
            <a:ext cx="4251604" cy="420128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754879" y="3126957"/>
            <a:ext cx="4251604" cy="1737004"/>
          </a:xfrm>
          <a:prstGeom prst="rect">
            <a:avLst/>
          </a:prstGeom>
          <a:solidFill>
            <a:srgbClr val="EE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754879" y="3126957"/>
            <a:ext cx="4251604" cy="420128"/>
          </a:xfrm>
          <a:prstGeom prst="rect">
            <a:avLst/>
          </a:prstGeom>
          <a:solidFill>
            <a:srgbClr val="6B52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98424" y="158292"/>
            <a:ext cx="4548225" cy="39162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2200">
                <a:solidFill>
                  <a:srgbClr val="FFFFFF"/>
                </a:solidFill>
                <a:latin typeface="Calibri"/>
              </a:rPr>
              <a:t>Reading the Code — Worked Examples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8416" y="747779"/>
            <a:ext cx="7423402" cy="26776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400">
                <a:solidFill>
                  <a:srgbClr val="1C2B3A"/>
                </a:solidFill>
                <a:latin typeface="Calibri"/>
              </a:rPr>
              <a:t>Being able to decode a steel designation is a core workplace skill — it tells you composition, expected 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8416" y="961254"/>
            <a:ext cx="4838170" cy="26776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400">
                <a:solidFill>
                  <a:srgbClr val="1C2B3A"/>
                </a:solidFill>
                <a:latin typeface="Calibri"/>
              </a:rPr>
              <a:t>properties, preheat needs, and heat treatment response instantly.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5495" y="1324200"/>
            <a:ext cx="590630" cy="36088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2000">
                <a:solidFill>
                  <a:srgbClr val="FFFFFF"/>
                </a:solidFill>
                <a:latin typeface="Calibri"/>
              </a:rPr>
              <a:t>1020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67536" y="1327043"/>
            <a:ext cx="1115674" cy="21330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000">
                <a:solidFill>
                  <a:srgbClr val="CADCFC"/>
                </a:solidFill>
                <a:latin typeface="Calibri"/>
              </a:rPr>
              <a:t>Plain Carbon (10xx)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67536" y="1491914"/>
            <a:ext cx="508959" cy="21330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000">
                <a:solidFill>
                  <a:srgbClr val="CADCFC"/>
                </a:solidFill>
                <a:latin typeface="Calibri"/>
              </a:rPr>
              <a:t>0.20% 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5140" y="1990059"/>
            <a:ext cx="4033015" cy="2291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200">
                <a:solidFill>
                  <a:srgbClr val="1A2433"/>
                </a:solidFill>
                <a:latin typeface="Calibri"/>
              </a:rPr>
              <a:t>Low carbon steel. Very soft and ductile. Excellent weldability — no 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5140" y="2165370"/>
            <a:ext cx="3827507" cy="2291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200">
                <a:solidFill>
                  <a:srgbClr val="1A2433"/>
                </a:solidFill>
                <a:latin typeface="Calibri"/>
              </a:rPr>
              <a:t>preheat needed for most thicknesses. Used for structural tube, 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35140" y="2340693"/>
            <a:ext cx="3993550" cy="2291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200">
                <a:solidFill>
                  <a:srgbClr val="1A2433"/>
                </a:solidFill>
                <a:latin typeface="Calibri"/>
              </a:rPr>
              <a:t>sheet metal, pipe, and general fabrication. Cannot be significantly 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35140" y="2516017"/>
            <a:ext cx="1794946" cy="2291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200">
                <a:solidFill>
                  <a:srgbClr val="1A2433"/>
                </a:solidFill>
                <a:latin typeface="Calibri"/>
              </a:rPr>
              <a:t>hardened by heat treatment.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870335" y="1324200"/>
            <a:ext cx="590630" cy="36088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2000">
                <a:solidFill>
                  <a:srgbClr val="FFFFFF"/>
                </a:solidFill>
                <a:latin typeface="Calibri"/>
              </a:rPr>
              <a:t>1045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802376" y="1327043"/>
            <a:ext cx="1115675" cy="21330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000">
                <a:solidFill>
                  <a:srgbClr val="CADCFC"/>
                </a:solidFill>
                <a:latin typeface="Calibri"/>
              </a:rPr>
              <a:t>Plain Carbon (10xx)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802376" y="1491914"/>
            <a:ext cx="508958" cy="21330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000">
                <a:solidFill>
                  <a:srgbClr val="CADCFC"/>
                </a:solidFill>
                <a:latin typeface="Calibri"/>
              </a:rPr>
              <a:t>0.45% C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869980" y="1990059"/>
            <a:ext cx="3881442" cy="2291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200">
                <a:solidFill>
                  <a:srgbClr val="1A2433"/>
                </a:solidFill>
                <a:latin typeface="Calibri"/>
              </a:rPr>
              <a:t>Medium carbon steel. Good balance of strength and toughness. 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869980" y="2165370"/>
            <a:ext cx="3759102" cy="2291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200">
                <a:solidFill>
                  <a:srgbClr val="1A2433"/>
                </a:solidFill>
                <a:latin typeface="Calibri"/>
              </a:rPr>
              <a:t>Can be quenched and tempered to improve strength. Preheat 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869980" y="2340693"/>
            <a:ext cx="3736739" cy="2291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200">
                <a:solidFill>
                  <a:srgbClr val="1A2433"/>
                </a:solidFill>
                <a:latin typeface="Calibri"/>
              </a:rPr>
              <a:t>recommended for thicker sections. Common for shafts, bolts, 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869980" y="2516017"/>
            <a:ext cx="1168194" cy="2291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200">
                <a:solidFill>
                  <a:srgbClr val="1A2433"/>
                </a:solidFill>
                <a:latin typeface="Calibri"/>
              </a:rPr>
              <a:t>gears, and tooling.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35495" y="3171352"/>
            <a:ext cx="590630" cy="36088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2000">
                <a:solidFill>
                  <a:srgbClr val="FFFFFF"/>
                </a:solidFill>
                <a:latin typeface="Calibri"/>
              </a:rPr>
              <a:t>4140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67536" y="3174194"/>
            <a:ext cx="770559" cy="21330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000">
                <a:solidFill>
                  <a:srgbClr val="CADCFC"/>
                </a:solidFill>
                <a:latin typeface="Calibri"/>
              </a:rPr>
              <a:t>Cr-Mo (41xx)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367536" y="3338722"/>
            <a:ext cx="508959" cy="21330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000">
                <a:solidFill>
                  <a:srgbClr val="CADCFC"/>
                </a:solidFill>
                <a:latin typeface="Calibri"/>
              </a:rPr>
              <a:t>0.40% C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35140" y="3836855"/>
            <a:ext cx="3960955" cy="2291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200">
                <a:solidFill>
                  <a:srgbClr val="1A2433"/>
                </a:solidFill>
                <a:latin typeface="Calibri"/>
              </a:rPr>
              <a:t>Chromium-molybdenum alloy steel. Same carbon as 1045 but far 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35140" y="4012178"/>
            <a:ext cx="3998228" cy="2291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200">
                <a:solidFill>
                  <a:srgbClr val="1A2433"/>
                </a:solidFill>
                <a:latin typeface="Calibri"/>
              </a:rPr>
              <a:t>superior hardenability — can be hardened through thick sections. 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35140" y="4187489"/>
            <a:ext cx="3578443" cy="2291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200">
                <a:solidFill>
                  <a:srgbClr val="1A2433"/>
                </a:solidFill>
                <a:latin typeface="Calibri"/>
              </a:rPr>
              <a:t>Excellent fatigue and wear resistance. Preheat required for 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35140" y="4362813"/>
            <a:ext cx="2314559" cy="2291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200">
                <a:solidFill>
                  <a:srgbClr val="1A2433"/>
                </a:solidFill>
                <a:latin typeface="Calibri"/>
              </a:rPr>
              <a:t>welding. The workhorse of alloy steel.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870335" y="3171352"/>
            <a:ext cx="590630" cy="36088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2000">
                <a:solidFill>
                  <a:srgbClr val="FFFFFF"/>
                </a:solidFill>
                <a:latin typeface="Calibri"/>
              </a:rPr>
              <a:t>4340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802376" y="3174194"/>
            <a:ext cx="927333" cy="21330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000">
                <a:solidFill>
                  <a:srgbClr val="CADCFC"/>
                </a:solidFill>
                <a:latin typeface="Calibri"/>
              </a:rPr>
              <a:t>Ni-Cr-Mo (43xx)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802376" y="3338722"/>
            <a:ext cx="508958" cy="21330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000">
                <a:solidFill>
                  <a:srgbClr val="CADCFC"/>
                </a:solidFill>
                <a:latin typeface="Calibri"/>
              </a:rPr>
              <a:t>0.40% C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869980" y="3836855"/>
            <a:ext cx="4073354" cy="2291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200">
                <a:solidFill>
                  <a:srgbClr val="1A2433"/>
                </a:solidFill>
                <a:latin typeface="Calibri"/>
              </a:rPr>
              <a:t>Nickel-chromium-molybdenum alloy steel. Highest hardenability of 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869980" y="4012178"/>
            <a:ext cx="3902050" cy="2291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200">
                <a:solidFill>
                  <a:srgbClr val="1A2433"/>
                </a:solidFill>
                <a:latin typeface="Calibri"/>
              </a:rPr>
              <a:t>common structural alloy steels. Used in aerospace, landing gear, 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869980" y="4187489"/>
            <a:ext cx="3750771" cy="2291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200">
                <a:solidFill>
                  <a:srgbClr val="1A2433"/>
                </a:solidFill>
                <a:latin typeface="Calibri"/>
              </a:rPr>
              <a:t>and crankshafts. Very demanding preheat and post-weld heat 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869980" y="4362813"/>
            <a:ext cx="2040500" cy="2291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200">
                <a:solidFill>
                  <a:srgbClr val="1A2433"/>
                </a:solidFill>
                <a:latin typeface="Calibri"/>
              </a:rPr>
              <a:t>treatment (PWHT) requirements.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"/>
            <a:ext cx="9143644" cy="514332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"/>
            <a:ext cx="9144000" cy="5143677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"/>
            <a:ext cx="9143631" cy="685444"/>
          </a:xfrm>
          <a:prstGeom prst="rect">
            <a:avLst/>
          </a:prstGeom>
          <a:solidFill>
            <a:srgbClr val="1C2B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55600" y="1261442"/>
            <a:ext cx="2871000" cy="3748684"/>
          </a:xfrm>
          <a:prstGeom prst="rect">
            <a:avLst/>
          </a:prstGeom>
          <a:solidFill>
            <a:srgbClr val="EE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55600" y="1261797"/>
            <a:ext cx="2871000" cy="475208"/>
          </a:xfrm>
          <a:prstGeom prst="rect">
            <a:avLst/>
          </a:prstGeom>
          <a:solidFill>
            <a:srgbClr val="3B6FB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404" y="3328202"/>
            <a:ext cx="2651391" cy="26999"/>
          </a:xfrm>
          <a:prstGeom prst="rect">
            <a:avLst/>
          </a:prstGeom>
          <a:solidFill>
            <a:srgbClr val="3B6FB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65404" y="4663086"/>
            <a:ext cx="2651391" cy="27000"/>
          </a:xfrm>
          <a:prstGeom prst="rect">
            <a:avLst/>
          </a:prstGeom>
          <a:solidFill>
            <a:srgbClr val="C8D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254755" y="1261442"/>
            <a:ext cx="2870999" cy="3748684"/>
          </a:xfrm>
          <a:prstGeom prst="rect">
            <a:avLst/>
          </a:prstGeom>
          <a:solidFill>
            <a:srgbClr val="EE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254755" y="1261797"/>
            <a:ext cx="2870999" cy="475208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364560" y="3328202"/>
            <a:ext cx="2651404" cy="26999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364560" y="4663086"/>
            <a:ext cx="2651404" cy="27000"/>
          </a:xfrm>
          <a:prstGeom prst="rect">
            <a:avLst/>
          </a:prstGeom>
          <a:solidFill>
            <a:srgbClr val="C8D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54280" y="1261442"/>
            <a:ext cx="2870999" cy="3748684"/>
          </a:xfrm>
          <a:prstGeom prst="rect">
            <a:avLst/>
          </a:prstGeom>
          <a:solidFill>
            <a:srgbClr val="EE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254280" y="1261797"/>
            <a:ext cx="2870999" cy="475208"/>
          </a:xfrm>
          <a:prstGeom prst="rect">
            <a:avLst/>
          </a:prstGeom>
          <a:solidFill>
            <a:srgbClr val="6B52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363715" y="3328202"/>
            <a:ext cx="2651404" cy="26999"/>
          </a:xfrm>
          <a:prstGeom prst="rect">
            <a:avLst/>
          </a:prstGeom>
          <a:solidFill>
            <a:srgbClr val="6B52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63715" y="4663086"/>
            <a:ext cx="2651404" cy="27000"/>
          </a:xfrm>
          <a:prstGeom prst="rect">
            <a:avLst/>
          </a:prstGeom>
          <a:solidFill>
            <a:srgbClr val="C8D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98424" y="158292"/>
            <a:ext cx="5470119" cy="39162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2200">
                <a:solidFill>
                  <a:srgbClr val="FFFFFF"/>
                </a:solidFill>
                <a:latin typeface="Calibri"/>
              </a:rPr>
              <a:t>Plain Carbon Steels — Grades and Applications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8416" y="740534"/>
            <a:ext cx="8135563" cy="27566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500">
                <a:solidFill>
                  <a:srgbClr val="1C2B3A"/>
                </a:solidFill>
                <a:latin typeface="Calibri"/>
              </a:rPr>
              <a:t>Plain carbon steels are the backbone of fabrication and manufacturing — simple, readily available, and well-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88416" y="961577"/>
            <a:ext cx="4292223" cy="27566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500">
                <a:solidFill>
                  <a:srgbClr val="1C2B3A"/>
                </a:solidFill>
                <a:latin typeface="Calibri"/>
              </a:rPr>
              <a:t>understood. The right grade depends on the application.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2704" y="1325223"/>
            <a:ext cx="1355923" cy="26776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400">
                <a:solidFill>
                  <a:srgbClr val="FFFFFF"/>
                </a:solidFill>
                <a:latin typeface="Calibri"/>
              </a:rPr>
              <a:t>Low Carbon Steel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52704" y="1539692"/>
            <a:ext cx="656764" cy="2291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200">
                <a:solidFill>
                  <a:srgbClr val="CADCFC"/>
                </a:solidFill>
                <a:latin typeface="Calibri"/>
              </a:rPr>
              <a:t>&lt; 0.30% C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2696" y="1771465"/>
            <a:ext cx="130261" cy="23932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200">
                <a:solidFill>
                  <a:srgbClr val="1A2433"/>
                </a:solidFill>
                <a:latin typeface="Calibri"/>
              </a:rPr>
              <a:t>•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85774" y="1791991"/>
            <a:ext cx="1792917" cy="2365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200">
                <a:solidFill>
                  <a:srgbClr val="1A2433"/>
                </a:solidFill>
                <a:latin typeface="Calibri"/>
              </a:rPr>
              <a:t>Soft and ductile — deforms 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85774" y="1974871"/>
            <a:ext cx="1085702" cy="2365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200">
                <a:solidFill>
                  <a:srgbClr val="1A2433"/>
                </a:solidFill>
                <a:latin typeface="Calibri"/>
              </a:rPr>
              <a:t>without fracture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42696" y="2137225"/>
            <a:ext cx="130261" cy="23932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200">
                <a:solidFill>
                  <a:srgbClr val="1A2433"/>
                </a:solidFill>
                <a:latin typeface="Calibri"/>
              </a:rPr>
              <a:t>•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85774" y="2157751"/>
            <a:ext cx="1738094" cy="2365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200">
                <a:solidFill>
                  <a:srgbClr val="1A2433"/>
                </a:solidFill>
                <a:latin typeface="Calibri"/>
              </a:rPr>
              <a:t>Excellent weldability — no 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85774" y="2340631"/>
            <a:ext cx="1121945" cy="2365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200">
                <a:solidFill>
                  <a:srgbClr val="1A2433"/>
                </a:solidFill>
                <a:latin typeface="Calibri"/>
              </a:rPr>
              <a:t>preheat required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42696" y="2502985"/>
            <a:ext cx="130261" cy="23932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200">
                <a:solidFill>
                  <a:srgbClr val="1A2433"/>
                </a:solidFill>
                <a:latin typeface="Calibri"/>
              </a:rPr>
              <a:t>•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85774" y="2523511"/>
            <a:ext cx="2215661" cy="2365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200">
                <a:solidFill>
                  <a:srgbClr val="1A2433"/>
                </a:solidFill>
                <a:latin typeface="Calibri"/>
              </a:rPr>
              <a:t>Good formability — bends, draws, 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85774" y="2706391"/>
            <a:ext cx="983061" cy="2365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200">
                <a:solidFill>
                  <a:srgbClr val="1A2433"/>
                </a:solidFill>
                <a:latin typeface="Calibri"/>
              </a:rPr>
              <a:t>and rolls easily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42696" y="2868745"/>
            <a:ext cx="130261" cy="23932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200">
                <a:solidFill>
                  <a:srgbClr val="1A2433"/>
                </a:solidFill>
                <a:latin typeface="Calibri"/>
              </a:rPr>
              <a:t>•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85774" y="2889271"/>
            <a:ext cx="2138605" cy="2365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200">
                <a:solidFill>
                  <a:srgbClr val="1A2433"/>
                </a:solidFill>
                <a:latin typeface="Calibri"/>
              </a:rPr>
              <a:t>Cannot be significantly hardened 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85774" y="3072151"/>
            <a:ext cx="1196870" cy="2365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200">
                <a:solidFill>
                  <a:srgbClr val="1A2433"/>
                </a:solidFill>
                <a:latin typeface="Calibri"/>
              </a:rPr>
              <a:t>by heat treatment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52704" y="3417875"/>
            <a:ext cx="831700" cy="22120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100">
                <a:solidFill>
                  <a:srgbClr val="3B6FBA"/>
                </a:solidFill>
                <a:latin typeface="Calibri"/>
              </a:rPr>
              <a:t>Applications: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52704" y="3853117"/>
            <a:ext cx="2154278" cy="22120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100">
                <a:solidFill>
                  <a:srgbClr val="1A2433"/>
                </a:solidFill>
                <a:latin typeface="Calibri"/>
              </a:rPr>
              <a:t>Structural sections (I-beams, angles, 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52704" y="4020871"/>
            <a:ext cx="2726385" cy="22120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100">
                <a:solidFill>
                  <a:srgbClr val="1A2433"/>
                </a:solidFill>
                <a:latin typeface="Calibri"/>
              </a:rPr>
              <a:t>channels), sheet metal, pressure vessels, pipe, 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52704" y="4188626"/>
            <a:ext cx="1783442" cy="22120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100">
                <a:solidFill>
                  <a:srgbClr val="1A2433"/>
                </a:solidFill>
                <a:latin typeface="Calibri"/>
              </a:rPr>
              <a:t>general fabrication, stampings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52704" y="4743387"/>
            <a:ext cx="1816266" cy="22120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100">
                <a:solidFill>
                  <a:srgbClr val="64748B"/>
                </a:solidFill>
                <a:latin typeface="Calibri"/>
              </a:rPr>
              <a:t>Typical: A36, A572, 1018, 1020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351860" y="1325223"/>
            <a:ext cx="1679766" cy="26776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400">
                <a:solidFill>
                  <a:srgbClr val="FFFFFF"/>
                </a:solidFill>
                <a:latin typeface="Calibri"/>
              </a:rPr>
              <a:t>Medium Carbon Steel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351860" y="1539692"/>
            <a:ext cx="882149" cy="2291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200">
                <a:solidFill>
                  <a:srgbClr val="CADCFC"/>
                </a:solidFill>
                <a:latin typeface="Calibri"/>
              </a:rPr>
              <a:t>0.30–0.60% C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441865" y="1771465"/>
            <a:ext cx="130261" cy="23932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200">
                <a:solidFill>
                  <a:srgbClr val="1A2433"/>
                </a:solidFill>
                <a:latin typeface="Calibri"/>
              </a:rPr>
              <a:t>•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784943" y="1791991"/>
            <a:ext cx="1929975" cy="2365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200">
                <a:solidFill>
                  <a:srgbClr val="1A2433"/>
                </a:solidFill>
                <a:latin typeface="Calibri"/>
              </a:rPr>
              <a:t>Stronger and harder than low 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784943" y="1974871"/>
            <a:ext cx="504427" cy="2365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200">
                <a:solidFill>
                  <a:srgbClr val="1A2433"/>
                </a:solidFill>
                <a:latin typeface="Calibri"/>
              </a:rPr>
              <a:t>carbon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441865" y="2137225"/>
            <a:ext cx="130261" cy="23932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200">
                <a:solidFill>
                  <a:srgbClr val="1A2433"/>
                </a:solidFill>
                <a:latin typeface="Calibri"/>
              </a:rPr>
              <a:t>•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784943" y="2157751"/>
            <a:ext cx="2093835" cy="2365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200">
                <a:solidFill>
                  <a:srgbClr val="1A2433"/>
                </a:solidFill>
                <a:latin typeface="Calibri"/>
              </a:rPr>
              <a:t>Can be quenched and tempered 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784943" y="2340631"/>
            <a:ext cx="1298902" cy="2365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200">
                <a:solidFill>
                  <a:srgbClr val="1A2433"/>
                </a:solidFill>
                <a:latin typeface="Calibri"/>
              </a:rPr>
              <a:t>to improve strength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3441865" y="2502985"/>
            <a:ext cx="130261" cy="23932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200">
                <a:solidFill>
                  <a:srgbClr val="1A2433"/>
                </a:solidFill>
                <a:latin typeface="Calibri"/>
              </a:rPr>
              <a:t>•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3784943" y="2523511"/>
            <a:ext cx="2045713" cy="2365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200">
                <a:solidFill>
                  <a:srgbClr val="1A2433"/>
                </a:solidFill>
                <a:latin typeface="Calibri"/>
              </a:rPr>
              <a:t>Reduced weldability — preheat 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3784943" y="2706391"/>
            <a:ext cx="904634" cy="2365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200">
                <a:solidFill>
                  <a:srgbClr val="1A2433"/>
                </a:solidFill>
                <a:latin typeface="Calibri"/>
              </a:rPr>
              <a:t>often needed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3441865" y="2868745"/>
            <a:ext cx="130261" cy="23932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200">
                <a:solidFill>
                  <a:srgbClr val="1A2433"/>
                </a:solidFill>
                <a:latin typeface="Calibri"/>
              </a:rPr>
              <a:t>•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3784943" y="2889271"/>
            <a:ext cx="1938199" cy="2365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200">
                <a:solidFill>
                  <a:srgbClr val="1A2433"/>
                </a:solidFill>
                <a:latin typeface="Calibri"/>
              </a:rPr>
              <a:t>Good balance of strength and 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3784943" y="3072151"/>
            <a:ext cx="2011905" cy="2365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200">
                <a:solidFill>
                  <a:srgbClr val="1A2433"/>
                </a:solidFill>
                <a:latin typeface="Calibri"/>
              </a:rPr>
              <a:t>toughness after heat treatment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3351860" y="3417875"/>
            <a:ext cx="831700" cy="22120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100">
                <a:solidFill>
                  <a:srgbClr val="E07B39"/>
                </a:solidFill>
                <a:latin typeface="Calibri"/>
              </a:rPr>
              <a:t>Applications: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3351860" y="3853117"/>
            <a:ext cx="2445082" cy="22120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100">
                <a:solidFill>
                  <a:srgbClr val="1A2433"/>
                </a:solidFill>
                <a:latin typeface="Calibri"/>
              </a:rPr>
              <a:t>Shafts, gears, couplings, rails, automotive 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3351860" y="4020871"/>
            <a:ext cx="2158748" cy="22120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100">
                <a:solidFill>
                  <a:srgbClr val="1A2433"/>
                </a:solidFill>
                <a:latin typeface="Calibri"/>
              </a:rPr>
              <a:t>axles, bolts, crankshafts, agricultural 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3351860" y="4188626"/>
            <a:ext cx="698171" cy="22120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100">
                <a:solidFill>
                  <a:srgbClr val="1A2433"/>
                </a:solidFill>
                <a:latin typeface="Calibri"/>
              </a:rPr>
              <a:t>equipment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3351860" y="4743387"/>
            <a:ext cx="1516665" cy="22120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100">
                <a:solidFill>
                  <a:srgbClr val="64748B"/>
                </a:solidFill>
                <a:latin typeface="Calibri"/>
              </a:rPr>
              <a:t>Typical: 1040, 1045, 1050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351015" y="1325223"/>
            <a:ext cx="1390780" cy="26776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400">
                <a:solidFill>
                  <a:srgbClr val="FFFFFF"/>
                </a:solidFill>
                <a:latin typeface="Calibri"/>
              </a:rPr>
              <a:t>High Carbon Steel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351015" y="1539692"/>
            <a:ext cx="882149" cy="2291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200">
                <a:solidFill>
                  <a:srgbClr val="CADCFC"/>
                </a:solidFill>
                <a:latin typeface="Calibri"/>
              </a:rPr>
              <a:t>0.60–2.14% C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441020" y="1771465"/>
            <a:ext cx="130261" cy="23932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200">
                <a:solidFill>
                  <a:srgbClr val="1A2433"/>
                </a:solidFill>
                <a:latin typeface="Calibri"/>
              </a:rPr>
              <a:t>•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6784099" y="1791991"/>
            <a:ext cx="1890379" cy="2365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200">
                <a:solidFill>
                  <a:srgbClr val="1A2433"/>
                </a:solidFill>
                <a:latin typeface="Calibri"/>
              </a:rPr>
              <a:t>Very high hardness and wear 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6784099" y="1974871"/>
            <a:ext cx="696459" cy="2365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200">
                <a:solidFill>
                  <a:srgbClr val="1A2433"/>
                </a:solidFill>
                <a:latin typeface="Calibri"/>
              </a:rPr>
              <a:t>resistance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6441020" y="2137225"/>
            <a:ext cx="130261" cy="23932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200">
                <a:solidFill>
                  <a:srgbClr val="1A2433"/>
                </a:solidFill>
                <a:latin typeface="Calibri"/>
              </a:rPr>
              <a:t>•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6784099" y="2157751"/>
            <a:ext cx="1532505" cy="2365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200">
                <a:solidFill>
                  <a:srgbClr val="1A2433"/>
                </a:solidFill>
                <a:latin typeface="Calibri"/>
              </a:rPr>
              <a:t>Low ductility — limited 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6784099" y="2340631"/>
            <a:ext cx="750367" cy="2365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200">
                <a:solidFill>
                  <a:srgbClr val="1A2433"/>
                </a:solidFill>
                <a:latin typeface="Calibri"/>
              </a:rPr>
              <a:t>formability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6441020" y="2502985"/>
            <a:ext cx="130261" cy="23932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200">
                <a:solidFill>
                  <a:srgbClr val="1A2433"/>
                </a:solidFill>
                <a:latin typeface="Calibri"/>
              </a:rPr>
              <a:t>•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6784099" y="2523511"/>
            <a:ext cx="1801442" cy="2365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200">
                <a:solidFill>
                  <a:srgbClr val="1A2433"/>
                </a:solidFill>
                <a:latin typeface="Calibri"/>
              </a:rPr>
              <a:t>Difficult to weld — requires 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6784099" y="2706391"/>
            <a:ext cx="1701849" cy="2365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200">
                <a:solidFill>
                  <a:srgbClr val="1A2433"/>
                </a:solidFill>
                <a:latin typeface="Calibri"/>
              </a:rPr>
              <a:t>careful preheat and PWHT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6441020" y="2868745"/>
            <a:ext cx="130261" cy="23932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200">
                <a:solidFill>
                  <a:srgbClr val="1A2433"/>
                </a:solidFill>
                <a:latin typeface="Calibri"/>
              </a:rPr>
              <a:t>•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6784099" y="2889271"/>
            <a:ext cx="2081800" cy="2365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200">
                <a:solidFill>
                  <a:srgbClr val="1A2433"/>
                </a:solidFill>
                <a:latin typeface="Calibri"/>
              </a:rPr>
              <a:t>Excellent response to hardening 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6784099" y="3072151"/>
            <a:ext cx="1014281" cy="2365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200">
                <a:solidFill>
                  <a:srgbClr val="1A2433"/>
                </a:solidFill>
                <a:latin typeface="Calibri"/>
              </a:rPr>
              <a:t>heat treatment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6351015" y="3417875"/>
            <a:ext cx="831700" cy="22120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100">
                <a:solidFill>
                  <a:srgbClr val="6B5219"/>
                </a:solidFill>
                <a:latin typeface="Calibri"/>
              </a:rPr>
              <a:t>Applications: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6351015" y="3936988"/>
            <a:ext cx="2718290" cy="22120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100">
                <a:solidFill>
                  <a:srgbClr val="1A2433"/>
                </a:solidFill>
                <a:latin typeface="Calibri"/>
              </a:rPr>
              <a:t>Cutting tools, drill bits, springs, wire rope, saw 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6351015" y="4104755"/>
            <a:ext cx="2213360" cy="22120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100">
                <a:solidFill>
                  <a:srgbClr val="1A2433"/>
                </a:solidFill>
                <a:latin typeface="Calibri"/>
              </a:rPr>
              <a:t>blades, files, wear plates, knife blades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6351015" y="4743387"/>
            <a:ext cx="1516665" cy="22120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100">
                <a:solidFill>
                  <a:srgbClr val="64748B"/>
                </a:solidFill>
                <a:latin typeface="Calibri"/>
              </a:rPr>
              <a:t>Typical: 1060, 1080, 1095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"/>
            <a:ext cx="9143644" cy="514332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"/>
            <a:ext cx="9144000" cy="5143677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"/>
            <a:ext cx="9143631" cy="685444"/>
          </a:xfrm>
          <a:prstGeom prst="rect">
            <a:avLst/>
          </a:prstGeom>
          <a:solidFill>
            <a:srgbClr val="1C2B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55600" y="1207086"/>
            <a:ext cx="2834284" cy="1755355"/>
          </a:xfrm>
          <a:prstGeom prst="rect">
            <a:avLst/>
          </a:prstGeom>
          <a:solidFill>
            <a:srgbClr val="EE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55600" y="1207086"/>
            <a:ext cx="676440" cy="1755355"/>
          </a:xfrm>
          <a:prstGeom prst="rect">
            <a:avLst/>
          </a:prstGeom>
          <a:solidFill>
            <a:srgbClr val="2E4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023835" y="2431798"/>
            <a:ext cx="1956600" cy="27000"/>
          </a:xfrm>
          <a:prstGeom prst="rect">
            <a:avLst/>
          </a:prstGeom>
          <a:solidFill>
            <a:srgbClr val="2E4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218395" y="1207086"/>
            <a:ext cx="2834284" cy="1755355"/>
          </a:xfrm>
          <a:prstGeom prst="rect">
            <a:avLst/>
          </a:prstGeom>
          <a:solidFill>
            <a:srgbClr val="EE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218395" y="1207086"/>
            <a:ext cx="676439" cy="1755355"/>
          </a:xfrm>
          <a:prstGeom prst="rect">
            <a:avLst/>
          </a:prstGeom>
          <a:solidFill>
            <a:srgbClr val="2E6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986276" y="2431798"/>
            <a:ext cx="1956599" cy="27000"/>
          </a:xfrm>
          <a:prstGeom prst="rect">
            <a:avLst/>
          </a:prstGeom>
          <a:solidFill>
            <a:srgbClr val="2E6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180835" y="1207086"/>
            <a:ext cx="2834284" cy="1755355"/>
          </a:xfrm>
          <a:prstGeom prst="rect">
            <a:avLst/>
          </a:prstGeom>
          <a:solidFill>
            <a:srgbClr val="EE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180835" y="1207086"/>
            <a:ext cx="676440" cy="1755355"/>
          </a:xfrm>
          <a:prstGeom prst="rect">
            <a:avLst/>
          </a:prstGeom>
          <a:solidFill>
            <a:srgbClr val="1E6C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949084" y="2431798"/>
            <a:ext cx="1956599" cy="27000"/>
          </a:xfrm>
          <a:prstGeom prst="rect">
            <a:avLst/>
          </a:prstGeom>
          <a:solidFill>
            <a:srgbClr val="1E6C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55600" y="3072246"/>
            <a:ext cx="2834284" cy="1755355"/>
          </a:xfrm>
          <a:prstGeom prst="rect">
            <a:avLst/>
          </a:prstGeom>
          <a:solidFill>
            <a:srgbClr val="EE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55600" y="3072246"/>
            <a:ext cx="676440" cy="1755355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023835" y="4297326"/>
            <a:ext cx="1956600" cy="2700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218395" y="3072246"/>
            <a:ext cx="2834284" cy="1755355"/>
          </a:xfrm>
          <a:prstGeom prst="rect">
            <a:avLst/>
          </a:prstGeom>
          <a:solidFill>
            <a:srgbClr val="EE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218395" y="3072246"/>
            <a:ext cx="676439" cy="1755355"/>
          </a:xfrm>
          <a:prstGeom prst="rect">
            <a:avLst/>
          </a:prstGeom>
          <a:solidFill>
            <a:srgbClr val="6B52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986276" y="4297326"/>
            <a:ext cx="1956599" cy="27000"/>
          </a:xfrm>
          <a:prstGeom prst="rect">
            <a:avLst/>
          </a:prstGeom>
          <a:solidFill>
            <a:srgbClr val="6B52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180835" y="3072246"/>
            <a:ext cx="2834284" cy="1755355"/>
          </a:xfrm>
          <a:prstGeom prst="rect">
            <a:avLst/>
          </a:prstGeom>
          <a:solidFill>
            <a:srgbClr val="EE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180835" y="3072246"/>
            <a:ext cx="676440" cy="1755355"/>
          </a:xfrm>
          <a:prstGeom prst="rect">
            <a:avLst/>
          </a:prstGeom>
          <a:solidFill>
            <a:srgbClr val="5B6B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949084" y="4297326"/>
            <a:ext cx="1956599" cy="27000"/>
          </a:xfrm>
          <a:prstGeom prst="rect">
            <a:avLst/>
          </a:prstGeom>
          <a:solidFill>
            <a:srgbClr val="5B6B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98424" y="158292"/>
            <a:ext cx="4933464" cy="39162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2200">
                <a:solidFill>
                  <a:srgbClr val="FFFFFF"/>
                </a:solidFill>
                <a:latin typeface="Calibri"/>
              </a:rPr>
              <a:t>Alloying Elements — What Each One Does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88416" y="713178"/>
            <a:ext cx="7925076" cy="27566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500">
                <a:solidFill>
                  <a:srgbClr val="1C2B3A"/>
                </a:solidFill>
                <a:latin typeface="Calibri"/>
              </a:rPr>
              <a:t>Plain carbon steels cannot meet every requirement. Alloying elements are added to extend performance 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88416" y="934209"/>
            <a:ext cx="3035930" cy="27566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500">
                <a:solidFill>
                  <a:srgbClr val="1C2B3A"/>
                </a:solidFill>
                <a:latin typeface="Calibri"/>
              </a:rPr>
              <a:t>beyond what carbon alone can achieve.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84733" y="1338008"/>
            <a:ext cx="468144" cy="39162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2200">
                <a:solidFill>
                  <a:srgbClr val="FFFFFF"/>
                </a:solidFill>
                <a:latin typeface="Calibri"/>
              </a:rPr>
              <a:t>Mn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27863" y="1761786"/>
            <a:ext cx="584019" cy="1825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900">
                <a:solidFill>
                  <a:srgbClr val="CADCFC"/>
                </a:solidFill>
                <a:latin typeface="Calibri"/>
              </a:rPr>
              <a:t>Manganese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11135" y="1293451"/>
            <a:ext cx="1733264" cy="2291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200">
                <a:solidFill>
                  <a:srgbClr val="1A2433"/>
                </a:solidFill>
                <a:latin typeface="Calibri"/>
              </a:rPr>
              <a:t>Improves hardenability and 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11135" y="1468775"/>
            <a:ext cx="1932778" cy="2291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200">
                <a:solidFill>
                  <a:srgbClr val="1A2433"/>
                </a:solidFill>
                <a:latin typeface="Calibri"/>
              </a:rPr>
              <a:t>strength. Combines with sulfur 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11135" y="1644098"/>
            <a:ext cx="1926347" cy="2291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200">
                <a:solidFill>
                  <a:srgbClr val="1A2433"/>
                </a:solidFill>
                <a:latin typeface="Calibri"/>
              </a:rPr>
              <a:t>to form MnS — trapping sulfur 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11135" y="1819409"/>
            <a:ext cx="1678160" cy="2291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200">
                <a:solidFill>
                  <a:srgbClr val="1A2433"/>
                </a:solidFill>
                <a:latin typeface="Calibri"/>
              </a:rPr>
              <a:t>as harmless inclusions and 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11135" y="1994732"/>
            <a:ext cx="1920501" cy="2291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200">
                <a:solidFill>
                  <a:srgbClr val="1A2433"/>
                </a:solidFill>
                <a:latin typeface="Calibri"/>
              </a:rPr>
              <a:t>preventing hot cracking during 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11135" y="2170056"/>
            <a:ext cx="484583" cy="2291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200">
                <a:solidFill>
                  <a:srgbClr val="1A2433"/>
                </a:solidFill>
                <a:latin typeface="Calibri"/>
              </a:rPr>
              <a:t>rolling.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11135" y="2518633"/>
            <a:ext cx="2022616" cy="21330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1" sz="1000">
                <a:solidFill>
                  <a:srgbClr val="64748B"/>
                </a:solidFill>
                <a:latin typeface="Calibri"/>
              </a:rPr>
              <a:t>Present in virtually all steels. Typical 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11135" y="2678475"/>
            <a:ext cx="983142" cy="21330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1" sz="1000">
                <a:solidFill>
                  <a:srgbClr val="64748B"/>
                </a:solidFill>
                <a:latin typeface="Calibri"/>
              </a:rPr>
              <a:t>range: 0.5–2.0%.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421341" y="1338008"/>
            <a:ext cx="321479" cy="39162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2200">
                <a:solidFill>
                  <a:srgbClr val="FFFFFF"/>
                </a:solidFill>
                <a:latin typeface="Calibri"/>
              </a:rPr>
              <a:t>Cr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312985" y="1761786"/>
            <a:ext cx="536931" cy="1825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900">
                <a:solidFill>
                  <a:srgbClr val="CADCFC"/>
                </a:solidFill>
                <a:latin typeface="Calibri"/>
              </a:rPr>
              <a:t>Chromium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973576" y="1293451"/>
            <a:ext cx="1837042" cy="2291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200">
                <a:solidFill>
                  <a:srgbClr val="1A2433"/>
                </a:solidFill>
                <a:latin typeface="Calibri"/>
              </a:rPr>
              <a:t>Increases hardenability, wear 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973576" y="1468775"/>
            <a:ext cx="1591339" cy="2291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200">
                <a:solidFill>
                  <a:srgbClr val="1A2433"/>
                </a:solidFill>
                <a:latin typeface="Calibri"/>
              </a:rPr>
              <a:t>resistance, and corrosion 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973576" y="1644098"/>
            <a:ext cx="2022524" cy="2291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200">
                <a:solidFill>
                  <a:srgbClr val="1A2433"/>
                </a:solidFill>
                <a:latin typeface="Calibri"/>
              </a:rPr>
              <a:t>resistance. At ≥10.5% by weight, 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973576" y="1819409"/>
            <a:ext cx="1791731" cy="2291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200">
                <a:solidFill>
                  <a:srgbClr val="1A2433"/>
                </a:solidFill>
                <a:latin typeface="Calibri"/>
              </a:rPr>
              <a:t>forms the passive chromium 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973576" y="1994732"/>
            <a:ext cx="1976483" cy="2291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200">
                <a:solidFill>
                  <a:srgbClr val="1A2433"/>
                </a:solidFill>
                <a:latin typeface="Calibri"/>
              </a:rPr>
              <a:t>oxide layer that makes stainless 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973576" y="2170056"/>
            <a:ext cx="1529951" cy="2291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200">
                <a:solidFill>
                  <a:srgbClr val="1A2433"/>
                </a:solidFill>
                <a:latin typeface="Calibri"/>
              </a:rPr>
              <a:t>steel corrosion resistant.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973576" y="2518633"/>
            <a:ext cx="1937772" cy="21330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1" sz="1000">
                <a:solidFill>
                  <a:srgbClr val="64748B"/>
                </a:solidFill>
                <a:latin typeface="Calibri"/>
              </a:rPr>
              <a:t>Key element in stainless steels and 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973576" y="2678475"/>
            <a:ext cx="649749" cy="21330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1" sz="1000">
                <a:solidFill>
                  <a:srgbClr val="64748B"/>
                </a:solidFill>
                <a:latin typeface="Calibri"/>
              </a:rPr>
              <a:t>tool steels.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380899" y="1338008"/>
            <a:ext cx="327626" cy="39162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2200">
                <a:solidFill>
                  <a:srgbClr val="FFFFFF"/>
                </a:solidFill>
                <a:latin typeface="Calibri"/>
              </a:rPr>
              <a:t>Ni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375146" y="1761786"/>
            <a:ext cx="340370" cy="1825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900">
                <a:solidFill>
                  <a:srgbClr val="CADCFC"/>
                </a:solidFill>
                <a:latin typeface="Calibri"/>
              </a:rPr>
              <a:t>Nickel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936384" y="1293451"/>
            <a:ext cx="1950463" cy="2291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200">
                <a:solidFill>
                  <a:srgbClr val="1A2433"/>
                </a:solidFill>
                <a:latin typeface="Calibri"/>
              </a:rPr>
              <a:t>Improves toughness, especially 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936384" y="1468775"/>
            <a:ext cx="1940085" cy="2291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200">
                <a:solidFill>
                  <a:srgbClr val="1A2433"/>
                </a:solidFill>
                <a:latin typeface="Calibri"/>
              </a:rPr>
              <a:t>at low temperatures. Increases 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936384" y="1644098"/>
            <a:ext cx="1943009" cy="2291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200">
                <a:solidFill>
                  <a:srgbClr val="1A2433"/>
                </a:solidFill>
                <a:latin typeface="Calibri"/>
              </a:rPr>
              <a:t>hardenability without reducing 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936384" y="1819409"/>
            <a:ext cx="1930441" cy="2291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200">
                <a:solidFill>
                  <a:srgbClr val="1A2433"/>
                </a:solidFill>
                <a:latin typeface="Calibri"/>
              </a:rPr>
              <a:t>ductility significantly. Stabilizes 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936384" y="1994732"/>
            <a:ext cx="1774479" cy="2291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200">
                <a:solidFill>
                  <a:srgbClr val="1A2433"/>
                </a:solidFill>
                <a:latin typeface="Calibri"/>
              </a:rPr>
              <a:t>the austenite phase (FCC) at 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936384" y="2170056"/>
            <a:ext cx="1215989" cy="2291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200">
                <a:solidFill>
                  <a:srgbClr val="1A2433"/>
                </a:solidFill>
                <a:latin typeface="Calibri"/>
              </a:rPr>
              <a:t>room temperature.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936384" y="2518633"/>
            <a:ext cx="1867840" cy="21330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1" sz="1000">
                <a:solidFill>
                  <a:srgbClr val="64748B"/>
                </a:solidFill>
                <a:latin typeface="Calibri"/>
              </a:rPr>
              <a:t>Expensive. Used in cryogenic and 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936384" y="2678475"/>
            <a:ext cx="1507671" cy="21330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1" sz="1000">
                <a:solidFill>
                  <a:srgbClr val="64748B"/>
                </a:solidFill>
                <a:latin typeface="Calibri"/>
              </a:rPr>
              <a:t>austenitic stainless grades.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384733" y="3203169"/>
            <a:ext cx="468424" cy="39162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2200">
                <a:solidFill>
                  <a:srgbClr val="FFFFFF"/>
                </a:solidFill>
                <a:latin typeface="Calibri"/>
              </a:rPr>
              <a:t>Mo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329298" y="3562506"/>
            <a:ext cx="579375" cy="1825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900">
                <a:solidFill>
                  <a:srgbClr val="CADCFC"/>
                </a:solidFill>
                <a:latin typeface="Calibri"/>
              </a:rPr>
              <a:t>Molybdenu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538822" y="3692110"/>
            <a:ext cx="162384" cy="1825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900">
                <a:solidFill>
                  <a:srgbClr val="CADCFC"/>
                </a:solidFill>
                <a:latin typeface="Calibri"/>
              </a:rPr>
              <a:t>m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011135" y="3158967"/>
            <a:ext cx="1746858" cy="2291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200">
                <a:solidFill>
                  <a:srgbClr val="1A2433"/>
                </a:solidFill>
                <a:latin typeface="Calibri"/>
              </a:rPr>
              <a:t>Enhances hardenability and 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011135" y="3334290"/>
            <a:ext cx="1910708" cy="2291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200">
                <a:solidFill>
                  <a:srgbClr val="1A2433"/>
                </a:solidFill>
                <a:latin typeface="Calibri"/>
              </a:rPr>
              <a:t>maintains strength at elevated 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11135" y="3509614"/>
            <a:ext cx="1953095" cy="2291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200">
                <a:solidFill>
                  <a:srgbClr val="1A2433"/>
                </a:solidFill>
                <a:latin typeface="Calibri"/>
              </a:rPr>
              <a:t>temperatures. Reduces temper 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1011135" y="3684937"/>
            <a:ext cx="2008199" cy="2291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200">
                <a:solidFill>
                  <a:srgbClr val="1A2433"/>
                </a:solidFill>
                <a:latin typeface="Calibri"/>
              </a:rPr>
              <a:t>embrittlement. Improves pitting 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011135" y="3860248"/>
            <a:ext cx="1897552" cy="2291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200">
                <a:solidFill>
                  <a:srgbClr val="1A2433"/>
                </a:solidFill>
                <a:latin typeface="Calibri"/>
              </a:rPr>
              <a:t>corrosion resistance alongside 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1011135" y="4035572"/>
            <a:ext cx="1906176" cy="2291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200">
                <a:solidFill>
                  <a:srgbClr val="1A2433"/>
                </a:solidFill>
                <a:latin typeface="Calibri"/>
              </a:rPr>
              <a:t>chromium (as in 316 stainless).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1011135" y="4383793"/>
            <a:ext cx="1749162" cy="21330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1" sz="1000">
                <a:solidFill>
                  <a:srgbClr val="64748B"/>
                </a:solidFill>
                <a:latin typeface="Calibri"/>
              </a:rPr>
              <a:t>Key in 4140 alloy steel and 316 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1011135" y="4543635"/>
            <a:ext cx="1699479" cy="21330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1" sz="1000">
                <a:solidFill>
                  <a:srgbClr val="64748B"/>
                </a:solidFill>
                <a:latin typeface="Calibri"/>
              </a:rPr>
              <a:t>stainless. Often paired with Cr.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3461664" y="3203169"/>
            <a:ext cx="241302" cy="39162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2200">
                <a:solidFill>
                  <a:srgbClr val="FFFFFF"/>
                </a:solidFill>
                <a:latin typeface="Calibri"/>
              </a:rPr>
              <a:t>V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3323780" y="3627302"/>
            <a:ext cx="515763" cy="1825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900">
                <a:solidFill>
                  <a:srgbClr val="CADCFC"/>
                </a:solidFill>
                <a:latin typeface="Calibri"/>
              </a:rPr>
              <a:t>Vanadium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3973576" y="3158967"/>
            <a:ext cx="1629634" cy="2291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200">
                <a:solidFill>
                  <a:srgbClr val="1A2433"/>
                </a:solidFill>
                <a:latin typeface="Calibri"/>
              </a:rPr>
              <a:t>Refines grain size through 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3973576" y="3334290"/>
            <a:ext cx="1925034" cy="2291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200">
                <a:solidFill>
                  <a:srgbClr val="1A2433"/>
                </a:solidFill>
                <a:latin typeface="Calibri"/>
              </a:rPr>
              <a:t>precipitation hardening — fine 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3973576" y="3509614"/>
            <a:ext cx="1926495" cy="2291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200">
                <a:solidFill>
                  <a:srgbClr val="1A2433"/>
                </a:solidFill>
                <a:latin typeface="Calibri"/>
              </a:rPr>
              <a:t>vanadium carbide particles pin 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3973576" y="3684937"/>
            <a:ext cx="2045035" cy="2291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200">
                <a:solidFill>
                  <a:srgbClr val="1A2433"/>
                </a:solidFill>
                <a:latin typeface="Calibri"/>
              </a:rPr>
              <a:t>grain boundaries and resist grain 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3973576" y="3860248"/>
            <a:ext cx="1995630" cy="2291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200">
                <a:solidFill>
                  <a:srgbClr val="1A2433"/>
                </a:solidFill>
                <a:latin typeface="Calibri"/>
              </a:rPr>
              <a:t>growth. Improves both strength 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3973576" y="4035572"/>
            <a:ext cx="1900478" cy="2291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200">
                <a:solidFill>
                  <a:srgbClr val="1A2433"/>
                </a:solidFill>
                <a:latin typeface="Calibri"/>
              </a:rPr>
              <a:t>and toughness simultaneously.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3973576" y="4383793"/>
            <a:ext cx="1918857" cy="21330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1" sz="1000">
                <a:solidFill>
                  <a:srgbClr val="64748B"/>
                </a:solidFill>
                <a:latin typeface="Calibri"/>
              </a:rPr>
              <a:t>Used in HSLA structural steels and 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3973576" y="4543635"/>
            <a:ext cx="1267919" cy="21330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1" sz="1000">
                <a:solidFill>
                  <a:srgbClr val="64748B"/>
                </a:solidFill>
                <a:latin typeface="Calibri"/>
              </a:rPr>
              <a:t>high-speed tool steels.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6406819" y="3203169"/>
            <a:ext cx="275664" cy="39162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2200">
                <a:solidFill>
                  <a:srgbClr val="FFFFFF"/>
                </a:solidFill>
                <a:latin typeface="Calibri"/>
              </a:rPr>
              <a:t>Si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6365786" y="3627302"/>
            <a:ext cx="358514" cy="1825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900">
                <a:solidFill>
                  <a:srgbClr val="CADCFC"/>
                </a:solidFill>
                <a:latin typeface="Calibri"/>
              </a:rPr>
              <a:t>Silicon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6936384" y="3158967"/>
            <a:ext cx="1684153" cy="2291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200">
                <a:solidFill>
                  <a:srgbClr val="1A2433"/>
                </a:solidFill>
                <a:latin typeface="Calibri"/>
              </a:rPr>
              <a:t>Acts as a deoxidizer during 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6936384" y="3334290"/>
            <a:ext cx="1619256" cy="2291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200">
                <a:solidFill>
                  <a:srgbClr val="1A2433"/>
                </a:solidFill>
                <a:latin typeface="Calibri"/>
              </a:rPr>
              <a:t>steelmaking — scavenges 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6936384" y="3509614"/>
            <a:ext cx="1980865" cy="2291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200">
                <a:solidFill>
                  <a:srgbClr val="1A2433"/>
                </a:solidFill>
                <a:latin typeface="Calibri"/>
              </a:rPr>
              <a:t>oxygen from the melt. In higher 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6936384" y="3684937"/>
            <a:ext cx="1809854" cy="2291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200">
                <a:solidFill>
                  <a:srgbClr val="1A2433"/>
                </a:solidFill>
                <a:latin typeface="Calibri"/>
              </a:rPr>
              <a:t>quantities improves strength 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6936384" y="3860248"/>
            <a:ext cx="1932775" cy="2291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200">
                <a:solidFill>
                  <a:srgbClr val="1A2433"/>
                </a:solidFill>
                <a:latin typeface="Calibri"/>
              </a:rPr>
              <a:t>and electrical resistivity. Raises 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6936384" y="4035572"/>
            <a:ext cx="1338036" cy="2291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200">
                <a:solidFill>
                  <a:srgbClr val="1A2433"/>
                </a:solidFill>
                <a:latin typeface="Calibri"/>
              </a:rPr>
              <a:t>hardenability slightly.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6936384" y="4383793"/>
            <a:ext cx="2027546" cy="21330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1" sz="1000">
                <a:solidFill>
                  <a:srgbClr val="64748B"/>
                </a:solidFill>
                <a:latin typeface="Calibri"/>
              </a:rPr>
              <a:t>Usually 0.1–0.3% in most steels as a 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6936384" y="4543635"/>
            <a:ext cx="1212638" cy="21330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1" sz="1000">
                <a:solidFill>
                  <a:srgbClr val="64748B"/>
                </a:solidFill>
                <a:latin typeface="Calibri"/>
              </a:rPr>
              <a:t>steelmaking residual.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"/>
            <a:ext cx="9143644" cy="514332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"/>
            <a:ext cx="9144000" cy="5143677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"/>
            <a:ext cx="9143631" cy="685444"/>
          </a:xfrm>
          <a:prstGeom prst="rect">
            <a:avLst/>
          </a:prstGeom>
          <a:solidFill>
            <a:srgbClr val="1C2B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65759" y="1280162"/>
            <a:ext cx="4160164" cy="3611524"/>
          </a:xfrm>
          <a:prstGeom prst="rect">
            <a:avLst/>
          </a:prstGeom>
          <a:solidFill>
            <a:srgbClr val="EE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59" y="1279806"/>
            <a:ext cx="4160164" cy="456831"/>
          </a:xfrm>
          <a:prstGeom prst="rect">
            <a:avLst/>
          </a:prstGeom>
          <a:solidFill>
            <a:srgbClr val="B832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663440" y="1280162"/>
            <a:ext cx="4160163" cy="3611524"/>
          </a:xfrm>
          <a:prstGeom prst="rect">
            <a:avLst/>
          </a:prstGeom>
          <a:solidFill>
            <a:srgbClr val="EE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663440" y="1279806"/>
            <a:ext cx="4160163" cy="456831"/>
          </a:xfrm>
          <a:prstGeom prst="rect">
            <a:avLst/>
          </a:prstGeom>
          <a:solidFill>
            <a:srgbClr val="1E6C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98424" y="158292"/>
            <a:ext cx="5682992" cy="39162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2200">
                <a:solidFill>
                  <a:srgbClr val="FFFFFF"/>
                </a:solidFill>
                <a:latin typeface="Calibri"/>
              </a:rPr>
              <a:t>Alloy Steels — When Plain Carbon Is Not Enough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88416" y="747779"/>
            <a:ext cx="8220467" cy="26776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400">
                <a:solidFill>
                  <a:srgbClr val="1C2B3A"/>
                </a:solidFill>
                <a:latin typeface="Calibri"/>
              </a:rPr>
              <a:t>Plain carbon steels are the default — cheap, available, and well-understood. You specify an alloy steel only when 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8416" y="961254"/>
            <a:ext cx="4706747" cy="26776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400">
                <a:solidFill>
                  <a:srgbClr val="1C2B3A"/>
                </a:solidFill>
                <a:latin typeface="Calibri"/>
              </a:rPr>
              <a:t>the application demands something plain carbon cannot deliver.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35940" y="1384621"/>
            <a:ext cx="2475058" cy="26776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400">
                <a:solidFill>
                  <a:srgbClr val="FFFFFF"/>
                </a:solidFill>
                <a:latin typeface="Calibri"/>
              </a:rPr>
              <a:t>Limitations of Plain Carbon Steel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5944" y="2145261"/>
            <a:ext cx="132560" cy="24734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300">
                <a:solidFill>
                  <a:srgbClr val="1A2433"/>
                </a:solidFill>
                <a:latin typeface="Calibri"/>
              </a:rPr>
              <a:t>•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9022" y="2167778"/>
            <a:ext cx="3061572" cy="24449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300">
                <a:solidFill>
                  <a:srgbClr val="1A2433"/>
                </a:solidFill>
                <a:latin typeface="Calibri"/>
              </a:rPr>
              <a:t>Cannot be hardened through thick sections — 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9022" y="2358214"/>
            <a:ext cx="2904873" cy="24449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300">
                <a:solidFill>
                  <a:srgbClr val="1A2433"/>
                </a:solidFill>
                <a:latin typeface="Calibri"/>
              </a:rPr>
              <a:t>hardness drops off rapidly with depth (poor 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9022" y="2548664"/>
            <a:ext cx="973526" cy="24449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300">
                <a:solidFill>
                  <a:srgbClr val="1A2433"/>
                </a:solidFill>
                <a:latin typeface="Calibri"/>
              </a:rPr>
              <a:t>hardenability)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5944" y="2716583"/>
            <a:ext cx="132560" cy="24734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300">
                <a:solidFill>
                  <a:srgbClr val="1A2433"/>
                </a:solidFill>
                <a:latin typeface="Calibri"/>
              </a:rPr>
              <a:t>•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9022" y="2739100"/>
            <a:ext cx="3131270" cy="24449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300">
                <a:solidFill>
                  <a:srgbClr val="1A2433"/>
                </a:solidFill>
                <a:latin typeface="Calibri"/>
              </a:rPr>
              <a:t>Loses strength at elevated temperatures — not 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9022" y="2929537"/>
            <a:ext cx="2924402" cy="24449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300">
                <a:solidFill>
                  <a:srgbClr val="1A2433"/>
                </a:solidFill>
                <a:latin typeface="Calibri"/>
              </a:rPr>
              <a:t>suitable for high-temperature service above 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9022" y="3119986"/>
            <a:ext cx="533754" cy="24449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300">
                <a:solidFill>
                  <a:srgbClr val="1A2433"/>
                </a:solidFill>
                <a:latin typeface="Calibri"/>
              </a:rPr>
              <a:t>~300°C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5944" y="3287905"/>
            <a:ext cx="132560" cy="24734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300">
                <a:solidFill>
                  <a:srgbClr val="1A2433"/>
                </a:solidFill>
                <a:latin typeface="Calibri"/>
              </a:rPr>
              <a:t>•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69022" y="3310422"/>
            <a:ext cx="2955361" cy="24449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300">
                <a:solidFill>
                  <a:srgbClr val="1A2433"/>
                </a:solidFill>
                <a:latin typeface="Calibri"/>
              </a:rPr>
              <a:t>Corrodes readily in moisture, chemicals, and 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69022" y="3500859"/>
            <a:ext cx="1666843" cy="24449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300">
                <a:solidFill>
                  <a:srgbClr val="1A2433"/>
                </a:solidFill>
                <a:latin typeface="Calibri"/>
              </a:rPr>
              <a:t>aggressive environments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5944" y="3668791"/>
            <a:ext cx="132560" cy="24734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300">
                <a:solidFill>
                  <a:srgbClr val="1A2433"/>
                </a:solidFill>
                <a:latin typeface="Calibri"/>
              </a:rPr>
              <a:t>•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69022" y="3691296"/>
            <a:ext cx="3313371" cy="24449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300">
                <a:solidFill>
                  <a:srgbClr val="1A2433"/>
                </a:solidFill>
                <a:latin typeface="Calibri"/>
              </a:rPr>
              <a:t>Poor toughness at low (sub-zero) temperatures — 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69022" y="3881745"/>
            <a:ext cx="1441400" cy="24449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300">
                <a:solidFill>
                  <a:srgbClr val="1A2433"/>
                </a:solidFill>
                <a:latin typeface="Calibri"/>
              </a:rPr>
              <a:t>risk of brittle fracture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5944" y="4049664"/>
            <a:ext cx="132560" cy="24734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300">
                <a:solidFill>
                  <a:srgbClr val="1A2433"/>
                </a:solidFill>
                <a:latin typeface="Calibri"/>
              </a:rPr>
              <a:t>•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69022" y="4072181"/>
            <a:ext cx="3058238" cy="24449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300">
                <a:solidFill>
                  <a:srgbClr val="1A2433"/>
                </a:solidFill>
                <a:latin typeface="Calibri"/>
              </a:rPr>
              <a:t>Limited wear resistance for sliding or abrasion 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69022" y="4262618"/>
            <a:ext cx="2451447" cy="24449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300">
                <a:solidFill>
                  <a:srgbClr val="1A2433"/>
                </a:solidFill>
                <a:latin typeface="Calibri"/>
              </a:rPr>
              <a:t>without surface treatment or coating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833620" y="1384621"/>
            <a:ext cx="2104622" cy="26776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400">
                <a:solidFill>
                  <a:srgbClr val="FFFFFF"/>
                </a:solidFill>
                <a:latin typeface="Calibri"/>
              </a:rPr>
              <a:t>When to Specify Alloy Steel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923625" y="2240664"/>
            <a:ext cx="132560" cy="24734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300">
                <a:solidFill>
                  <a:srgbClr val="1A2433"/>
                </a:solidFill>
                <a:latin typeface="Calibri"/>
              </a:rPr>
              <a:t>•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266702" y="2263180"/>
            <a:ext cx="3250031" cy="24449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300">
                <a:solidFill>
                  <a:srgbClr val="1A2433"/>
                </a:solidFill>
                <a:latin typeface="Calibri"/>
              </a:rPr>
              <a:t>Deep hardening through thick sections — add Cr, 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266702" y="2453617"/>
            <a:ext cx="3150004" cy="24449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300">
                <a:solidFill>
                  <a:srgbClr val="1A2433"/>
                </a:solidFill>
                <a:latin typeface="Calibri"/>
              </a:rPr>
              <a:t>Mo, or Ni to improve hardenability (4140, 4340)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923625" y="2621549"/>
            <a:ext cx="132560" cy="24734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300">
                <a:solidFill>
                  <a:srgbClr val="1A2433"/>
                </a:solidFill>
                <a:latin typeface="Calibri"/>
              </a:rPr>
              <a:t>•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266702" y="2644053"/>
            <a:ext cx="2851215" cy="24449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300">
                <a:solidFill>
                  <a:srgbClr val="1A2433"/>
                </a:solidFill>
                <a:latin typeface="Calibri"/>
              </a:rPr>
              <a:t>High-temperature service — Mo maintains 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266702" y="2834502"/>
            <a:ext cx="3186518" cy="24449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300">
                <a:solidFill>
                  <a:srgbClr val="1A2433"/>
                </a:solidFill>
                <a:latin typeface="Calibri"/>
              </a:rPr>
              <a:t>strength above 400°C (Cr-Mo steels for pressure 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266702" y="3024939"/>
            <a:ext cx="573444" cy="24449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300">
                <a:solidFill>
                  <a:srgbClr val="1A2433"/>
                </a:solidFill>
                <a:latin typeface="Calibri"/>
              </a:rPr>
              <a:t>vessels)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923625" y="3192871"/>
            <a:ext cx="132560" cy="24734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300">
                <a:solidFill>
                  <a:srgbClr val="1A2433"/>
                </a:solidFill>
                <a:latin typeface="Calibri"/>
              </a:rPr>
              <a:t>•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266702" y="3215375"/>
            <a:ext cx="3348459" cy="24449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300">
                <a:solidFill>
                  <a:srgbClr val="1A2433"/>
                </a:solidFill>
                <a:latin typeface="Calibri"/>
              </a:rPr>
              <a:t>Corrosive environments — Cr ≥10.5% for stainless; 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266702" y="3405825"/>
            <a:ext cx="2838515" cy="24449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300">
                <a:solidFill>
                  <a:srgbClr val="1A2433"/>
                </a:solidFill>
                <a:latin typeface="Calibri"/>
              </a:rPr>
              <a:t>weathering steel for structural outdoor use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923625" y="3573744"/>
            <a:ext cx="132560" cy="24734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300">
                <a:solidFill>
                  <a:srgbClr val="1A2433"/>
                </a:solidFill>
                <a:latin typeface="Calibri"/>
              </a:rPr>
              <a:t>•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266702" y="3596261"/>
            <a:ext cx="3183665" cy="24449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300">
                <a:solidFill>
                  <a:srgbClr val="1A2433"/>
                </a:solidFill>
                <a:latin typeface="Calibri"/>
              </a:rPr>
              <a:t>Cryogenic or impact applications — Ni improves 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266702" y="3786698"/>
            <a:ext cx="2397152" cy="24449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300">
                <a:solidFill>
                  <a:srgbClr val="1A2433"/>
                </a:solidFill>
                <a:latin typeface="Calibri"/>
              </a:rPr>
              <a:t>toughness at sub-zero temperatures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923625" y="3954630"/>
            <a:ext cx="132560" cy="24734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300">
                <a:solidFill>
                  <a:srgbClr val="1A2433"/>
                </a:solidFill>
                <a:latin typeface="Calibri"/>
              </a:rPr>
              <a:t>•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266702" y="3977134"/>
            <a:ext cx="3118889" cy="24449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300">
                <a:solidFill>
                  <a:srgbClr val="1A2433"/>
                </a:solidFill>
                <a:latin typeface="Calibri"/>
              </a:rPr>
              <a:t>Higher strength-to-weight ratio — HSLA grades 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266702" y="4167583"/>
            <a:ext cx="2721188" cy="24449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300">
                <a:solidFill>
                  <a:srgbClr val="1A2433"/>
                </a:solidFill>
                <a:latin typeface="Calibri"/>
              </a:rPr>
              <a:t>with V or Nb for lighter structural designs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"/>
            <a:ext cx="9143644" cy="514332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"/>
            <a:ext cx="9144000" cy="5143677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"/>
            <a:ext cx="9143631" cy="685444"/>
          </a:xfrm>
          <a:prstGeom prst="rect">
            <a:avLst/>
          </a:prstGeom>
          <a:solidFill>
            <a:srgbClr val="1C2B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20040" y="1279806"/>
            <a:ext cx="4251604" cy="1645551"/>
          </a:xfrm>
          <a:prstGeom prst="rect">
            <a:avLst/>
          </a:prstGeom>
          <a:solidFill>
            <a:srgbClr val="EE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19684" y="1279806"/>
            <a:ext cx="548271" cy="1645551"/>
          </a:xfrm>
          <a:prstGeom prst="rect">
            <a:avLst/>
          </a:prstGeom>
          <a:solidFill>
            <a:srgbClr val="2E4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754879" y="1279806"/>
            <a:ext cx="4251604" cy="1645551"/>
          </a:xfrm>
          <a:prstGeom prst="rect">
            <a:avLst/>
          </a:prstGeom>
          <a:solidFill>
            <a:srgbClr val="EE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754524" y="1279806"/>
            <a:ext cx="548271" cy="1645551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20040" y="3035518"/>
            <a:ext cx="4251604" cy="1645564"/>
          </a:xfrm>
          <a:prstGeom prst="rect">
            <a:avLst/>
          </a:prstGeom>
          <a:solidFill>
            <a:srgbClr val="EE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19684" y="3035518"/>
            <a:ext cx="548271" cy="1645564"/>
          </a:xfrm>
          <a:prstGeom prst="rect">
            <a:avLst/>
          </a:prstGeom>
          <a:solidFill>
            <a:srgbClr val="1E6C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754879" y="3035518"/>
            <a:ext cx="4251604" cy="1645564"/>
          </a:xfrm>
          <a:prstGeom prst="rect">
            <a:avLst/>
          </a:prstGeom>
          <a:solidFill>
            <a:srgbClr val="EE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754524" y="3035518"/>
            <a:ext cx="548271" cy="1645564"/>
          </a:xfrm>
          <a:prstGeom prst="rect">
            <a:avLst/>
          </a:prstGeom>
          <a:solidFill>
            <a:srgbClr val="6B52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98424" y="158292"/>
            <a:ext cx="5890278" cy="39162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2200">
                <a:solidFill>
                  <a:srgbClr val="FFFFFF"/>
                </a:solidFill>
                <a:latin typeface="Calibri"/>
              </a:rPr>
              <a:t>Steel in the Shop — What a Technician Must Know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8416" y="740534"/>
            <a:ext cx="8070687" cy="27566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500">
                <a:solidFill>
                  <a:srgbClr val="1C2B3A"/>
                </a:solidFill>
                <a:latin typeface="Calibri"/>
              </a:rPr>
              <a:t>Reading a material spec is only the start. Every steel grade carries specific implications for cutting, welding, 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8416" y="961577"/>
            <a:ext cx="2277843" cy="27566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500">
                <a:solidFill>
                  <a:srgbClr val="1C2B3A"/>
                </a:solidFill>
                <a:latin typeface="Calibri"/>
              </a:rPr>
              <a:t>heat treating, and inspection.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98144" y="1895206"/>
            <a:ext cx="243242" cy="4535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260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5784" y="1394336"/>
            <a:ext cx="1392913" cy="26776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400">
                <a:solidFill>
                  <a:srgbClr val="2E4A6B"/>
                </a:solidFill>
                <a:latin typeface="Calibri"/>
              </a:rPr>
              <a:t>Identify the grade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5784" y="1811128"/>
            <a:ext cx="3185555" cy="2291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200">
                <a:solidFill>
                  <a:srgbClr val="1A2433"/>
                </a:solidFill>
                <a:latin typeface="Calibri"/>
              </a:rPr>
              <a:t>Find the AISI/SAE code on the material certificate or 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5784" y="1986452"/>
            <a:ext cx="3022288" cy="2291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200">
                <a:solidFill>
                  <a:srgbClr val="1A2433"/>
                </a:solidFill>
                <a:latin typeface="Calibri"/>
              </a:rPr>
              <a:t>drawing. First two digits: steel family and alloying 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5784" y="2161775"/>
            <a:ext cx="3362997" cy="2291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200">
                <a:solidFill>
                  <a:srgbClr val="1A2433"/>
                </a:solidFill>
                <a:latin typeface="Calibri"/>
              </a:rPr>
              <a:t>elements. Last two: carbon in hundredths of a percent. 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65784" y="2337099"/>
            <a:ext cx="3445141" cy="2291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200">
                <a:solidFill>
                  <a:srgbClr val="1A2433"/>
                </a:solidFill>
                <a:latin typeface="Calibri"/>
              </a:rPr>
              <a:t>Both matter for everything that follows — treat the spec 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65784" y="2512410"/>
            <a:ext cx="2256094" cy="2291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200">
                <a:solidFill>
                  <a:srgbClr val="1A2433"/>
                </a:solidFill>
                <a:latin typeface="Calibri"/>
              </a:rPr>
              <a:t>as a full description, not just a name.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932984" y="1895206"/>
            <a:ext cx="243242" cy="4535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260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00624" y="1394336"/>
            <a:ext cx="1417807" cy="26776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400">
                <a:solidFill>
                  <a:srgbClr val="E07B39"/>
                </a:solidFill>
                <a:latin typeface="Calibri"/>
              </a:rPr>
              <a:t>Assess weldability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00624" y="1811128"/>
            <a:ext cx="3547450" cy="2291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200">
                <a:solidFill>
                  <a:srgbClr val="1A2433"/>
                </a:solidFill>
                <a:latin typeface="Calibri"/>
              </a:rPr>
              <a:t>Carbon equivalent: CE = %C + %Mn/6 + (%Cr+%Mo+%V)/5 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00624" y="1986452"/>
            <a:ext cx="3211861" cy="2291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200">
                <a:solidFill>
                  <a:srgbClr val="1A2433"/>
                </a:solidFill>
                <a:latin typeface="Calibri"/>
              </a:rPr>
              <a:t>+ (%Ni+%Cu)/15. CE above ~0.40% requires preheat. 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00624" y="2161775"/>
            <a:ext cx="3294442" cy="2291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200">
                <a:solidFill>
                  <a:srgbClr val="1A2433"/>
                </a:solidFill>
                <a:latin typeface="Calibri"/>
              </a:rPr>
              <a:t>Above 0.60%, preheat is mandatory and PWHT is very 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00624" y="2337099"/>
            <a:ext cx="3542192" cy="2291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200">
                <a:solidFill>
                  <a:srgbClr val="1A2433"/>
                </a:solidFill>
                <a:latin typeface="Calibri"/>
              </a:rPr>
              <a:t>likely required. The higher the CE, the more precisely heat 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00624" y="2512410"/>
            <a:ext cx="1577162" cy="2291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200">
                <a:solidFill>
                  <a:srgbClr val="1A2433"/>
                </a:solidFill>
                <a:latin typeface="Calibri"/>
              </a:rPr>
              <a:t>input must be controlled.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98144" y="3650918"/>
            <a:ext cx="243242" cy="4535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260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65784" y="3150061"/>
            <a:ext cx="1658958" cy="26776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400">
                <a:solidFill>
                  <a:srgbClr val="1E6C52"/>
                </a:solidFill>
                <a:latin typeface="Calibri"/>
              </a:rPr>
              <a:t>Know heat treatment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65784" y="3478651"/>
            <a:ext cx="3540002" cy="2291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200">
                <a:solidFill>
                  <a:srgbClr val="1A2433"/>
                </a:solidFill>
                <a:latin typeface="Calibri"/>
              </a:rPr>
              <a:t>Low carbon steels: no significant heat treatment response 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65784" y="3653975"/>
            <a:ext cx="3424971" cy="2291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200">
                <a:solidFill>
                  <a:srgbClr val="1A2433"/>
                </a:solidFill>
                <a:latin typeface="Calibri"/>
              </a:rPr>
              <a:t>— use as-supplied. Medium and high carbon: quench to 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65784" y="3829298"/>
            <a:ext cx="3422338" cy="2291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200">
                <a:solidFill>
                  <a:srgbClr val="1A2433"/>
                </a:solidFill>
                <a:latin typeface="Calibri"/>
              </a:rPr>
              <a:t>harden, temper to reduce brittleness. Alloy steels: same 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65784" y="4004609"/>
            <a:ext cx="3421024" cy="2291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200">
                <a:solidFill>
                  <a:srgbClr val="1A2433"/>
                </a:solidFill>
                <a:latin typeface="Calibri"/>
              </a:rPr>
              <a:t>sequence but require more precise temperature control 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65784" y="4179932"/>
            <a:ext cx="3280999" cy="2291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200">
                <a:solidFill>
                  <a:srgbClr val="1A2433"/>
                </a:solidFill>
                <a:latin typeface="Calibri"/>
              </a:rPr>
              <a:t>and should NOT be welded in the hardened condition 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65784" y="4355256"/>
            <a:ext cx="966633" cy="2291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200">
                <a:solidFill>
                  <a:srgbClr val="1A2433"/>
                </a:solidFill>
                <a:latin typeface="Calibri"/>
              </a:rPr>
              <a:t>without PWHT.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932984" y="3650918"/>
            <a:ext cx="243242" cy="4535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260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400624" y="3150061"/>
            <a:ext cx="2112269" cy="26776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400">
                <a:solidFill>
                  <a:srgbClr val="6B5219"/>
                </a:solidFill>
                <a:latin typeface="Calibri"/>
              </a:rPr>
              <a:t>Inspect for the right defects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400624" y="3478651"/>
            <a:ext cx="3496153" cy="2291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200">
                <a:solidFill>
                  <a:srgbClr val="1A2433"/>
                </a:solidFill>
                <a:latin typeface="Calibri"/>
              </a:rPr>
              <a:t>High carbon and alloy steels are prone to hydrogen (cold) 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400624" y="3653975"/>
            <a:ext cx="3348963" cy="2291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200">
                <a:solidFill>
                  <a:srgbClr val="1A2433"/>
                </a:solidFill>
                <a:latin typeface="Calibri"/>
              </a:rPr>
              <a:t>cracking in the heat-affected zone — especially in thick 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400624" y="3829298"/>
            <a:ext cx="3539856" cy="2291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200">
                <a:solidFill>
                  <a:srgbClr val="1A2433"/>
                </a:solidFill>
                <a:latin typeface="Calibri"/>
              </a:rPr>
              <a:t>sections or high-restraint joints. Understand WHY preheat 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400624" y="4004609"/>
            <a:ext cx="3416636" cy="2291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200">
                <a:solidFill>
                  <a:srgbClr val="1A2433"/>
                </a:solidFill>
                <a:latin typeface="Calibri"/>
              </a:rPr>
              <a:t>and PWHT requirements exist in the procedure, not just 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400624" y="4179932"/>
            <a:ext cx="3048743" cy="2291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200">
                <a:solidFill>
                  <a:srgbClr val="1A2433"/>
                </a:solidFill>
                <a:latin typeface="Calibri"/>
              </a:rPr>
              <a:t>that they do. That understanding is the difference 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400624" y="4355256"/>
            <a:ext cx="2161235" cy="2291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200">
                <a:solidFill>
                  <a:srgbClr val="1A2433"/>
                </a:solidFill>
                <a:latin typeface="Calibri"/>
              </a:rPr>
              <a:t>between technician and craftsman.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"/>
            <a:ext cx="9143644" cy="514332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"/>
            <a:ext cx="9144000" cy="5143677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"/>
            <a:ext cx="9143631" cy="685444"/>
          </a:xfrm>
          <a:prstGeom prst="rect">
            <a:avLst/>
          </a:prstGeom>
          <a:solidFill>
            <a:srgbClr val="1C2B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55955" y="804597"/>
            <a:ext cx="4251604" cy="4132808"/>
          </a:xfrm>
          <a:prstGeom prst="rect">
            <a:avLst/>
          </a:prstGeom>
          <a:solidFill>
            <a:srgbClr val="EE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55955" y="804597"/>
            <a:ext cx="4251604" cy="438480"/>
          </a:xfrm>
          <a:prstGeom prst="rect">
            <a:avLst/>
          </a:prstGeom>
          <a:solidFill>
            <a:srgbClr val="2E4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699799" y="804597"/>
            <a:ext cx="4205884" cy="4132808"/>
          </a:xfrm>
          <a:prstGeom prst="rect">
            <a:avLst/>
          </a:prstGeom>
          <a:solidFill>
            <a:srgbClr val="EE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699799" y="804597"/>
            <a:ext cx="4205884" cy="43848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864684" y="1334518"/>
            <a:ext cx="164160" cy="1005484"/>
          </a:xfrm>
          <a:prstGeom prst="rect">
            <a:avLst/>
          </a:prstGeom>
          <a:solidFill>
            <a:srgbClr val="1E6C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864684" y="2523238"/>
            <a:ext cx="164160" cy="1005484"/>
          </a:xfrm>
          <a:prstGeom prst="rect">
            <a:avLst/>
          </a:prstGeom>
          <a:solidFill>
            <a:srgbClr val="3B6FB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864684" y="3711957"/>
            <a:ext cx="164160" cy="1005484"/>
          </a:xfrm>
          <a:prstGeom prst="rect">
            <a:avLst/>
          </a:prstGeom>
          <a:solidFill>
            <a:srgbClr val="B832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98424" y="158292"/>
            <a:ext cx="6659641" cy="39162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2200">
                <a:solidFill>
                  <a:srgbClr val="FFFFFF"/>
                </a:solidFill>
                <a:latin typeface="Calibri"/>
              </a:rPr>
              <a:t>CCT Diagram — What Actually Forms During Real Cooling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07416" y="881701"/>
            <a:ext cx="2264498" cy="26776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400">
                <a:solidFill>
                  <a:srgbClr val="FFFFFF"/>
                </a:solidFill>
                <a:latin typeface="Calibri"/>
              </a:rPr>
              <a:t>What the CCT Diagram Shows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97420" y="1340910"/>
            <a:ext cx="130261" cy="23932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200">
                <a:solidFill>
                  <a:srgbClr val="1A2433"/>
                </a:solidFill>
                <a:latin typeface="Calibri"/>
              </a:rPr>
              <a:t>•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0498" y="1361423"/>
            <a:ext cx="3179021" cy="2365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200">
                <a:solidFill>
                  <a:srgbClr val="1A2433"/>
                </a:solidFill>
                <a:latin typeface="Calibri"/>
              </a:rPr>
              <a:t>CCT = Continuous Cooling Transformation — plots 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0498" y="1544303"/>
            <a:ext cx="3285163" cy="2365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200">
                <a:solidFill>
                  <a:srgbClr val="1A2433"/>
                </a:solidFill>
                <a:latin typeface="Calibri"/>
              </a:rPr>
              <a:t>temperature vs. time (log scale) with cooling curves 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0498" y="1727183"/>
            <a:ext cx="572956" cy="2365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200">
                <a:solidFill>
                  <a:srgbClr val="1A2433"/>
                </a:solidFill>
                <a:latin typeface="Calibri"/>
              </a:rPr>
              <a:t>overlaid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97420" y="1889550"/>
            <a:ext cx="130261" cy="23932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200">
                <a:solidFill>
                  <a:srgbClr val="1A2433"/>
                </a:solidFill>
                <a:latin typeface="Calibri"/>
              </a:rPr>
              <a:t>•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0498" y="1910063"/>
            <a:ext cx="3476131" cy="2365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200">
                <a:solidFill>
                  <a:srgbClr val="1A2433"/>
                </a:solidFill>
                <a:latin typeface="Calibri"/>
              </a:rPr>
              <a:t>Each steel composition has its own CCT diagram — the 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0498" y="2092943"/>
            <a:ext cx="3209478" cy="2365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200">
                <a:solidFill>
                  <a:srgbClr val="1A2433"/>
                </a:solidFill>
                <a:latin typeface="Calibri"/>
              </a:rPr>
              <a:t>phase diagram is universal; the CCT is alloy-specific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97420" y="2255310"/>
            <a:ext cx="130261" cy="23932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200">
                <a:solidFill>
                  <a:srgbClr val="1A2433"/>
                </a:solidFill>
                <a:latin typeface="Calibri"/>
              </a:rPr>
              <a:t>•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0498" y="2275823"/>
            <a:ext cx="3364047" cy="2365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200">
                <a:solidFill>
                  <a:srgbClr val="1A2433"/>
                </a:solidFill>
                <a:latin typeface="Calibri"/>
              </a:rPr>
              <a:t>Cooling curves that intersect a transformation region 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0498" y="2458703"/>
            <a:ext cx="3173842" cy="2365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200">
                <a:solidFill>
                  <a:srgbClr val="1A2433"/>
                </a:solidFill>
                <a:latin typeface="Calibri"/>
              </a:rPr>
              <a:t>produce that microstructure; faster curves bypass 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40498" y="2641583"/>
            <a:ext cx="1031640" cy="2365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200">
                <a:solidFill>
                  <a:srgbClr val="1A2433"/>
                </a:solidFill>
                <a:latin typeface="Calibri"/>
              </a:rPr>
              <a:t>regions entirely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97420" y="2803950"/>
            <a:ext cx="130261" cy="23932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200">
                <a:solidFill>
                  <a:srgbClr val="1A2433"/>
                </a:solidFill>
                <a:latin typeface="Calibri"/>
              </a:rPr>
              <a:t>•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40498" y="2824463"/>
            <a:ext cx="2798002" cy="2365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200">
                <a:solidFill>
                  <a:srgbClr val="1A2433"/>
                </a:solidFill>
                <a:latin typeface="Calibri"/>
              </a:rPr>
              <a:t>Ms and Mf lines: martensite start and finish 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40498" y="3007343"/>
            <a:ext cx="3265215" cy="2365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200">
                <a:solidFill>
                  <a:srgbClr val="1A2433"/>
                </a:solidFill>
                <a:latin typeface="Calibri"/>
              </a:rPr>
              <a:t>temperatures — steel must cool below Ms to begin 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40498" y="3190223"/>
            <a:ext cx="1265551" cy="2365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200">
                <a:solidFill>
                  <a:srgbClr val="1A2433"/>
                </a:solidFill>
                <a:latin typeface="Calibri"/>
              </a:rPr>
              <a:t>forming martensite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97420" y="3352590"/>
            <a:ext cx="130261" cy="23932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200">
                <a:solidFill>
                  <a:srgbClr val="1A2433"/>
                </a:solidFill>
                <a:latin typeface="Calibri"/>
              </a:rPr>
              <a:t>•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40498" y="3373103"/>
            <a:ext cx="3417195" cy="2365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200">
                <a:solidFill>
                  <a:srgbClr val="1A2433"/>
                </a:solidFill>
                <a:latin typeface="Calibri"/>
              </a:rPr>
              <a:t>Hardenability: alloying elements (Cr, Ni, Mo, Mn) shift 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40498" y="3555983"/>
            <a:ext cx="3457551" cy="2365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200">
                <a:solidFill>
                  <a:srgbClr val="1A2433"/>
                </a:solidFill>
                <a:latin typeface="Calibri"/>
              </a:rPr>
              <a:t>CCT curves right → martensite forms at slower cooling 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40498" y="3738863"/>
            <a:ext cx="1793525" cy="2365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200">
                <a:solidFill>
                  <a:srgbClr val="1A2433"/>
                </a:solidFill>
                <a:latin typeface="Calibri"/>
              </a:rPr>
              <a:t>rates and in thicker sections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851615" y="881701"/>
            <a:ext cx="2438601" cy="26776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400">
                <a:solidFill>
                  <a:srgbClr val="FFFFFF"/>
                </a:solidFill>
                <a:latin typeface="Calibri"/>
              </a:rPr>
              <a:t>Microstructures by Cooling Rate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107584" y="1382937"/>
            <a:ext cx="1058879" cy="2523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300">
                <a:solidFill>
                  <a:srgbClr val="1E6C52"/>
                </a:solidFill>
                <a:latin typeface="Calibri"/>
              </a:rPr>
              <a:t>Pearlite (slow)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107584" y="1693768"/>
            <a:ext cx="3524216" cy="2291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200">
                <a:solidFill>
                  <a:srgbClr val="1A2433"/>
                </a:solidFill>
                <a:latin typeface="Calibri"/>
              </a:rPr>
              <a:t>Furnace cooling / annealing. Ferrite + cementite lamellae. 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107584" y="1869091"/>
            <a:ext cx="3293129" cy="2291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200">
                <a:solidFill>
                  <a:srgbClr val="1A2433"/>
                </a:solidFill>
                <a:latin typeface="Calibri"/>
              </a:rPr>
              <a:t>Soft, ductile, machinable. Used where formability and 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107584" y="2044415"/>
            <a:ext cx="1330581" cy="2291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200">
                <a:solidFill>
                  <a:srgbClr val="1A2433"/>
                </a:solidFill>
                <a:latin typeface="Calibri"/>
              </a:rPr>
              <a:t>machinability matter.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107584" y="2571657"/>
            <a:ext cx="1583186" cy="2523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300">
                <a:solidFill>
                  <a:srgbClr val="3B6FBA"/>
                </a:solidFill>
                <a:latin typeface="Calibri"/>
              </a:rPr>
              <a:t>Bainite (intermediate)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107584" y="2882488"/>
            <a:ext cx="3700636" cy="2291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200">
                <a:solidFill>
                  <a:srgbClr val="1A2433"/>
                </a:solidFill>
                <a:latin typeface="Calibri"/>
              </a:rPr>
              <a:t>Interrupted quench or alloy steel air-cool. Finer than pearlite 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107584" y="3057811"/>
            <a:ext cx="3158073" cy="2291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200">
                <a:solidFill>
                  <a:srgbClr val="1A2433"/>
                </a:solidFill>
                <a:latin typeface="Calibri"/>
              </a:rPr>
              <a:t>— better strength + toughness combination. Avoids 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107584" y="3233135"/>
            <a:ext cx="1415649" cy="2291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200">
                <a:solidFill>
                  <a:srgbClr val="1A2433"/>
                </a:solidFill>
                <a:latin typeface="Calibri"/>
              </a:rPr>
              <a:t>martensite brittleness.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107584" y="3760377"/>
            <a:ext cx="1220484" cy="2523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300">
                <a:solidFill>
                  <a:srgbClr val="B83232"/>
                </a:solidFill>
                <a:latin typeface="Calibri"/>
              </a:rPr>
              <a:t>Martensite (fast)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107584" y="4071208"/>
            <a:ext cx="3156027" cy="2291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200">
                <a:solidFill>
                  <a:srgbClr val="1A2433"/>
                </a:solidFill>
                <a:latin typeface="Calibri"/>
              </a:rPr>
              <a:t>Water or oil quench. BCT crystal — carbon trapped. 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107584" y="4246531"/>
            <a:ext cx="3439583" cy="2291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200">
                <a:solidFill>
                  <a:srgbClr val="1A2433"/>
                </a:solidFill>
                <a:latin typeface="Calibri"/>
              </a:rPr>
              <a:t>Extremely hard (up to ~65 HRC) but brittle as-quenched. 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107584" y="4421855"/>
            <a:ext cx="1881620" cy="2291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200">
                <a:solidFill>
                  <a:srgbClr val="1A2433"/>
                </a:solidFill>
                <a:latin typeface="Calibri"/>
              </a:rPr>
              <a:t>Must be tempered before use.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"/>
            <a:ext cx="9143644" cy="514332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"/>
            <a:ext cx="9144000" cy="5143677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"/>
            <a:ext cx="9143631" cy="685444"/>
          </a:xfrm>
          <a:prstGeom prst="rect">
            <a:avLst/>
          </a:prstGeom>
          <a:solidFill>
            <a:srgbClr val="1C2B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55955" y="822962"/>
            <a:ext cx="2724480" cy="1901519"/>
          </a:xfrm>
          <a:prstGeom prst="rect">
            <a:avLst/>
          </a:prstGeom>
          <a:solidFill>
            <a:srgbClr val="EE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55955" y="822606"/>
            <a:ext cx="2724480" cy="365391"/>
          </a:xfrm>
          <a:prstGeom prst="rect">
            <a:avLst/>
          </a:prstGeom>
          <a:solidFill>
            <a:srgbClr val="6474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246120" y="822962"/>
            <a:ext cx="2724480" cy="1901519"/>
          </a:xfrm>
          <a:prstGeom prst="rect">
            <a:avLst/>
          </a:prstGeom>
          <a:solidFill>
            <a:srgbClr val="EE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246120" y="822606"/>
            <a:ext cx="2724480" cy="365391"/>
          </a:xfrm>
          <a:prstGeom prst="rect">
            <a:avLst/>
          </a:prstGeom>
          <a:solidFill>
            <a:srgbClr val="5B6B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236284" y="822962"/>
            <a:ext cx="2724480" cy="1901519"/>
          </a:xfrm>
          <a:prstGeom prst="rect">
            <a:avLst/>
          </a:prstGeom>
          <a:solidFill>
            <a:srgbClr val="EE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36284" y="822606"/>
            <a:ext cx="2724480" cy="365391"/>
          </a:xfrm>
          <a:prstGeom prst="rect">
            <a:avLst/>
          </a:prstGeom>
          <a:solidFill>
            <a:srgbClr val="B832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755724" y="2926082"/>
            <a:ext cx="2724480" cy="1901520"/>
          </a:xfrm>
          <a:prstGeom prst="rect">
            <a:avLst/>
          </a:prstGeom>
          <a:solidFill>
            <a:srgbClr val="EE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755724" y="2925726"/>
            <a:ext cx="2724480" cy="365391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745875" y="2926082"/>
            <a:ext cx="2724479" cy="1901520"/>
          </a:xfrm>
          <a:prstGeom prst="rect">
            <a:avLst/>
          </a:prstGeom>
          <a:solidFill>
            <a:srgbClr val="EE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745875" y="2925726"/>
            <a:ext cx="2724479" cy="365391"/>
          </a:xfrm>
          <a:prstGeom prst="rect">
            <a:avLst/>
          </a:prstGeom>
          <a:solidFill>
            <a:srgbClr val="1E6C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98424" y="158292"/>
            <a:ext cx="3076826" cy="39162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2200">
                <a:solidFill>
                  <a:srgbClr val="FFFFFF"/>
                </a:solidFill>
                <a:latin typeface="Calibri"/>
              </a:rPr>
              <a:t>Heat Treatment Processes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4695" y="882056"/>
            <a:ext cx="819563" cy="26776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400">
                <a:solidFill>
                  <a:srgbClr val="FFFFFF"/>
                </a:solidFill>
                <a:latin typeface="Calibri"/>
              </a:rPr>
              <a:t>Annealing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34695" y="1248263"/>
            <a:ext cx="351955" cy="2058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000">
                <a:solidFill>
                  <a:srgbClr val="64748B"/>
                </a:solidFill>
                <a:latin typeface="Calibri"/>
              </a:rPr>
              <a:t>Goal: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8255" y="1302987"/>
            <a:ext cx="2004327" cy="2058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000">
                <a:solidFill>
                  <a:srgbClr val="1A2433"/>
                </a:solidFill>
                <a:latin typeface="Calibri"/>
              </a:rPr>
              <a:t>Soften, relieve stress, restore ductility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34695" y="1596027"/>
            <a:ext cx="352082" cy="2058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000">
                <a:solidFill>
                  <a:srgbClr val="64748B"/>
                </a:solidFill>
                <a:latin typeface="Calibri"/>
              </a:rPr>
              <a:t>How: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8255" y="1574424"/>
            <a:ext cx="1910290" cy="2058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000">
                <a:solidFill>
                  <a:srgbClr val="1A2433"/>
                </a:solidFill>
                <a:latin typeface="Calibri"/>
              </a:rPr>
              <a:t>Heat to austenite region → furnace 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8255" y="1727066"/>
            <a:ext cx="879575" cy="2058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000">
                <a:solidFill>
                  <a:srgbClr val="1A2433"/>
                </a:solidFill>
                <a:latin typeface="Calibri"/>
              </a:rPr>
              <a:t>cool (very slow)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34695" y="1943423"/>
            <a:ext cx="437223" cy="2058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000">
                <a:solidFill>
                  <a:srgbClr val="64748B"/>
                </a:solidFill>
                <a:latin typeface="Calibri"/>
              </a:rPr>
              <a:t>Result: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8255" y="1921820"/>
            <a:ext cx="1683713" cy="2058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000">
                <a:solidFill>
                  <a:srgbClr val="1A2433"/>
                </a:solidFill>
                <a:latin typeface="Calibri"/>
              </a:rPr>
              <a:t>Coarse pearlite — soft, ductile, 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8255" y="2074461"/>
            <a:ext cx="1253941" cy="2058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000">
                <a:solidFill>
                  <a:srgbClr val="1A2433"/>
                </a:solidFill>
                <a:latin typeface="Calibri"/>
              </a:rPr>
              <a:t>excellent machinability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34695" y="2290831"/>
            <a:ext cx="307732" cy="2058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000">
                <a:solidFill>
                  <a:srgbClr val="64748B"/>
                </a:solidFill>
                <a:latin typeface="Calibri"/>
              </a:rPr>
              <a:t>Use: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8255" y="2269228"/>
            <a:ext cx="2016780" cy="2058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000">
                <a:solidFill>
                  <a:srgbClr val="1A2433"/>
                </a:solidFill>
                <a:latin typeface="Calibri"/>
              </a:rPr>
              <a:t>After cold work, before machining, to 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8255" y="2421870"/>
            <a:ext cx="1032575" cy="2058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000">
                <a:solidFill>
                  <a:srgbClr val="1A2433"/>
                </a:solidFill>
                <a:latin typeface="Calibri"/>
              </a:rPr>
              <a:t>restore formability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324859" y="882056"/>
            <a:ext cx="965212" cy="26776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400">
                <a:solidFill>
                  <a:srgbClr val="FFFFFF"/>
                </a:solidFill>
                <a:latin typeface="Calibri"/>
              </a:rPr>
              <a:t>Normalizing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324859" y="1248263"/>
            <a:ext cx="351955" cy="2058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000">
                <a:solidFill>
                  <a:srgbClr val="5B6B7C"/>
                </a:solidFill>
                <a:latin typeface="Calibri"/>
              </a:rPr>
              <a:t>Goal: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818420" y="1226660"/>
            <a:ext cx="1619539" cy="2058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000">
                <a:solidFill>
                  <a:srgbClr val="1A2433"/>
                </a:solidFill>
                <a:latin typeface="Calibri"/>
              </a:rPr>
              <a:t>Refine grain size, homogenize 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818420" y="1379302"/>
            <a:ext cx="837386" cy="2058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000">
                <a:solidFill>
                  <a:srgbClr val="1A2433"/>
                </a:solidFill>
                <a:latin typeface="Calibri"/>
              </a:rPr>
              <a:t>microstructure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324859" y="1596027"/>
            <a:ext cx="352082" cy="2058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000">
                <a:solidFill>
                  <a:srgbClr val="5B6B7C"/>
                </a:solidFill>
                <a:latin typeface="Calibri"/>
              </a:rPr>
              <a:t>How: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818420" y="1650751"/>
            <a:ext cx="2081461" cy="2058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000">
                <a:solidFill>
                  <a:srgbClr val="1A2433"/>
                </a:solidFill>
                <a:latin typeface="Calibri"/>
              </a:rPr>
              <a:t>Heat to austenite region → still-air cool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324859" y="1943423"/>
            <a:ext cx="437223" cy="2058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000">
                <a:solidFill>
                  <a:srgbClr val="5B6B7C"/>
                </a:solidFill>
                <a:latin typeface="Calibri"/>
              </a:rPr>
              <a:t>Result: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818420" y="1921820"/>
            <a:ext cx="1870514" cy="2058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000">
                <a:solidFill>
                  <a:srgbClr val="1A2433"/>
                </a:solidFill>
                <a:latin typeface="Calibri"/>
              </a:rPr>
              <a:t>Fine pearlite — slightly harder and 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818420" y="2074461"/>
            <a:ext cx="1274274" cy="2058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000">
                <a:solidFill>
                  <a:srgbClr val="1A2433"/>
                </a:solidFill>
                <a:latin typeface="Calibri"/>
              </a:rPr>
              <a:t>stronger than annealed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324859" y="2290831"/>
            <a:ext cx="307732" cy="2058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000">
                <a:solidFill>
                  <a:srgbClr val="5B6B7C"/>
                </a:solidFill>
                <a:latin typeface="Calibri"/>
              </a:rPr>
              <a:t>Use: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818420" y="2269228"/>
            <a:ext cx="1950573" cy="2058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000">
                <a:solidFill>
                  <a:srgbClr val="1A2433"/>
                </a:solidFill>
                <a:latin typeface="Calibri"/>
              </a:rPr>
              <a:t>Forgings and castings before further 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818420" y="2421870"/>
            <a:ext cx="1321673" cy="2058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000">
                <a:solidFill>
                  <a:srgbClr val="1A2433"/>
                </a:solidFill>
                <a:latin typeface="Calibri"/>
              </a:rPr>
              <a:t>processing or machining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315024" y="882056"/>
            <a:ext cx="872916" cy="26776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400">
                <a:solidFill>
                  <a:srgbClr val="FFFFFF"/>
                </a:solidFill>
                <a:latin typeface="Calibri"/>
              </a:rPr>
              <a:t>Quenching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315024" y="1248263"/>
            <a:ext cx="351955" cy="2058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000">
                <a:solidFill>
                  <a:srgbClr val="B83232"/>
                </a:solidFill>
                <a:latin typeface="Calibri"/>
              </a:rPr>
              <a:t>Goal: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808216" y="1302987"/>
            <a:ext cx="1060025" cy="2058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000">
                <a:solidFill>
                  <a:srgbClr val="1A2433"/>
                </a:solidFill>
                <a:latin typeface="Calibri"/>
              </a:rPr>
              <a:t>Maximize hardness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315024" y="1596027"/>
            <a:ext cx="352082" cy="2058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000">
                <a:solidFill>
                  <a:srgbClr val="B83232"/>
                </a:solidFill>
                <a:latin typeface="Calibri"/>
              </a:rPr>
              <a:t>How: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808216" y="1574424"/>
            <a:ext cx="1836971" cy="2058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000">
                <a:solidFill>
                  <a:srgbClr val="1A2433"/>
                </a:solidFill>
                <a:latin typeface="Calibri"/>
              </a:rPr>
              <a:t>Heat to austenite → rapid quench 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808216" y="1727066"/>
            <a:ext cx="1249620" cy="2058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000">
                <a:solidFill>
                  <a:srgbClr val="1A2433"/>
                </a:solidFill>
                <a:latin typeface="Calibri"/>
              </a:rPr>
              <a:t>(water, oil, or polymer)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315024" y="1943423"/>
            <a:ext cx="437224" cy="2058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000">
                <a:solidFill>
                  <a:srgbClr val="B83232"/>
                </a:solidFill>
                <a:latin typeface="Calibri"/>
              </a:rPr>
              <a:t>Result: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808216" y="1921820"/>
            <a:ext cx="2101032" cy="2058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000">
                <a:solidFill>
                  <a:srgbClr val="1A2433"/>
                </a:solidFill>
                <a:latin typeface="Calibri"/>
              </a:rPr>
              <a:t>Martensite — very hard (up to 65 HRC) 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808216" y="2074461"/>
            <a:ext cx="591368" cy="2058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000">
                <a:solidFill>
                  <a:srgbClr val="1A2433"/>
                </a:solidFill>
                <a:latin typeface="Calibri"/>
              </a:rPr>
              <a:t>but brittle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315024" y="2290831"/>
            <a:ext cx="307732" cy="2058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000">
                <a:solidFill>
                  <a:srgbClr val="B83232"/>
                </a:solidFill>
                <a:latin typeface="Calibri"/>
              </a:rPr>
              <a:t>Use: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808216" y="2269228"/>
            <a:ext cx="2108401" cy="2058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000">
                <a:solidFill>
                  <a:srgbClr val="1A2433"/>
                </a:solidFill>
                <a:latin typeface="Calibri"/>
              </a:rPr>
              <a:t>First step in quench-and-temper; never 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808216" y="2421870"/>
            <a:ext cx="1324725" cy="2058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000">
                <a:solidFill>
                  <a:srgbClr val="1A2433"/>
                </a:solidFill>
                <a:latin typeface="Calibri"/>
              </a:rPr>
              <a:t>used as-quenched alone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834464" y="2985176"/>
            <a:ext cx="854419" cy="26776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400">
                <a:solidFill>
                  <a:srgbClr val="FFFFFF"/>
                </a:solidFill>
                <a:latin typeface="Calibri"/>
              </a:rPr>
              <a:t>Tempering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834464" y="3351383"/>
            <a:ext cx="351955" cy="20583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000">
                <a:solidFill>
                  <a:srgbClr val="E07B39"/>
                </a:solidFill>
                <a:latin typeface="Calibri"/>
              </a:rPr>
              <a:t>Goal: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2327655" y="3406107"/>
            <a:ext cx="1860730" cy="20583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000">
                <a:solidFill>
                  <a:srgbClr val="1A2433"/>
                </a:solidFill>
                <a:latin typeface="Calibri"/>
              </a:rPr>
              <a:t>Restore toughness after quenching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834464" y="3699147"/>
            <a:ext cx="352082" cy="20583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000">
                <a:solidFill>
                  <a:srgbClr val="E07B39"/>
                </a:solidFill>
                <a:latin typeface="Calibri"/>
              </a:rPr>
              <a:t>How: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2327655" y="3677544"/>
            <a:ext cx="1982977" cy="20583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000">
                <a:solidFill>
                  <a:srgbClr val="1A2433"/>
                </a:solidFill>
                <a:latin typeface="Calibri"/>
              </a:rPr>
              <a:t>Reheat quenched martensite to 150–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2327655" y="3830185"/>
            <a:ext cx="927228" cy="20583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000">
                <a:solidFill>
                  <a:srgbClr val="1A2433"/>
                </a:solidFill>
                <a:latin typeface="Calibri"/>
              </a:rPr>
              <a:t>650°C → air cool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834464" y="4046542"/>
            <a:ext cx="437223" cy="20583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000">
                <a:solidFill>
                  <a:srgbClr val="E07B39"/>
                </a:solidFill>
                <a:latin typeface="Calibri"/>
              </a:rPr>
              <a:t>Result: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2327655" y="4024940"/>
            <a:ext cx="1669861" cy="20583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000">
                <a:solidFill>
                  <a:srgbClr val="1A2433"/>
                </a:solidFill>
                <a:latin typeface="Calibri"/>
              </a:rPr>
              <a:t>Tempered martensite — lower 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2327655" y="4177581"/>
            <a:ext cx="1654104" cy="20583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000">
                <a:solidFill>
                  <a:srgbClr val="1A2433"/>
                </a:solidFill>
                <a:latin typeface="Calibri"/>
              </a:rPr>
              <a:t>hardness, far higher toughness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834464" y="4393951"/>
            <a:ext cx="307732" cy="20583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000">
                <a:solidFill>
                  <a:srgbClr val="E07B39"/>
                </a:solidFill>
                <a:latin typeface="Calibri"/>
              </a:rPr>
              <a:t>Use: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2327655" y="4372349"/>
            <a:ext cx="2118694" cy="20583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000">
                <a:solidFill>
                  <a:srgbClr val="1A2433"/>
                </a:solidFill>
                <a:latin typeface="Calibri"/>
              </a:rPr>
              <a:t>After quenching — higher temp = more 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2327655" y="4524990"/>
            <a:ext cx="1347724" cy="20583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000">
                <a:solidFill>
                  <a:srgbClr val="1A2433"/>
                </a:solidFill>
                <a:latin typeface="Calibri"/>
              </a:rPr>
              <a:t>toughness, less hardness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4824615" y="2985176"/>
            <a:ext cx="1224500" cy="26776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400">
                <a:solidFill>
                  <a:srgbClr val="FFFFFF"/>
                </a:solidFill>
                <a:latin typeface="Calibri"/>
              </a:rPr>
              <a:t>Case Hardening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4824615" y="3351383"/>
            <a:ext cx="351955" cy="20583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000">
                <a:solidFill>
                  <a:srgbClr val="1E6C52"/>
                </a:solidFill>
                <a:latin typeface="Calibri"/>
              </a:rPr>
              <a:t>Goal: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5317820" y="3406107"/>
            <a:ext cx="1565405" cy="20583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000">
                <a:solidFill>
                  <a:srgbClr val="1A2433"/>
                </a:solidFill>
                <a:latin typeface="Calibri"/>
              </a:rPr>
              <a:t>Hard surface over tough core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4824615" y="3699147"/>
            <a:ext cx="352082" cy="20583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000">
                <a:solidFill>
                  <a:srgbClr val="1E6C52"/>
                </a:solidFill>
                <a:latin typeface="Calibri"/>
              </a:rPr>
              <a:t>How: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5317820" y="3677544"/>
            <a:ext cx="2033173" cy="20583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000">
                <a:solidFill>
                  <a:srgbClr val="1A2433"/>
                </a:solidFill>
                <a:latin typeface="Calibri"/>
              </a:rPr>
              <a:t>Carburize (add C to surface) or nitride 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5317820" y="3830185"/>
            <a:ext cx="1164607" cy="20583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000">
                <a:solidFill>
                  <a:srgbClr val="1A2433"/>
                </a:solidFill>
                <a:latin typeface="Calibri"/>
              </a:rPr>
              <a:t>(add N), then quench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4824615" y="4046542"/>
            <a:ext cx="437223" cy="20583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000">
                <a:solidFill>
                  <a:srgbClr val="1E6C52"/>
                </a:solidFill>
                <a:latin typeface="Calibri"/>
              </a:rPr>
              <a:t>Result: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5317820" y="4024940"/>
            <a:ext cx="1576587" cy="20583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000">
                <a:solidFill>
                  <a:srgbClr val="1A2433"/>
                </a:solidFill>
                <a:latin typeface="Calibri"/>
              </a:rPr>
              <a:t>Hard martensitic case; tough 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5317820" y="4177581"/>
            <a:ext cx="1093063" cy="20583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000">
                <a:solidFill>
                  <a:srgbClr val="1A2433"/>
                </a:solidFill>
                <a:latin typeface="Calibri"/>
              </a:rPr>
              <a:t>ferrite/pearlite core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4824615" y="4393951"/>
            <a:ext cx="307732" cy="20583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000">
                <a:solidFill>
                  <a:srgbClr val="1E6C52"/>
                </a:solidFill>
                <a:latin typeface="Calibri"/>
              </a:rPr>
              <a:t>Use: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5317820" y="4372349"/>
            <a:ext cx="1813079" cy="20583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000">
                <a:solidFill>
                  <a:srgbClr val="1A2433"/>
                </a:solidFill>
                <a:latin typeface="Calibri"/>
              </a:rPr>
              <a:t>Gears, cams, shafts needing wear 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5317820" y="4524990"/>
            <a:ext cx="1622083" cy="20583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000">
                <a:solidFill>
                  <a:srgbClr val="1A2433"/>
                </a:solidFill>
                <a:latin typeface="Calibri"/>
              </a:rPr>
              <a:t>resistance + impact toughness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"/>
            <a:ext cx="9143644" cy="514332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"/>
            <a:ext cx="9144000" cy="5143677"/>
          </a:xfrm>
          <a:prstGeom prst="rect">
            <a:avLst/>
          </a:prstGeom>
          <a:solidFill>
            <a:srgbClr val="1C2B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09435" cy="5143309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65404" y="1389966"/>
            <a:ext cx="8320671" cy="45351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404" y="1572478"/>
            <a:ext cx="402120" cy="40212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404" y="2267282"/>
            <a:ext cx="402120" cy="40212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65404" y="2962442"/>
            <a:ext cx="402120" cy="40212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65404" y="3657246"/>
            <a:ext cx="402120" cy="40212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65404" y="4352038"/>
            <a:ext cx="402120" cy="40212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42696" y="806275"/>
            <a:ext cx="4625866" cy="54665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3200">
                <a:solidFill>
                  <a:srgbClr val="FFFFFF"/>
                </a:solidFill>
                <a:latin typeface="Calibri"/>
              </a:rPr>
              <a:t>Core Questions — Answers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95617" y="1622134"/>
            <a:ext cx="191871" cy="3296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80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9695" y="1598067"/>
            <a:ext cx="5164686" cy="22120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1" sz="1100">
                <a:solidFill>
                  <a:srgbClr val="CADCFC"/>
                </a:solidFill>
                <a:latin typeface="Calibri"/>
              </a:rPr>
              <a:t>Why is low-carbon steel easy to weld while high-carbon steel requires preheat and PWHT?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9695" y="1821462"/>
            <a:ext cx="7527408" cy="24449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300">
                <a:solidFill>
                  <a:srgbClr val="FFFFFF"/>
                </a:solidFill>
                <a:latin typeface="Calibri"/>
              </a:rPr>
              <a:t>Higher carbon increases hardenability — the HAZ cools fast and forms brittle martensite. Without preheat/PWHT 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9695" y="2011898"/>
            <a:ext cx="3787753" cy="24449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300">
                <a:solidFill>
                  <a:srgbClr val="FFFFFF"/>
                </a:solidFill>
                <a:latin typeface="Calibri"/>
              </a:rPr>
              <a:t>that's a fracture site. CE &gt; 0.4 generally requires preheat.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95617" y="2316939"/>
            <a:ext cx="191871" cy="3296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80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9695" y="2292871"/>
            <a:ext cx="3858589" cy="22120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1" sz="1100">
                <a:solidFill>
                  <a:srgbClr val="CADCFC"/>
                </a:solidFill>
                <a:latin typeface="Calibri"/>
              </a:rPr>
              <a:t>An AISI/SAE designation reads 4340. What does each part tell you?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9695" y="2516253"/>
            <a:ext cx="7719831" cy="24449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300">
                <a:solidFill>
                  <a:srgbClr val="FFFFFF"/>
                </a:solidFill>
                <a:latin typeface="Calibri"/>
              </a:rPr>
              <a:t>43 = Ni-Cr-Mo alloy steel family. 40 = 0.40% nominal carbon. Used in high-hardenability applications: aircraft landing 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9695" y="2706702"/>
            <a:ext cx="3139526" cy="24449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300">
                <a:solidFill>
                  <a:srgbClr val="FFFFFF"/>
                </a:solidFill>
                <a:latin typeface="Calibri"/>
              </a:rPr>
              <a:t>gear, crankshafts, large structural components.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95617" y="3012098"/>
            <a:ext cx="191871" cy="3296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80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9695" y="2987675"/>
            <a:ext cx="6083468" cy="22120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1" sz="1100">
                <a:solidFill>
                  <a:srgbClr val="CADCFC"/>
                </a:solidFill>
                <a:latin typeface="Calibri"/>
              </a:rPr>
              <a:t>Nickel, chromium, and molybdenum are common alloying elements. What does each primarily contribute?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9695" y="3211426"/>
            <a:ext cx="7172892" cy="24449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300">
                <a:solidFill>
                  <a:srgbClr val="FFFFFF"/>
                </a:solidFill>
                <a:latin typeface="Calibri"/>
              </a:rPr>
              <a:t>Chromium → hardenability &amp; corrosion resistance. Nickel → toughness &amp; low-temperature impact strength. 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9695" y="3401862"/>
            <a:ext cx="5384112" cy="24449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300">
                <a:solidFill>
                  <a:srgbClr val="FFFFFF"/>
                </a:solidFill>
                <a:latin typeface="Calibri"/>
              </a:rPr>
              <a:t>Molybdenum → hardenability, creep resistance, prevents temper embrittlement.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95617" y="3706890"/>
            <a:ext cx="191871" cy="32969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80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9695" y="3682835"/>
            <a:ext cx="5260221" cy="22120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1" sz="1100">
                <a:solidFill>
                  <a:srgbClr val="CADCFC"/>
                </a:solidFill>
                <a:latin typeface="Calibri"/>
              </a:rPr>
              <a:t>Same UTS: plain carbon vs. quenched-and-tempered alloy steel. Why choose the alloy steel?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9695" y="3906218"/>
            <a:ext cx="7357854" cy="24449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300">
                <a:solidFill>
                  <a:srgbClr val="FFFFFF"/>
                </a:solidFill>
                <a:latin typeface="Calibri"/>
              </a:rPr>
              <a:t>Alloy steel achieves that UTS at lower carbon → better weldability and toughness. Alloying elements give deep 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9695" y="4096654"/>
            <a:ext cx="4167039" cy="24449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300">
                <a:solidFill>
                  <a:srgbClr val="FFFFFF"/>
                </a:solidFill>
                <a:latin typeface="Calibri"/>
              </a:rPr>
              <a:t>hardenability so full hardness develops through thick sections.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95617" y="4401695"/>
            <a:ext cx="191871" cy="32969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80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9695" y="4377627"/>
            <a:ext cx="5781909" cy="22120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1" sz="1100">
                <a:solidFill>
                  <a:srgbClr val="CADCFC"/>
                </a:solidFill>
                <a:latin typeface="Calibri"/>
              </a:rPr>
              <a:t>Steel for a cutting tool that must hold a sharp edge under high contact stress — what do you specify?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9695" y="4601378"/>
            <a:ext cx="7540110" cy="24449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300">
                <a:solidFill>
                  <a:srgbClr val="FFFFFF"/>
                </a:solidFill>
                <a:latin typeface="Calibri"/>
              </a:rPr>
              <a:t>&gt;0.6% C (typically 0.8–1.2%) for hard martensite. Tool steels add Cr, W, V for carbide particles that resist wear and 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9695" y="4791814"/>
            <a:ext cx="2832162" cy="24449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300">
                <a:solidFill>
                  <a:srgbClr val="FFFFFF"/>
                </a:solidFill>
                <a:latin typeface="Calibri"/>
              </a:rPr>
              <a:t>retain hardness at elevated temperatures.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"/>
            <a:ext cx="9143644" cy="514332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"/>
            <a:ext cx="9144000" cy="5143677"/>
          </a:xfrm>
          <a:prstGeom prst="rect">
            <a:avLst/>
          </a:prstGeom>
          <a:solidFill>
            <a:srgbClr val="1C2B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09435" cy="5143309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65404" y="987477"/>
            <a:ext cx="8320671" cy="45364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404" y="1170002"/>
            <a:ext cx="402120" cy="40212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404" y="1919886"/>
            <a:ext cx="402120" cy="40212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65404" y="2669757"/>
            <a:ext cx="402120" cy="40212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65404" y="3419642"/>
            <a:ext cx="402120" cy="40212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65404" y="4169157"/>
            <a:ext cx="402120" cy="402120"/>
          </a:xfrm>
          <a:prstGeom prst="rect">
            <a:avLst/>
          </a:prstGeom>
          <a:solidFill>
            <a:srgbClr val="B832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42696" y="394796"/>
            <a:ext cx="2578639" cy="54665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3200">
                <a:solidFill>
                  <a:srgbClr val="FFFFFF"/>
                </a:solidFill>
                <a:latin typeface="Calibri"/>
              </a:rPr>
              <a:t>Key Takeaways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95617" y="1219659"/>
            <a:ext cx="191871" cy="32969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80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9695" y="1183377"/>
            <a:ext cx="3476819" cy="26776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400">
                <a:solidFill>
                  <a:srgbClr val="FFFFFF"/>
                </a:solidFill>
                <a:latin typeface="Calibri"/>
              </a:rPr>
              <a:t>Steel is a family of alloys, not a single material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9695" y="1462947"/>
            <a:ext cx="7836222" cy="2365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200">
                <a:solidFill>
                  <a:srgbClr val="CADCFC"/>
                </a:solidFill>
                <a:latin typeface="Calibri"/>
              </a:rPr>
              <a:t>Carbon content is the single most important variable — controlling hardness, strength, ductility, and weldability. Every carbon 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9695" y="1645827"/>
            <a:ext cx="3458465" cy="2365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200">
                <a:solidFill>
                  <a:srgbClr val="CADCFC"/>
                </a:solidFill>
                <a:latin typeface="Calibri"/>
              </a:rPr>
              <a:t>increase trades strength for weldability and toughness.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95617" y="1969530"/>
            <a:ext cx="191871" cy="3296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80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9695" y="1933261"/>
            <a:ext cx="4668690" cy="26776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400">
                <a:solidFill>
                  <a:srgbClr val="FFFFFF"/>
                </a:solidFill>
                <a:latin typeface="Calibri"/>
              </a:rPr>
              <a:t>The AISI/SAE code is a practical tool every technician must use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9695" y="2212831"/>
            <a:ext cx="7766172" cy="2365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200">
                <a:solidFill>
                  <a:srgbClr val="CADCFC"/>
                </a:solidFill>
                <a:latin typeface="Calibri"/>
              </a:rPr>
              <a:t>First two digits = steel family and alloying type. Last two = carbon in hundredths of %. Reading 4140 instantly communicates: 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9695" y="2395711"/>
            <a:ext cx="5040412" cy="2365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200">
                <a:solidFill>
                  <a:srgbClr val="CADCFC"/>
                </a:solidFill>
                <a:latin typeface="Calibri"/>
              </a:rPr>
              <a:t>Cr-Mo alloy steel, 0.40% carbon — good hardenability, preheat required to weld.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95617" y="2719414"/>
            <a:ext cx="191871" cy="3296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80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9695" y="2683145"/>
            <a:ext cx="4459730" cy="26776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400">
                <a:solidFill>
                  <a:srgbClr val="FFFFFF"/>
                </a:solidFill>
                <a:latin typeface="Calibri"/>
              </a:rPr>
              <a:t>Alloying elements solve problems plain carbon steel cannot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9695" y="2962703"/>
            <a:ext cx="7837596" cy="2365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200">
                <a:solidFill>
                  <a:srgbClr val="CADCFC"/>
                </a:solidFill>
                <a:latin typeface="Calibri"/>
              </a:rPr>
              <a:t>Cr improves corrosion resistance and hardenability. Ni improves low-temperature toughness. Mo maintains high-temperature 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9695" y="3145583"/>
            <a:ext cx="6417984" cy="2365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200">
                <a:solidFill>
                  <a:srgbClr val="CADCFC"/>
                </a:solidFill>
                <a:latin typeface="Calibri"/>
              </a:rPr>
              <a:t>strength. Each solves a specific limitation — at the cost of price, weldability, and processing complexity.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95617" y="3469299"/>
            <a:ext cx="191871" cy="32969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80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9695" y="3432661"/>
            <a:ext cx="4514327" cy="26776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400">
                <a:solidFill>
                  <a:srgbClr val="FFFFFF"/>
                </a:solidFill>
                <a:latin typeface="Calibri"/>
              </a:rPr>
              <a:t>Every grade carries welding and heat treatment implications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9695" y="3712587"/>
            <a:ext cx="7692314" cy="2365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200">
                <a:solidFill>
                  <a:srgbClr val="CADCFC"/>
                </a:solidFill>
                <a:latin typeface="Calibri"/>
              </a:rPr>
              <a:t>Carbon equivalent (CE) determines preheat requirements. Higher CE → higher preheat → more controlled heat input. Alloy 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9695" y="3895467"/>
            <a:ext cx="5859708" cy="2365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200">
                <a:solidFill>
                  <a:srgbClr val="CADCFC"/>
                </a:solidFill>
                <a:latin typeface="Calibri"/>
              </a:rPr>
              <a:t>steels may also require PWHT. Read the spec and know what to plan for before striking an arc.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95617" y="4218815"/>
            <a:ext cx="191871" cy="32969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80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9695" y="4182545"/>
            <a:ext cx="1699506" cy="26776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400">
                <a:solidFill>
                  <a:srgbClr val="B83232"/>
                </a:solidFill>
                <a:latin typeface="Calibri"/>
              </a:rPr>
              <a:t>Safety is not optional!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9695" y="4462103"/>
            <a:ext cx="7723684" cy="2365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200">
                <a:solidFill>
                  <a:srgbClr val="CADCFC"/>
                </a:solidFill>
                <a:latin typeface="Calibri"/>
              </a:rPr>
              <a:t>PPE is mandatory in the shop — no exceptions. We work with heat, sharp edges, and hazardous materials every lab session. 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9695" y="4644983"/>
            <a:ext cx="2376627" cy="2365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200">
                <a:solidFill>
                  <a:srgbClr val="CADCFC"/>
                </a:solidFill>
                <a:latin typeface="Calibri"/>
              </a:rPr>
              <a:t>Protect yourself and your classmates.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"/>
            <a:ext cx="9143644" cy="514332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"/>
            <a:ext cx="9144000" cy="5143677"/>
          </a:xfrm>
          <a:prstGeom prst="rect">
            <a:avLst/>
          </a:prstGeom>
          <a:solidFill>
            <a:srgbClr val="1C2B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09435" cy="5143309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65404" y="1389966"/>
            <a:ext cx="8320671" cy="45351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754879" y="1481406"/>
            <a:ext cx="4068724" cy="3401276"/>
          </a:xfrm>
          <a:prstGeom prst="rect">
            <a:avLst/>
          </a:prstGeom>
          <a:solidFill>
            <a:srgbClr val="2435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919040" y="2303997"/>
            <a:ext cx="3565804" cy="3636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2696" y="806275"/>
            <a:ext cx="4314942" cy="54665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3200">
                <a:solidFill>
                  <a:srgbClr val="FFFFFF"/>
                </a:solidFill>
                <a:latin typeface="Calibri"/>
              </a:rPr>
              <a:t>Resources &amp; What's Next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4144" y="1563313"/>
            <a:ext cx="1593276" cy="29850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600">
                <a:solidFill>
                  <a:srgbClr val="E07B39"/>
                </a:solidFill>
                <a:latin typeface="Calibri"/>
              </a:rPr>
              <a:t>Week 4 Resources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34136" y="1994547"/>
            <a:ext cx="134860" cy="25536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300">
                <a:solidFill>
                  <a:srgbClr val="FFFFFF"/>
                </a:solidFill>
                <a:latin typeface="Calibri"/>
              </a:rPr>
              <a:t>•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77214" y="2017619"/>
            <a:ext cx="3574821" cy="2523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300">
                <a:solidFill>
                  <a:srgbClr val="FFFFFF"/>
                </a:solidFill>
                <a:latin typeface="Calibri"/>
              </a:rPr>
              <a:t>Moniz Ch. 11, 12 &amp; 14 — Iron, Carbon Steels &amp; Heat 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77214" y="2215968"/>
            <a:ext cx="768884" cy="2523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300">
                <a:solidFill>
                  <a:srgbClr val="FFFFFF"/>
                </a:solidFill>
                <a:latin typeface="Calibri"/>
              </a:rPr>
              <a:t>Treatment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4136" y="2391269"/>
            <a:ext cx="134860" cy="25536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300">
                <a:solidFill>
                  <a:srgbClr val="FFFFFF"/>
                </a:solidFill>
                <a:latin typeface="Calibri"/>
              </a:rPr>
              <a:t>•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77214" y="2414329"/>
            <a:ext cx="3400492" cy="2523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300">
                <a:solidFill>
                  <a:srgbClr val="FFFFFF"/>
                </a:solidFill>
                <a:latin typeface="Calibri"/>
              </a:rPr>
              <a:t>Kalpakjian Ch. 5 &amp; 6 — Heat Treatment &amp; Ferrous 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77214" y="2612690"/>
            <a:ext cx="531270" cy="2523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300">
                <a:solidFill>
                  <a:srgbClr val="FFFFFF"/>
                </a:solidFill>
                <a:latin typeface="Calibri"/>
              </a:rPr>
              <a:t>Metals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4144" y="3063069"/>
            <a:ext cx="961838" cy="29850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600">
                <a:solidFill>
                  <a:srgbClr val="E07B39"/>
                </a:solidFill>
                <a:latin typeface="Calibri"/>
              </a:rPr>
              <a:t>Visualizers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4136" y="3410432"/>
            <a:ext cx="134860" cy="25536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300">
                <a:solidFill>
                  <a:srgbClr val="FFFFFF"/>
                </a:solidFill>
                <a:latin typeface="Calibri"/>
              </a:rPr>
              <a:t>•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77214" y="3433491"/>
            <a:ext cx="2756883" cy="2523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300">
                <a:solidFill>
                  <a:srgbClr val="FFFFFF"/>
                </a:solidFill>
                <a:latin typeface="Calibri"/>
              </a:rPr>
              <a:t>Iron-Carbon Phase Diagram (Interactive)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4136" y="3608793"/>
            <a:ext cx="134860" cy="25536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300">
                <a:solidFill>
                  <a:srgbClr val="FFFFFF"/>
                </a:solidFill>
                <a:latin typeface="Calibri"/>
              </a:rPr>
              <a:t>•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77214" y="3631853"/>
            <a:ext cx="3282180" cy="2523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300">
                <a:solidFill>
                  <a:srgbClr val="FFFFFF"/>
                </a:solidFill>
                <a:latin typeface="Calibri"/>
              </a:rPr>
              <a:t>CCT Diagram — Cooling Rate vs. Microstructure 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77214" y="3830214"/>
            <a:ext cx="845390" cy="2523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300">
                <a:solidFill>
                  <a:srgbClr val="FFFFFF"/>
                </a:solidFill>
                <a:latin typeface="Calibri"/>
              </a:rPr>
              <a:t>(Reference)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906340" y="1635677"/>
            <a:ext cx="1897017" cy="29850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600">
                <a:solidFill>
                  <a:srgbClr val="E07B39"/>
                </a:solidFill>
                <a:latin typeface="Calibri"/>
              </a:rPr>
              <a:t>Coming Up — Week 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906340" y="1936912"/>
            <a:ext cx="3010792" cy="36088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2000">
                <a:solidFill>
                  <a:srgbClr val="FFFFFF"/>
                </a:solidFill>
                <a:latin typeface="Calibri"/>
              </a:rPr>
              <a:t>Stainless Steels &amp; Cast Irons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996345" y="2814021"/>
            <a:ext cx="130261" cy="23932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200">
                <a:solidFill>
                  <a:srgbClr val="CADCFC"/>
                </a:solidFill>
                <a:latin typeface="Calibri"/>
              </a:rPr>
              <a:t>•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339422" y="2834547"/>
            <a:ext cx="3127547" cy="2365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200">
                <a:solidFill>
                  <a:srgbClr val="CADCFC"/>
                </a:solidFill>
                <a:latin typeface="Calibri"/>
              </a:rPr>
              <a:t>What makes stainless steel corrosion-resistant — 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339422" y="3017427"/>
            <a:ext cx="2135864" cy="2365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200">
                <a:solidFill>
                  <a:srgbClr val="CADCFC"/>
                </a:solidFill>
                <a:latin typeface="Calibri"/>
              </a:rPr>
              <a:t>the passive chromium oxide layer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996345" y="3179781"/>
            <a:ext cx="130261" cy="23932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200">
                <a:solidFill>
                  <a:srgbClr val="CADCFC"/>
                </a:solidFill>
                <a:latin typeface="Calibri"/>
              </a:rPr>
              <a:t>•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339422" y="3200307"/>
            <a:ext cx="2599270" cy="2365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200">
                <a:solidFill>
                  <a:srgbClr val="CADCFC"/>
                </a:solidFill>
                <a:latin typeface="Calibri"/>
              </a:rPr>
              <a:t>The four stainless steel families and how 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339422" y="3383187"/>
            <a:ext cx="2070991" cy="2365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200">
                <a:solidFill>
                  <a:srgbClr val="CADCFC"/>
                </a:solidFill>
                <a:latin typeface="Calibri"/>
              </a:rPr>
              <a:t>microstructure defines each one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996345" y="3545541"/>
            <a:ext cx="130261" cy="23932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200">
                <a:solidFill>
                  <a:srgbClr val="CADCFC"/>
                </a:solidFill>
                <a:latin typeface="Calibri"/>
              </a:rPr>
              <a:t>•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339422" y="3566067"/>
            <a:ext cx="2907498" cy="2365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200">
                <a:solidFill>
                  <a:srgbClr val="CADCFC"/>
                </a:solidFill>
                <a:latin typeface="Calibri"/>
              </a:rPr>
              <a:t>Ferritic, martensitic, austenitic, and duplex — 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339422" y="3748947"/>
            <a:ext cx="2090787" cy="2365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200">
                <a:solidFill>
                  <a:srgbClr val="CADCFC"/>
                </a:solidFill>
                <a:latin typeface="Calibri"/>
              </a:rPr>
              <a:t>grades, properties, and selection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996345" y="3911301"/>
            <a:ext cx="130261" cy="23932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200">
                <a:solidFill>
                  <a:srgbClr val="CADCFC"/>
                </a:solidFill>
                <a:latin typeface="Calibri"/>
              </a:rPr>
              <a:t>•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339422" y="3931827"/>
            <a:ext cx="2695209" cy="2365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200">
                <a:solidFill>
                  <a:srgbClr val="CADCFC"/>
                </a:solidFill>
                <a:latin typeface="Calibri"/>
              </a:rPr>
              <a:t>Cast iron types — gray, white, ductile, and 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339422" y="4114707"/>
            <a:ext cx="2843079" cy="2365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200">
                <a:solidFill>
                  <a:srgbClr val="CADCFC"/>
                </a:solidFill>
                <a:latin typeface="Calibri"/>
              </a:rPr>
              <a:t>malleable — microstructure and applications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911502" y="4791503"/>
            <a:ext cx="5361731" cy="2365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1" sz="1200">
                <a:solidFill>
                  <a:srgbClr val="64748B"/>
                </a:solidFill>
                <a:latin typeface="Calibri"/>
              </a:rPr>
              <a:t>Unit 2 covers Weeks 4 – 6  ·  Review AISI/SAE codes and heat treatment before Week 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