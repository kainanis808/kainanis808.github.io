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428084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35080"/>
            <a:ext cx="2728040" cy="42279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400">
                <a:solidFill>
                  <a:srgbClr val="CADCFC"/>
                </a:solidFill>
                <a:latin typeface="Calibri"/>
              </a:rPr>
              <a:t>Carbon &amp; Alloy Steels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49484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September 14,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435686"/>
            <a:ext cx="530315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62720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72448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821762"/>
            <a:ext cx="639711" cy="63972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782571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1622" y="176748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5664" y="1657693"/>
            <a:ext cx="235160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Steel Fundamentals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5664" y="2034416"/>
            <a:ext cx="481291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What steel is, why it matters, and how carbon controls everything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1622" y="286476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75664" y="2754973"/>
            <a:ext cx="265191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AISI/SAE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75664" y="3131696"/>
            <a:ext cx="421715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How to read and use the four-digit steel designation 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1622" y="3962044"/>
            <a:ext cx="35751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75664" y="3852253"/>
            <a:ext cx="354475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Alloy Steels &amp; Heat Treatment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5664" y="4228976"/>
            <a:ext cx="607840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CADCFC"/>
                </a:solidFill>
                <a:latin typeface="Calibri"/>
              </a:rPr>
              <a:t>Alloying elements, alloy steel families, CCT diagrams, and heat treatment processes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39788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327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3  ·  Week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188361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Carbon &amp; Alloy Steels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82361"/>
            <a:ext cx="37640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Compare pearlite fraction across three carbon levels. Sketch pearlite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742204"/>
            <a:ext cx="211572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lamellae from each specimen at 500×.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1309034"/>
            <a:ext cx="150114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A — 1018 steel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601718"/>
            <a:ext cx="149675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B — 1045 steel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1894402"/>
            <a:ext cx="149488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 C — 1075 steel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05096" y="4637234"/>
            <a:ext cx="176501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2879" y="731522"/>
            <a:ext cx="1691284" cy="502564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2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897557" y="731522"/>
            <a:ext cx="1691284" cy="502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897557" y="1234086"/>
            <a:ext cx="1691284" cy="785876"/>
          </a:xfrm>
          <a:prstGeom prst="rect">
            <a:avLst/>
          </a:prstGeom>
          <a:solidFill>
            <a:srgbClr val="FFF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897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897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11879" y="731522"/>
            <a:ext cx="1691284" cy="502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11879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11879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11879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326557" y="731522"/>
            <a:ext cx="1691284" cy="502564"/>
          </a:xfrm>
          <a:prstGeom prst="rect">
            <a:avLst/>
          </a:prstGeom>
          <a:solidFill>
            <a:srgbClr val="6B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326557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326557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326557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326557" y="370296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040880" y="731522"/>
            <a:ext cx="1691284" cy="502564"/>
          </a:xfrm>
          <a:prstGeom prst="rect">
            <a:avLst/>
          </a:prstGeom>
          <a:solidFill>
            <a:srgbClr val="5B2E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040880" y="123408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040880" y="205704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040880" y="2880006"/>
            <a:ext cx="1691284" cy="785876"/>
          </a:xfrm>
          <a:prstGeom prst="rect">
            <a:avLst/>
          </a:prstGeom>
          <a:solidFill>
            <a:srgbClr val="F8FA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182879" y="4580638"/>
            <a:ext cx="8549284" cy="484199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8424" y="15829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3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3255" y="1010671"/>
            <a:ext cx="131468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5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43255" y="147686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3255" y="1651356"/>
            <a:ext cx="103716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3255" y="1819110"/>
            <a:ext cx="67107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5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3255" y="2299823"/>
            <a:ext cx="4318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43255" y="247431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3255" y="2642070"/>
            <a:ext cx="66199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57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57946" y="1010671"/>
            <a:ext cx="77651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30577" y="1293983"/>
            <a:ext cx="7831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Wk 4  ← here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57946" y="147686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57946" y="1651356"/>
            <a:ext cx="61436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57946" y="1819110"/>
            <a:ext cx="7245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30577" y="211694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57946" y="229982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57946" y="2474316"/>
            <a:ext cx="69663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957946" y="2642070"/>
            <a:ext cx="6330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30577" y="2939903"/>
            <a:ext cx="3431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Wk 6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57946" y="3122783"/>
            <a:ext cx="4194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57946" y="3297276"/>
            <a:ext cx="84566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957946" y="3465030"/>
            <a:ext cx="97584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672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672255" y="1010671"/>
            <a:ext cx="9473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44900" y="129398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72255" y="1476863"/>
            <a:ext cx="34776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672255" y="1651356"/>
            <a:ext cx="72764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72255" y="1819110"/>
            <a:ext cx="47078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44900" y="211694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72255" y="229982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672255" y="2558187"/>
            <a:ext cx="86145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644900" y="2939903"/>
            <a:ext cx="34318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Wk 9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672255" y="312278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672255" y="3297276"/>
            <a:ext cx="48488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72255" y="3465030"/>
            <a:ext cx="6410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86946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86946" y="1010671"/>
            <a:ext cx="8352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59577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86946" y="1476863"/>
            <a:ext cx="41193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86946" y="1735227"/>
            <a:ext cx="4875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59577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86946" y="229982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86946" y="2558187"/>
            <a:ext cx="54397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59577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86946" y="3122783"/>
            <a:ext cx="37368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86946" y="3381147"/>
            <a:ext cx="67163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59577" y="3762862"/>
            <a:ext cx="40736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3A2E"/>
                </a:solidFill>
                <a:latin typeface="Calibri"/>
              </a:rPr>
              <a:t>Wk 13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86946" y="3945743"/>
            <a:ext cx="43785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86946" y="4120236"/>
            <a:ext cx="50863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86946" y="4287990"/>
            <a:ext cx="69034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101255" y="765894"/>
            <a:ext cx="48880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101255" y="1010671"/>
            <a:ext cx="92125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073900" y="129398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101255" y="147686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101255" y="1651356"/>
            <a:ext cx="54201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101255" y="1819110"/>
            <a:ext cx="631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073900" y="211694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15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101255" y="2299823"/>
            <a:ext cx="43785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101255" y="2474316"/>
            <a:ext cx="101621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101255" y="2642070"/>
            <a:ext cx="58405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073900" y="2939903"/>
            <a:ext cx="40736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2E6B"/>
                </a:solidFill>
                <a:latin typeface="Calibri"/>
              </a:rPr>
              <a:t>Wk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7101255" y="3122783"/>
            <a:ext cx="36288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101255" y="3297276"/>
            <a:ext cx="62763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101255" y="3465030"/>
            <a:ext cx="6990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3559936" y="4699854"/>
            <a:ext cx="18435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04242"/>
            <a:ext cx="51202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804597"/>
            <a:ext cx="5120271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23204" y="804242"/>
            <a:ext cx="3291471" cy="411444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23204" y="804597"/>
            <a:ext cx="3291471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806084" y="2303997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06084" y="3035518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806084" y="3949917"/>
            <a:ext cx="283427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62593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4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5584" y="905094"/>
            <a:ext cx="52915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57950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8654" y="1380454"/>
            <a:ext cx="299568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Iron and steel — the difference carbon makes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76" y="1548386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8654" y="1570903"/>
            <a:ext cx="414830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How carbon content controls strength, ductility, and weldability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76" y="1738823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8654" y="1761340"/>
            <a:ext cx="405225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The carbon content spectrum: pure iron → low → medium →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8654" y="1951776"/>
            <a:ext cx="159667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high carbon → cast iron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76" y="2119709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8654" y="2142225"/>
            <a:ext cx="258671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AISI/SAE four-digit classification system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310145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8654" y="2332662"/>
            <a:ext cx="310126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Plain carbon steel grades and their applications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76" y="2500582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654" y="2523098"/>
            <a:ext cx="369519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Alloying elements (Mn, Cr, Ni, Mo, V, Si) and their effects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76" y="2691031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8654" y="2713535"/>
            <a:ext cx="372424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When and why to specify an alloy steel over plain carbon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793384" y="905094"/>
            <a:ext cx="82134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93384" y="1389871"/>
            <a:ext cx="12795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93384" y="1755631"/>
            <a:ext cx="184986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Moniz 5th — Ch. 11, 12 &amp; 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93384" y="1938511"/>
            <a:ext cx="287064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Iron &amp; Steel / Carbon Steels / Heat Treatment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93384" y="2487151"/>
            <a:ext cx="17150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Kalpakjian 6th — Ch. 5 &amp; 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93384" y="2670031"/>
            <a:ext cx="193073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Metal Alloys &amp; Ferrous Metals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793384" y="3145583"/>
            <a:ext cx="68290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93384" y="3456631"/>
            <a:ext cx="17705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Iron-Carbon Phase Diagram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93384" y="3639511"/>
            <a:ext cx="8240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(Interactive)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93384" y="4041631"/>
            <a:ext cx="70711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93384" y="4425387"/>
            <a:ext cx="211606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AISI/SAE Steel Designation Codes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9198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5416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31633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7854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40711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806275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696" y="1547097"/>
            <a:ext cx="614694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617" y="19695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9700" y="1978732"/>
            <a:ext cx="71958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Why is low-carbon steel easy to weld while welding high-carbon steel requires preheat and post-weld heat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9700" y="2177093"/>
            <a:ext cx="82985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treatment?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259125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9700" y="2699812"/>
            <a:ext cx="727635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An AISI/SAE designation reads 4340. What does each part tell you about the composition and intended use?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617" y="3212975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9700" y="3222176"/>
            <a:ext cx="712681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Nickel, chromium, and molybdenum are all common alloying elements. What specific property does each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9700" y="3420537"/>
            <a:ext cx="148751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primarily contribute?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617" y="383505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9700" y="3843892"/>
            <a:ext cx="746654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Two steels with the same ultimate tensile strength: one plain carbon, one quenched-and-tempered alloy steel.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9700" y="4042253"/>
            <a:ext cx="264352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Why might you choose the alloy steel?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17" y="445677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9700" y="4465608"/>
            <a:ext cx="734840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You need steel for a cutting tool that must hold a sharp edge under high contact stress. What carbon content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9700" y="4663969"/>
            <a:ext cx="305795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range and steel category should you specify?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1279806"/>
            <a:ext cx="4251604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80162"/>
            <a:ext cx="4251604" cy="475195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19" y="4169157"/>
            <a:ext cx="3977284" cy="270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00600" y="1279806"/>
            <a:ext cx="4251604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00600" y="1280162"/>
            <a:ext cx="4251604" cy="47519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937759" y="4169157"/>
            <a:ext cx="3977284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410906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Iron vs. Steel — What Carbon Does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8416" y="740534"/>
            <a:ext cx="8015944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500">
                <a:solidFill>
                  <a:srgbClr val="1C2B3A"/>
                </a:solidFill>
                <a:latin typeface="Calibri"/>
              </a:rPr>
              <a:t>Pure iron is a soft, weak metal with limited structural use. Steel is what happens when you dissolve carbon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8416" y="961577"/>
            <a:ext cx="3225409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500">
                <a:solidFill>
                  <a:srgbClr val="1C2B3A"/>
                </a:solidFill>
                <a:latin typeface="Calibri"/>
              </a:rPr>
              <a:t>into iron — and control exactly how much.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860" y="1393625"/>
            <a:ext cx="24336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Fe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67460" y="1372762"/>
            <a:ext cx="903054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Pure Iron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224" y="2264425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302" y="2286942"/>
            <a:ext cx="331797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BCC crystal structure at room temperature (ferrite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302" y="2477378"/>
            <a:ext cx="50644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phase)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224" y="2645311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3302" y="2667815"/>
            <a:ext cx="280898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Extremely soft — yield strength ≈ 130 MPa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224" y="2835747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302" y="2858264"/>
            <a:ext cx="282565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High ductility — almost too easy to deform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0224" y="3026184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3302" y="3048701"/>
            <a:ext cx="323382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No carbon = no lattice distortion = no dislocation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302" y="3239137"/>
            <a:ext cx="61202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blocking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224" y="3407069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302" y="3429574"/>
            <a:ext cx="228760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Rarely used structurally on its own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0219" y="4337673"/>
            <a:ext cx="370843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Iron is BCC below 912°C (ferrite) and FCC above (austenite). This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0219" y="4505427"/>
            <a:ext cx="397284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allotropy is the foundation of all heat treatment — revisited in detail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0219" y="4673194"/>
            <a:ext cx="66520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in Week 6.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15699" y="1393625"/>
            <a:ext cx="42725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Fe+C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02300" y="1372762"/>
            <a:ext cx="520731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Steel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15064" y="1978942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8142" y="2001459"/>
            <a:ext cx="353977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dissolves interstitially into the iron lattice (like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58142" y="2191895"/>
            <a:ext cx="100273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Week 1 alloys)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15064" y="2359828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58142" y="2382344"/>
            <a:ext cx="343721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Carbon atoms distort the lattice → block dislocation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58142" y="2572781"/>
            <a:ext cx="152808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movement → stronger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15064" y="2740713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58142" y="2763217"/>
            <a:ext cx="329162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Yield strength ranges from 250 MPa to over 2,000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358142" y="2953654"/>
            <a:ext cx="36578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MPa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15064" y="3121586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58142" y="3144103"/>
            <a:ext cx="348039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Properties tunable through carbon content, alloying,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358142" y="3334540"/>
            <a:ext cx="133026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and heat treatment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15064" y="3502472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358142" y="3524976"/>
            <a:ext cx="303966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0.02% to 2.14% carbon by weight — a narrow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58142" y="3715425"/>
            <a:ext cx="305157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window covering an enormous property range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25059" y="4337673"/>
            <a:ext cx="37468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Above 2.14% C, excess carbon can no longer stay in solution — it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25059" y="4505427"/>
            <a:ext cx="37372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precipitates as iron carbide. This is cast iron, which behaves very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25059" y="4673194"/>
            <a:ext cx="211698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differently and is covered in Week 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79806"/>
            <a:ext cx="1663915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80162"/>
            <a:ext cx="1663915" cy="47519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175842"/>
            <a:ext cx="1481036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030044" y="1279806"/>
            <a:ext cx="1663916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30044" y="1280162"/>
            <a:ext cx="1663916" cy="47519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121484" y="2175842"/>
            <a:ext cx="1481035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85755" y="1279806"/>
            <a:ext cx="1663928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85755" y="1280162"/>
            <a:ext cx="1663928" cy="475195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77195" y="2175842"/>
            <a:ext cx="1481048" cy="2700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541124" y="1279806"/>
            <a:ext cx="1663915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541124" y="1280162"/>
            <a:ext cx="1663915" cy="475195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32564" y="2175842"/>
            <a:ext cx="1481035" cy="2700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96836" y="1279806"/>
            <a:ext cx="1663928" cy="374867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96836" y="1280162"/>
            <a:ext cx="1663928" cy="475195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88276" y="2175842"/>
            <a:ext cx="1481048" cy="2700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8424" y="158292"/>
            <a:ext cx="450715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Carbon's Effect — The Central Tradeoff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8416" y="740534"/>
            <a:ext cx="8249839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Carbon is the most powerful and cost-effective strengthening tool in steel — but every increase is a trade-off.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8416" y="961577"/>
            <a:ext cx="3890601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You cannot maximize all properties simultaneously.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3059" y="1318542"/>
            <a:ext cx="39721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Yield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3059" y="1508978"/>
            <a:ext cx="63806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Strength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3059" y="1860185"/>
            <a:ext cx="96016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E6C52"/>
                </a:solidFill>
                <a:latin typeface="Calibri"/>
              </a:rPr>
              <a:t>↑ increases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3059" y="2716537"/>
            <a:ext cx="139197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More carbon → more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3059" y="2891848"/>
            <a:ext cx="124595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lattice distortion →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059" y="3067171"/>
            <a:ext cx="130251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dislocations blocked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059" y="3242495"/>
            <a:ext cx="122914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more effectively →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059" y="3417818"/>
            <a:ext cx="146329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higher force needed to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059" y="3593129"/>
            <a:ext cx="114100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cause permanent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059" y="3768452"/>
            <a:ext cx="14254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deformation. Strength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059" y="3943776"/>
            <a:ext cx="118281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 be doubled or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059" y="4119087"/>
            <a:ext cx="109905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tripled with heat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3059" y="4294410"/>
            <a:ext cx="71537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treatment.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08784" y="1413944"/>
            <a:ext cx="68489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Hardness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108784" y="1860185"/>
            <a:ext cx="96015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E6C52"/>
                </a:solidFill>
                <a:latin typeface="Calibri"/>
              </a:rPr>
              <a:t>↑ increases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08784" y="2716537"/>
            <a:ext cx="112258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Carbon increases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8784" y="2891848"/>
            <a:ext cx="13279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resistance to surface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108784" y="3067171"/>
            <a:ext cx="114670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indentation. Heat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08784" y="3242495"/>
            <a:ext cx="143523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treatment (hardening)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108784" y="3417818"/>
            <a:ext cx="128614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exploits this — high-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08784" y="3593129"/>
            <a:ext cx="131596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carbon steels can be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108784" y="3768452"/>
            <a:ext cx="150773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hardened to Rockwell C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8784" y="3943776"/>
            <a:ext cx="139474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60+, making excellent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08784" y="4119087"/>
            <a:ext cx="148507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cutting edges and wear 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108784" y="4294410"/>
            <a:ext cx="60063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surfaces.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64495" y="1413944"/>
            <a:ext cx="62615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Ductility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64495" y="1860185"/>
            <a:ext cx="100693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B83232"/>
                </a:solidFill>
                <a:latin typeface="Calibri"/>
              </a:rPr>
              <a:t>↓ decreases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64495" y="2716537"/>
            <a:ext cx="119742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High carbon steels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64495" y="2891848"/>
            <a:ext cx="121876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deform less before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864495" y="3067171"/>
            <a:ext cx="144342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fracture. The distorted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864495" y="3242495"/>
            <a:ext cx="155362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lattice resists dislocation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64495" y="3417818"/>
            <a:ext cx="13054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movement — which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864495" y="3593129"/>
            <a:ext cx="116936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gives strength but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64495" y="3768452"/>
            <a:ext cx="126290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removes the plastic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64495" y="3943776"/>
            <a:ext cx="145789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warning before failure. 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864495" y="4119087"/>
            <a:ext cx="155933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High-carbon steels snap, 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864495" y="4294410"/>
            <a:ext cx="6523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not bend.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19864" y="1413944"/>
            <a:ext cx="76046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Toughness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619864" y="1860185"/>
            <a:ext cx="100692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B83232"/>
                </a:solidFill>
                <a:latin typeface="Calibri"/>
              </a:rPr>
              <a:t>↓ decreases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19864" y="2716537"/>
            <a:ext cx="156473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Toughness requires both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619864" y="2891848"/>
            <a:ext cx="144517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strength AND ductility.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19864" y="3067171"/>
            <a:ext cx="155640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High carbon reduces the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19864" y="3242495"/>
            <a:ext cx="13747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area under the stress-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19864" y="3417818"/>
            <a:ext cx="122315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strain curve — less 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19864" y="3593129"/>
            <a:ext cx="152819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energy absorbed before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19864" y="3768452"/>
            <a:ext cx="137793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fracture. High-carbon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619864" y="3943776"/>
            <a:ext cx="116015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steels fail without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619864" y="4119087"/>
            <a:ext cx="133116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absorbing significant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19864" y="4294410"/>
            <a:ext cx="51995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impact.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75576" y="1318542"/>
            <a:ext cx="46564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Weld-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375576" y="1508978"/>
            <a:ext cx="48453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ability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375576" y="1860185"/>
            <a:ext cx="100693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B83232"/>
                </a:solidFill>
                <a:latin typeface="Calibri"/>
              </a:rPr>
              <a:t>↓ decreases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75576" y="2716537"/>
            <a:ext cx="128658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High carbon creates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375576" y="2891848"/>
            <a:ext cx="11186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hard, brittle heat-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375576" y="3067171"/>
            <a:ext cx="150627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affected zones prone to 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7375576" y="3242495"/>
            <a:ext cx="122476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hydrogen cracking.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375576" y="3417818"/>
            <a:ext cx="146665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Carbon equivalent (CE)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75576" y="3593129"/>
            <a:ext cx="128541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determines preheat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75576" y="3768452"/>
            <a:ext cx="135630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requirements. Above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375576" y="3943776"/>
            <a:ext cx="120327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~0.40% CE, careful 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375576" y="4119087"/>
            <a:ext cx="113939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process control is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75576" y="4294410"/>
            <a:ext cx="63308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essential.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74320" y="1261442"/>
            <a:ext cx="1663915" cy="37486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61797"/>
            <a:ext cx="1663915" cy="47520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084402"/>
            <a:ext cx="1481036" cy="270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254757"/>
            <a:ext cx="1481036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006993" y="1261442"/>
            <a:ext cx="1663928" cy="37486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06993" y="1261797"/>
            <a:ext cx="1663928" cy="475208"/>
          </a:xfrm>
          <a:prstGeom prst="rect">
            <a:avLst/>
          </a:prstGeom>
          <a:solidFill>
            <a:srgbClr val="2E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98433" y="2084402"/>
            <a:ext cx="1481048" cy="27000"/>
          </a:xfrm>
          <a:prstGeom prst="rect">
            <a:avLst/>
          </a:prstGeom>
          <a:solidFill>
            <a:srgbClr val="2E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098433" y="3254757"/>
            <a:ext cx="148104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0035" y="1261442"/>
            <a:ext cx="1663928" cy="37486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740035" y="1261797"/>
            <a:ext cx="1663928" cy="4752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831475" y="2084402"/>
            <a:ext cx="1481048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831475" y="3254757"/>
            <a:ext cx="148104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72722" y="1261442"/>
            <a:ext cx="1663915" cy="37486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72722" y="1261797"/>
            <a:ext cx="1663915" cy="475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564161" y="2084402"/>
            <a:ext cx="1481035" cy="270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564161" y="3254757"/>
            <a:ext cx="1481035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205395" y="1261442"/>
            <a:ext cx="1663928" cy="37486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05395" y="1261797"/>
            <a:ext cx="1663928" cy="475208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296836" y="2084402"/>
            <a:ext cx="1481048" cy="2700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296836" y="3254757"/>
            <a:ext cx="1481048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8424" y="158292"/>
            <a:ext cx="479573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Carbon Content — From Iron to Cast Iron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8416" y="740534"/>
            <a:ext cx="7856325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A narrow range of carbon content spans the entire world of iron-based materials. Each zone has its own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8416" y="961577"/>
            <a:ext cx="2934558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properties, applications, and behavior.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3059" y="1399231"/>
            <a:ext cx="65869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Pure Iron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3059" y="1822647"/>
            <a:ext cx="65910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3B6FBA"/>
                </a:solidFill>
                <a:latin typeface="Calibri"/>
              </a:rPr>
              <a:t>&lt; 0.02% 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3059" y="2174075"/>
            <a:ext cx="83170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4748B"/>
                </a:solidFill>
                <a:latin typeface="Calibri"/>
              </a:rPr>
              <a:t>Applications: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3059" y="2604218"/>
            <a:ext cx="99966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Electrical cores,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3059" y="2779529"/>
            <a:ext cx="136902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magnetic 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3059" y="3955352"/>
            <a:ext cx="77680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Soft, ductile.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3059" y="4123106"/>
            <a:ext cx="104889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Rarely structural.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5733" y="1307791"/>
            <a:ext cx="8210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Low Carbon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5733" y="1490671"/>
            <a:ext cx="3888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Steel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85733" y="1822647"/>
            <a:ext cx="7780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2E6B8A"/>
                </a:solidFill>
                <a:latin typeface="Calibri"/>
              </a:rPr>
              <a:t>0.02–0.30%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085733" y="2174075"/>
            <a:ext cx="83170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4748B"/>
                </a:solidFill>
                <a:latin typeface="Calibri"/>
              </a:rPr>
              <a:t>Applications: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085733" y="2604218"/>
            <a:ext cx="100975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Structural steel,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85733" y="2779529"/>
            <a:ext cx="144020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sheet, pipe, fabrication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85733" y="3955352"/>
            <a:ext cx="125575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Excellent weldability.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85733" y="4123106"/>
            <a:ext cx="1262037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Most produced steel.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18775" y="1307791"/>
            <a:ext cx="109803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Medium Carbon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18775" y="1490671"/>
            <a:ext cx="3888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Steel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18775" y="1822647"/>
            <a:ext cx="7780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0.30–0.60%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18775" y="2174075"/>
            <a:ext cx="83170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4748B"/>
                </a:solidFill>
                <a:latin typeface="Calibri"/>
              </a:rPr>
              <a:t>Applications: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18775" y="2604218"/>
            <a:ext cx="116950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Shafts, gears, rails,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818775" y="2779529"/>
            <a:ext cx="10974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automotive parts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18775" y="3955352"/>
            <a:ext cx="94413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Heat-treatable.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818775" y="4123106"/>
            <a:ext cx="100615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Preheat to weld.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51461" y="1307791"/>
            <a:ext cx="85118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High Carbon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551461" y="1490671"/>
            <a:ext cx="3888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Steel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51461" y="1822647"/>
            <a:ext cx="7780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0.60–2.14%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551461" y="2174075"/>
            <a:ext cx="83170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4748B"/>
                </a:solidFill>
                <a:latin typeface="Calibri"/>
              </a:rPr>
              <a:t>Applications: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51461" y="2604218"/>
            <a:ext cx="86373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Cutting tools,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51461" y="2779529"/>
            <a:ext cx="113486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springs, wire rope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551461" y="3955352"/>
            <a:ext cx="796223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Hard, brittle.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51461" y="4123106"/>
            <a:ext cx="100349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Difficult to weld.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284136" y="1399231"/>
            <a:ext cx="63402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Cast Iron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84136" y="1822647"/>
            <a:ext cx="65910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B83232"/>
                </a:solidFill>
                <a:latin typeface="Calibri"/>
              </a:rPr>
              <a:t>&gt; 2.14% C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84136" y="2174075"/>
            <a:ext cx="83170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4748B"/>
                </a:solidFill>
                <a:latin typeface="Calibri"/>
              </a:rPr>
              <a:t>Applications: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284136" y="2604218"/>
            <a:ext cx="91679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Engine blocks,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284136" y="2779529"/>
            <a:ext cx="112346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brake rotors, pipe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284136" y="3955352"/>
            <a:ext cx="61492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Not steel.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84136" y="4123106"/>
            <a:ext cx="11563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64748B"/>
                </a:solidFill>
                <a:latin typeface="Calibri"/>
              </a:rPr>
              <a:t>Covered in Week 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261442"/>
            <a:ext cx="8412111" cy="11883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49040" y="1371601"/>
            <a:ext cx="959764" cy="62136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73244" y="1371601"/>
            <a:ext cx="959751" cy="621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541957"/>
            <a:ext cx="8412111" cy="31968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2871002"/>
            <a:ext cx="8412111" cy="402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3291486"/>
            <a:ext cx="8412111" cy="40211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404" y="3711957"/>
            <a:ext cx="8412111" cy="402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404" y="4132798"/>
            <a:ext cx="8412111" cy="4021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404" y="4553282"/>
            <a:ext cx="8412111" cy="4021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8424" y="158292"/>
            <a:ext cx="449347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Steel Classification — AISI/SAE System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416" y="740534"/>
            <a:ext cx="8041744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AISI and SAE jointly developed the four-digit designation system used throughout industry. Reading a code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8416" y="961577"/>
            <a:ext cx="2482801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fluently is a core technician skill.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1304" y="1384621"/>
            <a:ext cx="158515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2E4A6B"/>
                </a:solidFill>
                <a:latin typeface="Calibri"/>
              </a:rPr>
              <a:t>The Four-Digit Code: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1099" y="1460480"/>
            <a:ext cx="467087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XX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45303" y="1460480"/>
            <a:ext cx="467087" cy="4847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800">
                <a:solidFill>
                  <a:srgbClr val="FFFFFF"/>
                </a:solidFill>
                <a:latin typeface="Calibri"/>
              </a:rPr>
              <a:t>XX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74579" y="2031624"/>
            <a:ext cx="78592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2E4A6B"/>
                </a:solidFill>
                <a:latin typeface="Calibri"/>
              </a:rPr>
              <a:t>Steel family &amp;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3899" y="2184266"/>
            <a:ext cx="140884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2E4A6B"/>
                </a:solidFill>
                <a:latin typeface="Calibri"/>
              </a:rPr>
              <a:t>primary alloying elements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6302" y="2031624"/>
            <a:ext cx="87131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E07B39"/>
                </a:solidFill>
                <a:latin typeface="Calibri"/>
              </a:rPr>
              <a:t>Carbon content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7745" y="2184266"/>
            <a:ext cx="104884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E07B39"/>
                </a:solidFill>
                <a:latin typeface="Calibri"/>
              </a:rPr>
              <a:t>in hundredths of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9864" y="2603907"/>
            <a:ext cx="3700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CADCFC"/>
                </a:solidFill>
                <a:latin typeface="Calibri"/>
              </a:rPr>
              <a:t>Code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04264" y="2603907"/>
            <a:ext cx="45443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CADCFC"/>
                </a:solidFill>
                <a:latin typeface="Calibri"/>
              </a:rPr>
              <a:t>Family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30344" y="2603907"/>
            <a:ext cx="147126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CADCFC"/>
                </a:solidFill>
                <a:latin typeface="Calibri"/>
              </a:rPr>
              <a:t>Notes / Example Grades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9864" y="2950060"/>
            <a:ext cx="38197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10xx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04264" y="2953343"/>
            <a:ext cx="122428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Plain Carbon Steel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0344" y="2876436"/>
            <a:ext cx="4164194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1020 — 0.20% C (low)  /  1045 — 0.45% C (medium)  /  1095 — 0.95% C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30344" y="3044190"/>
            <a:ext cx="40485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(high)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89864" y="3370900"/>
            <a:ext cx="38197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41xx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04264" y="3374183"/>
            <a:ext cx="198342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Chromium-Molybdenum Steel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30344" y="3297276"/>
            <a:ext cx="414324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4140 — 0.40% C  /  excellent hardenability, the shop workhorse of alloy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30344" y="3465030"/>
            <a:ext cx="40010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steels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864" y="3791384"/>
            <a:ext cx="38197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43xx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04264" y="3794667"/>
            <a:ext cx="18826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Nickel-Cr-Molybdenum Steel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0344" y="3801631"/>
            <a:ext cx="4233334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4340 — 0.40% C  /  very high strength, aerospace &amp; defense, landing gear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9864" y="4212224"/>
            <a:ext cx="38197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31xx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404264" y="4215507"/>
            <a:ext cx="15160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Nickel-Chromium Steel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330344" y="4222471"/>
            <a:ext cx="33733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3160 — 0.60% C  /  improved toughness and hardenability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9864" y="4632696"/>
            <a:ext cx="30116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2E4A6B"/>
                </a:solidFill>
                <a:latin typeface="Calibri"/>
              </a:rPr>
              <a:t>3xx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04264" y="4635991"/>
            <a:ext cx="171433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A2433"/>
                </a:solidFill>
                <a:latin typeface="Calibri"/>
              </a:rPr>
              <a:t>Austenitic Stainless (300s)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330344" y="4642955"/>
            <a:ext cx="424520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304, 316 — different naming convention; ≥10.5% Cr — covered in Week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79806"/>
            <a:ext cx="4251604" cy="173699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20040" y="1279806"/>
            <a:ext cx="4251604" cy="420116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79" y="1279806"/>
            <a:ext cx="4251604" cy="173699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879" y="1279806"/>
            <a:ext cx="4251604" cy="420116"/>
          </a:xfrm>
          <a:prstGeom prst="rect">
            <a:avLst/>
          </a:prstGeom>
          <a:solidFill>
            <a:srgbClr val="2E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3126957"/>
            <a:ext cx="4251604" cy="17370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3126957"/>
            <a:ext cx="4251604" cy="42012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79" y="3126957"/>
            <a:ext cx="4251604" cy="173700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879" y="3126957"/>
            <a:ext cx="4251604" cy="42012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424" y="158292"/>
            <a:ext cx="454822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Reading the Code — Worked Examples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416" y="747779"/>
            <a:ext cx="742340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Being able to decode a steel designation is a core workplace skill — it tells you composition, expected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416" y="961254"/>
            <a:ext cx="483817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properties, preheat needs, and heat treatment response instantly.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5495" y="1324200"/>
            <a:ext cx="590630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1020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67536" y="1327043"/>
            <a:ext cx="111567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Plain Carbon (10xx)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67536" y="1491914"/>
            <a:ext cx="5089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CADCFC"/>
                </a:solidFill>
                <a:latin typeface="Calibri"/>
              </a:rPr>
              <a:t>0.20% 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140" y="1990059"/>
            <a:ext cx="403301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Low carbon steel. Very soft and ductile. Excellent weldability — no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5140" y="2165370"/>
            <a:ext cx="382750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preheat needed for most thicknesses. Used for structural tube,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140" y="2340693"/>
            <a:ext cx="39935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sheet metal, pipe, and general fabrication. Cannot be significantly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5140" y="2516017"/>
            <a:ext cx="179494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hardened by heat treatment.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0335" y="1324200"/>
            <a:ext cx="590630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1045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2376" y="1327043"/>
            <a:ext cx="111567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Plain Carbon (10xx)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2376" y="1491914"/>
            <a:ext cx="50895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CADCFC"/>
                </a:solidFill>
                <a:latin typeface="Calibri"/>
              </a:rPr>
              <a:t>0.45%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69980" y="1990059"/>
            <a:ext cx="38814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Medium carbon steel. Good balance of strength and toughness.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69980" y="2165370"/>
            <a:ext cx="375910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 be quenched and tempered to improve strength. Preheat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69980" y="2340693"/>
            <a:ext cx="373673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recommended for thicker sections. Common for shafts, bolts,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69980" y="2516017"/>
            <a:ext cx="116819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gears, and tooling.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5495" y="3171352"/>
            <a:ext cx="590630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4140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67536" y="3174194"/>
            <a:ext cx="7705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Cr-Mo (41xx)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67536" y="3338722"/>
            <a:ext cx="50895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CADCFC"/>
                </a:solidFill>
                <a:latin typeface="Calibri"/>
              </a:rPr>
              <a:t>0.40% C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5140" y="3836855"/>
            <a:ext cx="396095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Chromium-molybdenum alloy steel. Same carbon as 1045 but far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5140" y="4012178"/>
            <a:ext cx="399822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superior hardenability — can be hardened through thick sections.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5140" y="4187489"/>
            <a:ext cx="357844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Excellent fatigue and wear resistance. Preheat required for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35140" y="4362813"/>
            <a:ext cx="231455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welding. The workhorse of alloy steel.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870335" y="3171352"/>
            <a:ext cx="590630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4340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02376" y="3174194"/>
            <a:ext cx="9273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Ni-Cr-Mo (43xx)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02376" y="3338722"/>
            <a:ext cx="50895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CADCFC"/>
                </a:solidFill>
                <a:latin typeface="Calibri"/>
              </a:rPr>
              <a:t>0.40% C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69980" y="3836855"/>
            <a:ext cx="407335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Nickel-chromium-molybdenum alloy steel. Highest hardenability of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869980" y="4012178"/>
            <a:ext cx="39020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common structural alloy steels. Used in aerospace, landing gear,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869980" y="4187489"/>
            <a:ext cx="375077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crankshafts. Very demanding preheat and post-weld heat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69980" y="4362813"/>
            <a:ext cx="204050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treatment (PWHT) requirements.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1261442"/>
            <a:ext cx="2871000" cy="37486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261797"/>
            <a:ext cx="2871000" cy="47520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3328202"/>
            <a:ext cx="2651391" cy="26999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4663086"/>
            <a:ext cx="2651391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54755" y="1261442"/>
            <a:ext cx="2870999" cy="37486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54755" y="1261797"/>
            <a:ext cx="2870999" cy="4752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64560" y="3328202"/>
            <a:ext cx="2651404" cy="269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560" y="4663086"/>
            <a:ext cx="2651404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254280" y="1261442"/>
            <a:ext cx="2870999" cy="374868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54280" y="1261797"/>
            <a:ext cx="2870999" cy="475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63715" y="3328202"/>
            <a:ext cx="2651404" cy="26999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63715" y="4663086"/>
            <a:ext cx="2651404" cy="27000"/>
          </a:xfrm>
          <a:prstGeom prst="rect">
            <a:avLst/>
          </a:prstGeom>
          <a:solidFill>
            <a:srgbClr val="C8D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547011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Plain Carbon Steels — Grades and Applications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416" y="740534"/>
            <a:ext cx="8135563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Plain carbon steels are the backbone of fabrication and manufacturing — simple, readily available, and well-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8416" y="961577"/>
            <a:ext cx="4292223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understood. The right grade depends on the application.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1325223"/>
            <a:ext cx="135592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Low Carbon Steel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1539692"/>
            <a:ext cx="65676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&lt; 0.30% 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2696" y="17714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85774" y="1791991"/>
            <a:ext cx="179291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Soft and ductile — deforms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5774" y="1974871"/>
            <a:ext cx="10857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without fracture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2696" y="213722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5774" y="2157751"/>
            <a:ext cx="173809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Excellent weldability — no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5774" y="2340631"/>
            <a:ext cx="112194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preheat required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2696" y="250298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774" y="2523511"/>
            <a:ext cx="22156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Good formability — bends, draws,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5774" y="2706391"/>
            <a:ext cx="98306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rolls easily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2696" y="28687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5774" y="2889271"/>
            <a:ext cx="213860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Cannot be significantly hardened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5774" y="3072151"/>
            <a:ext cx="11968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by heat treatment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52704" y="3417875"/>
            <a:ext cx="8317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Applications: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2704" y="3853117"/>
            <a:ext cx="215427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Structural sections (I-beams, angles,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2704" y="4020871"/>
            <a:ext cx="272638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channels), sheet metal, pressure vessels, pipe,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2704" y="4188626"/>
            <a:ext cx="178344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general fabrication, stampings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52704" y="4743387"/>
            <a:ext cx="1816266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Typical: A36, A572, 1018, 1020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351860" y="1325223"/>
            <a:ext cx="167976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Medium Carbon Steel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51860" y="1539692"/>
            <a:ext cx="8821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0.30–0.60% 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441865" y="17714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84943" y="1791991"/>
            <a:ext cx="19299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Stronger and harder than low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784943" y="1974871"/>
            <a:ext cx="50442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carbon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441865" y="213722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84943" y="2157751"/>
            <a:ext cx="209383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Can be quenched and tempered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784943" y="2340631"/>
            <a:ext cx="12989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 improve strength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441865" y="250298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84943" y="2523511"/>
            <a:ext cx="204571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Reduced weldability — preheat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784943" y="2706391"/>
            <a:ext cx="90463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often needed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441865" y="28687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784943" y="2889271"/>
            <a:ext cx="193819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Good balance of strength and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784943" y="3072151"/>
            <a:ext cx="201190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toughness after heat treatment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51860" y="3417875"/>
            <a:ext cx="8317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Applications: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351860" y="3853117"/>
            <a:ext cx="244508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Shafts, gears, couplings, rails, automotive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351860" y="4020871"/>
            <a:ext cx="215874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axles, bolts, crankshafts, agricultural 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351860" y="4188626"/>
            <a:ext cx="69817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equipment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351860" y="4743387"/>
            <a:ext cx="151666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Typical: 1040, 1045, 1050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1015" y="1325223"/>
            <a:ext cx="139078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High Carbon Steel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51015" y="1539692"/>
            <a:ext cx="8821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0.60–2.14% C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41020" y="177146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784099" y="1791991"/>
            <a:ext cx="189037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Very high hardness and wear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84099" y="1974871"/>
            <a:ext cx="69645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resistance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41020" y="213722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784099" y="2157751"/>
            <a:ext cx="153250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Low ductility — limited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784099" y="2340631"/>
            <a:ext cx="75036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formability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41020" y="250298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84099" y="2523511"/>
            <a:ext cx="18014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Difficult to weld — requires 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784099" y="2706391"/>
            <a:ext cx="170184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careful preheat and PWHT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441020" y="2868745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84099" y="2889271"/>
            <a:ext cx="208180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Excellent response to hardening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784099" y="3072151"/>
            <a:ext cx="101428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heat treatment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51015" y="3417875"/>
            <a:ext cx="83170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Applications: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351015" y="3936988"/>
            <a:ext cx="271829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Cutting tools, drill bits, springs, wire rope, saw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51015" y="4104755"/>
            <a:ext cx="221336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blades, files, wear plates, knife blades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51015" y="4743387"/>
            <a:ext cx="151666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64748B"/>
                </a:solidFill>
                <a:latin typeface="Calibri"/>
              </a:rPr>
              <a:t>Typical: 1060, 1080, 1095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1207086"/>
            <a:ext cx="2834284" cy="17553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207086"/>
            <a:ext cx="676440" cy="1755355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23835" y="2431798"/>
            <a:ext cx="1956600" cy="2700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18395" y="1207086"/>
            <a:ext cx="2834284" cy="17553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18395" y="1207086"/>
            <a:ext cx="676439" cy="1755355"/>
          </a:xfrm>
          <a:prstGeom prst="rect">
            <a:avLst/>
          </a:prstGeom>
          <a:solidFill>
            <a:srgbClr val="2E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986276" y="2431798"/>
            <a:ext cx="1956599" cy="27000"/>
          </a:xfrm>
          <a:prstGeom prst="rect">
            <a:avLst/>
          </a:prstGeom>
          <a:solidFill>
            <a:srgbClr val="2E6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180835" y="1207086"/>
            <a:ext cx="2834284" cy="17553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80835" y="1207086"/>
            <a:ext cx="676440" cy="175535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49084" y="2431798"/>
            <a:ext cx="1956599" cy="270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3072246"/>
            <a:ext cx="2834284" cy="17553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55600" y="3072246"/>
            <a:ext cx="676440" cy="175535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3835" y="4297326"/>
            <a:ext cx="1956600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18395" y="3072246"/>
            <a:ext cx="2834284" cy="17553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18395" y="3072246"/>
            <a:ext cx="676439" cy="1755355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986276" y="4297326"/>
            <a:ext cx="1956599" cy="270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80835" y="3072246"/>
            <a:ext cx="2834284" cy="1755355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80835" y="3072246"/>
            <a:ext cx="676440" cy="1755355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949084" y="4297326"/>
            <a:ext cx="1956599" cy="2700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8424" y="158292"/>
            <a:ext cx="493346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Alloying Elements — What Each One Does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8416" y="713178"/>
            <a:ext cx="7925076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Plain carbon steels cannot meet every requirement. Alloying elements are added to extend performance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8416" y="934209"/>
            <a:ext cx="3035930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beyond what carbon alone can achieve.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4733" y="1338008"/>
            <a:ext cx="46814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7863" y="1761786"/>
            <a:ext cx="584019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Manganese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1135" y="1293451"/>
            <a:ext cx="173326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Improves hardenability and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1135" y="1468775"/>
            <a:ext cx="193277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strength. Combines with sulfur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11135" y="1644098"/>
            <a:ext cx="192634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to form MnS — trapping sulfur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1135" y="1819409"/>
            <a:ext cx="167816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as harmless inclusions and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11135" y="1994732"/>
            <a:ext cx="192050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preventing hot cracking during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135" y="2170056"/>
            <a:ext cx="48458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rolling.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1135" y="2518633"/>
            <a:ext cx="20226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Present in virtually all steels. Typical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1135" y="2678475"/>
            <a:ext cx="98314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range: 0.5–2.0%.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21341" y="1338008"/>
            <a:ext cx="32147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12985" y="1761786"/>
            <a:ext cx="536931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Chromium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73576" y="1293451"/>
            <a:ext cx="18370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Increases hardenability, wear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973576" y="1468775"/>
            <a:ext cx="159133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resistance, and corrosion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973576" y="1644098"/>
            <a:ext cx="202252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resistance. At ≥10.5% by weight,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73576" y="1819409"/>
            <a:ext cx="179173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forms the passive chromium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73576" y="1994732"/>
            <a:ext cx="197648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oxide layer that makes stainless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973576" y="2170056"/>
            <a:ext cx="152995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steel corrosion resistant.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973576" y="2518633"/>
            <a:ext cx="193777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Key element in stainless steels and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73576" y="2678475"/>
            <a:ext cx="64974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tool steels.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80899" y="1338008"/>
            <a:ext cx="32762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Ni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75146" y="1761786"/>
            <a:ext cx="340370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Nickel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936384" y="1293451"/>
            <a:ext cx="195046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Improves toughness, especially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36384" y="1468775"/>
            <a:ext cx="194008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at low temperatures. Increases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6384" y="1644098"/>
            <a:ext cx="194300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hardenability without reducing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36384" y="1819409"/>
            <a:ext cx="193044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ductility significantly. Stabilizes 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936384" y="1994732"/>
            <a:ext cx="177447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austenite phase (FCC) at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936384" y="2170056"/>
            <a:ext cx="121598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room temperature.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936384" y="2518633"/>
            <a:ext cx="186784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Expensive. Used in cryogenic and 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936384" y="2678475"/>
            <a:ext cx="150767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austenitic stainless grades.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4733" y="3203169"/>
            <a:ext cx="46842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Mo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9298" y="3562506"/>
            <a:ext cx="579375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Molybdenu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38822" y="3692110"/>
            <a:ext cx="162384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1135" y="3158967"/>
            <a:ext cx="174685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Enhances hardenability and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11135" y="3334290"/>
            <a:ext cx="191070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maintains strength at elevated 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1135" y="3509614"/>
            <a:ext cx="195309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temperatures. Reduces temper 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11135" y="3684937"/>
            <a:ext cx="200819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embrittlement. Improves pitting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11135" y="3860248"/>
            <a:ext cx="189755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corrosion resistance alongside 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1135" y="4035572"/>
            <a:ext cx="190617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chromium (as in 316 stainless).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11135" y="4383793"/>
            <a:ext cx="17491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Key in 4140 alloy steel and 316 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11135" y="4543635"/>
            <a:ext cx="169947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stainless. Often paired with Cr.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461664" y="3203169"/>
            <a:ext cx="24130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V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323780" y="3627302"/>
            <a:ext cx="515763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Vanadium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73576" y="3158967"/>
            <a:ext cx="162963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Refines grain size through 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973576" y="3334290"/>
            <a:ext cx="192503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precipitation hardening — fine 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973576" y="3509614"/>
            <a:ext cx="192649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vanadium carbide particles pin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973576" y="3684937"/>
            <a:ext cx="204503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grain boundaries and resist grain 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73576" y="3860248"/>
            <a:ext cx="199563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growth. Improves both strength 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973576" y="4035572"/>
            <a:ext cx="190047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toughness simultaneously.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973576" y="4383793"/>
            <a:ext cx="19188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Used in HSLA structural steels and 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973576" y="4543635"/>
            <a:ext cx="126791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high-speed tool steels.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406819" y="3203169"/>
            <a:ext cx="275664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65786" y="3627302"/>
            <a:ext cx="358514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CADCFC"/>
                </a:solidFill>
                <a:latin typeface="Calibri"/>
              </a:rPr>
              <a:t>Silicon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936384" y="3158967"/>
            <a:ext cx="168415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Acts as a deoxidizer during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936384" y="3334290"/>
            <a:ext cx="161925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steelmaking — scavenges 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936384" y="3509614"/>
            <a:ext cx="198086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oxygen from the melt. In higher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936384" y="3684937"/>
            <a:ext cx="180985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quantities improves strength 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936384" y="3860248"/>
            <a:ext cx="193277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electrical resistivity. Raises 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936384" y="4035572"/>
            <a:ext cx="133803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hardenability slightly.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936384" y="4383793"/>
            <a:ext cx="202754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Usually 0.1–0.3% in most steels as a 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936384" y="4543635"/>
            <a:ext cx="121263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000">
                <a:solidFill>
                  <a:srgbClr val="64748B"/>
                </a:solidFill>
                <a:latin typeface="Calibri"/>
              </a:rPr>
              <a:t>steelmaking residual.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59" y="1280162"/>
            <a:ext cx="4160164" cy="361152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79806"/>
            <a:ext cx="4160164" cy="456831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63440" y="1280162"/>
            <a:ext cx="4160163" cy="361152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63440" y="1279806"/>
            <a:ext cx="4160163" cy="456831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8424" y="158292"/>
            <a:ext cx="568299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Alloy Steels — When Plain Carbon Is Not Enough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8416" y="747779"/>
            <a:ext cx="822046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Plain carbon steels are the default — cheap, available, and well-understood. You specify an alloy steel only when 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8416" y="961254"/>
            <a:ext cx="470674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400">
                <a:solidFill>
                  <a:srgbClr val="1C2B3A"/>
                </a:solidFill>
                <a:latin typeface="Calibri"/>
              </a:rPr>
              <a:t>the application demands something plain carbon cannot deliver.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940" y="1384621"/>
            <a:ext cx="247505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Limitations of Plain Carbon Steel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944" y="2145261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9022" y="2167778"/>
            <a:ext cx="306157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Cannot be hardened through thick sections —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9022" y="2358214"/>
            <a:ext cx="290487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hardness drops off rapidly with depth (poor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9022" y="2548664"/>
            <a:ext cx="97352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hardenability)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944" y="2716583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9022" y="2739100"/>
            <a:ext cx="313127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Loses strength at elevated temperatures — not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022" y="2929537"/>
            <a:ext cx="292440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suitable for high-temperature service above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9022" y="3119986"/>
            <a:ext cx="53375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~300°C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944" y="3287905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022" y="3310422"/>
            <a:ext cx="295536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Corrodes readily in moisture, chemicals, and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022" y="3500859"/>
            <a:ext cx="166684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aggressive environments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944" y="3668791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9022" y="3691296"/>
            <a:ext cx="331337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Poor toughness at low (sub-zero) temperatures —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022" y="3881745"/>
            <a:ext cx="144140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risk of brittle fracture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944" y="4049664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9022" y="4072181"/>
            <a:ext cx="305823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Limited wear resistance for sliding or abrasion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9022" y="4262618"/>
            <a:ext cx="2451447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without surface treatment or coating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833620" y="1384621"/>
            <a:ext cx="210462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When to Specify Alloy Steel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923625" y="2240664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266702" y="2263180"/>
            <a:ext cx="325003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Deep hardening through thick sections — add Cr,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66702" y="2453617"/>
            <a:ext cx="315000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Mo, or Ni to improve hardenability (4140, 4340)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923625" y="2621549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66702" y="2644053"/>
            <a:ext cx="285121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High-temperature service — Mo maintains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66702" y="2834502"/>
            <a:ext cx="318651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strength above 400°C (Cr-Mo steels for pressure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266702" y="3024939"/>
            <a:ext cx="57344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vessels)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23625" y="3192871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66702" y="3215375"/>
            <a:ext cx="334845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Corrosive environments — Cr ≥10.5% for stainless;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266702" y="3405825"/>
            <a:ext cx="283851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weathering steel for structural outdoor use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23625" y="3573744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66702" y="3596261"/>
            <a:ext cx="3183665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Cryogenic or impact applications — Ni improves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266702" y="3786698"/>
            <a:ext cx="239715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toughness at sub-zero temperatures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23625" y="3954630"/>
            <a:ext cx="132560" cy="24734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266702" y="3977134"/>
            <a:ext cx="311888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Higher strength-to-weight ratio — HSLA grades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66702" y="4167583"/>
            <a:ext cx="272118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1A2433"/>
                </a:solidFill>
                <a:latin typeface="Calibri"/>
              </a:rPr>
              <a:t>with V or Nb for lighter structural designs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279806"/>
            <a:ext cx="4251604" cy="164555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19684" y="1279806"/>
            <a:ext cx="548271" cy="1645551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754879" y="1279806"/>
            <a:ext cx="4251604" cy="1645551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754524" y="1279806"/>
            <a:ext cx="548271" cy="16455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3035518"/>
            <a:ext cx="4251604" cy="16455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19684" y="3035518"/>
            <a:ext cx="548271" cy="164556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79" y="3035518"/>
            <a:ext cx="4251604" cy="1645564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54524" y="3035518"/>
            <a:ext cx="548271" cy="164556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8424" y="158292"/>
            <a:ext cx="5890278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Steel in the Shop — What a Technician Must Know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8416" y="740534"/>
            <a:ext cx="8070687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Reading a material spec is only the start. Every steel grade carries specific implications for cutting, welding,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8416" y="961577"/>
            <a:ext cx="2277843" cy="2756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500">
                <a:solidFill>
                  <a:srgbClr val="1C2B3A"/>
                </a:solidFill>
                <a:latin typeface="Calibri"/>
              </a:rPr>
              <a:t>heat treating, and inspection.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8144" y="1895206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784" y="1394336"/>
            <a:ext cx="139291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2E4A6B"/>
                </a:solidFill>
                <a:latin typeface="Calibri"/>
              </a:rPr>
              <a:t>Identify the grade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5784" y="1811128"/>
            <a:ext cx="318555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Find the AISI/SAE code on the material certificate or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784" y="1986452"/>
            <a:ext cx="302228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drawing. First two digits: steel family and alloying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784" y="2161775"/>
            <a:ext cx="336299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elements. Last two: carbon in hundredths of a percent.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5784" y="2337099"/>
            <a:ext cx="344514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Both matter for everything that follows — treat the spec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5784" y="2512410"/>
            <a:ext cx="225609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as a full description, not just a name.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2984" y="1895206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24" y="1394336"/>
            <a:ext cx="141780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Assess weldability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00624" y="1811128"/>
            <a:ext cx="35474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Carbon equivalent: CE = %C + %Mn/6 + (%Cr+%Mo+%V)/5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00624" y="1986452"/>
            <a:ext cx="321186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+ (%Ni+%Cu)/15. CE above ~0.40% requires preheat.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0624" y="2161775"/>
            <a:ext cx="329444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Above 0.60%, preheat is mandatory and PWHT is very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0624" y="2337099"/>
            <a:ext cx="354219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likely required. The higher the CE, the more precisely heat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00624" y="2512410"/>
            <a:ext cx="157716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input must be controlled.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8144" y="3650918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5784" y="3150061"/>
            <a:ext cx="165895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E6C52"/>
                </a:solidFill>
                <a:latin typeface="Calibri"/>
              </a:rPr>
              <a:t>Know heat treatment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5784" y="3478651"/>
            <a:ext cx="354000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Low carbon steels: no significant heat treatment response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5784" y="3653975"/>
            <a:ext cx="342497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— use as-supplied. Medium and high carbon: quench to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5784" y="3829298"/>
            <a:ext cx="342233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harden, temper to reduce brittleness. Alloy steels: same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5784" y="4004609"/>
            <a:ext cx="342102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sequence but require more precise temperature control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5784" y="4179932"/>
            <a:ext cx="328099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should NOT be welded in the hardened condition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5784" y="4355256"/>
            <a:ext cx="96663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without PWHT.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32984" y="3650918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00624" y="3150061"/>
            <a:ext cx="211226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6B5219"/>
                </a:solidFill>
                <a:latin typeface="Calibri"/>
              </a:rPr>
              <a:t>Inspect for the right defects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00624" y="3478651"/>
            <a:ext cx="349615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High carbon and alloy steels are prone to hydrogen (cold)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00624" y="3653975"/>
            <a:ext cx="334896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cracking in the heat-affected zone — especially in thick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400624" y="3829298"/>
            <a:ext cx="353985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sections or high-restraint joints. Understand WHY preheat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00624" y="4004609"/>
            <a:ext cx="341663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and PWHT requirements exist in the procedure, not just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00624" y="4179932"/>
            <a:ext cx="304874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that they do. That understanding is the difference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00624" y="4355256"/>
            <a:ext cx="216123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between technician and craftsman.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425160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251604" cy="43848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699799" y="804597"/>
            <a:ext cx="420588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699799" y="804597"/>
            <a:ext cx="4205884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864684" y="1334518"/>
            <a:ext cx="164160" cy="100548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84" y="2523238"/>
            <a:ext cx="164160" cy="1005484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64684" y="3711957"/>
            <a:ext cx="164160" cy="1005484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6659641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CCT Diagram — What Actually Forms During Real Cooling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7416" y="881701"/>
            <a:ext cx="226449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What the CCT Diagram Shows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7420" y="13409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498" y="1361423"/>
            <a:ext cx="317902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CCT = Continuous Cooling Transformation — plots 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498" y="1544303"/>
            <a:ext cx="328516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temperature vs. time (log scale) with cooling curves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0498" y="1727183"/>
            <a:ext cx="57295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overlaid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420" y="188955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0498" y="1910063"/>
            <a:ext cx="347613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Each steel composition has its own CCT diagram — the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0498" y="2092943"/>
            <a:ext cx="320947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phase diagram is universal; the CCT is alloy-specific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7420" y="225531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498" y="2275823"/>
            <a:ext cx="336404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Cooling curves that intersect a transformation region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0498" y="2458703"/>
            <a:ext cx="317384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produce that microstructure; faster curves bypass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0498" y="2641583"/>
            <a:ext cx="10316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regions entirely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7420" y="280395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0498" y="2824463"/>
            <a:ext cx="279800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Ms and Mf lines: martensite start and finish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0498" y="3007343"/>
            <a:ext cx="326521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temperatures — steel must cool below Ms to begin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0498" y="3190223"/>
            <a:ext cx="1265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forming martensite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7420" y="3352590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0498" y="3373103"/>
            <a:ext cx="341719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Hardenability: alloying elements (Cr, Ni, Mo, Mn) shift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0498" y="3555983"/>
            <a:ext cx="345755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CCT curves right → martensite forms at slower cooling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0498" y="3738863"/>
            <a:ext cx="179352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rates and in thicker sections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851615" y="881701"/>
            <a:ext cx="243860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Microstructures by Cooling Rate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107584" y="1382937"/>
            <a:ext cx="105887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1E6C52"/>
                </a:solidFill>
                <a:latin typeface="Calibri"/>
              </a:rPr>
              <a:t>Pearlite (slow)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107584" y="1693768"/>
            <a:ext cx="352421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Furnace cooling / annealing. Ferrite + cementite lamellae.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07584" y="1869091"/>
            <a:ext cx="329312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Soft, ductile, machinable. Used where formability and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07584" y="2044415"/>
            <a:ext cx="133058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machinability matter.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07584" y="2571657"/>
            <a:ext cx="158318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3B6FBA"/>
                </a:solidFill>
                <a:latin typeface="Calibri"/>
              </a:rPr>
              <a:t>Bainite (intermediate)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07584" y="2882488"/>
            <a:ext cx="3700636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Interrupted quench or alloy steel air-cool. Finer than pearlite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07584" y="3057811"/>
            <a:ext cx="315807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— better strength + toughness combination. Avoids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107584" y="3233135"/>
            <a:ext cx="141564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martensite brittleness.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107584" y="3760377"/>
            <a:ext cx="122048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B83232"/>
                </a:solidFill>
                <a:latin typeface="Calibri"/>
              </a:rPr>
              <a:t>Martensite (fast)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107584" y="4071208"/>
            <a:ext cx="3156027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Water or oil quench. BCT crystal — carbon trapped.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07584" y="4246531"/>
            <a:ext cx="343958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Extremely hard (up to ~65 HRC) but brittle as-quenched.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07584" y="4421855"/>
            <a:ext cx="188162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Must be tempered before use.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22962"/>
            <a:ext cx="2724480" cy="190151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22606"/>
            <a:ext cx="2724480" cy="365391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46120" y="822962"/>
            <a:ext cx="2724480" cy="190151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46120" y="822606"/>
            <a:ext cx="2724480" cy="365391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36284" y="822962"/>
            <a:ext cx="2724480" cy="1901519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36284" y="822606"/>
            <a:ext cx="2724480" cy="365391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755724" y="2926082"/>
            <a:ext cx="2724480" cy="19015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755724" y="2925726"/>
            <a:ext cx="2724480" cy="36539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45875" y="2926082"/>
            <a:ext cx="2724479" cy="190152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45875" y="2925726"/>
            <a:ext cx="2724479" cy="365391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3076826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Heat Treatment Processes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695" y="882056"/>
            <a:ext cx="819563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Annealing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4695" y="1248263"/>
            <a:ext cx="35195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Goal: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255" y="1302987"/>
            <a:ext cx="200432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Soften, relieve stress, restore ductility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4695" y="1596027"/>
            <a:ext cx="35208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How: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255" y="1574424"/>
            <a:ext cx="191029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Heat to austenite region → furnace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255" y="1727066"/>
            <a:ext cx="87957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cool (very slow)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95" y="1943423"/>
            <a:ext cx="43722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Result: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8255" y="1921820"/>
            <a:ext cx="168371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Coarse pearlite — soft, ductile,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8255" y="2074461"/>
            <a:ext cx="125394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excellent machinability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4695" y="2290831"/>
            <a:ext cx="3077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4748B"/>
                </a:solidFill>
                <a:latin typeface="Calibri"/>
              </a:rPr>
              <a:t>Use: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255" y="2269228"/>
            <a:ext cx="201678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After cold work, before machining, to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8255" y="2421870"/>
            <a:ext cx="103257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restore formability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24859" y="882056"/>
            <a:ext cx="965212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Normalizing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24859" y="1248263"/>
            <a:ext cx="35195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Goal: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18420" y="1226660"/>
            <a:ext cx="161953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Refine grain size, homogenize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18420" y="1379302"/>
            <a:ext cx="83738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microstructure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24859" y="1596027"/>
            <a:ext cx="35208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How: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818420" y="1650751"/>
            <a:ext cx="208146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Heat to austenite region → still-air cool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24859" y="1943423"/>
            <a:ext cx="43722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Result: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18420" y="1921820"/>
            <a:ext cx="187051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Fine pearlite — slightly harder and 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818420" y="2074461"/>
            <a:ext cx="127427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stronger than annealed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24859" y="2290831"/>
            <a:ext cx="3077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Use: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818420" y="2269228"/>
            <a:ext cx="195057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Forgings and castings before further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18420" y="2421870"/>
            <a:ext cx="1321673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processing or machining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15024" y="882056"/>
            <a:ext cx="87291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Quenching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15024" y="1248263"/>
            <a:ext cx="35195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Goal: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808216" y="1302987"/>
            <a:ext cx="106002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Maximize hardness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15024" y="1596027"/>
            <a:ext cx="35208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How: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08216" y="1574424"/>
            <a:ext cx="183697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Heat to austenite → rapid quench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08216" y="1727066"/>
            <a:ext cx="124962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(water, oil, or polymer)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15024" y="1943423"/>
            <a:ext cx="43722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Result: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808216" y="1921820"/>
            <a:ext cx="21010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Martensite — very hard (up to 65 HRC)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08216" y="2074461"/>
            <a:ext cx="59136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but brittle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15024" y="2290831"/>
            <a:ext cx="30773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Use: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08216" y="2269228"/>
            <a:ext cx="210840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First step in quench-and-temper; never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08216" y="2421870"/>
            <a:ext cx="132472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used as-quenched alone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834464" y="2985176"/>
            <a:ext cx="85441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Tempering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834464" y="3351383"/>
            <a:ext cx="35195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Goal: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27655" y="3406107"/>
            <a:ext cx="186073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Restore toughness after quenching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834464" y="3699147"/>
            <a:ext cx="3520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How: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327655" y="3677544"/>
            <a:ext cx="198297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Reheat quenched martensite to 150–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327655" y="3830185"/>
            <a:ext cx="92722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650°C → air cool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834464" y="4046542"/>
            <a:ext cx="43722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Result: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327655" y="4024940"/>
            <a:ext cx="166986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Tempered martensite — lower 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27655" y="4177581"/>
            <a:ext cx="165410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hardness, far higher toughness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834464" y="4393951"/>
            <a:ext cx="30773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Use: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327655" y="4372349"/>
            <a:ext cx="211869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After quenching — higher temp = more 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327655" y="4524990"/>
            <a:ext cx="134772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toughness, less hardness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24615" y="2985176"/>
            <a:ext cx="122450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Case Hardening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824615" y="3351383"/>
            <a:ext cx="35195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Goal: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317820" y="3406107"/>
            <a:ext cx="156540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Hard surface over tough core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824615" y="3699147"/>
            <a:ext cx="3520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How: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17820" y="3677544"/>
            <a:ext cx="203317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Carburize (add C to surface) or nitride 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317820" y="3830185"/>
            <a:ext cx="116460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(add N), then quench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824615" y="4046542"/>
            <a:ext cx="43722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Result: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17820" y="4024940"/>
            <a:ext cx="15765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Hard martensitic case; tough 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17820" y="4177581"/>
            <a:ext cx="109306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ferrite/pearlite core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824615" y="4393951"/>
            <a:ext cx="30773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Use: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17820" y="4372349"/>
            <a:ext cx="181307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Gears, cams, shafts needing wear 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317820" y="4524990"/>
            <a:ext cx="162208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resistance + impact toughness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57247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226728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96244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65724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352038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806275"/>
            <a:ext cx="4625866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 — Answers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62213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695" y="1598067"/>
            <a:ext cx="516468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Why is low-carbon steel easy to weld while high-carbon steel requires preheat and PWHT?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695" y="1821462"/>
            <a:ext cx="7527408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Higher carbon increases hardenability — the HAZ cools fast and forms brittle martensite. Without preheat/PWHT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695" y="2011898"/>
            <a:ext cx="3787753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that's a fracture site. CE &gt; 0.4 generally requires preheat.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2316939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695" y="2292871"/>
            <a:ext cx="385858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An AISI/SAE designation reads 4340. What does each part tell you?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695" y="2516253"/>
            <a:ext cx="7719831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43 = Ni-Cr-Mo alloy steel family. 40 = 0.40% nominal carbon. Used in high-hardenability applications: aircraft landing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695" y="2706702"/>
            <a:ext cx="3139526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gear, crankshafts, large structural components.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17" y="3012098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695" y="2987675"/>
            <a:ext cx="608346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Nickel, chromium, and molybdenum are common alloying elements. What does each primarily contribute?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95" y="3211426"/>
            <a:ext cx="717289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Chromium → hardenability &amp; corrosion resistance. Nickel → toughness &amp; low-temperature impact strength.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695" y="3401862"/>
            <a:ext cx="538411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Molybdenum → hardenability, creep resistance, prevents temper embrittlement.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17" y="3706890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695" y="3682835"/>
            <a:ext cx="526022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Same UTS: plain carbon vs. quenched-and-tempered alloy steel. Why choose the alloy steel?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695" y="3906218"/>
            <a:ext cx="7357854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Alloy steel achieves that UTS at lower carbon → better weldability and toughness. Alloying elements give deep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695" y="4096654"/>
            <a:ext cx="4167039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hardenability so full hardness develops through thick sections.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17" y="440169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695" y="4377627"/>
            <a:ext cx="578190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100">
                <a:solidFill>
                  <a:srgbClr val="CADCFC"/>
                </a:solidFill>
                <a:latin typeface="Calibri"/>
              </a:rPr>
              <a:t>Steel for a cutting tool that must hold a sharp edge under high contact stress — what do you specify?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695" y="4601378"/>
            <a:ext cx="7540110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&gt;0.6% C (typically 0.8–1.2%) for hard martensite. Tool steels add Cr, W, V for carbide particles that resist wear and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695" y="4791814"/>
            <a:ext cx="2832162" cy="24449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retain hardness at elevated temperatures.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987477"/>
            <a:ext cx="832067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404" y="117000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404" y="1919886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404" y="2669757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404" y="3419642"/>
            <a:ext cx="40212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404" y="4169157"/>
            <a:ext cx="402120" cy="40212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394796"/>
            <a:ext cx="2578639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Key Takeaways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95617" y="121965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9695" y="1183377"/>
            <a:ext cx="3476819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Steel is a family of alloys, not a single material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9695" y="1462947"/>
            <a:ext cx="783622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Carbon content is the single most important variable — controlling hardness, strength, ductility, and weldability. Every carbon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9695" y="1645827"/>
            <a:ext cx="345846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increase trades strength for weldability and toughness.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5617" y="1969530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9695" y="1933261"/>
            <a:ext cx="466869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The AISI/SAE code is a practical tool every technician must use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9695" y="2212831"/>
            <a:ext cx="776617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First two digits = steel family and alloying type. Last two = carbon in hundredths of %. Reading 4140 instantly communicates: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9695" y="2395711"/>
            <a:ext cx="5040412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Cr-Mo alloy steel, 0.40% carbon — good hardenability, preheat required to weld.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5617" y="2719414"/>
            <a:ext cx="191871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9695" y="2683145"/>
            <a:ext cx="4459730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Alloying elements solve problems plain carbon steel cannot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9695" y="2962703"/>
            <a:ext cx="7837596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Cr improves corrosion resistance and hardenability. Ni improves low-temperature toughness. Mo maintains high-temperature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9695" y="3145583"/>
            <a:ext cx="64179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strength. Each solves a specific limitation — at the cost of price, weldability, and processing complexity.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5617" y="3469299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9695" y="3432661"/>
            <a:ext cx="4514327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Every grade carries welding and heat treatment implications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9695" y="3712587"/>
            <a:ext cx="769231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Carbon equivalent (CE) determines preheat requirements. Higher CE → higher preheat → more controlled heat input. Alloy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9695" y="3895467"/>
            <a:ext cx="585970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steels may also require PWHT. Read the spec and know what to plan for before striking an arc.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5617" y="4218815"/>
            <a:ext cx="191871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9695" y="4182545"/>
            <a:ext cx="1699506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B83232"/>
                </a:solidFill>
                <a:latin typeface="Calibri"/>
              </a:rPr>
              <a:t>Safety is not optional!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9695" y="4462103"/>
            <a:ext cx="772368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PPE is mandatory in the shop — no exceptions. We work with heat, sharp edges, and hazardous materials every lab session.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9695" y="4644983"/>
            <a:ext cx="237662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Protect yourself and your classmates.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38996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754879" y="1481406"/>
            <a:ext cx="4068724" cy="3401276"/>
          </a:xfrm>
          <a:prstGeom prst="rect">
            <a:avLst/>
          </a:prstGeom>
          <a:solidFill>
            <a:srgbClr val="24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919040" y="2303997"/>
            <a:ext cx="3565804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2696" y="806275"/>
            <a:ext cx="4314942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144" y="1563313"/>
            <a:ext cx="1593276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4 Resources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4136" y="1994547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7214" y="2017619"/>
            <a:ext cx="357482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Moniz Ch. 11, 12 &amp; 14 — Iron, Carbon Steels &amp; Heat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214" y="2215968"/>
            <a:ext cx="76888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Treatment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136" y="2391269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214" y="2414329"/>
            <a:ext cx="340049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Kalpakjian Ch. 5 &amp; 6 — Heat Treatment &amp; Ferrous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7214" y="2612690"/>
            <a:ext cx="53127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Metals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44" y="3063069"/>
            <a:ext cx="961838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136" y="3410432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214" y="3433491"/>
            <a:ext cx="275688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Iron-Carbon Phase Diagram (Interactive)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136" y="3608793"/>
            <a:ext cx="134860" cy="25536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214" y="3631853"/>
            <a:ext cx="328218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CCT Diagram — Cooling Rate vs. Microstructure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7214" y="3830214"/>
            <a:ext cx="845390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(Reference)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06340" y="1635677"/>
            <a:ext cx="1897017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Coming Up — Week 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06340" y="1936912"/>
            <a:ext cx="3010792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FFFFFF"/>
                </a:solidFill>
                <a:latin typeface="Calibri"/>
              </a:rPr>
              <a:t>Stainless Steels &amp; Cast Irons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96345" y="281402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9422" y="2834547"/>
            <a:ext cx="312754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What makes stainless steel corrosion-resistant —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9422" y="3017427"/>
            <a:ext cx="213586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the passive chromium oxide 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996345" y="317978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39422" y="3200307"/>
            <a:ext cx="259927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The four stainless steel families and how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39422" y="3383187"/>
            <a:ext cx="207099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microstructure defines each one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996345" y="354554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39422" y="3566067"/>
            <a:ext cx="290749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Ferritic, martensitic, austenitic, and duplex —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9422" y="3748947"/>
            <a:ext cx="209078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grades, properties, and selection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96345" y="3911301"/>
            <a:ext cx="130261" cy="23932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39422" y="3931827"/>
            <a:ext cx="269520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Cast iron types — gray, white, ductile, and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39422" y="4114707"/>
            <a:ext cx="284307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malleable — microstructure and applications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11502" y="4791503"/>
            <a:ext cx="536173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1200">
                <a:solidFill>
                  <a:srgbClr val="64748B"/>
                </a:solidFill>
                <a:latin typeface="Calibri"/>
              </a:rPr>
              <a:t>Unit 2 covers Weeks 4 – 6  ·  Review AISI/SAE codes and heat treatment before Week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