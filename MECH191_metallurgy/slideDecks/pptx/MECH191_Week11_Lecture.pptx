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814476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290166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Metal Forming Processes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3806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November 2,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45253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Hot &amp; Cold Working + Work Hardening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1927495"/>
            <a:ext cx="699320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Recrystallization temperature as the boundary between hot and cold working; how dislocations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5664" y="2140982"/>
            <a:ext cx="405817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accumulate, strengthen, and are removed by annealing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2754973"/>
            <a:ext cx="436580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Rolling, Forging, Extrusion &amp; Drawing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5664" y="3024775"/>
            <a:ext cx="758683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The four major forming processes — what each produces, where each is used, and what makes forgings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238262"/>
            <a:ext cx="245229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the highest-integrity formed part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664" y="3852253"/>
            <a:ext cx="351486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Grain Flow &amp; Forming Defects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5664" y="4122055"/>
            <a:ext cx="716215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Why grain flow gives forgings superior fatigue performance, and the characteristic defects of each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5664" y="4335542"/>
            <a:ext cx="301942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forming process and how to detect them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527254" cy="36088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Alloy Research Portfolio — Module 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No Microscope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48088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10  ·  Week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2526425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Aluminum Alloys for Forming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819320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Research 6061-T6 vs. 5086 aluminum: precipitate structure, weldability,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276176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and published HV for your Hardness Log.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— record data &amp;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Answer — short-answer questions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Apply — critical-thinking &amp; equations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723389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Alloys of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2571940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G — 6061-T6 aluminum (revisit)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1846071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Alloy I — 5086 aluminum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Complete This Module: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Research the alloy(s) using credible 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Record data with a source citation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the short-answer questions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Answer the critical-thinking questions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Keep the module with your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4637234"/>
            <a:ext cx="18318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84729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11  ← here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285646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3620518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4334042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7672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11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60256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79849"/>
            <a:ext cx="412860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Hot working vs. cold working — recrystallization temperature as the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55173"/>
            <a:ext cx="430853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boundary; why hot working prevents work hardening and cold working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8654" y="1730496"/>
            <a:ext cx="65077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enables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76" y="1886214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905807"/>
            <a:ext cx="422069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Work hardening — dislocation accumulation, anisotropy, strain aging,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654" y="2081131"/>
            <a:ext cx="403447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the three stages of annealing: recovery, recrystallization, grain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2256454"/>
            <a:ext cx="50051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growth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76" y="2412172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654" y="2431778"/>
            <a:ext cx="358516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Rolling — flat rolling, shape rolling, hot vs. cold rolling, and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607088"/>
            <a:ext cx="17357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characteristic rolling defects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276281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654" y="2782412"/>
            <a:ext cx="416047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Forging — open die vs. closed die, flash, grain flow, and why forgings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957735"/>
            <a:ext cx="36611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outperform castings and machined bar in fatigue and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576" y="3113453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654" y="3133059"/>
            <a:ext cx="40131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Extrusion &amp; drawing — direct vs. indirect extrusion, wire and tube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308370"/>
            <a:ext cx="371876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drawing, deep drawing, and the characteristic defects of 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576" y="3464087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654" y="3483693"/>
            <a:ext cx="405640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Forming defects — laps, seams, bursts, pipe defects, delamination,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654" y="3659017"/>
            <a:ext cx="333230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chevron cracking, and NDT detection methods for 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1744530"/>
            <a:ext cx="161823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Ch. 13, 14 &amp; 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1919853"/>
            <a:ext cx="233341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Rolling · Forging · Extrusion &amp; Drawing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2377347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2689994"/>
            <a:ext cx="21895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Hot vs Cold Working &amp; Work Hardening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2849836"/>
            <a:ext cx="19404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Forging — FIA Design &amp; Grain 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3009678"/>
            <a:ext cx="20688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Extrusion — AEC Design &amp; Animation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3384" y="3169521"/>
            <a:ext cx="21845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Forming Defects &amp; Process Comparison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93384" y="3329363"/>
            <a:ext cx="13469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Forming Limit Diagrams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3384" y="3712587"/>
            <a:ext cx="80290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Also Covers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93384" y="4030231"/>
            <a:ext cx="253405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Tube &amp; Pipe Drawing — TPA Manufacturing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93384" y="4410692"/>
            <a:ext cx="179684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Next: Week 12 — Machining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8747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4626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1758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88899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602521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31567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445189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96" y="1126968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17" y="15123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700" y="1629533"/>
            <a:ext cx="589164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the difference between hot working and cold working, and why does it matter?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617" y="222549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9700" y="2342688"/>
            <a:ext cx="717093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work hardening and how does it affect the strength, ductility, and residual stress of a formed part?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17" y="293865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9700" y="3055857"/>
            <a:ext cx="491177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main forming processes and what does each one produce?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617" y="365217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700" y="3670016"/>
            <a:ext cx="749678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grain flow and why does it give a forged part superior performance compared to a casting or machined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700" y="3868377"/>
            <a:ext cx="37511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bar?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17" y="436533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9700" y="4482169"/>
            <a:ext cx="525795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defects are unique to forming processes and how is each one detected?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5675" y="804597"/>
            <a:ext cx="511568" cy="4132808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3949928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804242"/>
            <a:ext cx="3949928" cy="40212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316521"/>
            <a:ext cx="109448" cy="51155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475" y="2011326"/>
            <a:ext cx="109448" cy="51155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475" y="2706117"/>
            <a:ext cx="109448" cy="51156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475" y="3401277"/>
            <a:ext cx="109448" cy="51156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475" y="4096082"/>
            <a:ext cx="109448" cy="51155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37759" y="804597"/>
            <a:ext cx="394991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7759" y="804242"/>
            <a:ext cx="3949916" cy="40212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83924" y="1316521"/>
            <a:ext cx="109435" cy="51155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83924" y="2011326"/>
            <a:ext cx="109435" cy="51155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83924" y="2706117"/>
            <a:ext cx="109435" cy="51156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83924" y="3401277"/>
            <a:ext cx="109435" cy="51156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83924" y="4096082"/>
            <a:ext cx="109435" cy="51155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424" y="158292"/>
            <a:ext cx="818579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Hot vs. Cold Working — Recrystallization Temperature is the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8784" y="2351664"/>
            <a:ext cx="29489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Trex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3013" y="2504306"/>
            <a:ext cx="4890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≈ 0.4Tm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35" y="888653"/>
            <a:ext cx="185417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Hot Working  (above Trex)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95" y="1332751"/>
            <a:ext cx="11912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No work hardening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295" y="1583429"/>
            <a:ext cx="34963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Continuous recrystallization annihilates dislocations as fast as they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295" y="1736070"/>
            <a:ext cx="299679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form — large reductions in a single pass without cracking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295" y="2027555"/>
            <a:ext cx="10845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Lower flow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295" y="2278220"/>
            <a:ext cx="323620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Less force required — enables shaping of large cross-sections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295" y="2430861"/>
            <a:ext cx="171281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(structural plate, rail, ship plate)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0295" y="2722347"/>
            <a:ext cx="175341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Recrystallized grain structure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295" y="2973380"/>
            <a:ext cx="34719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Final grain size controlled by finishing temperature and reduction;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295" y="3126021"/>
            <a:ext cx="14742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finer finishing = finer grains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295" y="3417507"/>
            <a:ext cx="98687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Scale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0295" y="3668184"/>
            <a:ext cx="324802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Oxidation at high temperature produces mill scale — must be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0295" y="3820826"/>
            <a:ext cx="209836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removed (pickling) before cold finishing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0295" y="4112311"/>
            <a:ext cx="15680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Inferior tolerance &amp; finish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295" y="4362989"/>
            <a:ext cx="334879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Thermal expansion variation and scale give rough surface; ±1–3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0295" y="4515630"/>
            <a:ext cx="163517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mm typical for hot rolled plate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7940" y="888653"/>
            <a:ext cx="191498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Cold Working  (below Trex)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72100" y="1332751"/>
            <a:ext cx="101034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Work hardening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2100" y="1583429"/>
            <a:ext cx="31457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Dislocations accumulate — strength and hardness increase,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2100" y="1736070"/>
            <a:ext cx="306681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ductility decreases with each pass; eventually must anneal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72100" y="2027555"/>
            <a:ext cx="12364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Better surface finish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72100" y="2278220"/>
            <a:ext cx="33519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 scale, less thermal distortion — achieves Ra 0.8–3.2 μm and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72100" y="2430861"/>
            <a:ext cx="174725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±0.1 mm dimensional tolerances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72100" y="2722347"/>
            <a:ext cx="93114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Residual stress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72100" y="2973380"/>
            <a:ext cx="335235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Compressive stress at surface (beneficial for fatigue resistance);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72100" y="3126021"/>
            <a:ext cx="147480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tensile stress in the interior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72100" y="3417507"/>
            <a:ext cx="118912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Annealing required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72100" y="3668184"/>
            <a:ext cx="32173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When ductility is exhausted, intermediate annealing restores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72100" y="3820826"/>
            <a:ext cx="19121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formability through recrystallization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72100" y="4112311"/>
            <a:ext cx="93268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Warm working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72100" y="4362989"/>
            <a:ext cx="322667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Between room temp and Trex — partial recovery without full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72100" y="4515630"/>
            <a:ext cx="274187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recrystallization; compromise for Al and some steels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22606"/>
            <a:ext cx="2048040" cy="32914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22606"/>
            <a:ext cx="2048040" cy="40212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58720" y="822606"/>
            <a:ext cx="2048040" cy="32914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58720" y="822606"/>
            <a:ext cx="2048040" cy="40212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61840" y="822606"/>
            <a:ext cx="2048040" cy="32914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61840" y="822606"/>
            <a:ext cx="2048040" cy="40212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64960" y="822606"/>
            <a:ext cx="2048040" cy="32914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64960" y="822606"/>
            <a:ext cx="2048040" cy="4021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94204" y="2221562"/>
            <a:ext cx="274319" cy="27431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324" y="2221562"/>
            <a:ext cx="274319" cy="27431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444" y="2221562"/>
            <a:ext cx="274320" cy="27431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5600" y="4224606"/>
            <a:ext cx="2834284" cy="7495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5955" y="4224606"/>
            <a:ext cx="109448" cy="74951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18395" y="4224606"/>
            <a:ext cx="2834284" cy="7495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18764" y="4224606"/>
            <a:ext cx="109435" cy="74951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0835" y="4224606"/>
            <a:ext cx="2834284" cy="7495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204" y="4224606"/>
            <a:ext cx="109435" cy="74951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424" y="158292"/>
            <a:ext cx="675099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Work Hardening — Dislocations as Both Problem and 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415" y="914307"/>
            <a:ext cx="7316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Cold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784" y="2180241"/>
            <a:ext cx="7516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Dislocations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5218" y="2180241"/>
            <a:ext cx="7266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accumulate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7210" y="2180241"/>
            <a:ext cx="21312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784" y="2340084"/>
            <a:ext cx="18221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grain boundaries — strength ↑,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784" y="2499913"/>
            <a:ext cx="6593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ductility 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784" y="2659755"/>
            <a:ext cx="139419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Taylor hardening: σ  √ρ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70139" y="2662952"/>
            <a:ext cx="171303" cy="2057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DejaVu Sans"/>
              </a:rPr>
              <a:t>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784" y="2819597"/>
            <a:ext cx="18222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becomes too brittle for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784" y="2979440"/>
            <a:ext cx="90841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further forming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0423" y="914307"/>
            <a:ext cx="65321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Recovery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10904" y="2180241"/>
            <a:ext cx="10418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Low-temperature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30093" y="2180241"/>
            <a:ext cx="5032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anneal: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0904" y="2340084"/>
            <a:ext cx="5308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residual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1277" y="2340084"/>
            <a:ext cx="41372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stress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54570" y="2340084"/>
            <a:ext cx="5791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reduced,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0904" y="2499913"/>
            <a:ext cx="16667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dislocation tangles reorganize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0904" y="2659755"/>
            <a:ext cx="14011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Strength largely retained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10904" y="2819597"/>
            <a:ext cx="60552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Exploited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56677" y="2819597"/>
            <a:ext cx="2067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01792" y="2819597"/>
            <a:ext cx="7315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stress-relief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0904" y="2979440"/>
            <a:ext cx="59966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annealing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56733" y="914307"/>
            <a:ext cx="11071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Recrystallization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4024" y="2100320"/>
            <a:ext cx="18221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New strain-free grains nucleate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4024" y="2260163"/>
            <a:ext cx="13395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at high-dislocation sites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14024" y="2419992"/>
            <a:ext cx="18217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Strength returns to annealed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14024" y="2579834"/>
            <a:ext cx="14221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level — ductility restored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4024" y="2739676"/>
            <a:ext cx="18217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Grain size depends on degree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4024" y="2899519"/>
            <a:ext cx="18222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of cold work and annealing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14024" y="3059361"/>
            <a:ext cx="7557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temperature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48055" y="914307"/>
            <a:ext cx="93097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Grain Growth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17144" y="2100320"/>
            <a:ext cx="18222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At higher temperatures or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17144" y="2260163"/>
            <a:ext cx="182255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longer times: grains grow to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17144" y="2419992"/>
            <a:ext cx="12604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reduce boundary area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17144" y="2579834"/>
            <a:ext cx="18225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Excessive grain growth reduces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17144" y="2739676"/>
            <a:ext cx="13391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strength and toughness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17144" y="2899519"/>
            <a:ext cx="66932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Controlled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29914" y="2899519"/>
            <a:ext cx="2355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by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09928" y="2899519"/>
            <a:ext cx="6300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annealing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17144" y="3059361"/>
            <a:ext cx="12635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temperature and time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84095" y="2221033"/>
            <a:ext cx="146043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7215" y="2221033"/>
            <a:ext cx="146044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0334" y="2221033"/>
            <a:ext cx="146043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4144" y="4271474"/>
            <a:ext cx="67931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Anisotropy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4144" y="4390757"/>
            <a:ext cx="243017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Cold working creates crystallographic texture —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4144" y="4535474"/>
            <a:ext cx="259708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grains rotate to align with working direction; part is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44144" y="4680191"/>
            <a:ext cx="248022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stronger and less ductile in the working direction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4144" y="4824907"/>
            <a:ext cx="12347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than perpendicular to 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06940" y="4271474"/>
            <a:ext cx="7356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Strain Aging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06940" y="4318393"/>
            <a:ext cx="23679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 low-carbon steels: interstitial C and N atoms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6940" y="4463109"/>
            <a:ext cx="249843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diffuse to dislocations after cold working, pinning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06940" y="4607826"/>
            <a:ext cx="239375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them — raises yield strength but causes Lüders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406940" y="4752555"/>
            <a:ext cx="23535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bands (stretcher strains) on deep-drawn sheet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06940" y="4897272"/>
            <a:ext cx="30763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steel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69380" y="4271474"/>
            <a:ext cx="145159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Deliberate Strengthening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9380" y="4390757"/>
            <a:ext cx="24380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Controlled cold work is used to strengthen wire,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69380" y="4535474"/>
            <a:ext cx="257743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spring, and structural members without alloying or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69380" y="4680191"/>
            <a:ext cx="241486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heat treatment — specifying the % reduction in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69380" y="4824907"/>
            <a:ext cx="182983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area controls the final strength level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19929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36540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907717"/>
            <a:ext cx="4151160" cy="20296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907362"/>
            <a:ext cx="4151160" cy="36540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242"/>
            <a:ext cx="4315676" cy="36540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1261442"/>
            <a:ext cx="127799" cy="54828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7796" y="1956602"/>
            <a:ext cx="127799" cy="54828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7796" y="2651406"/>
            <a:ext cx="127799" cy="548271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7796" y="3346198"/>
            <a:ext cx="127799" cy="54828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7796" y="4041357"/>
            <a:ext cx="127799" cy="54828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550559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Rolling — The Highest-Volume Forming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780" y="871012"/>
            <a:ext cx="82804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Hot Rolling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118290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493" y="1201757"/>
            <a:ext cx="35242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Continuously cast slab reheated above Trex → successive rolling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493" y="1361600"/>
            <a:ext cx="20882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stands reduce thickness progressively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548667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0493" y="1567517"/>
            <a:ext cx="33472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Finishing temperature controls final grain size — lower finish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0493" y="1727359"/>
            <a:ext cx="212850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temp = finer grains = better properties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191442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0493" y="1933277"/>
            <a:ext cx="351309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Blue-gray mill scale surface; rough tolerance ±1–3 mm; used for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0493" y="2093119"/>
            <a:ext cx="17893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structural plate, beam, rail, pipe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228018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493" y="2299037"/>
            <a:ext cx="350470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Shape rolling: specially shaped rolls produce I-beams, channels,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493" y="2458879"/>
            <a:ext cx="179245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angles in a single pass 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780" y="2974132"/>
            <a:ext cx="88323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Cold Rolling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328602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0493" y="3304877"/>
            <a:ext cx="338522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Hot rolled strip pickled (acid cleaned to remove scale) → cold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493" y="3464719"/>
            <a:ext cx="11412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rolled to final gauge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416" y="365178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493" y="3670637"/>
            <a:ext cx="331143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Bright, smooth surface; tight thickness tolerance ±0.05 mm;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493" y="3830479"/>
            <a:ext cx="14209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strong in rolling direction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416" y="4017547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0493" y="4036397"/>
            <a:ext cx="32664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Final batch or continuous anneal restores ductility for deep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493" y="4196239"/>
            <a:ext cx="19205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drawing (automotive panels, cans)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7416" y="4303385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0493" y="4322236"/>
            <a:ext cx="32204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Ring rolling: thick-walled ring reduced in cross-section and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0493" y="4482078"/>
            <a:ext cx="338829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expanded in diameter — seamless bearing rings, flanges with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0493" y="4641920"/>
            <a:ext cx="14490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circumferential grain flow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2179" y="871012"/>
            <a:ext cx="108829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Rolling Defects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24704" y="1277671"/>
            <a:ext cx="87625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B83232"/>
                </a:solidFill>
                <a:latin typeface="Calibri"/>
              </a:rPr>
              <a:t>Edge Cracking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4704" y="1528349"/>
            <a:ext cx="382024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Edges cool faster in hot rolling → tensile stress at roll exit → edge cracks;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4704" y="1680990"/>
            <a:ext cx="26192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insufficient ductility at cooler edges. Detected: VT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24704" y="1972831"/>
            <a:ext cx="74384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Alligatoring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4704" y="2223509"/>
            <a:ext cx="382545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Severe internal cracking during hot rolling of billets with poor ductility —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24704" y="2376150"/>
            <a:ext cx="363788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top and bottom surfaces separate like a mouth opening. Detected: VT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24704" y="2667635"/>
            <a:ext cx="16870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Wavy Edges / Center Buckle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24704" y="2918300"/>
            <a:ext cx="38509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Non-uniform thickness across width from roll bending — one edge or the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24704" y="3070941"/>
            <a:ext cx="380689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center is thicker, causing flatness defects in sheet. Detected: dimensional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24704" y="3362427"/>
            <a:ext cx="8713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Laps &amp; Seams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24704" y="3537146"/>
            <a:ext cx="362404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folds back on itself at the edges during rolling — linear surface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24704" y="3689787"/>
            <a:ext cx="353254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indications parallel to rolling direction; fatigue crack initiation sites.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24704" y="3842428"/>
            <a:ext cx="94870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Detected: MT, PT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24704" y="4057587"/>
            <a:ext cx="135827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Pipe (Lamellar Defect)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4704" y="4231950"/>
            <a:ext cx="389712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Ingot shrinkage void drawn out into a central planar defect during primary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24704" y="4384591"/>
            <a:ext cx="388950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rolling — dangerous under through-thickness load in welded connections.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24704" y="4537220"/>
            <a:ext cx="74932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Detected: 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242"/>
            <a:ext cx="4151160" cy="186515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36540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779562"/>
            <a:ext cx="4151160" cy="21574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779562"/>
            <a:ext cx="4151160" cy="36540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242"/>
            <a:ext cx="4315676" cy="3654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1243077"/>
            <a:ext cx="127799" cy="54828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7796" y="1938237"/>
            <a:ext cx="127799" cy="54828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7796" y="2633042"/>
            <a:ext cx="127799" cy="54828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7796" y="3328202"/>
            <a:ext cx="127799" cy="54828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7796" y="4023006"/>
            <a:ext cx="127799" cy="548271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675211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Forging &amp; Grain Flow — Highest-Integrity Forming 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780" y="871012"/>
            <a:ext cx="125188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Open Die Forging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784" y="1483278"/>
            <a:ext cx="38054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compressed between flat or simple shaped dies — flows freely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784" y="1643120"/>
            <a:ext cx="36624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laterally. Used for very large components (shafts up to 100 tonnes,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784" y="1802963"/>
            <a:ext cx="36962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discs, rings) and for breaking down ingot structure. Requires skilled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784" y="1962792"/>
            <a:ext cx="366800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operator to control shape progression. Produces a worked, refined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784" y="2122634"/>
            <a:ext cx="24870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microstructure throughout the cross-section.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780" y="2845977"/>
            <a:ext cx="249233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Closed Die (Impression Die) Forging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784" y="3293714"/>
            <a:ext cx="38594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compressed in a die cavity machined to the part shape — metal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784" y="3453556"/>
            <a:ext cx="36509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fills the cavity and excess escapes as flash at the parting line. Flash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784" y="3613398"/>
            <a:ext cx="394998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builds back-pressure to completely fill the die before escaping; trimmed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784" y="3773240"/>
            <a:ext cx="374432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after forging. Produces near-net-shape with excellent grain flow and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784" y="3933082"/>
            <a:ext cx="14077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dimensional consistency.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784" y="4344624"/>
            <a:ext cx="360231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Flash: the thin fin squeezed out at the die parting line — a functional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784" y="4497266"/>
            <a:ext cx="343368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feature, not a defect. Its resistance to flow forces complete die fill.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42179" y="871012"/>
            <a:ext cx="22667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Grain Flow — Why Forgings Win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24704" y="1259307"/>
            <a:ext cx="112753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grain flow 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24704" y="1434026"/>
            <a:ext cx="390081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Grains elongate and align in the direction of metal flow during forging — a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4704" y="1586667"/>
            <a:ext cx="381757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fiber-like structure analogous to wood grain. Revealed by etching a cross-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24704" y="1739308"/>
            <a:ext cx="9719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section with acid.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24704" y="1954467"/>
            <a:ext cx="9343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Why it matters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24704" y="2128830"/>
            <a:ext cx="360917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 well-designed die orients grain flow to follow the part contour and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4704" y="2281471"/>
            <a:ext cx="38959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resist primary service loads. Grain flow aligned with load path = maximum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24704" y="2434100"/>
            <a:ext cx="161064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fatigue and impact resistance.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24704" y="2649271"/>
            <a:ext cx="106342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vs. machined bar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4704" y="2823622"/>
            <a:ext cx="38956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 part machined from bar stock has grain flow running straight through —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4704" y="2976263"/>
            <a:ext cx="358007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the grain cuts across the critical geometry. A forging wraps the grain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24704" y="3128904"/>
            <a:ext cx="101008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around the shape.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24704" y="3344431"/>
            <a:ext cx="67065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vs. casting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24704" y="3518781"/>
            <a:ext cx="386498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Castings have no grain flow — random, equiaxed grains with no preferred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24704" y="3671423"/>
            <a:ext cx="364030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orientation. Forgings outperform equivalent castings in fatigue life by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24704" y="3824064"/>
            <a:ext cx="87322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factors of 2–5×.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24704" y="4039235"/>
            <a:ext cx="137028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B83232"/>
                </a:solidFill>
                <a:latin typeface="Calibri"/>
              </a:rPr>
              <a:t>Laps: the failure mode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4704" y="4213586"/>
            <a:ext cx="389026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If the die causes metal to fold back on itself, the grain flow creates a plane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24704" y="4366227"/>
            <a:ext cx="371718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of weakness — a lap. A folded grain flow is always rejectable in fatigue-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24704" y="4518868"/>
            <a:ext cx="112750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loaded components.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242"/>
            <a:ext cx="4151160" cy="1883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36540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36160" y="804242"/>
            <a:ext cx="4151160" cy="18831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36160" y="804242"/>
            <a:ext cx="4151160" cy="36540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2797558"/>
            <a:ext cx="4151160" cy="21574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2797558"/>
            <a:ext cx="4151160" cy="36540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36160" y="2797558"/>
            <a:ext cx="4151160" cy="21574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36160" y="2797558"/>
            <a:ext cx="4151160" cy="36540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640011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Extrusion &amp; Drawing — Continuous and Pulled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780" y="871012"/>
            <a:ext cx="18730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Direct (Forward) Extrusion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784" y="1483278"/>
            <a:ext cx="37668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Ram pushes heated billet through die — extrude exits in direction of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784" y="1643120"/>
            <a:ext cx="38715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ram travel. High container friction; most common type. Extrusion ratio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784" y="1802963"/>
            <a:ext cx="39146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10:1 to 100:1 for aluminum. Produces rods, tubes, angles, and complex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784" y="1962792"/>
            <a:ext cx="386207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constant-cross-section profiles. Al at 400–500°C; steel at 1100–1250°C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784" y="2122634"/>
            <a:ext cx="17676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with glass or graphite lubricant.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6340" y="871012"/>
            <a:ext cx="208948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Indirect (Backward) Extrusion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6695" y="1483278"/>
            <a:ext cx="384942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Die moves into the stationary billet — no relative movement between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06695" y="1643120"/>
            <a:ext cx="374419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billet and container wall. Lower friction, more uniform deformation.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6695" y="1802963"/>
            <a:ext cx="394412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Used for precise profiles and difficult alloys (superalloys, titanium). Cold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6695" y="1962792"/>
            <a:ext cx="38106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impact extrusion: aluminum, copper, soft steels at room temperature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6695" y="2122634"/>
            <a:ext cx="222947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— produces thin-walled tubes and cups.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780" y="2864328"/>
            <a:ext cx="197116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Wire, Tube &amp; Deep Drawing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784" y="311466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862" y="3133516"/>
            <a:ext cx="34534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Wire drawing: rod pulled through progressively smaller dies —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862" y="3293358"/>
            <a:ext cx="35615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15–25% reduction per die; intermediate annealing for large total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0862" y="3453200"/>
            <a:ext cx="64522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reductions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784" y="3596707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0862" y="3615557"/>
            <a:ext cx="320634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Tube drawing: mandrel controls internal diameter — tight-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62" y="3775399"/>
            <a:ext cx="353334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tolerance seamless tubing for hydraulic and medical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784" y="3919261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0862" y="3938111"/>
            <a:ext cx="304277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Deep drawing: sheet blank drawn into cup by punch —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0862" y="4097954"/>
            <a:ext cx="343371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automotive panels, beverage cans; requires good ductility and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62" y="4257796"/>
            <a:ext cx="199957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appropriate crystallographic texture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7784" y="440165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862" y="4420521"/>
            <a:ext cx="34487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Drawing is compressive die + tensile pull — distinguished from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0862" y="4580363"/>
            <a:ext cx="16164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extrusion (compressive only)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6340" y="2864328"/>
            <a:ext cx="202288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Extrusion &amp; Drawing Defects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8344" y="3277521"/>
            <a:ext cx="379533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Pipe (Extrusion):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Oxide from billet surface drawn into extrude center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88344" y="3437363"/>
            <a:ext cx="36412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near billet end — every extrusion back-end is cropped. UT detects.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88344" y="3807797"/>
            <a:ext cx="35816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Fir Tree Cracking: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Periodic transverse surface cracks at die exit —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8344" y="3967639"/>
            <a:ext cx="29756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excessive extrusion speed or temperature. VT detects.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88344" y="4258152"/>
            <a:ext cx="37839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Chevron / Center Burst: 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Internal cracks along centerline — excessive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88344" y="4417994"/>
            <a:ext cx="37797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hydrostatic tension in drawing or extrusion deformation zone. UT, RT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8344" y="4577836"/>
            <a:ext cx="5037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detects.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8631720" cy="34704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170358"/>
            <a:ext cx="8631720" cy="4752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170358"/>
            <a:ext cx="72720" cy="475208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1664286"/>
            <a:ext cx="8631720" cy="47519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1664286"/>
            <a:ext cx="72720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2157846"/>
            <a:ext cx="8631720" cy="4751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2157846"/>
            <a:ext cx="72720" cy="47519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2651761"/>
            <a:ext cx="8631720" cy="475195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5955" y="2651761"/>
            <a:ext cx="72720" cy="47519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3145677"/>
            <a:ext cx="8631720" cy="4752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5955" y="3145677"/>
            <a:ext cx="72720" cy="475208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5600" y="3639237"/>
            <a:ext cx="8631720" cy="47520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5955" y="3639237"/>
            <a:ext cx="72720" cy="475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5600" y="4133166"/>
            <a:ext cx="8631720" cy="4751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5955" y="4133166"/>
            <a:ext cx="72720" cy="47519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424" y="158292"/>
            <a:ext cx="578495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Forming Defects — Process, Cause, and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8335" y="866547"/>
            <a:ext cx="45220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Defect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61375" y="866547"/>
            <a:ext cx="51421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0420" y="866547"/>
            <a:ext cx="4204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7535" y="866547"/>
            <a:ext cx="56520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Location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1255" y="866547"/>
            <a:ext cx="64146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1303343"/>
            <a:ext cx="3097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Laps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1375" y="1303343"/>
            <a:ext cx="8625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Rolling, Forging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0420" y="1303343"/>
            <a:ext cx="189300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Metal folds back on itself at surface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7535" y="1227028"/>
            <a:ext cx="150199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Surface, parallel to working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7535" y="1379670"/>
            <a:ext cx="5332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direction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1255" y="1303343"/>
            <a:ext cx="4285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MT, PT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1796903"/>
            <a:ext cx="41473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Seams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61375" y="1796903"/>
            <a:ext cx="4210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60420" y="1720588"/>
            <a:ext cx="195756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cracks from ingot closed but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0420" y="1873230"/>
            <a:ext cx="6564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not welded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7535" y="1720588"/>
            <a:ext cx="14117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Surface, parallel to rolling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27535" y="1873230"/>
            <a:ext cx="5332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direction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1255" y="1796903"/>
            <a:ext cx="4285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MT, 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7416" y="2290831"/>
            <a:ext cx="4011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Bursts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61375" y="2290831"/>
            <a:ext cx="9986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Forging, Extrusion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60420" y="2214504"/>
            <a:ext cx="184065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Tensile stress in deformation zone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0420" y="2367146"/>
            <a:ext cx="92761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exceeds ductility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7535" y="2290831"/>
            <a:ext cx="8289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Internal, linear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1255" y="2290831"/>
            <a:ext cx="4026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UT, 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7416" y="2784391"/>
            <a:ext cx="3060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Pipe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1375" y="2784391"/>
            <a:ext cx="9640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Rolling, Extrusion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60420" y="2708064"/>
            <a:ext cx="162691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Ingot shrinkage void drawn to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60420" y="2860706"/>
            <a:ext cx="40570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center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27535" y="2784391"/>
            <a:ext cx="12920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Central, linear or planar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01255" y="2784391"/>
            <a:ext cx="2215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7416" y="3278307"/>
            <a:ext cx="78579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Delamination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61375" y="3278307"/>
            <a:ext cx="42108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Rolling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60420" y="3201980"/>
            <a:ext cx="18085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Pipe or inclusions separate under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60420" y="3354621"/>
            <a:ext cx="12517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through-thickness load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7535" y="3278307"/>
            <a:ext cx="86407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Internal, planar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101255" y="3278307"/>
            <a:ext cx="22157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7416" y="3772222"/>
            <a:ext cx="98479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Chevron Cracking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61375" y="3772222"/>
            <a:ext cx="104312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Drawing, Extrusion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60420" y="3772222"/>
            <a:ext cx="174432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Hydrostatic tension at centerline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27535" y="3772222"/>
            <a:ext cx="1065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Centerline, internal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101255" y="3772222"/>
            <a:ext cx="40265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UT, 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07416" y="4265783"/>
            <a:ext cx="70776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Orange Peel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61375" y="4265783"/>
            <a:ext cx="76368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Cold Working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0420" y="4265783"/>
            <a:ext cx="192731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Coarse grain deforms non-uniformly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27535" y="4265783"/>
            <a:ext cx="45793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01255" y="4265783"/>
            <a:ext cx="21369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VT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1564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59084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590842"/>
            <a:ext cx="200888" cy="1060196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706117"/>
            <a:ext cx="8631720" cy="10602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2706117"/>
            <a:ext cx="200888" cy="1060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82176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3821762"/>
            <a:ext cx="200888" cy="1060196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696" y="564194"/>
            <a:ext cx="3859157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Technician's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696" y="1245408"/>
            <a:ext cx="491061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Knowing the process tells you where to look and what you're looking for.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935" y="1664191"/>
            <a:ext cx="40455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Red Flag: Rolled plate accepted for a welded T-joint without 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304" y="1999520"/>
            <a:ext cx="790329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Plate passes VT and MT — no rejectable indications. It is welded into a T-joint with through-thickness tensile stress. The plate later delaminates at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304" y="2159362"/>
            <a:ext cx="742018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the weld. MT and PT cannot see lamellar pipe defects lying parallel to the plate surface. All rolled plate used in through-thickness-loaded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304" y="2319192"/>
            <a:ext cx="60278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connections must be UT-tested for lamellar defects before fabrication. This is a code requirement, not optional.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935" y="2779823"/>
            <a:ext cx="480893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Caution: Linear MT indication on a forged crankshaft — orientation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304" y="3115152"/>
            <a:ext cx="768550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MT reveals a linear indication in the crankpin fillet. Before disposition: determine orientation relative to grain flow. Parallel to grain flow = less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04" y="3274994"/>
            <a:ext cx="789476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critical than transverse — a cross-grain crack cuts across fibers rather than following them. Read the etch pattern to establish grain flow direction,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04" y="3434836"/>
            <a:ext cx="745614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then evaluate. Orientation does not eliminate the need to evaluate against acceptance criteria, but it determines urgency and disposition.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935" y="3895467"/>
            <a:ext cx="51354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Good Practice: Linear PT indications on drawn hydraulic tube — reject, don't size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304" y="4150875"/>
            <a:ext cx="79909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PT on drawn hydraulic tubing reveals linear indications parallel to the tube axis. Could be seams (ingot surface defects) or laps (metal folding during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4304" y="4310717"/>
            <a:ext cx="794431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drawing) — both are rejectable in pressure-rated tubing. The technician does not size them against acceptance limits. Any linear surface indication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304" y="4470559"/>
            <a:ext cx="76871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parallel to the axis concentrates hoop stress from internal pressure and is a fatigue initiation site. Surface quality is part of the process release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4304" y="4630401"/>
            <a:ext cx="172758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criteria — not an afterthought.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9603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390556"/>
            <a:ext cx="3505274" cy="484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Core Question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1025722"/>
            <a:ext cx="472519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is the difference between hot working and cold working, and why does it matter?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260150"/>
            <a:ext cx="820844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The boundary is the recrystallization temperature (~0.4Tm). Hot working: continuous recrystallization prevents work hardening — large reductions without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412791"/>
            <a:ext cx="838037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cracking, recrystallized equiaxed grain structure, inferior surface finish. Cold working: dislocations accumulate — strength increases, ductility decreases, better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565420"/>
            <a:ext cx="331664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surface finish, annealing required when ductility is exhausted.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1830318"/>
            <a:ext cx="34080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is work hardening and how does it affect a formed part?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2065101"/>
            <a:ext cx="806827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Plastic deformation accumulates dislocations; as they tangle and pile up, further movement becomes harder — strength and hardness increase, ductility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217743"/>
            <a:ext cx="79973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decreases. The part has anisotropic properties (stronger in working direction), residual compressive surface stress (good for fatigue), and loses its work-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370384"/>
            <a:ext cx="36800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hardened strength if heated above the recrystallization temperature.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2634914"/>
            <a:ext cx="371675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are the main forming processes and what does each produce?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2869710"/>
            <a:ext cx="813994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Rolling: passes slab between rolls — plate, sheet, strip, structural sections. Forging: compressive force through dies — highest-integrity parts (crankshafts,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3022351"/>
            <a:ext cx="824453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flanges, aircraft structure). Extrusion: forces through die opening — constant cross-section profiles (Al extrusions). Drawing: tensile pull through die — wire,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3174980"/>
            <a:ext cx="156947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tube, bar at tight tolerances.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3439523"/>
            <a:ext cx="416043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is grain flow and why does it give a forged part superior performance?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3750620"/>
            <a:ext cx="837034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Forging elongates and aligns grains in the direction of metal flow — a fiber-like structure. A well-designed die orients grain flow to follow the part contour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3903261"/>
            <a:ext cx="82821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resist service loads. This gives forgings 2–5× better fatigue life than equivalent castings (no grain flow) or machined bar (grain flow cuts across the geometry).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4244474"/>
            <a:ext cx="39774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CADCFC"/>
                </a:solidFill>
                <a:latin typeface="Calibri"/>
              </a:rPr>
              <a:t>What defects are unique to forming processes and how is each detected?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04" y="4478901"/>
            <a:ext cx="837084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Laps and seams: surface linear defects parallel to working direction — MT, PT. Bursts: internal cracks from excessive tensile stress in forging or extrusion — UT,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04" y="4631543"/>
            <a:ext cx="839994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RT. Pipe: ingot shrinkage void drawn to center of rolled or extruded product — UT. Delamination: pipe or inclusions separating under through-thickness load in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04" y="4784184"/>
            <a:ext cx="45314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rolled plate — UT. Chevron cracking: centerline cracks in drawing/extrusion — UT, 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40957"/>
            <a:ext cx="8631720" cy="12798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40957"/>
            <a:ext cx="511555" cy="12798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212557"/>
            <a:ext cx="8631720" cy="12798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212557"/>
            <a:ext cx="511555" cy="12798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584157"/>
            <a:ext cx="8631720" cy="12798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584157"/>
            <a:ext cx="511555" cy="12798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619422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11: Metal Forming Processes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495" y="1259235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344" y="1106191"/>
            <a:ext cx="76932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Hot working and cold working produce fundamentally different microstructures and properties — hot working refines grain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1344" y="1289072"/>
            <a:ext cx="791845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structure through recrystallization while cold working strengthens through dislocation accumulation; the choice between them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344" y="1471952"/>
            <a:ext cx="78506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determines final mechanical properties as much as the alloy composition does. The boundary is recrystallization temperature,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344" y="1654831"/>
            <a:ext cx="207921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not whether the metal feels hot.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8495" y="2630836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344" y="2477791"/>
            <a:ext cx="73892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Grain flow in forgings is a deliberate microstructural feature that gives forged components superior fatigue and impact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344" y="2660671"/>
            <a:ext cx="772170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resistance compared to castings or machined bar — grain flow should follow the part contour and resist the primary service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344" y="2843551"/>
            <a:ext cx="76945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loads. A technician who can read a grain flow etch pattern can assess whether a forging die was designed correctly, and can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344" y="3026431"/>
            <a:ext cx="44119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recognize a lap as a plane of weakness rather than just a surface mark.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495" y="4002435"/>
            <a:ext cx="256172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344" y="3940831"/>
            <a:ext cx="77092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Every forming process produces its own characteristic defects — laps and seams in rolling and forging, pipe defects in rolled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344" y="4123711"/>
            <a:ext cx="742840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plate and extrusion, center bursts in drawing, delamination in welded rolled plate connections — and a technician who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344" y="4306591"/>
            <a:ext cx="722540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understands the process can anticipate where to look, what the defect looks like, and which NDT method will find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864328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6844" y="1316521"/>
            <a:ext cx="429731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484" y="1462686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484" y="2084402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484" y="2706117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484" y="3328202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484" y="3949917"/>
            <a:ext cx="727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66435" y="804597"/>
            <a:ext cx="3620528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67680" y="1590842"/>
            <a:ext cx="3053880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29835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959237"/>
            <a:ext cx="1696621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11 Resources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660" y="1471952"/>
            <a:ext cx="17149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Kalpakjian Ch. 13, 14 &amp;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660" y="1725867"/>
            <a:ext cx="39021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Rolling of Metals · Forging · Extrusion &amp; Drawing — primary reading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660" y="2093667"/>
            <a:ext cx="19960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Hot vs Cold Working Visualizer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660" y="2263712"/>
            <a:ext cx="39003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Work hardening curve, recrystallization stages, annealing effects —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660" y="2431466"/>
            <a:ext cx="67694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interactive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660" y="2715383"/>
            <a:ext cx="118240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Forging Visualizer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660" y="2885796"/>
            <a:ext cx="383707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FIA design guidelines, grain flow animation, open vs. closed die —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660" y="3053550"/>
            <a:ext cx="67694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interactive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60" y="3337467"/>
            <a:ext cx="131184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Extrusion Visualizer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60" y="3591395"/>
            <a:ext cx="431518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AEC design guidelines, direct vs. indirect extrusion animation — interactive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660" y="3959183"/>
            <a:ext cx="17412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Forming Defects Visualizer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660" y="4129228"/>
            <a:ext cx="414352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Process comparison and defect recognition for each forming process —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660" y="4296995"/>
            <a:ext cx="67694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interactive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54980" y="959237"/>
            <a:ext cx="195995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12 — Machining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54980" y="1314387"/>
            <a:ext cx="31297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November 9, 2026  ·  Unit 4: Manufacturing continues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6615" y="1722542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693" y="1741393"/>
            <a:ext cx="275680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What happens at the cutting zone — shear plane,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693" y="1901235"/>
            <a:ext cx="29466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chip formation, heat generation, and surface integrity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36615" y="225281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9693" y="2271681"/>
            <a:ext cx="28376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Turning, milling, drilling, and grinding — what each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79693" y="2431524"/>
            <a:ext cx="262120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produces and what surface finish each achieves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36615" y="278310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79693" y="2801957"/>
            <a:ext cx="271178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Cutting tool materials — HSS, cemented carbide,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693" y="2961799"/>
            <a:ext cx="186144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coatings, ceramics, CBN, and PCD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36615" y="3313382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79693" y="3332233"/>
            <a:ext cx="29090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Surface finish parameters — Ra, Rz, and why surface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79693" y="3492075"/>
            <a:ext cx="24182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roughness affects fatigue, sealing, and wear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36615" y="384365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79693" y="3862521"/>
            <a:ext cx="28026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Machining defects — built-up edge marks, chatter,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79693" y="4022364"/>
            <a:ext cx="21290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grinding burn, and recast layer in EDM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