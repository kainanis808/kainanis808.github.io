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33246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Corrosion &amp; Course Wrap-up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36827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December 7,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88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39580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456358"/>
            <a:ext cx="475195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530564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738" y="142089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784" y="1327042"/>
            <a:ext cx="3029589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Corrosion Fundamentals &amp;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784" y="1703852"/>
            <a:ext cx="72164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The electrochemical cell, uniform, galvanic, pitting, crevice, and stress corrosion cracking — mechanisms and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738" y="248181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784" y="2387962"/>
            <a:ext cx="3937230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Protection, Material Selection &amp; Inspection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784" y="2764772"/>
            <a:ext cx="561451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Coatings, cathodic protection, inhibitors, design decisions, and corrosion monitoring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738" y="3542375"/>
            <a:ext cx="307543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784" y="3448526"/>
            <a:ext cx="1523194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Course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784" y="3737858"/>
            <a:ext cx="71324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How the five units connect — from atomic structure to failure analysis — and what it means to be a metallurgy-literate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784" y="3913169"/>
            <a:ext cx="6877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technician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52725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808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15  ·  Week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2499624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Course Capstone &amp; 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6208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No new specimen this week — synthesize your observations from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26555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Modules 1–14 into the final capstone questions.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305263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No new specimen — review notes from Modules 1–14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4637234"/>
            <a:ext cx="1831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5600" y="658078"/>
            <a:ext cx="1682280" cy="51156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324" y="658078"/>
            <a:ext cx="1682280" cy="51156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7035" y="658078"/>
            <a:ext cx="1682279" cy="51156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2760" y="658078"/>
            <a:ext cx="1682279" cy="511568"/>
          </a:xfrm>
          <a:prstGeom prst="rect">
            <a:avLst/>
          </a:prstGeom>
          <a:solidFill>
            <a:srgbClr val="6B2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78116" y="658078"/>
            <a:ext cx="1682280" cy="511568"/>
          </a:xfrm>
          <a:prstGeom prst="rect">
            <a:avLst/>
          </a:prstGeom>
          <a:solidFill>
            <a:srgbClr val="4B2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324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7035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22760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78116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324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035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22760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78116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324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035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2760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78116" y="2597037"/>
            <a:ext cx="1682280" cy="621360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2760" y="32918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5600" y="3986277"/>
            <a:ext cx="8631720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900" y="18637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1C2B3A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4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44" y="926183"/>
            <a:ext cx="11964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205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2055" y="926183"/>
            <a:ext cx="70834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779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779" y="926183"/>
            <a:ext cx="8628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350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3504" y="926183"/>
            <a:ext cx="76341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3921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9215" y="926183"/>
            <a:ext cx="8406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344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344" y="1438095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6344" y="1545310"/>
            <a:ext cx="9017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344" y="1690026"/>
            <a:ext cx="5879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72055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72055" y="1438095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2055" y="1545310"/>
            <a:ext cx="5385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2055" y="1690026"/>
            <a:ext cx="6331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27779" y="1288630"/>
            <a:ext cx="330663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7779" y="1438095"/>
            <a:ext cx="32175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27779" y="1545310"/>
            <a:ext cx="634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27779" y="1690026"/>
            <a:ext cx="4158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83504" y="1288630"/>
            <a:ext cx="391445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504" y="1438095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83504" y="1617674"/>
            <a:ext cx="42979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39215" y="1288630"/>
            <a:ext cx="391447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9215" y="1438095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9215" y="1545310"/>
            <a:ext cx="4756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39215" y="1690026"/>
            <a:ext cx="5526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6344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44" y="2114903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44" y="2221750"/>
            <a:ext cx="6348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6344" y="2366466"/>
            <a:ext cx="5799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2055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72055" y="211490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72055" y="2221750"/>
            <a:ext cx="6088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72055" y="2366466"/>
            <a:ext cx="5538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27779" y="196542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27779" y="211490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27779" y="2294114"/>
            <a:ext cx="7503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3504" y="19654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83504" y="211490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83504" y="2294114"/>
            <a:ext cx="4785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9215" y="1965426"/>
            <a:ext cx="39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39215" y="21149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39215" y="2221750"/>
            <a:ext cx="8843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39215" y="2366466"/>
            <a:ext cx="5136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72055" y="264186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72055" y="279134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72055" y="2898545"/>
            <a:ext cx="7367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72055" y="3043275"/>
            <a:ext cx="8477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27779" y="264186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27779" y="279134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27779" y="2898545"/>
            <a:ext cx="4276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27779" y="3043275"/>
            <a:ext cx="5613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83504" y="264186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3504" y="279134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83504" y="2970910"/>
            <a:ext cx="5880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39215" y="2641866"/>
            <a:ext cx="78218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E07B39"/>
                </a:solidFill>
                <a:latin typeface="Calibri"/>
              </a:rPr>
              <a:t>Wk 16 ← here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39215" y="2791343"/>
            <a:ext cx="3353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9215" y="2898545"/>
            <a:ext cx="5490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39215" y="3043275"/>
            <a:ext cx="61117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83504" y="33370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83504" y="34865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83504" y="3593350"/>
            <a:ext cx="4486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83504" y="3738066"/>
            <a:ext cx="6040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85744" y="4070688"/>
            <a:ext cx="322071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Week 17  ·  FINAL EXAM  ·  December 16,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501048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242"/>
            <a:ext cx="501048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12956" y="804597"/>
            <a:ext cx="347436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12956" y="804242"/>
            <a:ext cx="3474364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484" y="2011326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77484" y="2980438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77484" y="3876842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16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780" y="888653"/>
            <a:ext cx="4942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79240"/>
            <a:ext cx="39293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Electrochemical corrosion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the four-element cell, galvanic series,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76" y="1539082"/>
            <a:ext cx="6758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passivation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1698911"/>
            <a:ext cx="42977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Corrosion types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uniform, galvanic (area effect), pitting (PREN), crevice, SCC,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858753"/>
            <a:ext cx="7750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intergranular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2018596"/>
            <a:ext cx="41373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Coatings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paint systems, surface preparation (Sa 2.5), hot-dip galvanizing,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76" y="2178438"/>
            <a:ext cx="138739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thermal spray, anodizing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338280"/>
            <a:ext cx="437036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Cathodic protection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sacrificial anodes vs. impressed current, -0.85V criterion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498122"/>
            <a:ext cx="10108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per NACE SP0169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2657952"/>
            <a:ext cx="423487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Design for corrosion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eliminate crevices, ensure drainage, isolate dissimilar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817794"/>
            <a:ext cx="167257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metals, control residual stress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76" y="2977636"/>
            <a:ext cx="447466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Inspection &amp; monitoring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UT thickness, pulsed eddy current for CUI, ER probes,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3137478"/>
            <a:ext cx="106705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corrosion coupons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3297320"/>
            <a:ext cx="43208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Course wrap-up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connecting the five units into a single integrated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5140" y="888653"/>
            <a:ext cx="7652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5140" y="1325787"/>
            <a:ext cx="12795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5140" y="1587272"/>
            <a:ext cx="81815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Moniz Ch.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5140" y="1755026"/>
            <a:ext cx="6276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5140" y="2112031"/>
            <a:ext cx="11033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Pages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5140" y="2392636"/>
            <a:ext cx="23393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Stainless Steel PREN — Grade Comparison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5140" y="2552478"/>
            <a:ext cx="26703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Corrosion Protection Guide — NACE / ISO 12944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65140" y="2712321"/>
            <a:ext cx="229260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ASM Vol. 13A — Corrosion Fundamentals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65140" y="3081143"/>
            <a:ext cx="7074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Standards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5140" y="3325400"/>
            <a:ext cx="154417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NACE SP0169 — CP Criteria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5140" y="3485242"/>
            <a:ext cx="179498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ISO 8501 — Surface Preparation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5140" y="3645072"/>
            <a:ext cx="16391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NACE MR0175 — H₂S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65140" y="3966515"/>
            <a:ext cx="198387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Final Exam  ·  December 16,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65140" y="4189394"/>
            <a:ext cx="222227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5:00 – 7:00 PM  ·  Same location as class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59321"/>
            <a:ext cx="8320671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532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2676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1820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40964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289678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969387"/>
            <a:ext cx="56879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944" y="1427842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8060" y="1455657"/>
            <a:ext cx="398362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corrosion and why is it thermodynamically driven?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944" y="2342242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8060" y="2370057"/>
            <a:ext cx="45135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types of corrosion and how is each recognized?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944" y="3256642"/>
            <a:ext cx="185496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8060" y="3284457"/>
            <a:ext cx="54012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protection methods are available and how do you choose between them?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944" y="4171042"/>
            <a:ext cx="185496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060" y="4198857"/>
            <a:ext cx="439672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does material selection and design influence corrosion risk?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773721"/>
            <a:ext cx="384012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559966"/>
            <a:ext cx="384012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3346198"/>
            <a:ext cx="384012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4132798"/>
            <a:ext cx="384012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2139482"/>
            <a:ext cx="4023004" cy="18252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559966"/>
            <a:ext cx="4023004" cy="182511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2980438"/>
            <a:ext cx="4023004" cy="18252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6160" y="3419642"/>
            <a:ext cx="4023004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599894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Electrochemical Corrosion — The Cell &amp; Passivation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99256"/>
            <a:ext cx="20282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The Four-Element Corrosion Cell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232781"/>
            <a:ext cx="366775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All four elements must be present simultaneously for electrochemical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385423"/>
            <a:ext cx="383816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corrosion to occur. Remove any one and the corrosion cell stops — this is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538064"/>
            <a:ext cx="20055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 basis of every protection strategy.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1787911"/>
            <a:ext cx="10468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Anode  (oxidation)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1991715"/>
            <a:ext cx="389075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 atoms lose electrons and dissolve as ions: M → M²⁺ + 2e⁻. This is where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136431"/>
            <a:ext cx="389666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material loss occurs. The anode is the more active (less noble) metal or region.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855" y="2574143"/>
            <a:ext cx="11562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Cathode  (reduction)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2777946"/>
            <a:ext cx="38996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Electrons arriving from the anode drive reduction. Alkaline/neutral: O₂ + 2H₂O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922676"/>
            <a:ext cx="35026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+ 4e⁻ → 4OH⁻. Acidic: 2H⁺ + 2e⁻ → H₂. No material loss at the cathode.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855" y="3360387"/>
            <a:ext cx="63800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Electrolyte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564546"/>
            <a:ext cx="359432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Conducting liquid medium — water with dissolved salts, acids, or gases.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416" y="3709275"/>
            <a:ext cx="38121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Conductivity increases with salt concentration and temperature. Seawater is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3853992"/>
            <a:ext cx="24225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highly corrosive because of its high conductivity.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855" y="4146987"/>
            <a:ext cx="76914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Metallic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416" y="4350791"/>
            <a:ext cx="378715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Electrical connection between anode and cathode — can be the metal itself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416" y="4495507"/>
            <a:ext cx="37143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(different microstructural features or two metals in contact) or an external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416" y="4640236"/>
            <a:ext cx="5920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conductor.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460" y="899256"/>
            <a:ext cx="183718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Galvanic Series &amp; Passivation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332751"/>
            <a:ext cx="9388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Galvanic series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1562181"/>
            <a:ext cx="38598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Metals ranked by electrochemical potential in seawater. More active (less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1714823"/>
            <a:ext cx="39288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noble) metals are anodic and corrode preferentially when coupled to more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3460" y="1867464"/>
            <a:ext cx="39839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noble metals. Greater separation in the series = more severe galvanic attack.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4900" y="2142259"/>
            <a:ext cx="98973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Active (anodic) 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2334143"/>
            <a:ext cx="233897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Magnesium → Zinc → Aluminum → Carbon steel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4900" y="2562743"/>
            <a:ext cx="56685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Mid-range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2754983"/>
            <a:ext cx="245699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 iron → Lead → Tin → Copper alloys → Bronzes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900" y="2983215"/>
            <a:ext cx="106471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Noble (cathodic) end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175455"/>
            <a:ext cx="266821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Stainless steel (passive) → Titanium → Gold → Platinum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3527311"/>
            <a:ext cx="7266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Passivation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3723264"/>
            <a:ext cx="390373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Some metals form a stable, adherent oxide that dramatically slows further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3875905"/>
            <a:ext cx="5930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corrosion: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4037183"/>
            <a:ext cx="323010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Stainless steel (Cr₂O₃)  ·  Aluminum (Al₂O₃)  ·  Titanium (TiO₂)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3460" y="4298225"/>
            <a:ext cx="40691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Passivity destroyed by: chloride ions, mechanical damage, or reducing conditions.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3460" y="4442954"/>
            <a:ext cx="392476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Once broken, the metal corrodes actively until the passive film can reform — if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3460" y="4587671"/>
            <a:ext cx="30763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316521"/>
            <a:ext cx="384012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157477"/>
            <a:ext cx="384012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2998802"/>
            <a:ext cx="384012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3840126"/>
            <a:ext cx="384012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1316521"/>
            <a:ext cx="4023004" cy="2192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157477"/>
            <a:ext cx="402300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2998802"/>
            <a:ext cx="402300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6160" y="3840126"/>
            <a:ext cx="402300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456526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Corrosion Types — Uniform &amp; Galvanic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95943"/>
            <a:ext cx="18689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Uniform (General) Corrosion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1330711"/>
            <a:ext cx="6854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534515"/>
            <a:ext cx="38257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Anodic and cathodic reactions distributed uniformly across the surface — no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679231"/>
            <a:ext cx="356031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localization. The most predictable form of corrosion because the rate is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823948"/>
            <a:ext cx="12082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measurable and stable.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855" y="2171667"/>
            <a:ext cx="69760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Recognition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375826"/>
            <a:ext cx="36320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Even surface loss, uniform scale or rust layer. Corrosion rate measured in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520555"/>
            <a:ext cx="34342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mm/year or mils per year (MPY) — allows remaining life calculations.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3012991"/>
            <a:ext cx="94997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Design approach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3217150"/>
            <a:ext cx="386952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Specify a material with a known corrosion rate for the environment, then add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3361867"/>
            <a:ext cx="353775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 corrosion allowance to the wall thickness. Monitor with UT thickness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506596"/>
            <a:ext cx="28575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measurement at regular intervals throughout service life.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855" y="3854303"/>
            <a:ext cx="57167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4058106"/>
            <a:ext cx="39104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Rusting of unprotected carbon steel in atmosphere or soil. Acid attack on steel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4202836"/>
            <a:ext cx="36709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 pickling baths. Uniform thinning of tank shells in process environments.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3460" y="895943"/>
            <a:ext cx="12593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Galvanic Corrosion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4900" y="1330711"/>
            <a:ext cx="6854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3460" y="1534515"/>
            <a:ext cx="406249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Two dissimilar metals in electrical contact in an electrolyte — potential difference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460" y="1679231"/>
            <a:ext cx="40611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drives current; the less noble metal (anode) corrodes at an accelerated rate while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823948"/>
            <a:ext cx="227038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more noble metal (cathode) is protected.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14900" y="2171667"/>
            <a:ext cx="116752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Area effect — 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2375826"/>
            <a:ext cx="40354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Large cathode + small anode = severe attack; large anode + small cathode = mild.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3460" y="2520555"/>
            <a:ext cx="382683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Zinc on steel works: Zn is the large anode, exposed steel at scratches is a tiny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665272"/>
            <a:ext cx="39156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cathode. Never coat the anode only — any break creates a concentrated small-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2809988"/>
            <a:ext cx="7349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anode attack.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4900" y="3012991"/>
            <a:ext cx="6976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Recognition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3217150"/>
            <a:ext cx="40164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Concentrated corrosion on the less noble material, particularly near the junction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3361867"/>
            <a:ext cx="37453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between the two metals. The more noble material shows little or no attack.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900" y="3854303"/>
            <a:ext cx="129066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Prevention &amp; Examples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4058106"/>
            <a:ext cx="374097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Electrical isolation (non-conducting gaskets, sleeves); select metals close in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4202836"/>
            <a:ext cx="408118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galvanic series; apply protective coating to the cathode. Examples: zinc anodes on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4347552"/>
            <a:ext cx="37265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ship hulls; Al fittings on SS pipework; carbon steel fasteners in copper alloy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4492268"/>
            <a:ext cx="92678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corroding rapidly.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279806"/>
            <a:ext cx="3840124" cy="23723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175842"/>
            <a:ext cx="3840124" cy="273964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2761197"/>
            <a:ext cx="3840124" cy="23724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36160" y="1316521"/>
            <a:ext cx="402300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2157477"/>
            <a:ext cx="402300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998802"/>
            <a:ext cx="402300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3840126"/>
            <a:ext cx="402300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726166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Corrosion Types — Pitting, Crevice &amp; Stress Corrosion Cracking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895943"/>
            <a:ext cx="17642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Pitting &amp; Crevice Corrosion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855" y="1299674"/>
            <a:ext cx="99339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Pitting Corrosion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519389"/>
            <a:ext cx="36657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Local passive film breakdown → small anode surrounded by large passive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664106"/>
            <a:ext cx="38388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cathode → pit becomes self-sustaining. Metal ions accumulate inside the pit,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808835"/>
            <a:ext cx="393537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attracting Cl⁻, dropping pH, preventing repassivation. Recognition: discrete pits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953551"/>
            <a:ext cx="36727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on otherwise intact surface — depth concealed by thin corrosion product.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860" y="2141428"/>
            <a:ext cx="34162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PREN  =  %Cr  +  3.3×%Mo  +  16×%N   →   higher = better pitting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860" y="2294070"/>
            <a:ext cx="60343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resistance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495714"/>
            <a:ext cx="322661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304 (PREN ~19)  ·  316 (PREN ~24)  ·  Duplex 2205 (PREN ~35–40)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2781078"/>
            <a:ext cx="10361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Crevice Corrosion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982429"/>
            <a:ext cx="389063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Stagnant electrolyte in a tight gap (0.025–0.1 mm) depletes oxygen → interior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3127145"/>
            <a:ext cx="355078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becomes anodic → metal ions accumulate, pH drops, Cl⁻ migrates in →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271875"/>
            <a:ext cx="332550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aggressive chemistry prevents repassivation. Recognition: damage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416" y="3416591"/>
            <a:ext cx="320587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concentrated under gaskets, lap joints, bolt heads, and deposits.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3621074"/>
            <a:ext cx="37379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Prevention: butt joints over lap joints; solid/PTFE-filled gaskets; continuous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3765790"/>
            <a:ext cx="339460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rather than intermittent welds; higher PREN alloys; ensure drainage.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3460" y="895943"/>
            <a:ext cx="20268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Stress Corrosion Cracking (SCC)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4900" y="1330711"/>
            <a:ext cx="6854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3460" y="1534515"/>
            <a:ext cx="39948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Tensile stress (residual or applied) + specific corrosive environment = cracking at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460" y="1679231"/>
            <a:ext cx="38102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stresses far below yield strength. Involves anodic dissolution at crack tip and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823948"/>
            <a:ext cx="37501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hydrogen embrittlement. Crack propagates stably until the remaining cross-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1968677"/>
            <a:ext cx="15202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section fractures by overload.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4900" y="2171667"/>
            <a:ext cx="190635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Critical material-environment pairs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3460" y="2375826"/>
            <a:ext cx="41088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Austenitic SS + chlorides. High-strength steel + H₂S (sulfide stress cracking — NACE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520555"/>
            <a:ext cx="37611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MR0175). Brass + ammonia (season cracking). Aluminum alloys + chlorides.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2665272"/>
            <a:ext cx="232079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Titanium + methanol or red fuming nitric acid.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4900" y="3012991"/>
            <a:ext cx="6976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Recognition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3217150"/>
            <a:ext cx="36118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Branching, intergranular or transgranular crack network. Minimal plastic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3361867"/>
            <a:ext cx="37307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deformation. Brittle fracture surface with no beach marks — this is the key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506596"/>
            <a:ext cx="40464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distinction from fatigue. Branching is the most characteristic macroscopic feature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3651313"/>
            <a:ext cx="96296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visible in the field.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14900" y="3854303"/>
            <a:ext cx="13054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Prevention &amp;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4058106"/>
            <a:ext cx="38121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Stress relief (PWHT), shot peening for compressive RS. Select resistant alloys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4202836"/>
            <a:ext cx="387688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(duplex SS for chlorides, low-alloy steel + PWHT for H₂S). Modify environment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3460" y="4347552"/>
            <a:ext cx="377908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(remove Cl⁻ or O₂; inhibitors; maintain pH &gt;7). Detection: PT, ACFM through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3460" y="4492268"/>
            <a:ext cx="142293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coatings, UT for subsurface.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316521"/>
            <a:ext cx="384012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157477"/>
            <a:ext cx="384012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2998802"/>
            <a:ext cx="384012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3840126"/>
            <a:ext cx="384012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1883157"/>
            <a:ext cx="402300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706117"/>
            <a:ext cx="402300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3584157"/>
            <a:ext cx="4023004" cy="237248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6160" y="3894838"/>
            <a:ext cx="402300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643894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Corrosion Protection — Coatings &amp; Cathodic Protection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95943"/>
            <a:ext cx="12918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Protective Coatings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1330711"/>
            <a:ext cx="122255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Organic paint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534515"/>
            <a:ext cx="392005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Three-coat system: zinc-rich primer (sacrificial — zinc corrodes to protect steel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679231"/>
            <a:ext cx="36869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even when scratched) + intermediate barrier coat + UV/abrasion-resistant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823948"/>
            <a:ext cx="387784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topcoat. Surface preparation is the single most important factor — blasting to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1968677"/>
            <a:ext cx="376617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Sa 2.5 per ISO 8501. Holiday testing detects pinholes before commissioning.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855" y="2171667"/>
            <a:ext cx="107794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Hot-dip galvanizing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375826"/>
            <a:ext cx="390510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Steel immersed in molten zinc at ~450°C — zinc metallurgically bonds through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2520555"/>
            <a:ext cx="381152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 series of Fe-Zn alloy layers. Provides both barrier and sacrificial protection.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665272"/>
            <a:ext cx="36595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Zinc corrodes preferentially at scratches and cut edges. Service life 20–50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2809988"/>
            <a:ext cx="142474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years in mild environments.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855" y="3012991"/>
            <a:ext cx="82061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Thermal spray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416" y="3217150"/>
            <a:ext cx="365968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Zinc or aluminum powder/wire melted and propelled onto the surface —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3361867"/>
            <a:ext cx="38069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applied to large structures in situ (bridges, offshore structures). Thicker than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3506596"/>
            <a:ext cx="250916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electroplating; can be applied without immersion.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855" y="3854303"/>
            <a:ext cx="177406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Anodizing &amp; conversion coatings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416" y="4058106"/>
            <a:ext cx="366764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Anodizing thickens the oxide on aluminum electrochemically — improves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416" y="4202836"/>
            <a:ext cx="384637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 and wear resistance. Phosphating provides paint-adhesion base for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416" y="4347552"/>
            <a:ext cx="381417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automotive steel. Chromate conversion being phased out (toxicity); trivalent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416" y="4492268"/>
            <a:ext cx="174396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alternatives increasingly specified.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895943"/>
            <a:ext cx="210373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Cathodic Protection &amp; Inhibitors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1323747"/>
            <a:ext cx="14905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Cathodic protection (CP)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3460" y="1517954"/>
            <a:ext cx="382526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Makes the structure the cathode of an electrochemical cell — corrosion only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1662670"/>
            <a:ext cx="9269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occurs at anodes.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4900" y="1897347"/>
            <a:ext cx="109611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Sacrificial anode CP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3460" y="2101874"/>
            <a:ext cx="35077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Zn, Mg, or Al anode connected to the structure — the anode corrodes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2246591"/>
            <a:ext cx="37753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preferentially. Passive, no power required, self-regulating. Ship hulls, buried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2391307"/>
            <a:ext cx="37094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pipelines, tank floors. Anodes must be inspected and replaced periodically.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900" y="2720307"/>
            <a:ext cx="15378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Impressed current CP (ICCP)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2924835"/>
            <a:ext cx="37899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DC power source drives current from inert anode (graphite, MMO) onto the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3069551"/>
            <a:ext cx="38420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structure. Controllable and suitable for large installations. Buried/submerged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3214267"/>
            <a:ext cx="378426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pipelines, storage tanks, reinforced concrete. Requires monitoring — power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3358997"/>
            <a:ext cx="219573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supply failure leaves structure unprotected.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96535" y="3611346"/>
            <a:ext cx="353739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E07B39"/>
                </a:solidFill>
                <a:latin typeface="Calibri"/>
              </a:rPr>
              <a:t>CP criterion (NACE SP0169): −0.85 V vs. Cu/CuSO₄ reference electrode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14900" y="3909027"/>
            <a:ext cx="57904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Inhibitors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3460" y="4225505"/>
            <a:ext cx="411254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Anodic (form anode film — risk if under-dosed) · Cathodic (reduce cathodic rate —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3460" y="4370234"/>
            <a:ext cx="401823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safer under-dosed) · Mixed (act on both — cooling water, pipelines, preservation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3460" y="4514951"/>
            <a:ext cx="4062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fluids).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700277"/>
            <a:ext cx="384012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486877"/>
            <a:ext cx="384012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3273122"/>
            <a:ext cx="384012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4059721"/>
            <a:ext cx="384012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1316521"/>
            <a:ext cx="402300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157477"/>
            <a:ext cx="402300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2998802"/>
            <a:ext cx="402300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6160" y="3840126"/>
            <a:ext cx="402300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580647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Design, Material Selection &amp; Corrosion Inspection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95943"/>
            <a:ext cx="182657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Design &amp; Material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205426"/>
            <a:ext cx="350878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Material selection is the most permanent defense — an inherently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358067"/>
            <a:ext cx="371439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resistant alloy requires no maintenance and won't fail if the protection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510708"/>
            <a:ext cx="10757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system is damaged.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1714467"/>
            <a:ext cx="69569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Joint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1918626"/>
            <a:ext cx="37813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Butt joints preferred over lap joints — lap joints create crevices. Continuous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063355"/>
            <a:ext cx="378715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welds instead of intermittent welds seal gaps. Full-penetration seal welds at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208072"/>
            <a:ext cx="37018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tube-to-tubesheet joints eliminate the crevice between tube OD and bore.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2501067"/>
            <a:ext cx="13859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Drainage &amp; surface finish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704870"/>
            <a:ext cx="38431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Slope surfaces so water drains — horizontal surfaces that pool water corrode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2849587"/>
            <a:ext cx="355524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faster. Smooth surfaces are more corrosion resistant than rough (rough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2994316"/>
            <a:ext cx="3645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surfaces trap moisture and contamination). Smooth machined keyways +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416" y="3139033"/>
            <a:ext cx="29597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polished fillets reduce both corrosion and fatigue initiation.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855" y="3287311"/>
            <a:ext cx="14010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Dissimilar metal isolation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3491470"/>
            <a:ext cx="389171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Electrically isolate dissimilar metals with non-conducting gaskets, sleeves, and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416" y="3636187"/>
            <a:ext cx="388170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washers. If isolation is impractical, select metals close together in the galvanic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416" y="3780916"/>
            <a:ext cx="387459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series or ensure the less noble material has a much larger area than the more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7416" y="3925632"/>
            <a:ext cx="38336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855" y="4073911"/>
            <a:ext cx="125038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Residual stress 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416" y="4277715"/>
            <a:ext cx="380741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Tensile residual stress from welding or machining accelerates SCC. PWHT for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416" y="4422431"/>
            <a:ext cx="356694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stress relief. Shot peening introduces compressive residual stress at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7416" y="4567148"/>
            <a:ext cx="378148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 — a common SCC and fatigue prevention measure for welded joints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416" y="4711877"/>
            <a:ext cx="72164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keyways.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895943"/>
            <a:ext cx="22668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Corrosion Inspection &amp; Monitoring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4900" y="1330711"/>
            <a:ext cx="9657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Visual inspection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3460" y="1534515"/>
            <a:ext cx="386712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First step — rust staining, discoloration, paint blistering, pitting, deposits, and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1679231"/>
            <a:ext cx="366837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scaling. Requires adequate lighting, access, and mirrors or borescopes for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1823948"/>
            <a:ext cx="88397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confined spaces.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900" y="2171667"/>
            <a:ext cx="149729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UT thickness measurement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2375826"/>
            <a:ext cx="377642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Primary method for measuring remaining wall thickness in corroded piping,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2520555"/>
            <a:ext cx="40721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vessels, and structural members — from one side without internal access. Results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2665272"/>
            <a:ext cx="321974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compared to minimum acceptable thickness (fitness for service).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4900" y="3012991"/>
            <a:ext cx="17809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Corrosion Under Insulation (CUI)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3460" y="3217150"/>
            <a:ext cx="403740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 hidden beneath insulation — cannot be seen without stripping. Pulsed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3460" y="3361867"/>
            <a:ext cx="40393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eddy current (PEC) and radiographic profile techniques screen through insulation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3460" y="3506596"/>
            <a:ext cx="33812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without removal. A significant inspection challenge in process plant.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14900" y="3854303"/>
            <a:ext cx="180850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Monitoring — rate measurement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3460" y="4058106"/>
            <a:ext cx="37759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ER probes and LPR probes: real-time corrosion rate in process pipelines and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23460" y="4202836"/>
            <a:ext cx="390595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vessels. Corrosion coupons: pre-weighed metal samples exposed for a defined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23460" y="4347552"/>
            <a:ext cx="402824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period — direct weight loss measurement. Used to verify inhibitor programs and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23460" y="4492268"/>
            <a:ext cx="185865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detect changes in process chemistry.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1133997"/>
            <a:ext cx="8631720" cy="712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133997"/>
            <a:ext cx="2194204" cy="7128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1901877"/>
            <a:ext cx="8631720" cy="712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1901877"/>
            <a:ext cx="2194204" cy="7128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2670126"/>
            <a:ext cx="8631720" cy="712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2670126"/>
            <a:ext cx="2194204" cy="7128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600" y="3438006"/>
            <a:ext cx="8631720" cy="71279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3438006"/>
            <a:ext cx="2194204" cy="712799"/>
          </a:xfrm>
          <a:prstGeom prst="rect">
            <a:avLst/>
          </a:prstGeom>
          <a:solidFill>
            <a:srgbClr val="6B2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600" y="4206242"/>
            <a:ext cx="8631720" cy="712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4206242"/>
            <a:ext cx="2194204" cy="712800"/>
          </a:xfrm>
          <a:prstGeom prst="rect">
            <a:avLst/>
          </a:prstGeom>
          <a:solidFill>
            <a:srgbClr val="4B2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554722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Course Wrap-Up — How the Five Units 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900" y="813507"/>
            <a:ext cx="682108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These are not five separate subjects. They form a single chain — each unit explains why the next one matters.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975" y="1257267"/>
            <a:ext cx="18348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Unit 1 — Materials Fundamentals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975" y="1624626"/>
            <a:ext cx="721828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Aug 24 – Sep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7620" y="1325714"/>
            <a:ext cx="6134507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Atomic bonding explains conductivity and electrochemical corrosion. Crystal structure determines slip systems, deformation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7620" y="1470431"/>
            <a:ext cx="599051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behavior, and SCC crack paths. Grain boundaries are sites of sensitization, intergranular corrosion, and hydrogen trapping.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975" y="2025503"/>
            <a:ext cx="12878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Unit 2 — Steel &amp; Alloys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975" y="2392862"/>
            <a:ext cx="767513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Sep 14 – Sep 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7620" y="2093950"/>
            <a:ext cx="60883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 equivalent drives preheat requirement and determines HIC susceptibility. Stainless grade determines pitting (PREN)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7620" y="2238666"/>
            <a:ext cx="623870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SCC resistance. Heat treatment condition sets HAZ hardenability — the microstructure that either resists or fails in service.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975" y="2793383"/>
            <a:ext cx="20695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Unit 3 — Testing, Inspection &amp;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975" y="3161110"/>
            <a:ext cx="698500" cy="182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Oct 5 – Oct 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7620" y="2861830"/>
            <a:ext cx="609000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NDT methods detect the defects that Unit 2's microstructure makes and Unit 4's processes create. Hardness testing verifies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47620" y="3006546"/>
            <a:ext cx="539124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heat treatment. Inspection documentation creates the traceability that makes a failure investigation possible.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975" y="3561631"/>
            <a:ext cx="188207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Unit 4 — Manufacturing Processes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975" y="3928990"/>
            <a:ext cx="774857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Oct 26 – Nov 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7620" y="3630066"/>
            <a:ext cx="606118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Casting defects provide corrosion and fatigue initiation sites. Forming introduces residual stress that drives SCC. Machining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47620" y="3774795"/>
            <a:ext cx="49797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quality determines surface finish and residual stress state — the foundation for fatigue life in service.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975" y="4329867"/>
            <a:ext cx="200394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Unit 5 — Joining, Failure &amp; Corrosion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975" y="4697226"/>
            <a:ext cx="732305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Nov 23 – Dec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7620" y="4325594"/>
            <a:ext cx="59552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weld HAZ is a microstructure gradient each zone with different corrosion resistance. Residual weld stress drives SCC.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47620" y="4470310"/>
            <a:ext cx="62508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Failure analysis connects all previous units — explaining why a component failed and feeding that knowledge back into design,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7620" y="4615027"/>
            <a:ext cx="17513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material selection, and inspection.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243446"/>
            <a:ext cx="8320671" cy="117000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1243077"/>
            <a:ext cx="8320671" cy="27396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505597"/>
            <a:ext cx="8320671" cy="117000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2505242"/>
            <a:ext cx="8320671" cy="273964"/>
          </a:xfrm>
          <a:prstGeom prst="rect">
            <a:avLst/>
          </a:prstGeom>
          <a:solidFill>
            <a:srgbClr val="8B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3767406"/>
            <a:ext cx="8320671" cy="11699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404" y="3767037"/>
            <a:ext cx="8320671" cy="2739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696" y="239480"/>
            <a:ext cx="3859157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Technician's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936327"/>
            <a:ext cx="52682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Corrosion type identification in the field — what the technician sees and what it means.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855" y="1288274"/>
            <a:ext cx="5043558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Red Flag: Leak at 304 SS tube-to-tubesheet joint in seawater heat exchanger — 14 months in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855" y="1553235"/>
            <a:ext cx="76967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Inspection reveals three overlapping corrosion mechanisms: (1) Galvanic — carbon steel tubesheet is anodic to stainless tubes; unfavorable area ratio (small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855" y="1697951"/>
            <a:ext cx="79467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anode/large cathode) drives accelerated attack at the tubesheet. (2) Crevice — the tight gap between tube OD and tubesheet bore in stagnant seawater depletes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855" y="1842667"/>
            <a:ext cx="809364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O₂, drops pH, concentrates Cl⁻ — classic crevice geometry. (3) Sensitization — if standard 304 (not 304L) was used without interpass temperature control, chromium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855" y="1987397"/>
            <a:ext cx="77993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carbide precipitation in the HAZ depletes Cr below the passivity threshold. Action: specify 304L or duplex 2205 for seawater; specify full-strength seal welds to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2132113"/>
            <a:ext cx="697291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eliminate the crevice; apply sacrificial zinc anodes to the carbon steel tubesheet; add to failure investigation as a multi-mechanism case study.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855" y="2550070"/>
            <a:ext cx="48302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Caution: Branching cracks at weld toes on austenitic stainless pressure vessel in chloride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855" y="2815030"/>
            <a:ext cx="75786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VT finds tight, branching cracks running from weld toes. No beach marks on the fracture surface (distinguishing SCC from fatigue). No plastic deformation.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2959747"/>
            <a:ext cx="80768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Metallographic sections show transgranular cracking with fine branching — the textbook appearance of chloride SCC in austenitic stainless. Root cause: tensile weld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855" y="3104476"/>
            <a:ext cx="8091708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residual stress + chloride from insulation + elevated temperature. Action: PWHT for stress relief (not always possible on austenitic SS — sensitization risk); shot peen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855" y="3249192"/>
            <a:ext cx="78871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weld toes; review insulation specification (chloride-free insulation required per NACE for SS service); consider upgrade to duplex stainless or super-austenitic for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855" y="3393909"/>
            <a:ext cx="193125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remaining vessels in the same service.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3812234"/>
            <a:ext cx="70830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Good Practice: Holiday testing a coating before cathodic protection commissioning — finding the pinhole that prevents a concentrated attack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855" y="4076826"/>
            <a:ext cx="79365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A newly coated pipeline section is holiday tested before backfilling using a high-voltage spark tester. A pinhole is found at a fitting where the coating was not fully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855" y="4221555"/>
            <a:ext cx="779286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sealed. The pinhole is repaired and retested. Without the repair, the pinhole under CP would have created a small anode/large cathodically protected cathode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855" y="4366272"/>
            <a:ext cx="78464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situation — concentrating the full galvanic driving force at a single point and producing rapid localized attack. Action: holiday testing is a mandatory step before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855" y="4510988"/>
            <a:ext cx="79049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burying or commissioning any cathodically protected coated structure; document all findings and repairs; retest after each repair until the coating is holiday-free.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8631720" cy="987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828801"/>
            <a:ext cx="8631720" cy="98712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853006"/>
            <a:ext cx="8631720" cy="987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3877197"/>
            <a:ext cx="8631720" cy="987119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276813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775" y="864151"/>
            <a:ext cx="31537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What is corrosion and why is it thermodynamically driven?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775" y="1077670"/>
            <a:ext cx="8125359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 is the degradation of a metal through chemical or electrochemical reaction with its environment. It is thermodynamically driven because most metals exist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775" y="1222387"/>
            <a:ext cx="7780207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naturally as ores (lower energy state) — refining requires energy input, and corrosion is the metal releasing that energy and returning toward its natural state.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775" y="1367116"/>
            <a:ext cx="7852321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Electrochemical corrosion requires four elements simultaneously: anode, cathode, electrolyte, and metallic path. Remove any one element and corrosion stops.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775" y="1888343"/>
            <a:ext cx="35552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What are the main types of corrosion and how is each recognized?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2101874"/>
            <a:ext cx="83144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Uniform: even surface loss, predictable rate. Galvanic: concentrated attack on the less noble metal at a dissimilar metal junction. Pitting: discrete pits on otherwise intact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2246591"/>
            <a:ext cx="802212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 — depth concealed by corrosion product; driven by local passive film breakdown and Cl⁻ concentration; PREN quantifies resistance. Crevice: damage under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2391307"/>
            <a:ext cx="834847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gaskets, lap joints, deposits — stagnant O₂-depleted chemistry. SCC: branching, intergranular/transgranular cracks with no beach marks, no plastic deformation, driven by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36037"/>
            <a:ext cx="18687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tensile stress + specific environment.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912179"/>
            <a:ext cx="42552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What protection methods are available and how do you choose between them?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126066"/>
            <a:ext cx="83616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Coatings (barrier and sacrificial) + surface prep is #1 factor. Hot-dip galvanizing for structural steel: barrier + sacrificial, 20–50 yr life. Cathodic protection: sacrificial anodes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270795"/>
            <a:ext cx="820845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(passive, ships/pipelines) or ICCP (controllable, large structures). Inhibitors: anodic (risk if under-dosed), cathodic (safer). Material selection: most permanent — match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415512"/>
            <a:ext cx="80832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PREN, CE, and alloy to the specific environment. Design: eliminate crevices, ensure drainage, isolate dissimilar metals, control residual stress. Most effective systems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3560228"/>
            <a:ext cx="14200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combine multiple methods.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775" y="3936383"/>
            <a:ext cx="34698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How does material selection and design influence corrosion risk?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775" y="4149915"/>
            <a:ext cx="800415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Material selection must match the specific corrosion mechanism — 304 SS resists uniform attack but fails in Cl⁻ pitting; copper is excellent in freshwater but fails in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775" y="4294631"/>
            <a:ext cx="84190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ammonia. PREN guides stainless selection for chloride service. CE and alloy composition determine weldability and HAZ hardenability. Design decisions: butt joints over lap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775" y="4439348"/>
            <a:ext cx="824246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joints (no crevice); sloped surfaces for drainage; non-conducting isolation for dissimilar metals; smooth surface finish; PWHT and shot peening to control residual stress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775" y="4584077"/>
            <a:ext cx="90568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prevent SCC.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914046"/>
            <a:ext cx="8631720" cy="1225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914046"/>
            <a:ext cx="676440" cy="12250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230922"/>
            <a:ext cx="8631720" cy="1225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30922"/>
            <a:ext cx="676440" cy="12250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547442"/>
            <a:ext cx="8631720" cy="122507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547442"/>
            <a:ext cx="676440" cy="122507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662136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16: Corrosion &amp; Course Wrap-up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178" y="1291040"/>
            <a:ext cx="268928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135" y="1256437"/>
            <a:ext cx="72596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 is thermodynamically inevitable — the goal is not to prevent it absolutely but to understand the specific mechanism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1135" y="1424191"/>
            <a:ext cx="773707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operating in a given material-environment combination, slow the rate to an acceptable level, detect it early, and design structures with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135" y="1591945"/>
            <a:ext cx="400552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enough allowance and protection to achieve the required service life.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178" y="2607916"/>
            <a:ext cx="268928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135" y="2573312"/>
            <a:ext cx="767505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Every corrosion type has a characteristic appearance that allows a technician to identify it in the field — uniform surface loss, galvanic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135" y="2741067"/>
            <a:ext cx="7793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concentration at dissimilar metal junctions, discrete pitting, crevice location under gaskets and deposits, SCC branching — recognition is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1135" y="2908834"/>
            <a:ext cx="28857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first step toward prevention and remediation.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178" y="3924436"/>
            <a:ext cx="268928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135" y="3805949"/>
            <a:ext cx="762645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five units of this course are not separate subjects but a single interconnected body of knowledge — atomic structure determines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1135" y="3973716"/>
            <a:ext cx="76384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properties, properties determine material selection, processing determines microstructure, microstructure determines performance,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1135" y="4141470"/>
            <a:ext cx="77511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and inspection and failure analysis close the loop; a technician who understands these connections is not just a procedure-follower but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1135" y="4309237"/>
            <a:ext cx="106132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 problem-solver.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71779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717795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261442"/>
            <a:ext cx="4388764" cy="269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137124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1919886"/>
            <a:ext cx="91084" cy="32867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246852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116" y="3017166"/>
            <a:ext cx="91084" cy="32867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116" y="356580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116" y="411444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804597"/>
            <a:ext cx="3767035" cy="4132808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164" y="1919886"/>
            <a:ext cx="329147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164" y="2322362"/>
            <a:ext cx="91071" cy="2739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164" y="2724482"/>
            <a:ext cx="91071" cy="2739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164" y="3126957"/>
            <a:ext cx="91071" cy="2739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164" y="3529077"/>
            <a:ext cx="91071" cy="2739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164" y="3931566"/>
            <a:ext cx="91071" cy="2739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164" y="4352038"/>
            <a:ext cx="3291471" cy="42012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424" y="158292"/>
            <a:ext cx="280472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Final Exam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888653"/>
            <a:ext cx="13948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Week 16 Resources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015" y="1369467"/>
            <a:ext cx="8304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Moniz Ch. 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015" y="1568303"/>
            <a:ext cx="25250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Corrosion and Its Prevention — primary reading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015" y="1918107"/>
            <a:ext cx="28592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Stainless Steel PREN — Grade Comparison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015" y="2116943"/>
            <a:ext cx="284607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Service environment guide for stainless alloy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015" y="2466747"/>
            <a:ext cx="352350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Corrosion Protection Guide — NACE / ISO 12944 / ASM 13A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015" y="2665583"/>
            <a:ext cx="3304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Coating selection, surface preparation, and cathodic protection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015" y="3015387"/>
            <a:ext cx="8488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NACE SP0169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015" y="3214223"/>
            <a:ext cx="342770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Standard for cathodic protection of buried pipelines — CP criteria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015" y="3564027"/>
            <a:ext cx="16187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NACE MR0175 / ISO 15156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015" y="3762862"/>
            <a:ext cx="272459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Material requirements for H₂S service (sour service)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015" y="4112667"/>
            <a:ext cx="24713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ASM Vol. 13A — Corrosion Fundamentals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015" y="4311503"/>
            <a:ext cx="357041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Primary reference for corrosion mechanisms and materials selection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0820" y="945339"/>
            <a:ext cx="1090040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E07B39"/>
                </a:solidFill>
                <a:latin typeface="Calibri"/>
              </a:rPr>
              <a:t>Final Exam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90820" y="1353143"/>
            <a:ext cx="201936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Week 17  ·  December 16,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0820" y="1643431"/>
            <a:ext cx="223515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5:00 PM – 7:00 PM  ·  Same classroom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90820" y="2027555"/>
            <a:ext cx="1423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CADCFC"/>
                </a:solidFill>
                <a:latin typeface="Calibri"/>
              </a:rPr>
              <a:t>Exam covers all 5 units: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10060" y="2381903"/>
            <a:ext cx="31011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Unit 1 — Atomic structure, bonding, mechanical properties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0060" y="2784391"/>
            <a:ext cx="29408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Unit 2 — Steel families, heat treatment, phase diagrams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0060" y="3186867"/>
            <a:ext cx="322324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Unit 3 — NDT methods, mechanical testing, quality standards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0060" y="3588987"/>
            <a:ext cx="302170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Unit 4 — Casting, forming, machining, powder metallurgy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10060" y="3991462"/>
            <a:ext cx="286997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Unit 5 — Welding, weld metallurgy, fracture, corrosion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81904" y="4467027"/>
            <a:ext cx="269511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Exams must be returned by 7:00 PM to be graded.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