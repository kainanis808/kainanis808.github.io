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3063242"/>
            <a:ext cx="4571631" cy="453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2696" y="1003499"/>
            <a:ext cx="250571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M E C H 1 9 1 — M e t a l l u r g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696" y="1382427"/>
            <a:ext cx="2814476" cy="980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6000">
                <a:solidFill>
                  <a:srgbClr val="FFFFFF"/>
                </a:solidFill>
                <a:latin typeface="Calibri"/>
              </a:rPr>
              <a:t>Week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96" y="2449334"/>
            <a:ext cx="332461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2200">
                <a:solidFill>
                  <a:srgbClr val="CADCFC"/>
                </a:solidFill>
                <a:latin typeface="Calibri"/>
              </a:rPr>
              <a:t>Corrosion &amp; Course Wrap-up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96" y="3311813"/>
            <a:ext cx="3368271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CADCFC"/>
                </a:solidFill>
                <a:latin typeface="Calibri"/>
              </a:rPr>
              <a:t>December 7, 2026  ·  5:00 – 7:30 PM  ·  Kai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1188366"/>
            <a:ext cx="8320671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34886"/>
            <a:ext cx="475195" cy="47519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9" y="2395806"/>
            <a:ext cx="475195" cy="47519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59" y="3456358"/>
            <a:ext cx="475195" cy="47520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696" y="530564"/>
            <a:ext cx="2696648" cy="6397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800">
                <a:solidFill>
                  <a:srgbClr val="FFFFFF"/>
                </a:solidFill>
                <a:latin typeface="Calibri"/>
              </a:rPr>
              <a:t>Class Agenda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738" y="1420890"/>
            <a:ext cx="307543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784" y="1327042"/>
            <a:ext cx="3029589" cy="314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Corrosion Fundamentals &amp;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784" y="1703852"/>
            <a:ext cx="7216475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The electrochemical cell, uniform, galvanic, pitting, crevice, and stress corrosion cracking — mechanisms and 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738" y="2481810"/>
            <a:ext cx="307543" cy="3296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784" y="2387962"/>
            <a:ext cx="3937230" cy="314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Protection, Material Selection &amp; Inspection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784" y="2764772"/>
            <a:ext cx="561451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Coatings, cathodic protection, inhibitors, design decisions, and corrosion monitoring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738" y="3542375"/>
            <a:ext cx="307543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784" y="3448526"/>
            <a:ext cx="1523194" cy="314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Course Wrap-up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784" y="3737858"/>
            <a:ext cx="713242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How the five units connect — from atomic structure to failure analysis — and what it means to be a metallurgy-literate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784" y="3913169"/>
            <a:ext cx="687751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technician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9143631" cy="62136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749886"/>
            <a:ext cx="4151160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749517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2475" y="1791718"/>
            <a:ext cx="3858488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749886"/>
            <a:ext cx="4315676" cy="4187519"/>
          </a:xfrm>
          <a:prstGeom prst="rect">
            <a:avLst/>
          </a:prstGeom>
          <a:solidFill>
            <a:srgbClr val="1A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749517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7796" y="2559966"/>
            <a:ext cx="4023004" cy="36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4534918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04" y="144840"/>
            <a:ext cx="3527254" cy="36088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2000">
                <a:solidFill>
                  <a:srgbClr val="E07B39"/>
                </a:solidFill>
                <a:latin typeface="Calibri"/>
              </a:rPr>
              <a:t>Alloy Research Portfolio — Module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6344" y="193848"/>
            <a:ext cx="2224316" cy="2523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300">
                <a:solidFill>
                  <a:srgbClr val="64748B"/>
                </a:solidFill>
                <a:latin typeface="Calibri"/>
              </a:rPr>
              <a:t>No Microscope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831872"/>
            <a:ext cx="148088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Module 15  ·  Week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1352353"/>
            <a:ext cx="2499624" cy="2985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600">
                <a:solidFill>
                  <a:srgbClr val="FFFFFF"/>
                </a:solidFill>
                <a:latin typeface="Calibri"/>
              </a:rPr>
              <a:t>Course Capstone &amp; Synthesis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1963827"/>
            <a:ext cx="135659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What to do this week: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82361"/>
            <a:ext cx="3620853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No new research this week — synthesize your notes from Modules 1–14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742204"/>
            <a:ext cx="2655571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into the final capstone questions.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3435871"/>
            <a:ext cx="428459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Steps: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838821"/>
            <a:ext cx="196518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— record data &amp;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991462"/>
            <a:ext cx="231439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Answer — short-answer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4144104"/>
            <a:ext cx="1640508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Apply — critical-thinking &amp; equations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5096" y="831872"/>
            <a:ext cx="1597840" cy="2365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Alloys of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5096" y="1309034"/>
            <a:ext cx="3052634" cy="2133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· No new alloy — synthesis exercise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096" y="2731707"/>
            <a:ext cx="1535518" cy="22120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How to Complete This Module: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096" y="3219620"/>
            <a:ext cx="1771904" cy="2058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1  Research the alloy(s) using credible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096" y="3372261"/>
            <a:ext cx="1562482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2  Record data with a source citation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5096" y="3524903"/>
            <a:ext cx="220853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3  Answer the short-answer questions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5096" y="3677544"/>
            <a:ext cx="1728317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4  Answer the critical-thinking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5096" y="3830185"/>
            <a:ext cx="2548850" cy="20583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5  Keep the module with your 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5096" y="4637234"/>
            <a:ext cx="183187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Portfolio Handout — Module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5600" y="658078"/>
            <a:ext cx="1682280" cy="511568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324" y="658078"/>
            <a:ext cx="1682280" cy="511568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67035" y="658078"/>
            <a:ext cx="1682279" cy="51156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22760" y="658078"/>
            <a:ext cx="1682279" cy="511568"/>
          </a:xfrm>
          <a:prstGeom prst="rect">
            <a:avLst/>
          </a:prstGeom>
          <a:solidFill>
            <a:srgbClr val="6B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78116" y="658078"/>
            <a:ext cx="1682280" cy="511568"/>
          </a:xfrm>
          <a:prstGeom prst="rect">
            <a:avLst/>
          </a:prstGeom>
          <a:solidFill>
            <a:srgbClr val="4B2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1243446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324" y="1243446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7035" y="1243446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22760" y="1243446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78116" y="1243446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600" y="1920242"/>
            <a:ext cx="1682280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324" y="1920242"/>
            <a:ext cx="1682280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035" y="1920242"/>
            <a:ext cx="1682279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22760" y="1920242"/>
            <a:ext cx="1682279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78116" y="1920242"/>
            <a:ext cx="1682280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324" y="2597037"/>
            <a:ext cx="1682280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035" y="2597037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22760" y="2597037"/>
            <a:ext cx="1682279" cy="62136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78116" y="2597037"/>
            <a:ext cx="1682280" cy="621360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22760" y="3291842"/>
            <a:ext cx="1682279" cy="62136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5600" y="3986277"/>
            <a:ext cx="8631720" cy="40212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900" y="186372"/>
            <a:ext cx="4418042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1C2B3A"/>
                </a:solidFill>
                <a:latin typeface="Calibri"/>
              </a:rPr>
              <a:t>MECH 191 — Course &amp; Unit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6344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44" y="926183"/>
            <a:ext cx="1196479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Materials Fundamentals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72055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72055" y="926183"/>
            <a:ext cx="70834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Steel &amp; Alloys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27779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7779" y="926183"/>
            <a:ext cx="86289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Testing &amp;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3504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3504" y="926183"/>
            <a:ext cx="76341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9215" y="685707"/>
            <a:ext cx="457675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Unit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9215" y="926183"/>
            <a:ext cx="84068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FFFFFF"/>
                </a:solidFill>
                <a:latin typeface="Calibri"/>
              </a:rPr>
              <a:t>Joining &amp; Failure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6344" y="1288630"/>
            <a:ext cx="330664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6344" y="1438095"/>
            <a:ext cx="39788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Aug 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6344" y="1545310"/>
            <a:ext cx="90170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Atomic 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6344" y="1690026"/>
            <a:ext cx="5879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&amp; Bonding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72055" y="1288630"/>
            <a:ext cx="330664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72055" y="1438095"/>
            <a:ext cx="38723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Sep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2055" y="1545310"/>
            <a:ext cx="53857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Carbon &amp;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72055" y="1690026"/>
            <a:ext cx="63312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Alloy Steels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27779" y="1288630"/>
            <a:ext cx="330663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27779" y="1438095"/>
            <a:ext cx="321754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27779" y="1545310"/>
            <a:ext cx="6348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27779" y="1690026"/>
            <a:ext cx="41580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Testing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83504" y="1288630"/>
            <a:ext cx="391445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83504" y="1438095"/>
            <a:ext cx="37968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83504" y="1617674"/>
            <a:ext cx="42979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Casting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39215" y="1288630"/>
            <a:ext cx="391447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39215" y="1438095"/>
            <a:ext cx="40246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39215" y="1545310"/>
            <a:ext cx="47562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Welding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39215" y="1690026"/>
            <a:ext cx="55268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Processes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6344" y="1965426"/>
            <a:ext cx="3306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6344" y="2114903"/>
            <a:ext cx="39788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Aug 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6344" y="2221750"/>
            <a:ext cx="63481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Mechanical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6344" y="2366466"/>
            <a:ext cx="57994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Properties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2055" y="1965426"/>
            <a:ext cx="3306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72055" y="2114903"/>
            <a:ext cx="38723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Sep 21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72055" y="2221750"/>
            <a:ext cx="60888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Stainless &amp;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72055" y="2366466"/>
            <a:ext cx="55389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Cast Irons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27779" y="1965426"/>
            <a:ext cx="3306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27779" y="2114903"/>
            <a:ext cx="37968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27779" y="2294114"/>
            <a:ext cx="75034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NDT Methods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83504" y="1965426"/>
            <a:ext cx="39144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83504" y="2114903"/>
            <a:ext cx="34453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83504" y="2294114"/>
            <a:ext cx="47851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Forming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39215" y="1965426"/>
            <a:ext cx="39144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39215" y="2114903"/>
            <a:ext cx="40246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39215" y="2221750"/>
            <a:ext cx="88433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Weld Metallurgy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39215" y="2366466"/>
            <a:ext cx="51361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&amp; Failure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72055" y="2641866"/>
            <a:ext cx="3306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72055" y="2791343"/>
            <a:ext cx="387236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Sep 28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72055" y="2898545"/>
            <a:ext cx="73672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Nonferrous &amp;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72055" y="3043275"/>
            <a:ext cx="84779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Phase Diagrams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27779" y="2641866"/>
            <a:ext cx="3306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27779" y="2791343"/>
            <a:ext cx="37968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Oct 19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27779" y="2898545"/>
            <a:ext cx="42762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Quality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27779" y="3043275"/>
            <a:ext cx="56137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Standards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83504" y="2641866"/>
            <a:ext cx="39144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83504" y="2791343"/>
            <a:ext cx="34453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83504" y="2970910"/>
            <a:ext cx="58802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Machining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39215" y="2641866"/>
            <a:ext cx="78218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E07B39"/>
                </a:solidFill>
                <a:latin typeface="Calibri"/>
              </a:rPr>
              <a:t>Wk 16 ← here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39215" y="2791343"/>
            <a:ext cx="33537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Dec 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39215" y="2898545"/>
            <a:ext cx="54906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39215" y="3043275"/>
            <a:ext cx="61117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&amp; Wrap-up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83504" y="3337026"/>
            <a:ext cx="39144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2E4A6B"/>
                </a:solidFill>
                <a:latin typeface="Calibri"/>
              </a:rPr>
              <a:t>Wk 13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83504" y="3486503"/>
            <a:ext cx="402461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Nov 16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83504" y="3593350"/>
            <a:ext cx="44861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Powder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83504" y="3738066"/>
            <a:ext cx="6040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Metallurgy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85744" y="4070688"/>
            <a:ext cx="3220710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Week 17  ·  FINAL EXAM  ·  December 16,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955" y="804597"/>
            <a:ext cx="501048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955" y="804242"/>
            <a:ext cx="501048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2956" y="804597"/>
            <a:ext cx="3474364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12956" y="804242"/>
            <a:ext cx="3474364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484" y="2011326"/>
            <a:ext cx="3017151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484" y="2980438"/>
            <a:ext cx="3017151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484" y="3876842"/>
            <a:ext cx="3017151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8424" y="158292"/>
            <a:ext cx="2767293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Week 16 —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780" y="888653"/>
            <a:ext cx="494256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76" y="1379240"/>
            <a:ext cx="392933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Electrochemical corrosion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the four-element cell, galvanic series, and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576" y="1539082"/>
            <a:ext cx="67585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passivation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576" y="1698911"/>
            <a:ext cx="429773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Corrosion types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uniform, galvanic (area effect), pitting (PREN), crevice, SCC,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76" y="1858753"/>
            <a:ext cx="77508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intergranular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576" y="2018596"/>
            <a:ext cx="413731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Coatings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paint systems, surface preparation (Sa 2.5), hot-dip galvanizing,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576" y="2178438"/>
            <a:ext cx="138739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thermal spray, anodizing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576" y="2338280"/>
            <a:ext cx="437036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Cathodic protection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sacrificial anodes vs. impressed current, -0.85V criterion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576" y="2498122"/>
            <a:ext cx="1010847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per NACE SP0169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76" y="2657952"/>
            <a:ext cx="423487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Design for corrosion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eliminate crevices, ensure drainage, isolate dissimilar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576" y="2817794"/>
            <a:ext cx="1672573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metals, control residual stress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576" y="2977636"/>
            <a:ext cx="447466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Inspection &amp; monitoring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UT thickness, pulsed eddy current for CUI, ER probes,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576" y="3137478"/>
            <a:ext cx="1067056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corrosion coupons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576" y="3297320"/>
            <a:ext cx="432088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Course wrap-up</a:t>
            </a:r>
            <a:r>
              <a:rPr b="0" i="0" sz="1000">
                <a:solidFill>
                  <a:srgbClr val="1A2433"/>
                </a:solidFill>
                <a:latin typeface="Calibri"/>
              </a:rPr>
              <a:t> — connecting the five units into a single integrated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5140" y="888653"/>
            <a:ext cx="765249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FFFFFF"/>
                </a:solidFill>
                <a:latin typeface="Calibri"/>
              </a:rPr>
              <a:t>Resources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5140" y="1325787"/>
            <a:ext cx="1279560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Material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65140" y="1587272"/>
            <a:ext cx="81815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Moniz Ch. 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65140" y="1755026"/>
            <a:ext cx="62763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Corrosion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65140" y="2112031"/>
            <a:ext cx="110336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Reference Pages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65140" y="2392636"/>
            <a:ext cx="2339361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Stainless Steel PREN — Grade Comparison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5140" y="2552478"/>
            <a:ext cx="267035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Corrosion Protection Guide — NACE / ISO 12944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5140" y="2712321"/>
            <a:ext cx="229260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ASM Vol. 13A — Corrosion Fundamentals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65140" y="3081143"/>
            <a:ext cx="707424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E07B39"/>
                </a:solidFill>
                <a:latin typeface="Calibri"/>
              </a:rPr>
              <a:t>Standards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65140" y="3325400"/>
            <a:ext cx="154417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NACE SP0169 — CP Criteria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5140" y="3485242"/>
            <a:ext cx="1794980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ISO 8501 — Surface Preparation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65140" y="3645072"/>
            <a:ext cx="1639139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NACE MR0175 — H₂S 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65140" y="3966515"/>
            <a:ext cx="1983875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Final Exam  ·  December 16,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5140" y="4189394"/>
            <a:ext cx="222227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5:00 – 7:00 PM  ·  Same location as class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59321"/>
            <a:ext cx="8320671" cy="36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59" y="1353237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59" y="2267637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59" y="3182037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59" y="4096437"/>
            <a:ext cx="438480" cy="4384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696" y="289678"/>
            <a:ext cx="2642450" cy="5466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200">
                <a:solidFill>
                  <a:srgbClr val="FFFFFF"/>
                </a:solidFill>
                <a:latin typeface="Calibri"/>
              </a:rPr>
              <a:t>Core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04" y="969387"/>
            <a:ext cx="568792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Try to answer these before we dive in — we'll revisit them with answers at the end of class.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944" y="1427842"/>
            <a:ext cx="185496" cy="314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8060" y="1455657"/>
            <a:ext cx="3983623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is corrosion and why is it thermodynamically driven?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944" y="2342242"/>
            <a:ext cx="185496" cy="3143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060" y="2370057"/>
            <a:ext cx="4513547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are the main types of corrosion and how is each recognized?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944" y="3256642"/>
            <a:ext cx="185496" cy="314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060" y="3284457"/>
            <a:ext cx="5401215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What protection methods are available and how do you choose between them?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944" y="4171042"/>
            <a:ext cx="185496" cy="3143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7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060" y="4198857"/>
            <a:ext cx="439672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300">
                <a:solidFill>
                  <a:srgbClr val="FFFFFF"/>
                </a:solidFill>
                <a:latin typeface="Calibri"/>
              </a:rPr>
              <a:t>How does material selection and design influence corrosion risk?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116" y="1773721"/>
            <a:ext cx="3840124" cy="21924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116" y="2559966"/>
            <a:ext cx="3840124" cy="2192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116" y="3346198"/>
            <a:ext cx="3840124" cy="2192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116" y="4132798"/>
            <a:ext cx="3840124" cy="21924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6160" y="2139482"/>
            <a:ext cx="4023004" cy="182524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6160" y="2559966"/>
            <a:ext cx="4023004" cy="182511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36160" y="2980438"/>
            <a:ext cx="4023004" cy="18252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36160" y="3419642"/>
            <a:ext cx="4023004" cy="27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599894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Electrochemical Corrosion — The Cell &amp; Passivation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899256"/>
            <a:ext cx="2028224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The Four-Element Corrosion Cell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16" y="1232781"/>
            <a:ext cx="366775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All four elements must be present simultaneously for electrochemical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1385423"/>
            <a:ext cx="383816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corrosion to occur. Remove any one and the corrosion cell stops — this is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1538064"/>
            <a:ext cx="200559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the basis of every protection strategy.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855" y="1787911"/>
            <a:ext cx="10468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Anode  (oxidation)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416" y="1991715"/>
            <a:ext cx="389075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Metal atoms lose electrons and dissolve as ions: M → M²⁺ + 2e⁻. This is where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2136431"/>
            <a:ext cx="389666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material loss occurs. The anode is the more active (less noble) metal or region.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855" y="2574143"/>
            <a:ext cx="115622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Cathode  (reduction)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416" y="2777946"/>
            <a:ext cx="389967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Electrons arriving from the anode drive reduction. Alkaline/neutral: O₂ + 2H₂O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16" y="2922676"/>
            <a:ext cx="350266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+ 4e⁻ → 4OH⁻. Acidic: 2H⁺ + 2e⁻ → H₂. No material loss at the cathode.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855" y="3360387"/>
            <a:ext cx="63800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Electrolyte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416" y="3564546"/>
            <a:ext cx="359432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Conducting liquid medium — water with dissolved salts, acids, or gases.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7416" y="3709275"/>
            <a:ext cx="381212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Conductivity increases with salt concentration and temperature. Seawater is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416" y="3853992"/>
            <a:ext cx="242257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highly corrosive because of its high conductivity.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855" y="4146987"/>
            <a:ext cx="76914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Metallic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416" y="4350791"/>
            <a:ext cx="378715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Electrical connection between anode and cathode — can be the metal itself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416" y="4495507"/>
            <a:ext cx="37143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(different microstructural features or two metals in contact) or an external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7416" y="4640236"/>
            <a:ext cx="5920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conductor.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3460" y="899256"/>
            <a:ext cx="1837189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Galvanic Series &amp; Passivation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3460" y="1332751"/>
            <a:ext cx="93883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Galvanic series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3460" y="1562181"/>
            <a:ext cx="385989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Metals ranked by electrochemical potential in seawater. More active (less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23460" y="1714823"/>
            <a:ext cx="392889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noble) metals are anodic and corrode preferentially when coupled to more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3460" y="1867464"/>
            <a:ext cx="398391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noble metals. Greater separation in the series = more severe galvanic attack.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4900" y="2142259"/>
            <a:ext cx="989733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Active (anodic) 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23460" y="2334143"/>
            <a:ext cx="233897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Magnesium → Zinc → Aluminum → Carbon steel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4900" y="2562743"/>
            <a:ext cx="566852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Mid-range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3460" y="2754983"/>
            <a:ext cx="2456995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Cast iron → Lead → Tin → Copper alloys → Bronzes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4900" y="2983215"/>
            <a:ext cx="1064717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Noble (cathodic) 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23460" y="3175455"/>
            <a:ext cx="2668210" cy="1904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Stainless steel (passive) → Titanium → Gold → Platinum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3460" y="3527311"/>
            <a:ext cx="72666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Passivation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3460" y="3723264"/>
            <a:ext cx="390373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Some metals form a stable, adherent oxide that dramatically slows further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23460" y="3875905"/>
            <a:ext cx="59301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corrosion: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23460" y="4037183"/>
            <a:ext cx="323010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Stainless steel (Cr₂O₃)  ·  Aluminum (Al₂O₃)  ·  Titanium (TiO₂)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23460" y="4298225"/>
            <a:ext cx="406912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Passivity destroyed by: chloride ions, mechanical damage, or reducing conditions.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23460" y="4442954"/>
            <a:ext cx="392476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Once broken, the metal corrodes actively until the passive film can reform — if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23460" y="4587671"/>
            <a:ext cx="30763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116" y="1316521"/>
            <a:ext cx="3840124" cy="21924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116" y="2157477"/>
            <a:ext cx="3840124" cy="2192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116" y="2998802"/>
            <a:ext cx="3840124" cy="2192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116" y="3840126"/>
            <a:ext cx="3840124" cy="21924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6160" y="1316521"/>
            <a:ext cx="4023004" cy="2192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6160" y="2157477"/>
            <a:ext cx="4023004" cy="21924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36160" y="2998802"/>
            <a:ext cx="4023004" cy="2192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36160" y="3840126"/>
            <a:ext cx="4023004" cy="2192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4565265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Corrosion Types — Uniform &amp; Galvanic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895943"/>
            <a:ext cx="186890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Uniform (General) Corrosion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855" y="1330711"/>
            <a:ext cx="68540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1534515"/>
            <a:ext cx="382574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Anodic and cathodic reactions distributed uniformly across the surface — no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1679231"/>
            <a:ext cx="356031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localization. The most predictable form of corrosion because the rate is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416" y="1823948"/>
            <a:ext cx="12082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measurable and stable.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855" y="2171667"/>
            <a:ext cx="69760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Recognition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2375826"/>
            <a:ext cx="363206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Even surface loss, uniform scale or rust layer. Corrosion rate measured in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2520555"/>
            <a:ext cx="343428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mm/year or mils per year (MPY) — allows remaining life calculations.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855" y="3012991"/>
            <a:ext cx="949975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Design approach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16" y="3217150"/>
            <a:ext cx="386952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Specify a material with a known corrosion rate for the environment, then add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416" y="3361867"/>
            <a:ext cx="353775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 corrosion allowance to the wall thickness. Monitor with UT thickness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416" y="3506596"/>
            <a:ext cx="285758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measurement at regular intervals throughout service life.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855" y="3854303"/>
            <a:ext cx="57167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416" y="4058106"/>
            <a:ext cx="391041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Rusting of unprotected carbon steel in atmosphere or soil. Acid attack on steel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416" y="4202836"/>
            <a:ext cx="36709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in pickling baths. Uniform thinning of tank shells in process environments.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3460" y="895943"/>
            <a:ext cx="1259309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Galvanic Corrosion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4900" y="1330711"/>
            <a:ext cx="68540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3460" y="1534515"/>
            <a:ext cx="406249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Two dissimilar metals in electrical contact in an electrolyte — potential difference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3460" y="1679231"/>
            <a:ext cx="40611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drives current; the less noble metal (anode) corrodes at an accelerated rate while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3460" y="1823948"/>
            <a:ext cx="227038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the more noble metal (cathode) is protected.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14900" y="2171667"/>
            <a:ext cx="116752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Area effect — critical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23460" y="2375826"/>
            <a:ext cx="403547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Large cathode + small anode = severe attack; large anode + small cathode = mild.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3460" y="2520555"/>
            <a:ext cx="382683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Zinc on steel works: Zn is the large anode, exposed steel at scratches is a tiny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3460" y="2665272"/>
            <a:ext cx="391560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cathode. Never coat the anode only — any break creates a concentrated small-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23460" y="2809988"/>
            <a:ext cx="73491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anode attack.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4900" y="3012991"/>
            <a:ext cx="69760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Recognition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3460" y="3217150"/>
            <a:ext cx="401642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Concentrated corrosion on the less noble material, particularly near the junction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3460" y="3361867"/>
            <a:ext cx="374531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between the two metals. The more noble material shows little or no attack.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4900" y="3854303"/>
            <a:ext cx="129066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Prevention &amp; Examples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3460" y="4058106"/>
            <a:ext cx="374097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Electrical isolation (non-conducting gaskets, sleeves); select metals close in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3460" y="4202836"/>
            <a:ext cx="408118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galvanic series; apply protective coating to the cathode. Examples: zinc anodes on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23460" y="4347552"/>
            <a:ext cx="37265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ship hulls; Al fittings on SS pipework; carbon steel fasteners in copper alloy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23460" y="4492268"/>
            <a:ext cx="92678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corroding rapidly.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116" y="1279806"/>
            <a:ext cx="3840124" cy="237235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116" y="2175842"/>
            <a:ext cx="3840124" cy="273964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116" y="2761197"/>
            <a:ext cx="3840124" cy="237248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36160" y="1316521"/>
            <a:ext cx="4023004" cy="21924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6160" y="2157477"/>
            <a:ext cx="4023004" cy="21924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6160" y="2998802"/>
            <a:ext cx="4023004" cy="2192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36160" y="3840126"/>
            <a:ext cx="4023004" cy="2192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424" y="158292"/>
            <a:ext cx="726166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Corrosion Types — Pitting, Crevice &amp; Stress Corrosion Cracking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416" y="895943"/>
            <a:ext cx="176428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Pitting &amp; Crevice Corrosion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855" y="1299674"/>
            <a:ext cx="993398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Pitting Corrosion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16" y="1519389"/>
            <a:ext cx="36657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Local passive film breakdown → small anode surrounded by large passive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1664106"/>
            <a:ext cx="383889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cathode → pit becomes self-sustaining. Metal ions accumulate inside the pit,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1808835"/>
            <a:ext cx="393537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attracting Cl⁻, dropping pH, preventing repassivation. Recognition: discrete pits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416" y="1953551"/>
            <a:ext cx="367271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on otherwise intact surface — depth concealed by thin corrosion product.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860" y="2141428"/>
            <a:ext cx="341627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PREN  =  %Cr  +  3.3×%Mo  +  16×%N   →   higher = better pitting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860" y="2294070"/>
            <a:ext cx="603439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1C2B3A"/>
                </a:solidFill>
                <a:latin typeface="Calibri"/>
              </a:rPr>
              <a:t>resistance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2495714"/>
            <a:ext cx="322661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304 (PREN ~19)  ·  316 (PREN ~24)  ·  Duplex 2205 (PREN ~35–40)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855" y="2781078"/>
            <a:ext cx="1036155" cy="2133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Crevice Corrosion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16" y="2982429"/>
            <a:ext cx="389063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Stagnant electrolyte in a tight gap (0.025–0.1 mm) depletes oxygen → interior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416" y="3127145"/>
            <a:ext cx="355078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becomes anodic → metal ions accumulate, pH drops, Cl⁻ migrates in →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416" y="3271875"/>
            <a:ext cx="332550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aggressive chemistry prevents repassivation. Recognition: damage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7416" y="3416591"/>
            <a:ext cx="320587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concentrated under gaskets, lap joints, bolt heads, and deposits.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416" y="3621074"/>
            <a:ext cx="373795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Prevention: butt joints over lap joints; solid/PTFE-filled gaskets; continuous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416" y="3765790"/>
            <a:ext cx="339460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rather than intermittent welds; higher PREN alloys; ensure drainage.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3460" y="895943"/>
            <a:ext cx="2026827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Stress Corrosion Cracking (SCC)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4900" y="1330711"/>
            <a:ext cx="68540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3460" y="1534515"/>
            <a:ext cx="399483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Tensile stress (residual or applied) + specific corrosive environment = cracking at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3460" y="1679231"/>
            <a:ext cx="381020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stresses far below yield strength. Involves anodic dissolution at crack tip and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3460" y="1823948"/>
            <a:ext cx="375013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hydrogen embrittlement. Crack propagates stably until the remaining cross-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3460" y="1968677"/>
            <a:ext cx="152025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section fractures by overload.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4900" y="2171667"/>
            <a:ext cx="190635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Critical material-environment pairs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3460" y="2375826"/>
            <a:ext cx="410880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Austenitic SS + chlorides. High-strength steel + H₂S (sulfide stress cracking — NACE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3460" y="2520555"/>
            <a:ext cx="376111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MR0175). Brass + ammonia (season cracking). Aluminum alloys + chlorides.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23460" y="2665272"/>
            <a:ext cx="232079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Titanium + methanol or red fuming nitric acid.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4900" y="3012991"/>
            <a:ext cx="69760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Recognition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3460" y="3217150"/>
            <a:ext cx="361181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Branching, intergranular or transgranular crack network. Minimal plastic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3460" y="3361867"/>
            <a:ext cx="373072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deformation. Brittle fracture surface with no beach marks — this is the key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23460" y="3506596"/>
            <a:ext cx="404645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distinction from fatigue. Branching is the most characteristic macroscopic feature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3460" y="3651313"/>
            <a:ext cx="96296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visible in the field.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14900" y="3854303"/>
            <a:ext cx="130540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Prevention &amp; Detection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23460" y="4058106"/>
            <a:ext cx="381212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Stress relief (PWHT), shot peening for compressive RS. Select resistant alloys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23460" y="4202836"/>
            <a:ext cx="387688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(duplex SS for chlorides, low-alloy steel + PWHT for H₂S). Modify environment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23460" y="4347552"/>
            <a:ext cx="377908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(remove Cl⁻ or O₂; inhibitors; maintain pH &gt;7). Detection: PT, ACFM through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23460" y="4492268"/>
            <a:ext cx="142293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coatings, UT for subsurface.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116" y="1316521"/>
            <a:ext cx="3840124" cy="2192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116" y="2157477"/>
            <a:ext cx="3840124" cy="2192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116" y="2998802"/>
            <a:ext cx="3840124" cy="21924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116" y="3840126"/>
            <a:ext cx="3840124" cy="21924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6160" y="1883157"/>
            <a:ext cx="4023004" cy="2192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6160" y="2706117"/>
            <a:ext cx="4023004" cy="2192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36160" y="3584157"/>
            <a:ext cx="4023004" cy="237248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36160" y="3894838"/>
            <a:ext cx="4023004" cy="21924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6438946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Corrosion Protection — Coatings &amp; Cathodic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895943"/>
            <a:ext cx="1291896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Protective Coatings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855" y="1330711"/>
            <a:ext cx="122255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Organic paint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1534515"/>
            <a:ext cx="392005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Three-coat system: zinc-rich primer (sacrificial — zinc corrodes to protect steel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1679231"/>
            <a:ext cx="368693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even when scratched) + intermediate barrier coat + UV/abrasion-resistant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416" y="1823948"/>
            <a:ext cx="387784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topcoat. Surface preparation is the single most important factor — blasting to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416" y="1968677"/>
            <a:ext cx="376617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Sa 2.5 per ISO 8501. Holiday testing detects pinholes before commissioning.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855" y="2171667"/>
            <a:ext cx="107794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Hot-dip galvanizing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2375826"/>
            <a:ext cx="390510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Steel immersed in molten zinc at ~450°C — zinc metallurgically bonds through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7416" y="2520555"/>
            <a:ext cx="381152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 series of Fe-Zn alloy layers. Provides both barrier and sacrificial protection.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16" y="2665272"/>
            <a:ext cx="365956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Zinc corrodes preferentially at scratches and cut edges. Service life 20–50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416" y="2809988"/>
            <a:ext cx="142474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years in mild environments.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855" y="3012991"/>
            <a:ext cx="82061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Thermal spray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7416" y="3217150"/>
            <a:ext cx="365968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Zinc or aluminum powder/wire melted and propelled onto the surface —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416" y="3361867"/>
            <a:ext cx="380693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applied to large structures in situ (bridges, offshore structures). Thicker than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416" y="3506596"/>
            <a:ext cx="250916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electroplating; can be applied without immersion.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855" y="3854303"/>
            <a:ext cx="177406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Anodizing &amp; conversion coatings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416" y="4058106"/>
            <a:ext cx="366764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Anodizing thickens the oxide on aluminum electrochemically — improves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7416" y="4202836"/>
            <a:ext cx="384637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corrosion and wear resistance. Phosphating provides paint-adhesion base for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7416" y="4347552"/>
            <a:ext cx="381417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automotive steel. Chromate conversion being phased out (toxicity); trivalent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7416" y="4492268"/>
            <a:ext cx="174396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alternatives increasingly specified.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3460" y="895943"/>
            <a:ext cx="2103733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Cathodic Protection &amp; Inhibitors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23460" y="1323747"/>
            <a:ext cx="149054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E07B39"/>
                </a:solidFill>
                <a:latin typeface="Calibri"/>
              </a:rPr>
              <a:t>Cathodic protection (CP)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23460" y="1517954"/>
            <a:ext cx="382526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Makes the structure the cathode of an electrochemical cell — corrosion only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3460" y="1662670"/>
            <a:ext cx="92690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occurs at anodes.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4900" y="1897347"/>
            <a:ext cx="109611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Sacrificial anode CP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23460" y="2101874"/>
            <a:ext cx="350773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Zn, Mg, or Al anode connected to the structure — the anode corrodes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3460" y="2246591"/>
            <a:ext cx="377534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preferentially. Passive, no power required, self-regulating. Ship hulls, buried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3460" y="2391307"/>
            <a:ext cx="370949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pipelines, tank floors. Anodes must be inspected and replaced periodically.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4900" y="2720307"/>
            <a:ext cx="153783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Impressed current CP (ICCP)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3460" y="2924835"/>
            <a:ext cx="378993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DC power source drives current from inert anode (graphite, MMO) onto the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3460" y="3069551"/>
            <a:ext cx="384203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structure. Controllable and suitable for large installations. Buried/submerged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23460" y="3214267"/>
            <a:ext cx="378426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pipelines, storage tanks, reinforced concrete. Requires monitoring — power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23460" y="3358997"/>
            <a:ext cx="219573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supply failure leaves structure unprotected.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96535" y="3611346"/>
            <a:ext cx="353739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E07B39"/>
                </a:solidFill>
                <a:latin typeface="Calibri"/>
              </a:rPr>
              <a:t>CP criterion (NACE SP0169): −0.85 V vs. Cu/CuSO₄ reference electrode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14900" y="3909027"/>
            <a:ext cx="579040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Inhibitors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23460" y="4225505"/>
            <a:ext cx="411254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Anodic (form anode film — risk if under-dosed) · Cathodic (reduce cathodic rate —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23460" y="4370234"/>
            <a:ext cx="401823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safer under-dosed) · Mixed (act on both — cooling water, pipelines, preservation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23460" y="4514951"/>
            <a:ext cx="40628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fluids).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151160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151160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116" y="1700277"/>
            <a:ext cx="3840124" cy="2192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116" y="2486877"/>
            <a:ext cx="3840124" cy="2192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116" y="3273122"/>
            <a:ext cx="3840124" cy="21924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116" y="4059721"/>
            <a:ext cx="3840124" cy="219240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804597"/>
            <a:ext cx="4315676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804242"/>
            <a:ext cx="4315676" cy="4021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36160" y="1316521"/>
            <a:ext cx="4023004" cy="21924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6160" y="2157477"/>
            <a:ext cx="4023004" cy="219240"/>
          </a:xfrm>
          <a:prstGeom prst="rect">
            <a:avLst/>
          </a:prstGeom>
          <a:solidFill>
            <a:srgbClr val="3B6F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36160" y="2998802"/>
            <a:ext cx="4023004" cy="21924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36160" y="3840126"/>
            <a:ext cx="4023004" cy="21924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8424" y="158292"/>
            <a:ext cx="580647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Design, Material Selection &amp; Corrosion Inspection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416" y="895943"/>
            <a:ext cx="182657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Design &amp; Material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416" y="1205426"/>
            <a:ext cx="350878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Material selection is the most permanent defense — an inherently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416" y="1358067"/>
            <a:ext cx="371439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resistant alloy requires no maintenance and won't fail if the protection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416" y="1510708"/>
            <a:ext cx="107578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1A2433"/>
                </a:solidFill>
                <a:latin typeface="Calibri"/>
              </a:rPr>
              <a:t>system is damaged.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855" y="1714467"/>
            <a:ext cx="69569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Joint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416" y="1918626"/>
            <a:ext cx="378137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Butt joints preferred over lap joints — lap joints create crevices. Continuous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416" y="2063355"/>
            <a:ext cx="378715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welds instead of intermittent welds seal gaps. Full-penetration seal welds at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416" y="2208072"/>
            <a:ext cx="370189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tube-to-tubesheet joints eliminate the crevice between tube OD and bore.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855" y="2501067"/>
            <a:ext cx="138597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Drainage &amp; surface finish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16" y="2704870"/>
            <a:ext cx="38431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Slope surfaces so water drains — horizontal surfaces that pool water corrode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416" y="2849587"/>
            <a:ext cx="355524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faster. Smooth surfaces are more corrosion resistant than rough (rough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416" y="2994316"/>
            <a:ext cx="36458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surfaces trap moisture and contamination). Smooth machined keyways +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7416" y="3139033"/>
            <a:ext cx="295972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polished fillets reduce both corrosion and fatigue initiation.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855" y="3287311"/>
            <a:ext cx="1401096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Dissimilar metal isolation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416" y="3491470"/>
            <a:ext cx="389171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Electrically isolate dissimilar metals with non-conducting gaskets, sleeves, and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416" y="3636187"/>
            <a:ext cx="388170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washers. If isolation is impractical, select metals close together in the galvanic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7416" y="3780916"/>
            <a:ext cx="387459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series or ensure the less noble material has a much larger area than the more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7416" y="3925632"/>
            <a:ext cx="38336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noble.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855" y="4073911"/>
            <a:ext cx="125038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Residual stress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7416" y="4277715"/>
            <a:ext cx="380741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Tensile residual stress from welding or machining accelerates SCC. PWHT for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416" y="4422431"/>
            <a:ext cx="356694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stress relief. Shot peening introduces compressive residual stress at the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7416" y="4567148"/>
            <a:ext cx="378148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surface — a common SCC and fatigue prevention measure for welded joints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7416" y="4711877"/>
            <a:ext cx="72164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and keyways.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3460" y="895943"/>
            <a:ext cx="2266831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Corrosion Inspection &amp; Monitoring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4900" y="1330711"/>
            <a:ext cx="96573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Visual inspection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23460" y="1534515"/>
            <a:ext cx="386712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First step — rust staining, discoloration, paint blistering, pitting, deposits, and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3460" y="1679231"/>
            <a:ext cx="366837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scaling. Requires adequate lighting, access, and mirrors or borescopes for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23460" y="1823948"/>
            <a:ext cx="88397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confined spaces.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4900" y="2171667"/>
            <a:ext cx="149729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UT thickness measurement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3460" y="2375826"/>
            <a:ext cx="377642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Primary method for measuring remaining wall thickness in corroded piping,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23460" y="2520555"/>
            <a:ext cx="407214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vessels, and structural members — from one side without internal access. Results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23460" y="2665272"/>
            <a:ext cx="321974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compared to minimum acceptable thickness (fitness for service).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4900" y="3012991"/>
            <a:ext cx="178092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Corrosion Under Insulation (CUI)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23460" y="3217150"/>
            <a:ext cx="403740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Corrosion hidden beneath insulation — cannot be seen without stripping. Pulsed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23460" y="3361867"/>
            <a:ext cx="403933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eddy current (PEC) and radiographic profile techniques screen through insulation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23460" y="3506596"/>
            <a:ext cx="338122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without removal. A significant inspection challenge in process plant.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14900" y="3854303"/>
            <a:ext cx="1808503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Monitoring — rate measurement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23460" y="4058106"/>
            <a:ext cx="3775945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ER probes and LPR probes: real-time corrosion rate in process pipelines and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23460" y="4202836"/>
            <a:ext cx="390595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vessels. Corrosion coupons: pre-weighed metal samples exposed for a defined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23460" y="4347552"/>
            <a:ext cx="402824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period — direct weight loss measurement. Used to verify inhibitor programs and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23460" y="4492268"/>
            <a:ext cx="185865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detect changes in process chemistry.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1133997"/>
            <a:ext cx="8631720" cy="7128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133997"/>
            <a:ext cx="2194204" cy="71280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1901877"/>
            <a:ext cx="8631720" cy="7128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1901877"/>
            <a:ext cx="2194204" cy="712800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2670126"/>
            <a:ext cx="8631720" cy="7128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2670126"/>
            <a:ext cx="2194204" cy="712800"/>
          </a:xfrm>
          <a:prstGeom prst="rect">
            <a:avLst/>
          </a:prstGeom>
          <a:solidFill>
            <a:srgbClr val="6B5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600" y="3438006"/>
            <a:ext cx="8631720" cy="712799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600" y="3438006"/>
            <a:ext cx="2194204" cy="712799"/>
          </a:xfrm>
          <a:prstGeom prst="rect">
            <a:avLst/>
          </a:prstGeom>
          <a:solidFill>
            <a:srgbClr val="6B2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600" y="4206242"/>
            <a:ext cx="8631720" cy="71280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600" y="4206242"/>
            <a:ext cx="2194204" cy="712800"/>
          </a:xfrm>
          <a:prstGeom prst="rect">
            <a:avLst/>
          </a:prstGeom>
          <a:solidFill>
            <a:srgbClr val="4B2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424" y="158292"/>
            <a:ext cx="554722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Course Wrap-Up — How the Five Units 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900" y="813507"/>
            <a:ext cx="6821088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64748B"/>
                </a:solidFill>
                <a:latin typeface="Calibri"/>
              </a:rPr>
              <a:t>These are not five separate subjects. They form a single chain — each unit explains why the next one matters.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975" y="1257267"/>
            <a:ext cx="183480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Unit 1 — Materials Fundamentals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975" y="1624626"/>
            <a:ext cx="721828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Aug 24 – Sep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7620" y="1325714"/>
            <a:ext cx="6134507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Atomic bonding explains conductivity and electrochemical corrosion. Crystal structure determines slip systems, deformation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7620" y="1470431"/>
            <a:ext cx="599051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behavior, and SCC crack paths. Grain boundaries are sites of sensitization, intergranular corrosion, and hydrogen trapping.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975" y="2025503"/>
            <a:ext cx="1287871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Unit 2 — Steel &amp; Alloys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975" y="2392862"/>
            <a:ext cx="767513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Sep 14 – Sep 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7620" y="2093950"/>
            <a:ext cx="60883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Carbon equivalent drives preheat requirement and determines HIC susceptibility. Stainless grade determines pitting (PREN)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7620" y="2238666"/>
            <a:ext cx="623870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and SCC resistance. Heat treatment condition sets HAZ hardenability — the microstructure that either resists or fails in service.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975" y="2793383"/>
            <a:ext cx="206951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Unit 3 — Testing, Inspection &amp;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975" y="3161110"/>
            <a:ext cx="698500" cy="182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Oct 5 – Oct 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7620" y="2861830"/>
            <a:ext cx="609000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NDT methods detect the defects that Unit 2's microstructure makes and Unit 4's processes create. Hardness testing verifies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7620" y="3006546"/>
            <a:ext cx="539124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heat treatment. Inspection documentation creates the traceability that makes a failure investigation possible.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975" y="3561631"/>
            <a:ext cx="1882079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Unit 4 — Manufacturing Processes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975" y="3928990"/>
            <a:ext cx="774857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Oct 26 – Nov 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7620" y="3630066"/>
            <a:ext cx="606118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Casting defects provide corrosion and fatigue initiation sites. Forming introduces residual stress that drives SCC. Machining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7620" y="3774795"/>
            <a:ext cx="497976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quality determines surface finish and residual stress state — the foundation for fatigue life in service.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975" y="4329867"/>
            <a:ext cx="2003945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Unit 5 — Joining, Failure &amp; Corrosion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975" y="4697226"/>
            <a:ext cx="732305" cy="18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Nov 23 – Dec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7620" y="4325594"/>
            <a:ext cx="595529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The weld HAZ is a microstructure gradient each zone with different corrosion resistance. Residual weld stress drives SCC.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47620" y="4470310"/>
            <a:ext cx="625088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Failure analysis connects all previous units — explaining why a component failed and feeding that knowledge back into design,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47620" y="4615027"/>
            <a:ext cx="1751324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material selection, and inspection.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435" cy="514330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404" y="804242"/>
            <a:ext cx="8320671" cy="3635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404" y="1243446"/>
            <a:ext cx="8320671" cy="11700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404" y="1243077"/>
            <a:ext cx="8320671" cy="273964"/>
          </a:xfrm>
          <a:prstGeom prst="rect">
            <a:avLst/>
          </a:prstGeom>
          <a:solidFill>
            <a:srgbClr val="B8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404" y="2505597"/>
            <a:ext cx="8320671" cy="1170000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404" y="2505242"/>
            <a:ext cx="8320671" cy="273964"/>
          </a:xfrm>
          <a:prstGeom prst="rect">
            <a:avLst/>
          </a:prstGeom>
          <a:solidFill>
            <a:srgbClr val="8B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404" y="3767406"/>
            <a:ext cx="8320671" cy="1169999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404" y="3767037"/>
            <a:ext cx="8320671" cy="273964"/>
          </a:xfrm>
          <a:prstGeom prst="rect">
            <a:avLst/>
          </a:prstGeom>
          <a:solidFill>
            <a:srgbClr val="1E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696" y="239480"/>
            <a:ext cx="3859157" cy="515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000">
                <a:solidFill>
                  <a:srgbClr val="FFFFFF"/>
                </a:solidFill>
                <a:latin typeface="Calibri"/>
              </a:rPr>
              <a:t>Technician's Perspective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04" y="936327"/>
            <a:ext cx="5268250" cy="22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200">
                <a:solidFill>
                  <a:srgbClr val="CADCFC"/>
                </a:solidFill>
                <a:latin typeface="Calibri"/>
              </a:rPr>
              <a:t>Corrosion type identification in the field — what the technician sees and what it means.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855" y="1288274"/>
            <a:ext cx="5043558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Red Flag: Leak at 304 SS tube-to-tubesheet joint in seawater heat exchanger — 14 months in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855" y="1553235"/>
            <a:ext cx="769674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Inspection reveals three overlapping corrosion mechanisms: (1) Galvanic — carbon steel tubesheet is anodic to stainless tubes; unfavorable area ratio (small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855" y="1697951"/>
            <a:ext cx="794674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anode/large cathode) drives accelerated attack at the tubesheet. (2) Crevice — the tight gap between tube OD and tubesheet bore in stagnant seawater depletes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855" y="1842667"/>
            <a:ext cx="809364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O₂, drops pH, concentrates Cl⁻ — classic crevice geometry. (3) Sensitization — if standard 304 (not 304L) was used without interpass temperature control, chromium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855" y="1987397"/>
            <a:ext cx="779937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carbide precipitation in the HAZ depletes Cr below the passivity threshold. Action: specify 304L or duplex 2205 for seawater; specify full-strength seal welds to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855" y="2132113"/>
            <a:ext cx="697291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eliminate the crevice; apply sacrificial zinc anodes to the carbon steel tubesheet; add to failure investigation as a multi-mechanism case study.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855" y="2550070"/>
            <a:ext cx="483022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Caution: Branching cracks at weld toes on austenitic stainless pressure vessel in chloride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855" y="2815030"/>
            <a:ext cx="757868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VT finds tight, branching cracks running from weld toes. No beach marks on the fracture surface (distinguishing SCC from fatigue). No plastic deformation.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855" y="2959747"/>
            <a:ext cx="8076878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Metallographic sections show transgranular cracking with fine branching — the textbook appearance of chloride SCC in austenitic stainless. Root cause: tensile weld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855" y="3104476"/>
            <a:ext cx="8091708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residual stress + chloride from insulation + elevated temperature. Action: PWHT for stress relief (not always possible on austenitic SS — sensitization risk); shot peen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855" y="3249192"/>
            <a:ext cx="788717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weld toes; review insulation specification (chloride-free insulation required per NACE for SS service); consider upgrade to duplex stainless or super-austenitic for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855" y="3393909"/>
            <a:ext cx="193125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remaining vessels in the same service.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855" y="3812234"/>
            <a:ext cx="708300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900">
                <a:solidFill>
                  <a:srgbClr val="FFFFFF"/>
                </a:solidFill>
                <a:latin typeface="Calibri"/>
              </a:rPr>
              <a:t>Good Practice: Holiday testing a coating before cathodic protection commissioning — finding the pinhole that prevents a concentrated attack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855" y="4076826"/>
            <a:ext cx="793650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A newly coated pipeline section is holiday tested before backfilling using a high-voltage spark tester. A pinhole is found at a fitting where the coating was not fully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855" y="4221555"/>
            <a:ext cx="779286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sealed. The pinhole is repaired and retested. Without the repair, the pinhole under CP would have created a small anode/large cathodically protected cathode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855" y="4366272"/>
            <a:ext cx="784641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situation — concentrating the full galvanic driving force at a single point and producing rapid localized attack. Action: holiday testing is a mandatory step before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855" y="4510988"/>
            <a:ext cx="790490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CADCFC"/>
                </a:solidFill>
                <a:latin typeface="Calibri"/>
              </a:rPr>
              <a:t>burying or commissioning any cathodically protected coated structure; document all findings and repairs; retest after each repair until the coating is holiday-free.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8631720" cy="9871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1828801"/>
            <a:ext cx="8631720" cy="987120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2853006"/>
            <a:ext cx="8631720" cy="98712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3877197"/>
            <a:ext cx="8631720" cy="987119"/>
          </a:xfrm>
          <a:prstGeom prst="rect">
            <a:avLst/>
          </a:prstGeom>
          <a:solidFill>
            <a:srgbClr val="E0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8424" y="158292"/>
            <a:ext cx="2768131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Core Question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775" y="864151"/>
            <a:ext cx="315373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What is corrosion and why is it thermodynamically driven?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775" y="1077670"/>
            <a:ext cx="8125359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Corrosion is the degradation of a metal through chemical or electrochemical reaction with its environment. It is thermodynamically driven because most metals exist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775" y="1222387"/>
            <a:ext cx="7780207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naturally as ores (lower energy state) — refining requires energy input, and corrosion is the metal releasing that energy and returning toward its natural state.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775" y="1367116"/>
            <a:ext cx="7852321" cy="1979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Electrochemical corrosion requires four elements simultaneously: anode, cathode, electrolyte, and metallic path. Remove any one element and corrosion stops.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775" y="1888343"/>
            <a:ext cx="3555292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What are the main types of corrosion and how is each recognized?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775" y="2101874"/>
            <a:ext cx="831446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Uniform: even surface loss, predictable rate. Galvanic: concentrated attack on the less noble metal at a dissimilar metal junction. Pitting: discrete pits on otherwise intact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775" y="2246591"/>
            <a:ext cx="8022123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surface — depth concealed by corrosion product; driven by local passive film breakdown and Cl⁻ concentration; PREN quantifies resistance. Crevice: damage under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775" y="2391307"/>
            <a:ext cx="834847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gaskets, lap joints, deposits — stagnant O₂-depleted chemistry. SCC: branching, intergranular/transgranular cracks with no beach marks, no plastic deformation, driven by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775" y="2536037"/>
            <a:ext cx="186878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tensile stress + specific environment.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9775" y="2912179"/>
            <a:ext cx="425522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What protection methods are available and how do you choose between them?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775" y="3126066"/>
            <a:ext cx="836161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Coatings (barrier and sacrificial) + surface prep is #1 factor. Hot-dip galvanizing for structural steel: barrier + sacrificial, 20–50 yr life. Cathodic protection: sacrificial anodes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775" y="3270795"/>
            <a:ext cx="8208450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(passive, ships/pipelines) or ICCP (controllable, large structures). Inhibitors: anodic (risk if under-dosed), cathodic (safer). Material selection: most permanent — match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775" y="3415512"/>
            <a:ext cx="808326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PREN, CE, and alloy to the specific environment. Design: eliminate crevices, ensure drainage, isolate dissimilar metals, control residual stress. Most effective systems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775" y="3560228"/>
            <a:ext cx="1420036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combine multiple methods.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775" y="3936383"/>
            <a:ext cx="3469897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E07B39"/>
                </a:solidFill>
                <a:latin typeface="Calibri"/>
              </a:rPr>
              <a:t>How does material selection and design influence corrosion risk?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9775" y="4149915"/>
            <a:ext cx="8004157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Material selection must match the specific corrosion mechanism — 304 SS resists uniform attack but fails in Cl⁻ pitting; copper is excellent in freshwater but fails in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9775" y="4294631"/>
            <a:ext cx="8419019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ammonia. PREN guides stainless selection for chloride service. CE and alloy composition determine weldability and HAZ hardenability. Design decisions: butt joints over lap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775" y="4439348"/>
            <a:ext cx="8242462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joints (no crevice); sloped surfaces for drainage; non-conducting isolation for dissimilar metals; smooth surface finish; PWHT and shot peening to control residual stress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9775" y="4584077"/>
            <a:ext cx="905681" cy="197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900">
                <a:solidFill>
                  <a:srgbClr val="1A2433"/>
                </a:solidFill>
                <a:latin typeface="Calibri"/>
              </a:rPr>
              <a:t>and prevent SCC.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914046"/>
            <a:ext cx="8631720" cy="12250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914046"/>
            <a:ext cx="676440" cy="12250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5600" y="2230922"/>
            <a:ext cx="8631720" cy="12250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5600" y="2230922"/>
            <a:ext cx="676440" cy="12250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5600" y="3547442"/>
            <a:ext cx="8631720" cy="1225079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5600" y="3547442"/>
            <a:ext cx="676440" cy="122507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8424" y="158292"/>
            <a:ext cx="6621369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Key Takeaways — Week 16: Corrosion &amp; Course Wrap-up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178" y="1291040"/>
            <a:ext cx="268928" cy="515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0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1135" y="1256437"/>
            <a:ext cx="725966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Corrosion is thermodynamically inevitable — the goal is not to prevent it absolutely but to understand the specific mechanism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1135" y="1424191"/>
            <a:ext cx="7737073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operating in a given material-environment combination, slow the rate to an acceptable level, detect it early, and design structures with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1135" y="1591945"/>
            <a:ext cx="4005526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enough allowance and protection to achieve the required service life.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178" y="2607916"/>
            <a:ext cx="268928" cy="515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0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135" y="2573312"/>
            <a:ext cx="7675058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Every corrosion type has a characteristic appearance that allows a technician to identify it in the field — uniform surface loss, galvanic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135" y="2741067"/>
            <a:ext cx="77936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concentration at dissimilar metal junctions, discrete pitting, crevice location under gaskets and deposits, SCC branching — recognition is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1135" y="2908834"/>
            <a:ext cx="2885755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the first step toward prevention and remediation.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178" y="3924436"/>
            <a:ext cx="268928" cy="515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30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35" y="3805949"/>
            <a:ext cx="7626453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The five units of this course are not separate subjects but a single interconnected body of knowledge — atomic structure determines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135" y="3973716"/>
            <a:ext cx="763846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properties, properties determine material selection, processing determines microstructure, microstructure determines performance,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135" y="4141470"/>
            <a:ext cx="775118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and inspection and failure analysis close the loop; a technician who understands these connections is not just a procedure-follower but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1135" y="4309237"/>
            <a:ext cx="1061324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1A2433"/>
                </a:solidFill>
                <a:latin typeface="Calibri"/>
              </a:rPr>
              <a:t>a problem-solver.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"/>
            <a:ext cx="9143644" cy="5143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"/>
            <a:ext cx="9144000" cy="51436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"/>
            <a:ext cx="9143631" cy="685444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5600" y="804597"/>
            <a:ext cx="4717795" cy="4132808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5600" y="804242"/>
            <a:ext cx="4717795" cy="40212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116" y="1261442"/>
            <a:ext cx="4388764" cy="26999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116" y="1371246"/>
            <a:ext cx="91084" cy="3286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116" y="1919886"/>
            <a:ext cx="91084" cy="32867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116" y="2468526"/>
            <a:ext cx="91084" cy="3286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116" y="3017166"/>
            <a:ext cx="91084" cy="328675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116" y="3565806"/>
            <a:ext cx="91084" cy="3286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116" y="4114446"/>
            <a:ext cx="91084" cy="328676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804597"/>
            <a:ext cx="3767035" cy="4132808"/>
          </a:xfrm>
          <a:prstGeom prst="rect">
            <a:avLst/>
          </a:prstGeom>
          <a:solidFill>
            <a:srgbClr val="1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164" y="1919886"/>
            <a:ext cx="3291471" cy="27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164" y="2322362"/>
            <a:ext cx="91071" cy="2739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164" y="2724482"/>
            <a:ext cx="91071" cy="2739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164" y="3126957"/>
            <a:ext cx="91071" cy="2739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164" y="3529077"/>
            <a:ext cx="91071" cy="273964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164" y="3931566"/>
            <a:ext cx="91071" cy="273951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164" y="4352038"/>
            <a:ext cx="3291471" cy="420128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8424" y="158292"/>
            <a:ext cx="2804728" cy="3916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2200">
                <a:solidFill>
                  <a:srgbClr val="FFFFFF"/>
                </a:solidFill>
                <a:latin typeface="Calibri"/>
              </a:rPr>
              <a:t>Resources &amp; Final Exam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416" y="888653"/>
            <a:ext cx="1394812" cy="2523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300">
                <a:solidFill>
                  <a:srgbClr val="E07B39"/>
                </a:solidFill>
                <a:latin typeface="Calibri"/>
              </a:rPr>
              <a:t>Week 16 Resources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015" y="1369467"/>
            <a:ext cx="830442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Moniz Ch. 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015" y="1568303"/>
            <a:ext cx="2525084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Corrosion and Its Prevention — primary reading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015" y="1918107"/>
            <a:ext cx="2859217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Stainless Steel PREN — Grade Comparison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015" y="2116943"/>
            <a:ext cx="2846078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Service environment guide for stainless alloy 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015" y="2466747"/>
            <a:ext cx="352350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Corrosion Protection Guide — NACE / ISO 12944 / ASM 13A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015" y="2665583"/>
            <a:ext cx="3304187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Coating selection, surface preparation, and cathodic protection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015" y="3015387"/>
            <a:ext cx="848879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NACE SP0169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015" y="3214223"/>
            <a:ext cx="342770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Standard for cathodic protection of buried pipelines — CP criteria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015" y="3564027"/>
            <a:ext cx="1618766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NACE MR0175 / ISO 15156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015" y="3762862"/>
            <a:ext cx="2724594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Material requirements for H₂S service (sour service)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015" y="4112667"/>
            <a:ext cx="2471340" cy="2212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1C2B3A"/>
                </a:solidFill>
                <a:latin typeface="Calibri"/>
              </a:rPr>
              <a:t>ASM Vol. 13A — Corrosion Fundamentals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015" y="4311503"/>
            <a:ext cx="357041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64748B"/>
                </a:solidFill>
                <a:latin typeface="Calibri"/>
              </a:rPr>
              <a:t>Primary reference for corrosion mechanisms and materials selection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0820" y="945339"/>
            <a:ext cx="1090040" cy="3296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800">
                <a:solidFill>
                  <a:srgbClr val="E07B39"/>
                </a:solidFill>
                <a:latin typeface="Calibri"/>
              </a:rPr>
              <a:t>Final Exam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90820" y="1353143"/>
            <a:ext cx="2019362" cy="236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200">
                <a:solidFill>
                  <a:srgbClr val="FFFFFF"/>
                </a:solidFill>
                <a:latin typeface="Calibri"/>
              </a:rPr>
              <a:t>Week 17  ·  December 16,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0820" y="1643431"/>
            <a:ext cx="2235151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100">
                <a:solidFill>
                  <a:srgbClr val="64748B"/>
                </a:solidFill>
                <a:latin typeface="Calibri"/>
              </a:rPr>
              <a:t>5:00 PM – 7:00 PM  ·  Same classroom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90820" y="2027555"/>
            <a:ext cx="1423780" cy="2212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100">
                <a:solidFill>
                  <a:srgbClr val="CADCFC"/>
                </a:solidFill>
                <a:latin typeface="Calibri"/>
              </a:rPr>
              <a:t>Exam covers all 5 units: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0060" y="2381903"/>
            <a:ext cx="3101126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Unit 1 — Atomic structure, bonding, mechanical properties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10060" y="2784391"/>
            <a:ext cx="2940880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Unit 2 — Steel families, heat treatment, phase diagrams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10060" y="3186867"/>
            <a:ext cx="3223243" cy="2058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Unit 3 — NDT methods, mechanical testing, quality standards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10060" y="3588987"/>
            <a:ext cx="3021701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Unit 4 — Casting, forming, machining, powder metallurgy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10060" y="3991462"/>
            <a:ext cx="2869972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0" i="0" sz="1000">
                <a:solidFill>
                  <a:srgbClr val="CADCFC"/>
                </a:solidFill>
                <a:latin typeface="Calibri"/>
              </a:rPr>
              <a:t>Unit 5 — Welding, weld metallurgy, fracture, corrosion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81904" y="4467027"/>
            <a:ext cx="2695118" cy="205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i="0" sz="1000">
                <a:solidFill>
                  <a:srgbClr val="FFFFFF"/>
                </a:solidFill>
                <a:latin typeface="Calibri"/>
              </a:rPr>
              <a:t>Exams must be returned by 7:00 PM to be graded.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