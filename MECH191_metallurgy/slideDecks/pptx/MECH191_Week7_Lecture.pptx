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428084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330618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Mechanical Testing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22087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October 5,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435686"/>
            <a:ext cx="530315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62720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72448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821762"/>
            <a:ext cx="639711" cy="63972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782571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622" y="176748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664" y="1657693"/>
            <a:ext cx="313241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Tensile &amp; Hardness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664" y="2034416"/>
            <a:ext cx="620271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What each test measures, how to read results, and which method fits which 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622" y="286476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664" y="2754973"/>
            <a:ext cx="291088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Impact &amp; Fatigue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5664" y="3131696"/>
            <a:ext cx="6104909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Charpy impact, the ductile-brittle transition, fatigue mechanisms, and the S-N curve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622" y="3962044"/>
            <a:ext cx="357517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5664" y="3852253"/>
            <a:ext cx="300139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Reading Mill Test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664" y="4228976"/>
            <a:ext cx="598006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400">
                <a:solidFill>
                  <a:srgbClr val="CADCFC"/>
                </a:solidFill>
                <a:latin typeface="Calibri"/>
              </a:rPr>
              <a:t>Traceability, acceptance criteria, common flags, and the technician's responsibility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39788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3270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6  ·  Week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1671648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Mechanical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507902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Research published ASTM E112 grain size and HV for 1018 and 1045 steel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3600000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record both in your Hardness Log.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723389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2531046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A — 1018 steel (ref. HV)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1601718"/>
            <a:ext cx="2526665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Alloy B — 1045 steel (ref. HV)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096" y="4637234"/>
            <a:ext cx="1765012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79" y="731522"/>
            <a:ext cx="1691284" cy="50256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79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97557" y="731522"/>
            <a:ext cx="1691284" cy="5025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7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97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97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79" y="731522"/>
            <a:ext cx="1691284" cy="50256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234086"/>
            <a:ext cx="1691284" cy="785876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79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11879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6557" y="731522"/>
            <a:ext cx="1691284" cy="502564"/>
          </a:xfrm>
          <a:prstGeom prst="rect">
            <a:avLst/>
          </a:prstGeom>
          <a:solidFill>
            <a:srgbClr val="6B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26557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26557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26557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557" y="370296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731522"/>
            <a:ext cx="1691284" cy="502564"/>
          </a:xfrm>
          <a:prstGeom prst="rect">
            <a:avLst/>
          </a:prstGeom>
          <a:solidFill>
            <a:srgbClr val="5B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23408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05704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880006"/>
            <a:ext cx="1691284" cy="78587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79" y="4580638"/>
            <a:ext cx="8549284" cy="4841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424" y="15829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55" y="1010671"/>
            <a:ext cx="13146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" y="129398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55" y="147686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55" y="1651356"/>
            <a:ext cx="103716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55" y="1819110"/>
            <a:ext cx="6710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3255" y="2299823"/>
            <a:ext cx="4318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3255" y="247431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55" y="2642070"/>
            <a:ext cx="6619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57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7946" y="1010671"/>
            <a:ext cx="77651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0577" y="129398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7946" y="147686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7946" y="1651356"/>
            <a:ext cx="61436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57946" y="1819110"/>
            <a:ext cx="7245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0577" y="211694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57946" y="229982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7946" y="2474316"/>
            <a:ext cx="69663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7946" y="2642070"/>
            <a:ext cx="63308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30577" y="2939903"/>
            <a:ext cx="34318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E6C52"/>
                </a:solidFill>
                <a:latin typeface="Calibri"/>
              </a:rPr>
              <a:t>Wk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57946" y="3122783"/>
            <a:ext cx="4194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57946" y="3297276"/>
            <a:ext cx="8456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57946" y="3465030"/>
            <a:ext cx="97584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72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2255" y="1010671"/>
            <a:ext cx="9473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4900" y="1293983"/>
            <a:ext cx="78312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Wk 7  ← here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2255" y="1476863"/>
            <a:ext cx="34776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72255" y="1651356"/>
            <a:ext cx="727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72255" y="1819110"/>
            <a:ext cx="470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44900" y="211694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2255" y="229982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72255" y="2558187"/>
            <a:ext cx="86145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44900" y="2939903"/>
            <a:ext cx="343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5219"/>
                </a:solidFill>
                <a:latin typeface="Calibri"/>
              </a:rPr>
              <a:t>Wk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72255" y="312278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72255" y="3297276"/>
            <a:ext cx="48488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2255" y="3465030"/>
            <a:ext cx="6410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86946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86946" y="1010671"/>
            <a:ext cx="8352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59577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86946" y="1476863"/>
            <a:ext cx="41193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86946" y="1735227"/>
            <a:ext cx="4875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59577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86946" y="229982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86946" y="2558187"/>
            <a:ext cx="54397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9577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86946" y="3122783"/>
            <a:ext cx="37368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86946" y="3381147"/>
            <a:ext cx="67163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9577" y="3762862"/>
            <a:ext cx="40736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6B3A2E"/>
                </a:solidFill>
                <a:latin typeface="Calibri"/>
              </a:rPr>
              <a:t>Wk 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86946" y="3945743"/>
            <a:ext cx="43785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86946" y="4120236"/>
            <a:ext cx="5086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86946" y="4287990"/>
            <a:ext cx="69034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01255" y="765894"/>
            <a:ext cx="4888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01255" y="1010671"/>
            <a:ext cx="92125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3900" y="129398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01255" y="147686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01255" y="1651356"/>
            <a:ext cx="54201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01255" y="1819110"/>
            <a:ext cx="63168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73900" y="211694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1255" y="2299823"/>
            <a:ext cx="43785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01255" y="2474316"/>
            <a:ext cx="101621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01255" y="2642070"/>
            <a:ext cx="58405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73900" y="2939903"/>
            <a:ext cx="40736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5B2E6B"/>
                </a:solidFill>
                <a:latin typeface="Calibri"/>
              </a:rPr>
              <a:t>Wk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01255" y="3122783"/>
            <a:ext cx="36288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01255" y="3297276"/>
            <a:ext cx="62763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01255" y="3465030"/>
            <a:ext cx="69900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59936" y="4699854"/>
            <a:ext cx="18435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Week 17  ·  FINAL EXAM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51202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804597"/>
            <a:ext cx="5120271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204" y="804242"/>
            <a:ext cx="3291471" cy="41144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204" y="804597"/>
            <a:ext cx="3291471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084" y="2267282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084" y="294407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06084" y="3767037"/>
            <a:ext cx="2834271" cy="27000"/>
          </a:xfrm>
          <a:prstGeom prst="rect">
            <a:avLst/>
          </a:prstGeom>
          <a:solidFill>
            <a:srgbClr val="C8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62593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7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584" y="905094"/>
            <a:ext cx="529153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57950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8654" y="1380454"/>
            <a:ext cx="372504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Tensile testing — stress-strain curve, yield strength, UTS,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54" y="1570903"/>
            <a:ext cx="146854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elongation at fracture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738823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654" y="1761340"/>
            <a:ext cx="417831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0.2% offset method for materials without a clear yield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76" y="1929272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54" y="1951776"/>
            <a:ext cx="431834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Hardness testing — Rockwell (HRC, HRB), Brinell (HB), and Vickers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654" y="2142225"/>
            <a:ext cx="249606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(HV): methods and when each is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76" y="2310145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54" y="2332662"/>
            <a:ext cx="4259277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Charpy impact testing — notched specimens, energy absorption,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654" y="2523098"/>
            <a:ext cx="298139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and the ductile-brittle transition temperature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76" y="2691031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654" y="2713535"/>
            <a:ext cx="426531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Fatigue — cyclic loading, crack initiation at stress concentrations,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654" y="2903984"/>
            <a:ext cx="265466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S-N curve, and the steel fatigue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576" y="3071904"/>
            <a:ext cx="132560" cy="247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654" y="3094421"/>
            <a:ext cx="418084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Reading a mill test report (MTR) — heat numbers, composition,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654" y="3284857"/>
            <a:ext cx="261941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mechanical test results, and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93384" y="905094"/>
            <a:ext cx="821342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3384" y="1389871"/>
            <a:ext cx="127956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3384" y="1737267"/>
            <a:ext cx="80564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Moniz Ch.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384" y="1920147"/>
            <a:ext cx="124879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Mechanical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3384" y="2413707"/>
            <a:ext cx="10509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Kalpakjian Ch.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3384" y="2596587"/>
            <a:ext cx="24334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Fundamentals of Mechanical Behavior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3384" y="3035791"/>
            <a:ext cx="7427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Visualizers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93384" y="3401551"/>
            <a:ext cx="202393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Stress-Strain Curve (Interactive)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93384" y="3840387"/>
            <a:ext cx="11033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Pages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384" y="4077991"/>
            <a:ext cx="152336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Hardness Testing Scales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384" y="4260872"/>
            <a:ext cx="15900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Impact &amp; Fatigue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389966"/>
            <a:ext cx="8320671" cy="453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919886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25416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31633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3785402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4407117"/>
            <a:ext cx="402120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696" y="806275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696" y="1547097"/>
            <a:ext cx="614694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17" y="1969530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700" y="2078096"/>
            <a:ext cx="622030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does a tensile test actually measure and what do the results tell you about a material?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17" y="2591259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700" y="2699812"/>
            <a:ext cx="586719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the difference between Rockwell and Brinell hardness, and when is each used?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17" y="3212975"/>
            <a:ext cx="191871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700" y="3321528"/>
            <a:ext cx="498001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Why is impact testing important and what is the ductile-brittle transition?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17" y="3835059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700" y="3943256"/>
            <a:ext cx="5441698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fatigue and why can a metal fail at stresses well below its yield strength?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17" y="4456775"/>
            <a:ext cx="191871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700" y="4564972"/>
            <a:ext cx="609687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 you read a mill test report — and what are the key items a technician must verify?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478568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Tensile Testing — The Stress-Strain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186276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What the Test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20" y="13409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498" y="1361423"/>
            <a:ext cx="32496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Pulls a standardised specimen apart at a controlled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498" y="1544303"/>
            <a:ext cx="262302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rate while measuring force and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20" y="170667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98" y="1727183"/>
            <a:ext cx="317049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Force and extension are converted to engineering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98" y="1910063"/>
            <a:ext cx="313577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stress (σ = F/A₀) and engineering strain (ε = ΔL/L₀)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20" y="207243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98" y="2092943"/>
            <a:ext cx="31945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Results are plotted as a stress-strain curve — each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498" y="2275823"/>
            <a:ext cx="289318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point tells a different story about the 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20" y="243819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498" y="2458703"/>
            <a:ext cx="327846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0.2% offset method is used when no clear yield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498" y="2641583"/>
            <a:ext cx="337851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point exists — draw a line parallel to the elastic slope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498" y="2824463"/>
            <a:ext cx="346851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from 0.2% strain; the intersection with the curve is the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498" y="3007343"/>
            <a:ext cx="149839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reported yield strength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20" y="31697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98" y="3190223"/>
            <a:ext cx="30140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 single tensile test returns yield strength, UTS,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98" y="3373103"/>
            <a:ext cx="350978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elongation, and reduction in area — more data per test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98" y="3555983"/>
            <a:ext cx="173900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than any other routine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1615" y="881701"/>
            <a:ext cx="2018904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Key Values from the Curve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1615" y="1338092"/>
            <a:ext cx="119318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Proportional limit: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1615" y="1616075"/>
            <a:ext cx="298981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Stress up to which σ–ε is linear — the elastic region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615" y="1941812"/>
            <a:ext cx="121452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Yield strength (Sy):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1615" y="2135556"/>
            <a:ext cx="362072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Stress at onset of permanent plastic deformation — a primary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1615" y="2303310"/>
            <a:ext cx="107487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design parameter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1615" y="2545176"/>
            <a:ext cx="198423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Ultimate tensile strength (UTS):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1615" y="2823147"/>
            <a:ext cx="337559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Maximum stress on the curve; necking begins at this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1615" y="3148896"/>
            <a:ext cx="142982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Elongation at fracture: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1615" y="3426511"/>
            <a:ext cx="389141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Total permanent strain at fracture (%) — direct measure of ductility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1615" y="3752247"/>
            <a:ext cx="117988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Reduction in area: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1615" y="3946348"/>
            <a:ext cx="360088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% decrease in cross-section at fracture — especially useful for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1615" y="4114115"/>
            <a:ext cx="159572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materials that neck heavily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1615" y="4355612"/>
            <a:ext cx="85978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Curve shape: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1615" y="4549712"/>
            <a:ext cx="393527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Long plastic plateau = tough and ductile; steep then abrupt fracture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1615" y="4717466"/>
            <a:ext cx="279245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= brittle; no clear yield point = typical aluminum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964" y="804242"/>
            <a:ext cx="8594991" cy="27428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964" y="804242"/>
            <a:ext cx="8594991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035" y="1252437"/>
            <a:ext cx="1535760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47164" y="1252437"/>
            <a:ext cx="1627200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364" y="1252437"/>
            <a:ext cx="1773720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48795" y="1252437"/>
            <a:ext cx="1627200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76363" y="1252437"/>
            <a:ext cx="2029676" cy="273964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1035" y="1535762"/>
            <a:ext cx="8485200" cy="58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1035" y="2139482"/>
            <a:ext cx="8485200" cy="58499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1035" y="2742846"/>
            <a:ext cx="8485200" cy="58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964" y="3675598"/>
            <a:ext cx="4205871" cy="13165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3964" y="3675598"/>
            <a:ext cx="4205871" cy="3286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81435" y="3675598"/>
            <a:ext cx="4205884" cy="13165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435" y="3675598"/>
            <a:ext cx="4205884" cy="328688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8424" y="158292"/>
            <a:ext cx="645235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Hardness Testing — Three Methods, Three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144" y="881701"/>
            <a:ext cx="1596360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Method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055" y="1287031"/>
            <a:ext cx="5411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7184" y="1287031"/>
            <a:ext cx="57497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Indenter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5095" y="1287031"/>
            <a:ext cx="10044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Load &amp; Readout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8815" y="1287031"/>
            <a:ext cx="54592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Best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6384" y="1287031"/>
            <a:ext cx="80697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Typical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055" y="1725867"/>
            <a:ext cx="59592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Rockwell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7184" y="1641996"/>
            <a:ext cx="12539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Diamond cone (HRC)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7184" y="1809750"/>
            <a:ext cx="94930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Steel ball (HRB)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5095" y="1641996"/>
            <a:ext cx="120770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Minor + major load;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35095" y="1809750"/>
            <a:ext cx="141330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depth readout instantly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8815" y="1641996"/>
            <a:ext cx="135715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Production inspection;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8815" y="1809750"/>
            <a:ext cx="84901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finished parts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6384" y="1641996"/>
            <a:ext cx="143202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HRC 20–70 (hard steels)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6384" y="1809750"/>
            <a:ext cx="14422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HRB 0–100 (soft metals)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055" y="2329231"/>
            <a:ext cx="45332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Brinell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7184" y="2245348"/>
            <a:ext cx="87388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Hardened ball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07184" y="2413115"/>
            <a:ext cx="87793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(10 mm, W/C)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5095" y="2245348"/>
            <a:ext cx="117460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 load; measure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5095" y="2413115"/>
            <a:ext cx="150199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indent diameter optically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8815" y="2245348"/>
            <a:ext cx="109708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Castings, forgings,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8815" y="2413115"/>
            <a:ext cx="147518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coarse-grained materials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6384" y="2245348"/>
            <a:ext cx="129122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HB / BHN up to ~650;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6384" y="2413115"/>
            <a:ext cx="154823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approximate UTS from HB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1055" y="2932951"/>
            <a:ext cx="4897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A2433"/>
                </a:solidFill>
                <a:latin typeface="Calibri"/>
              </a:rPr>
              <a:t>Vickers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07184" y="2849068"/>
            <a:ext cx="96872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Square pyramid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7184" y="3016835"/>
            <a:ext cx="135729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diamond (same for all)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35095" y="2849068"/>
            <a:ext cx="114513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Variable low loads;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5095" y="3016835"/>
            <a:ext cx="164935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measure diagonals optically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8815" y="2849068"/>
            <a:ext cx="138914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Thin sections, coatings,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8815" y="3016835"/>
            <a:ext cx="158720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precision &amp; microhardness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6384" y="2849068"/>
            <a:ext cx="73602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HV 1–3000;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6384" y="3016835"/>
            <a:ext cx="143327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converts across HRC/HB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7416" y="3721223"/>
            <a:ext cx="130194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Conversion Caution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7416" y="4051465"/>
            <a:ext cx="381850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Approximate conversion tables between HRC, HB, and HV exist —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7416" y="4219233"/>
            <a:ext cx="3939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and approximate UTS can be estimated from HB (UTS ≈ 3.45 × HB in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7416" y="4386987"/>
            <a:ext cx="392158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MPa for carbon steels). These are approximations: use with caution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7416" y="4554754"/>
            <a:ext cx="373427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on alloy steels and non-ferrous materials where the relationship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7416" y="4722508"/>
            <a:ext cx="46617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differs.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14900" y="3721223"/>
            <a:ext cx="169393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Technician Rule of Thumb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14900" y="4135349"/>
            <a:ext cx="394155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Use Rockwell on the production floor for quick pass/fail checks. Use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14900" y="4303116"/>
            <a:ext cx="33654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Brinell on rough or coarse-grained material where a small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14900" y="4470870"/>
            <a:ext cx="387953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indentation would land in a soft spot. Use Vickers when measuring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4900" y="4638637"/>
            <a:ext cx="38896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case depth, thin-wall sections, or individual microstructural phases.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534440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Impact Testing &amp; the Ductile-Brittle Transition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179553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The Charpy Impact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20" y="13409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498" y="1361423"/>
            <a:ext cx="33902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 notched rectangular specimen is supported at both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498" y="1544303"/>
            <a:ext cx="34185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ends; a swinging pendulum strikes from behind at the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98" y="1727183"/>
            <a:ext cx="42858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20" y="188955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98" y="1910063"/>
            <a:ext cx="301272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Energy absorbed = mgh₁ − mgh₂ (the difference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98" y="2092943"/>
            <a:ext cx="311155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between swing height before and after fracture),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98" y="2275823"/>
            <a:ext cx="167976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reported in Joules or ft-lbf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20" y="243819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98" y="2458703"/>
            <a:ext cx="328683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notch simulates a real stress concentration — a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498" y="2641583"/>
            <a:ext cx="319303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crack tip, undercut weld, sharp corner, or inclusion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20" y="280395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498" y="2824463"/>
            <a:ext cx="327480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Tough materials absorb high energy and show large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498" y="3007343"/>
            <a:ext cx="331927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lateral expansion and shear fracture surfaces; brittle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98" y="3190223"/>
            <a:ext cx="32566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materials absorb little energy and show bright, flat,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98" y="3373103"/>
            <a:ext cx="167398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cleavage fracture surfaces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420" y="353547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98" y="3555983"/>
            <a:ext cx="328607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Izod test: specimen clamped vertically and struck at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98" y="3738863"/>
            <a:ext cx="320597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top — less common in modern standards than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98" y="3921743"/>
            <a:ext cx="5103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Charpy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1615" y="881701"/>
            <a:ext cx="2417971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Ductile-Brittle Transition (DBTT)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615" y="1338092"/>
            <a:ext cx="81900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Upper shelf: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1615" y="1596276"/>
            <a:ext cx="37346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High absorbed energy — fully ductile fracture. Material behaves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1615" y="1764030"/>
            <a:ext cx="246589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toughly above the transition temperature.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1615" y="2069612"/>
            <a:ext cx="81286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Lower shelf: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1615" y="2327796"/>
            <a:ext cx="387674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Low absorbed energy — fully brittle fracture. Even a tough-looking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1615" y="2495550"/>
            <a:ext cx="312459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material becomes dangerous below this temperature.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1615" y="2801132"/>
            <a:ext cx="15166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Transition temperature: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1615" y="2975433"/>
            <a:ext cx="354459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Defined at 50% of upper shelf energy (or 50% brittle fracture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1615" y="3143187"/>
            <a:ext cx="389700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appearance). A material can pass room-temperature testing but be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1615" y="3310954"/>
            <a:ext cx="270180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catastrophically brittle at service temperature.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1615" y="3532652"/>
            <a:ext cx="73335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BCC steels: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1615" y="3790836"/>
            <a:ext cx="387730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Carbon and low-alloy steels show a sharp DBTT — critical for arctic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1615" y="3958590"/>
            <a:ext cx="383302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pipelines, offshore structures, and pressure vessels in cold service.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1615" y="4264172"/>
            <a:ext cx="77749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FCC metals: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1615" y="4438473"/>
            <a:ext cx="380900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Austenitic stainless, aluminum, copper remain tough at cryogenic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1615" y="4606227"/>
            <a:ext cx="33807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temperatures — no DBTT. Essential for LNG and cryogenic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51615" y="4773994"/>
            <a:ext cx="79356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applications.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425160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597"/>
            <a:ext cx="4251604" cy="43848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99799" y="804597"/>
            <a:ext cx="420588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9799" y="804597"/>
            <a:ext cx="4205884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504856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Fatigue — Cyclic Loading and the S-N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416" y="881701"/>
            <a:ext cx="1502817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How Fatigue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420" y="134091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498" y="1361423"/>
            <a:ext cx="31123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Fatigue is progressive crack initiation and growth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498" y="1544303"/>
            <a:ext cx="351191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under cyclic loading — even when applied stress is well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498" y="1727183"/>
            <a:ext cx="13337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below yield 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20" y="188955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98" y="1910063"/>
            <a:ext cx="293262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Each load cycle causes tiny damage at a stress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98" y="2092943"/>
            <a:ext cx="31834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concentration; damage accumulates invisibly over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98" y="2275823"/>
            <a:ext cx="19619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thousands or millions of cycles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20" y="243819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98" y="2458703"/>
            <a:ext cx="337303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No plastic deformation occurs until final fracture — a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498" y="2641583"/>
            <a:ext cx="32129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fatigue failure gives NO visible warning beforehand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20" y="280395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498" y="2824463"/>
            <a:ext cx="301805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Crack initiation almost always occurs at a stress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498" y="3007343"/>
            <a:ext cx="305125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concentration: surface scratch, tool mark, sharp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98" y="3190223"/>
            <a:ext cx="285693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corner, weld toe, porosity, inclusion, or notch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20" y="3352590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498" y="3373103"/>
            <a:ext cx="333024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Compressive residual stress (e.g. from shot peening)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498" y="3555983"/>
            <a:ext cx="347750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delays crack initiation and improves fatigue life; tensile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98" y="3738863"/>
            <a:ext cx="300495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residual stress (e.g. from welding) accelerates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1615" y="881701"/>
            <a:ext cx="2271968" cy="267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400">
                <a:solidFill>
                  <a:srgbClr val="FFFFFF"/>
                </a:solidFill>
                <a:latin typeface="Calibri"/>
              </a:rPr>
              <a:t>The S-N Curve (Wöhler Curve)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1615" y="1338092"/>
            <a:ext cx="90232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What it plots: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1615" y="1596276"/>
            <a:ext cx="396557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Stress amplitude (S) vs. number of cycles to failure (N) on a log scale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1615" y="1764030"/>
            <a:ext cx="360507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— a downward-sloping line: lower stress survives more cycles.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1615" y="2069612"/>
            <a:ext cx="128015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Fatigue limit (steel):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1615" y="2243913"/>
            <a:ext cx="34686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Typically 40–50% of UTS for carbon steels. Below this stress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1615" y="2411667"/>
            <a:ext cx="390886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amplitude, a steel can theoretically survive an indefinite number of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1615" y="2579434"/>
            <a:ext cx="188121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cycles — a genuine design limit.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1615" y="2801132"/>
            <a:ext cx="113077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Aluminum alloys: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1615" y="2975433"/>
            <a:ext cx="36142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Have NO true fatigue limit — the S-N curve continues to slope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51615" y="3143187"/>
            <a:ext cx="367756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downward. Fatigue life must be specified for a finite number of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1615" y="3310954"/>
            <a:ext cx="135715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cycles (e.g. 10⁷ cycles).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1615" y="3532652"/>
            <a:ext cx="87381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Fatigue ratio: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1615" y="3790836"/>
            <a:ext cx="387088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Fatigue limit ÷ UTS — useful for comparing materials; typically 0.4–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1615" y="3958590"/>
            <a:ext cx="248377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0.5 for steels, 0.3–0.4 for aluminum alloys.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51615" y="4264172"/>
            <a:ext cx="123630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Design implication: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1615" y="4438473"/>
            <a:ext cx="382395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Surface finish, notches, and residual stresses affect where the S-N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51615" y="4606227"/>
            <a:ext cx="386976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curve sits — a polished surface in compression performs far better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51615" y="4773994"/>
            <a:ext cx="200692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than a notched surface in tension.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8631720" cy="47520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389598"/>
            <a:ext cx="2797556" cy="16455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1389966"/>
            <a:ext cx="2797556" cy="3470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040" y="1435686"/>
            <a:ext cx="365404" cy="2555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72675" y="1389598"/>
            <a:ext cx="2797568" cy="16455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72675" y="1389966"/>
            <a:ext cx="2797568" cy="3470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115" y="1435686"/>
            <a:ext cx="365404" cy="2555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9396" y="1389598"/>
            <a:ext cx="2797568" cy="16455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9396" y="1389966"/>
            <a:ext cx="2797568" cy="3470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0835" y="1435686"/>
            <a:ext cx="365404" cy="2555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8640" y="3218397"/>
            <a:ext cx="2797555" cy="16455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8640" y="3218766"/>
            <a:ext cx="2797555" cy="3470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10080" y="3264486"/>
            <a:ext cx="36540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35715" y="3218397"/>
            <a:ext cx="2797568" cy="164556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35715" y="3218766"/>
            <a:ext cx="2797568" cy="3470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27156" y="3264486"/>
            <a:ext cx="36540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424" y="158292"/>
            <a:ext cx="386602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Reading a Mill Test Report (MTR)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784" y="833986"/>
            <a:ext cx="813277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The MTR is the chain of traceability between raw material and finished component — without it, there is no way to verify the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784" y="1024422"/>
            <a:ext cx="217663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material meets the specification.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935" y="1460907"/>
            <a:ext cx="21713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44" y="1462947"/>
            <a:ext cx="12574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Heat / Lot Number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424" y="2008055"/>
            <a:ext cx="226501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Must match the number stamped or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424" y="2183378"/>
            <a:ext cx="215948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stencilled on the physical material.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424" y="2358689"/>
            <a:ext cx="238486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Without this match, the MTR does not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424" y="2534012"/>
            <a:ext cx="202968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certify the material in your hand.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63023" y="1460907"/>
            <a:ext cx="21713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0620" y="1462947"/>
            <a:ext cx="20094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Material Grade &amp; Specification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8144" y="2008055"/>
            <a:ext cx="250267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Confirm it matches what was ordered —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8144" y="2183378"/>
            <a:ext cx="243500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ASTM A36, API 5L Grade B, etc. A grade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88144" y="2358689"/>
            <a:ext cx="256289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substitution not approved by engineering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8144" y="2534012"/>
            <a:ext cx="135221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is a nonconformance.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9743" y="1460907"/>
            <a:ext cx="21713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7695" y="1462947"/>
            <a:ext cx="148407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Chemical Composition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220" y="2008055"/>
            <a:ext cx="217657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Compare each element against the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5220" y="2183378"/>
            <a:ext cx="260586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specification limits — carbon, manganese,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5220" y="2358689"/>
            <a:ext cx="243879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phosphorus, and sulfur always; alloying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5220" y="2534012"/>
            <a:ext cx="214091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elements as required by the grade.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08975" y="3289707"/>
            <a:ext cx="217131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36584" y="3291747"/>
            <a:ext cx="157134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Mechanical Test 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34464" y="3836855"/>
            <a:ext cx="233180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Yield strength, UTS, and elongation at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34464" y="4012178"/>
            <a:ext cx="225594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minimum; impact values if required.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34464" y="4187489"/>
            <a:ext cx="246072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Compare each against the minimum (or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34464" y="4362813"/>
            <a:ext cx="1908077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maximum) acceptance criteria.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6063" y="3289707"/>
            <a:ext cx="217132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53659" y="3200307"/>
            <a:ext cx="17534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Test Standard &amp; Certifying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53659" y="3383187"/>
            <a:ext cx="67635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Signature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1184" y="3836855"/>
            <a:ext cx="2429153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Tests must be performed to the correct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1184" y="4012178"/>
            <a:ext cx="261945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standard (e.g. ASTM A370). The document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1184" y="4187489"/>
            <a:ext cx="2189736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must be signed and traceable to an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1184" y="4362813"/>
            <a:ext cx="1584908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accredited testing facility.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964" y="822606"/>
            <a:ext cx="8594991" cy="1371231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22606"/>
            <a:ext cx="200875" cy="1371231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3964" y="2267282"/>
            <a:ext cx="8594991" cy="13712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267282"/>
            <a:ext cx="200875" cy="1371244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3964" y="3711957"/>
            <a:ext cx="8594991" cy="1371244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711957"/>
            <a:ext cx="200875" cy="137124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773267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Technician's Perspective — When Results Have Real Consequences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664" y="916008"/>
            <a:ext cx="267674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B83232"/>
                </a:solidFill>
                <a:latin typeface="Calibri"/>
              </a:rPr>
              <a:t>Red Flag: MTR heat number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664" y="1380867"/>
            <a:ext cx="762378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heat number on the MTR does not match the number stencilled on the pipe. Stop — do not use the material. Tag it as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664" y="1563747"/>
            <a:ext cx="780287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quarantined, issue a nonconformance report, and notify the quality engineer. A material whose identity cannot be confirmed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664" y="1746627"/>
            <a:ext cx="296490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cannot be installed in a code-governed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664" y="2360697"/>
            <a:ext cx="279257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6B5219"/>
                </a:solidFill>
                <a:latin typeface="Calibri"/>
              </a:rPr>
              <a:t>Caution: Impact values just at minimum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664" y="2825543"/>
            <a:ext cx="77224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The Charpy values in the MTR meet the specification — but they are at the minimum allowable limit on a project with a low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664" y="3008423"/>
            <a:ext cx="813013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minimum service temperature. Flag it to the engineer before installation. Minimum-conforming is not always fit-for-purpose when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664" y="3191303"/>
            <a:ext cx="273967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temperatures drop below the tested range.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664" y="3805728"/>
            <a:ext cx="316453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1E6C52"/>
                </a:solidFill>
                <a:latin typeface="Calibri"/>
              </a:rPr>
              <a:t>Good Practice: Hardness survey after welding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664" y="4270231"/>
            <a:ext cx="781247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After welding P91 chrome-moly pipe, a Vickers microhardness survey is run across the weld, HAZ, and base metal. Hard spots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664" y="4453111"/>
            <a:ext cx="810607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above the limit indicate insufficient post-weld heat treatment — the weld must be heat-treated again before pressure testing. The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664" y="4635991"/>
            <a:ext cx="369862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1A2433"/>
                </a:solidFill>
                <a:latin typeface="Calibri"/>
              </a:rPr>
              <a:t>test caught a problem before the system went into service.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005486"/>
            <a:ext cx="8320671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453838"/>
            <a:ext cx="4625866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704" y="1122515"/>
            <a:ext cx="3839174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does a tensile test measure and what do the results tell you?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704" y="1382626"/>
            <a:ext cx="842299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Pulls a specimen apart while recording force and extension → stress-strain curve. Gives yield strength (permanent deformation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704" y="1573062"/>
            <a:ext cx="786112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onset), UTS (maximum stress), and elongation (ductility). Curve shape reveals whether the material is ductile or brittle.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704" y="1890395"/>
            <a:ext cx="443754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Rockwell vs. Brinell hardness — what's the difference and when is each used?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2055815"/>
            <a:ext cx="823533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Rockwell measures penetration depth directly — fast, suits production inspection of finished parts (HRC for hard steels, HRB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04" y="2246264"/>
            <a:ext cx="822453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for softer metals). Brinell measures a large indentation optically — averages out microstructural variation, suits castings and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2436700"/>
            <a:ext cx="642189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forgings.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04" y="2658631"/>
            <a:ext cx="423682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Why is impact testing important and what is the ductile-brittle transition?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04" y="2918741"/>
            <a:ext cx="834758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Tensile tests apply load slowly; service impact is sudden. BCC steels have a DBTT — above it they absorb high energy (ductile);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704" y="3109178"/>
            <a:ext cx="818040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below it they fracture with little warning (brittle). Charpy tests verify adequate toughness at minimum service temperature.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04" y="3426867"/>
            <a:ext cx="360284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What is fatigue and why can a metal fail below yield strength?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04" y="3591943"/>
            <a:ext cx="804577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Cyclic loading initiates a crack at a stress concentration, growing invisibly with each cycle until sudden fracture. No visible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04" y="3782380"/>
            <a:ext cx="8321066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warning because yield is never reached. The S-N curve gives safe design stress; steels have a fatigue limit; aluminum alloys do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04" y="3972816"/>
            <a:ext cx="34244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not.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04" y="4194747"/>
            <a:ext cx="2073547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1" sz="1100">
                <a:solidFill>
                  <a:srgbClr val="CADCFC"/>
                </a:solidFill>
                <a:latin typeface="Calibri"/>
              </a:rPr>
              <a:t>How do you read a mill test report?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04" y="4360179"/>
            <a:ext cx="8071331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Check: ① heat number matches material markings; ② grade/spec matches order; ③ chemical composition within spec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04" y="4550616"/>
            <a:ext cx="807085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limits; ④ mechanical results (yield, UTS, elongation, impact if required) meet minimums; ⑤ test standard and certifying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04" y="4741065"/>
            <a:ext cx="1515225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signature are present.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3964" y="859321"/>
            <a:ext cx="8594991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964" y="859321"/>
            <a:ext cx="511556" cy="12430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3964" y="2212557"/>
            <a:ext cx="8594991" cy="124308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3964" y="2212557"/>
            <a:ext cx="511556" cy="124308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3964" y="3565806"/>
            <a:ext cx="8594991" cy="1243076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964" y="3565806"/>
            <a:ext cx="511556" cy="12430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179176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294" y="1203263"/>
            <a:ext cx="307543" cy="608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064" y="1157220"/>
            <a:ext cx="744159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Mechanical testing translates microstructure into numbers — tensile, hardness, impact, and fatigue tests each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064" y="1355568"/>
            <a:ext cx="764434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capture a different aspect of material behavior, and a technician who can read and interpret the results can make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064" y="1553929"/>
            <a:ext cx="612678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informed decisions about material acceptance, fitness for service, and failure investigation.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294" y="2556511"/>
            <a:ext cx="307543" cy="608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064" y="2510455"/>
            <a:ext cx="750240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Hardness is the fastest and most practical field test, but must be matched to the right scale and method for the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064" y="2708817"/>
            <a:ext cx="695314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material — Rockwell for production inspection of finished parts, Brinell for castings and forgings where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064" y="2907178"/>
            <a:ext cx="5282904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microstructural variation matters, Vickers for precision work and thin sections.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294" y="3909747"/>
            <a:ext cx="307543" cy="608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064" y="3863691"/>
            <a:ext cx="77243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The mill test report is the documentary backbone of material traceability — verifying that the heat number, grade,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064" y="4062052"/>
            <a:ext cx="772514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composition, and mechanical results all match the specification is a fundamental quality control responsibility that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064" y="4260414"/>
            <a:ext cx="502645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1A2433"/>
                </a:solidFill>
                <a:latin typeface="Calibri"/>
              </a:rPr>
              <a:t>every technician must take seriously before any material goes into service.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883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34518"/>
            <a:ext cx="4160164" cy="3529088"/>
          </a:xfrm>
          <a:prstGeom prst="rect">
            <a:avLst/>
          </a:prstGeom>
          <a:solidFill>
            <a:srgbClr val="25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1555" y="1929246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1555" y="2477886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1555" y="3026526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1555" y="3575166"/>
            <a:ext cx="91084" cy="2556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555" y="4123806"/>
            <a:ext cx="91084" cy="2555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18164" y="1334518"/>
            <a:ext cx="4160151" cy="3529088"/>
          </a:xfrm>
          <a:prstGeom prst="rect">
            <a:avLst/>
          </a:prstGeom>
          <a:solidFill>
            <a:srgbClr val="25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00676" y="2139482"/>
            <a:ext cx="3657244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696" y="669562"/>
            <a:ext cx="3778077" cy="4847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800">
                <a:solidFill>
                  <a:srgbClr val="FFFFFF"/>
                </a:solidFill>
                <a:latin typeface="Calibri"/>
              </a:rPr>
              <a:t>Resources &amp; 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584" y="1480509"/>
            <a:ext cx="1593276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7 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55" y="1916496"/>
            <a:ext cx="848898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Moniz Ch.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55" y="2155711"/>
            <a:ext cx="225274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Mechanical Testing — primary 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55" y="2465136"/>
            <a:ext cx="1121493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Kalpakjian Ch.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55" y="2704351"/>
            <a:ext cx="296131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Fundamentals of Mechanical Behavior of Materials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55" y="3013776"/>
            <a:ext cx="1567140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Stress-Strain Visualizer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55" y="3252991"/>
            <a:ext cx="285069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Interactive — plot your own material 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455" y="3562416"/>
            <a:ext cx="1813382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Hardness Scales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55" y="3801631"/>
            <a:ext cx="220735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HRC / HRB / HB / HV conversion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55" y="4111056"/>
            <a:ext cx="1886254" cy="244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Impact &amp; Fatigue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55" y="4350271"/>
            <a:ext cx="2798458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CADCFC"/>
                </a:solidFill>
                <a:latin typeface="Calibri"/>
              </a:rPr>
              <a:t>Charpy specimen geometry, S-N curve examples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7976" y="1480509"/>
            <a:ext cx="2133553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E07B39"/>
                </a:solidFill>
                <a:latin typeface="Calibri"/>
              </a:rPr>
              <a:t>Week 8 — NDT Methods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7976" y="1847071"/>
            <a:ext cx="11479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October 12,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7981" y="223730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058" y="2257827"/>
            <a:ext cx="326734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Visual testing (VT) — the first step before any other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058" y="2440707"/>
            <a:ext cx="56244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77981" y="260306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058" y="2623587"/>
            <a:ext cx="29705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Dye penetrant (PT) — finding surface-breaking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21058" y="2806467"/>
            <a:ext cx="222434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defects in any non-porous material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7981" y="296882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058" y="2989347"/>
            <a:ext cx="312815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Magnetic particle (MT) — near-surface defects in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058" y="3172227"/>
            <a:ext cx="155534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ferromagnetic materials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7981" y="333458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1058" y="3355107"/>
            <a:ext cx="331622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Ultrasonic (UT) — internal defect detection and wall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058" y="3537987"/>
            <a:ext cx="154667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thickness measurement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7981" y="3700341"/>
            <a:ext cx="130261" cy="239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058" y="3720867"/>
            <a:ext cx="309328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Radiographic (RT) — volumetric imaging and the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21058" y="3903747"/>
            <a:ext cx="299308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FFFFFF"/>
                </a:solidFill>
                <a:latin typeface="Calibri"/>
              </a:rPr>
              <a:t>radiation safety requirements that come with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