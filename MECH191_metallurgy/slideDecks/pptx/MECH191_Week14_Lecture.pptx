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6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3063242"/>
            <a:ext cx="4571631" cy="453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2696" y="1003499"/>
            <a:ext cx="250571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E07B39"/>
                </a:solidFill>
                <a:latin typeface="Calibri"/>
              </a:rPr>
              <a:t>M E C H 1 9 1 — M e t a l l u r g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696" y="1382427"/>
            <a:ext cx="2814476" cy="980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6000">
                <a:solidFill>
                  <a:srgbClr val="FFFFFF"/>
                </a:solidFill>
                <a:latin typeface="Calibri"/>
              </a:rPr>
              <a:t>Week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696" y="2449334"/>
            <a:ext cx="217253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2200">
                <a:solidFill>
                  <a:srgbClr val="CADCFC"/>
                </a:solidFill>
                <a:latin typeface="Calibri"/>
              </a:rPr>
              <a:t>Welding Processes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696" y="3311813"/>
            <a:ext cx="346295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November 23, 2026  ·  5:00 – 7:30 PM  ·  Kai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188366"/>
            <a:ext cx="8320671" cy="3635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59" y="1334886"/>
            <a:ext cx="475195" cy="475195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59" y="2395806"/>
            <a:ext cx="475195" cy="475195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59" y="3456358"/>
            <a:ext cx="475195" cy="47520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696" y="530564"/>
            <a:ext cx="2696648" cy="6397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800">
                <a:solidFill>
                  <a:srgbClr val="FFFFFF"/>
                </a:solidFill>
                <a:latin typeface="Calibri"/>
              </a:rPr>
              <a:t>Class 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738" y="1420890"/>
            <a:ext cx="307543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784" y="1327042"/>
            <a:ext cx="2079830" cy="3143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700">
                <a:solidFill>
                  <a:srgbClr val="FFFFFF"/>
                </a:solidFill>
                <a:latin typeface="Calibri"/>
              </a:rPr>
              <a:t>Arc Welding Processes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784" y="1703852"/>
            <a:ext cx="547565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SMAW, GMAW, GTAW, and FCAW — how each works, what it's used for, and its quality risks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738" y="2481810"/>
            <a:ext cx="307543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784" y="2387962"/>
            <a:ext cx="2890485" cy="3143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700">
                <a:solidFill>
                  <a:srgbClr val="FFFFFF"/>
                </a:solidFill>
                <a:latin typeface="Calibri"/>
              </a:rPr>
              <a:t>Filler Metals &amp; Thermal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784" y="2764772"/>
            <a:ext cx="643040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AWS filler classification, matching vs. overmatching, preheat, interpass temperature, and carbon equivalent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738" y="3542375"/>
            <a:ext cx="307543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784" y="3448526"/>
            <a:ext cx="3977405" cy="3143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700">
                <a:solidFill>
                  <a:srgbClr val="FFFFFF"/>
                </a:solidFill>
                <a:latin typeface="Calibri"/>
              </a:rPr>
              <a:t>Weld Symbols &amp; Technician Responsibilities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784" y="3825336"/>
            <a:ext cx="578260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Reading the reference line, identifying weld type and size, and applying the symbol to inspection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9143631" cy="62136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749886"/>
            <a:ext cx="4151160" cy="4187519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749517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475" y="1791718"/>
            <a:ext cx="3858488" cy="3635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749886"/>
            <a:ext cx="4315676" cy="4187519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749517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17796" y="2559966"/>
            <a:ext cx="4023004" cy="363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4534918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704" y="144840"/>
            <a:ext cx="3527254" cy="36088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2000">
                <a:solidFill>
                  <a:srgbClr val="E07B39"/>
                </a:solidFill>
                <a:latin typeface="Calibri"/>
              </a:rPr>
              <a:t>Alloy Research Portfolio — Module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6344" y="193848"/>
            <a:ext cx="2224316" cy="2523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300">
                <a:solidFill>
                  <a:srgbClr val="64748B"/>
                </a:solidFill>
                <a:latin typeface="Calibri"/>
              </a:rPr>
              <a:t>No Microscope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775" y="831872"/>
            <a:ext cx="148088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Module 13  ·  Week 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775" y="1352353"/>
            <a:ext cx="1068431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Brass Alloys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775" y="1963827"/>
            <a:ext cx="135659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What to do this week: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775" y="2502440"/>
            <a:ext cx="3841297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Research 260, 360, and 464 brass: zinc content, phase structure, 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775" y="2662283"/>
            <a:ext cx="3902700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published HV for your Hardness Log. Welding fundamentals are covered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775" y="2822112"/>
            <a:ext cx="2809681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in today's lecture, not in this research module.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775" y="3435871"/>
            <a:ext cx="42845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Steps: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9775" y="3838821"/>
            <a:ext cx="1965187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1  Research — record data &amp; sources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9775" y="3991462"/>
            <a:ext cx="2314392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2  Answer — short-answer 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9775" y="4144104"/>
            <a:ext cx="1640508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  Apply — critical-thinking &amp; equations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5096" y="831872"/>
            <a:ext cx="1597840" cy="2365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Alloys of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5096" y="1309034"/>
            <a:ext cx="2414484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· Alloys K, L, M — 260, 360 &amp; 464 brass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5096" y="2731707"/>
            <a:ext cx="1535518" cy="22120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How to Complete This Module: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5096" y="3219620"/>
            <a:ext cx="1771904" cy="2058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1  Research the alloy(s) using credible sources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5096" y="3372261"/>
            <a:ext cx="1562482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2  Record data with a source citation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5096" y="3524903"/>
            <a:ext cx="2208537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  Answer the short-answer questions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5096" y="3677544"/>
            <a:ext cx="1728317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4  Answer the critical-thinking questions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5096" y="3830185"/>
            <a:ext cx="2548850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5  Keep the module with your portfolio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5096" y="4637234"/>
            <a:ext cx="183187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Portfolio Handout — Module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5600" y="658078"/>
            <a:ext cx="1682280" cy="511568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324" y="658078"/>
            <a:ext cx="1682280" cy="511568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67035" y="658078"/>
            <a:ext cx="1682279" cy="511568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22760" y="658078"/>
            <a:ext cx="1682279" cy="511568"/>
          </a:xfrm>
          <a:prstGeom prst="rect">
            <a:avLst/>
          </a:prstGeom>
          <a:solidFill>
            <a:srgbClr val="6B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78116" y="658078"/>
            <a:ext cx="1682280" cy="511568"/>
          </a:xfrm>
          <a:prstGeom prst="rect">
            <a:avLst/>
          </a:prstGeom>
          <a:solidFill>
            <a:srgbClr val="4B2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600" y="1243446"/>
            <a:ext cx="1682280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324" y="1243446"/>
            <a:ext cx="1682280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67035" y="1243446"/>
            <a:ext cx="1682279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22760" y="1243446"/>
            <a:ext cx="1682279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78116" y="1243446"/>
            <a:ext cx="1682280" cy="621360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5600" y="1920242"/>
            <a:ext cx="1682280" cy="621360"/>
          </a:xfrm>
          <a:prstGeom prst="rect">
            <a:avLst/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324" y="1920242"/>
            <a:ext cx="1682280" cy="621360"/>
          </a:xfrm>
          <a:prstGeom prst="rect">
            <a:avLst/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67035" y="1920242"/>
            <a:ext cx="1682279" cy="621360"/>
          </a:xfrm>
          <a:prstGeom prst="rect">
            <a:avLst/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22760" y="1920242"/>
            <a:ext cx="1682279" cy="621360"/>
          </a:xfrm>
          <a:prstGeom prst="rect">
            <a:avLst/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78116" y="1920242"/>
            <a:ext cx="1682280" cy="621360"/>
          </a:xfrm>
          <a:prstGeom prst="rect">
            <a:avLst/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324" y="2597037"/>
            <a:ext cx="1682280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7035" y="2597037"/>
            <a:ext cx="1682279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22760" y="2597037"/>
            <a:ext cx="1682279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78116" y="2597037"/>
            <a:ext cx="1682280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22760" y="3291842"/>
            <a:ext cx="1682279" cy="621360"/>
          </a:xfrm>
          <a:prstGeom prst="rect">
            <a:avLst/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5600" y="3986277"/>
            <a:ext cx="8631720" cy="40212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2900" y="186372"/>
            <a:ext cx="441804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1C2B3A"/>
                </a:solidFill>
                <a:latin typeface="Calibri"/>
              </a:rPr>
              <a:t>MECH 191 — Course &amp; Unit Roadmap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6344" y="685707"/>
            <a:ext cx="4576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Unit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6344" y="926183"/>
            <a:ext cx="1196479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FFFFFF"/>
                </a:solidFill>
                <a:latin typeface="Calibri"/>
              </a:rPr>
              <a:t>Materials Fundamentals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72055" y="685707"/>
            <a:ext cx="4576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Unit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72055" y="926183"/>
            <a:ext cx="708347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FFFFFF"/>
                </a:solidFill>
                <a:latin typeface="Calibri"/>
              </a:rPr>
              <a:t>Steel &amp; Alloys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27779" y="685707"/>
            <a:ext cx="4576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Unit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27779" y="926183"/>
            <a:ext cx="862892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FFFFFF"/>
                </a:solidFill>
                <a:latin typeface="Calibri"/>
              </a:rPr>
              <a:t>Testing &amp; Quality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83504" y="685707"/>
            <a:ext cx="4576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Unit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83504" y="926183"/>
            <a:ext cx="76341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FFFFFF"/>
                </a:solidFill>
                <a:latin typeface="Calibri"/>
              </a:rPr>
              <a:t>Manufacturing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39215" y="685707"/>
            <a:ext cx="4576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Unit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39215" y="926183"/>
            <a:ext cx="840685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FFFFFF"/>
                </a:solidFill>
                <a:latin typeface="Calibri"/>
              </a:rPr>
              <a:t>Joining &amp; Failure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6344" y="1288630"/>
            <a:ext cx="330664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6344" y="1438095"/>
            <a:ext cx="397882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Aug 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6344" y="1545310"/>
            <a:ext cx="90170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Atomic Structure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6344" y="1690026"/>
            <a:ext cx="58790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&amp; Bonding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72055" y="1288630"/>
            <a:ext cx="330664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72055" y="1438095"/>
            <a:ext cx="38723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Sep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72055" y="1545310"/>
            <a:ext cx="53857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Carbon &amp;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72055" y="1690026"/>
            <a:ext cx="63312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Alloy Steels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27779" y="1288630"/>
            <a:ext cx="330663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27779" y="1438095"/>
            <a:ext cx="321754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Oct 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27779" y="1545310"/>
            <a:ext cx="63481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Mechanical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27779" y="1690026"/>
            <a:ext cx="41580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Testing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83504" y="1288630"/>
            <a:ext cx="391445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83504" y="1438095"/>
            <a:ext cx="37968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Oct 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83504" y="1617674"/>
            <a:ext cx="42979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Casting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39215" y="1288630"/>
            <a:ext cx="782189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E07B39"/>
                </a:solidFill>
                <a:latin typeface="Calibri"/>
              </a:rPr>
              <a:t>Wk 14 ← here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39215" y="1438095"/>
            <a:ext cx="402461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Nov 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39215" y="1545310"/>
            <a:ext cx="47562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Welding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39215" y="1690026"/>
            <a:ext cx="55268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Processes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6344" y="1965426"/>
            <a:ext cx="33066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6344" y="2114903"/>
            <a:ext cx="397882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Aug 31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6344" y="2221750"/>
            <a:ext cx="63481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Mechanical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6344" y="2366466"/>
            <a:ext cx="57994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Properties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72055" y="1965426"/>
            <a:ext cx="33066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72055" y="2114903"/>
            <a:ext cx="38723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Sep 21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72055" y="2221750"/>
            <a:ext cx="60888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Stainless &amp;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72055" y="2366466"/>
            <a:ext cx="55389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Cast Irons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27779" y="1965426"/>
            <a:ext cx="33066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27779" y="2114903"/>
            <a:ext cx="37968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Oct 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27779" y="2294114"/>
            <a:ext cx="75034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NDT Methods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83504" y="1965426"/>
            <a:ext cx="39144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11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83504" y="2114903"/>
            <a:ext cx="344535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Nov 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83504" y="2294114"/>
            <a:ext cx="47851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Forming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39215" y="1965426"/>
            <a:ext cx="39144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15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39215" y="2114903"/>
            <a:ext cx="402461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Nov 30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39215" y="2221750"/>
            <a:ext cx="88433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Weld Metallurgy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39215" y="2366466"/>
            <a:ext cx="51361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&amp; Failure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72055" y="2641866"/>
            <a:ext cx="33066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72055" y="2791343"/>
            <a:ext cx="38723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Sep 28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72055" y="2898545"/>
            <a:ext cx="73672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Nonferrous &amp;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72055" y="3043275"/>
            <a:ext cx="84779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Phase Diagrams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27779" y="2641866"/>
            <a:ext cx="33066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27779" y="2791343"/>
            <a:ext cx="37968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Oct 19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27779" y="2898545"/>
            <a:ext cx="42762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Quality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27779" y="3043275"/>
            <a:ext cx="56137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Standards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83504" y="2641866"/>
            <a:ext cx="39144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12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83504" y="2791343"/>
            <a:ext cx="344535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Nov 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583504" y="2970910"/>
            <a:ext cx="58802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Machining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39215" y="2641866"/>
            <a:ext cx="39144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16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39215" y="2791343"/>
            <a:ext cx="335377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Dec 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39215" y="2898545"/>
            <a:ext cx="54906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Corrosion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39215" y="3043275"/>
            <a:ext cx="61117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&amp; Wrap-up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583504" y="3337026"/>
            <a:ext cx="39144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13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83504" y="3486503"/>
            <a:ext cx="402461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Nov 16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83504" y="3593350"/>
            <a:ext cx="44861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Powder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583504" y="3738066"/>
            <a:ext cx="60406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Metallurgy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741737" y="4070688"/>
            <a:ext cx="170909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Week 17  ·  FINAL EXAM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955" y="804597"/>
            <a:ext cx="501048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955" y="804242"/>
            <a:ext cx="501048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2956" y="804597"/>
            <a:ext cx="347436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12956" y="804242"/>
            <a:ext cx="3474364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484" y="2121118"/>
            <a:ext cx="3017151" cy="270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77484" y="3200046"/>
            <a:ext cx="3017151" cy="270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77484" y="4096082"/>
            <a:ext cx="3017151" cy="270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8424" y="158292"/>
            <a:ext cx="2767293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Week 14 — At a Glance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780" y="888653"/>
            <a:ext cx="49425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Topics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576" y="1379240"/>
            <a:ext cx="430343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Welding fundamentals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 — heat sources, joint types, groove preparations, weld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576" y="1539082"/>
            <a:ext cx="186477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positions, and heat input formula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576" y="1698911"/>
            <a:ext cx="437606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SMAW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 — stick welding, coated electrodes, E7018 classification, slag protection,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576" y="1858753"/>
            <a:ext cx="147184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and low-hydrogen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576" y="2018596"/>
            <a:ext cx="437877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GMAW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 — MIG welding, continuous wire, shielding gases, transfer modes (short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576" y="2178438"/>
            <a:ext cx="120504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circuit, spray, pulsed)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576" y="2338280"/>
            <a:ext cx="423362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GTAW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 — TIG welding, non-consumable tungsten, AC for aluminum, DCEN for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576" y="2498122"/>
            <a:ext cx="118280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steel, highest 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576" y="2657952"/>
            <a:ext cx="419652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FCAW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 — flux-cored wire, self-shielded vs. gas-shielded, high deposition rate,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576" y="2817794"/>
            <a:ext cx="87778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structural steel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576" y="2977636"/>
            <a:ext cx="434251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Preheat &amp; interpass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 — carbon equivalent, cooling rate control, HIC prevention,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576" y="3137478"/>
            <a:ext cx="118253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verification methods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576" y="3297320"/>
            <a:ext cx="454062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Weld symbols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 — reference line anatomy, arrow side vs. other side, weld type, size,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576" y="3457163"/>
            <a:ext cx="87764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length, and tail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65140" y="888653"/>
            <a:ext cx="76524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Resources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65140" y="1325787"/>
            <a:ext cx="127956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Reference Material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65140" y="1642352"/>
            <a:ext cx="194797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Kalpakjian Ch. 30  ·  Moniz Ch. 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65140" y="1810106"/>
            <a:ext cx="280432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Fusion Welding Processes &amp; Welding Metallurgy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65140" y="2221823"/>
            <a:ext cx="74275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Visualizers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65140" y="2477599"/>
            <a:ext cx="192298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SMAW — Arc &amp; AWS Classification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65140" y="2637441"/>
            <a:ext cx="234042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GMAW — Transfer Modes &amp; Shielding Gas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65140" y="2797284"/>
            <a:ext cx="214289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FCAW — Self-Shielded vs Gas-Shielded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65140" y="2957113"/>
            <a:ext cx="221002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GTAW — Tungsten &amp; Filler Classification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65140" y="3300751"/>
            <a:ext cx="97026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Key Reference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65140" y="3544996"/>
            <a:ext cx="193763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AWS D1.1 Structural Welding Code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65140" y="3704838"/>
            <a:ext cx="153391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Weld Symbols — AWS A2.4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65140" y="3864680"/>
            <a:ext cx="205045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Preheat Calculator — Lincoln Electric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65140" y="4171042"/>
            <a:ext cx="249374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Next: Week 15 — Weld Metallurgy &amp; Failure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859321"/>
            <a:ext cx="8320671" cy="36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59" y="1280162"/>
            <a:ext cx="438480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59" y="2048397"/>
            <a:ext cx="438480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59" y="2816277"/>
            <a:ext cx="438480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59" y="3584526"/>
            <a:ext cx="438480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59" y="4352406"/>
            <a:ext cx="438480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696" y="289678"/>
            <a:ext cx="2642450" cy="546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200">
                <a:solidFill>
                  <a:srgbClr val="FFFFFF"/>
                </a:solidFill>
                <a:latin typeface="Calibri"/>
              </a:rPr>
              <a:t>Core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04" y="969387"/>
            <a:ext cx="568792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Try to answer these before we dive in — we'll revisit them with answers at the end of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944" y="1354766"/>
            <a:ext cx="185496" cy="3143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7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8060" y="1382213"/>
            <a:ext cx="417546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is welding and how does it create a metallurgical bond?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944" y="2123002"/>
            <a:ext cx="185496" cy="3143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7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8060" y="2150448"/>
            <a:ext cx="444497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are the main arc welding processes and when is each used?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944" y="2890882"/>
            <a:ext cx="185496" cy="3143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7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060" y="2918697"/>
            <a:ext cx="366140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How do filler metals work and how are they selected?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944" y="3659130"/>
            <a:ext cx="185496" cy="3143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7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060" y="3686577"/>
            <a:ext cx="532206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are preheat and interpass temperature and why are they quality-critical?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944" y="4427010"/>
            <a:ext cx="185496" cy="3143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7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060" y="4454812"/>
            <a:ext cx="265641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How do you read a basic weld symbol?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15116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116" y="2559966"/>
            <a:ext cx="3748684" cy="270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484" y="2925726"/>
            <a:ext cx="72720" cy="365391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484" y="3401277"/>
            <a:ext cx="72720" cy="365404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484" y="3876842"/>
            <a:ext cx="72720" cy="365404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484" y="4352038"/>
            <a:ext cx="72720" cy="365404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804597"/>
            <a:ext cx="4315676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804242"/>
            <a:ext cx="4315676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17796" y="2303997"/>
            <a:ext cx="4023004" cy="270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17796" y="3291842"/>
            <a:ext cx="4023004" cy="2556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8424" y="158292"/>
            <a:ext cx="6055940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Welding Fundamentals — Joint Design &amp; Heat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780" y="895943"/>
            <a:ext cx="224855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Joint Types &amp; Groove Preparations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416" y="1287031"/>
            <a:ext cx="131986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2E4A6B"/>
                </a:solidFill>
                <a:latin typeface="Calibri"/>
              </a:rPr>
              <a:t>Five basic joint types: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416" y="1498404"/>
            <a:ext cx="360459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Butt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 — two pieces edge to edge (most common in pipe and plate)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7416" y="1658233"/>
            <a:ext cx="369551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T-joint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 — one piece perpendicular to another (fillet or groove weld)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7416" y="1818076"/>
            <a:ext cx="257000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Lap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 — two pieces overlapping (fillet each side)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416" y="1977918"/>
            <a:ext cx="276343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Corner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 — two pieces at right angles at their edges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7416" y="2137760"/>
            <a:ext cx="293113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Edge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 — two pieces parallel, welded along their edges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416" y="2658631"/>
            <a:ext cx="131008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2E4A6B"/>
                </a:solidFill>
                <a:latin typeface="Calibri"/>
              </a:rPr>
              <a:t>Groove preparations: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295" y="2930911"/>
            <a:ext cx="83039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3B6FBA"/>
                </a:solidFill>
                <a:latin typeface="Calibri"/>
              </a:rPr>
              <a:t>Square groove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295" y="3108070"/>
            <a:ext cx="3066216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Thin material; full penetration without bevel; simple and fast.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0295" y="3406463"/>
            <a:ext cx="545365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V-groove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295" y="3511270"/>
            <a:ext cx="350278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Most common; single or double; bevel angle controls penetration and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295" y="3655986"/>
            <a:ext cx="73225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weld volume.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0295" y="3881671"/>
            <a:ext cx="55781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U-groove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0295" y="3986834"/>
            <a:ext cx="351701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Thick material; reduced weld volume vs. V-groove; more prep cost but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0295" y="4131550"/>
            <a:ext cx="52374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less filler.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0295" y="4357223"/>
            <a:ext cx="75288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6B7C"/>
                </a:solidFill>
                <a:latin typeface="Calibri"/>
              </a:rPr>
              <a:t>Bevel groove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0295" y="4534394"/>
            <a:ext cx="329113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Single-sided access only; one plate bevelled, the other left square.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42179" y="895943"/>
            <a:ext cx="258739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Positions, Heat Input &amp; Bond Formation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5464" y="1287031"/>
            <a:ext cx="254103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2E4A6B"/>
                </a:solidFill>
                <a:latin typeface="Calibri"/>
              </a:rPr>
              <a:t>How welding creates a metallurgical bond: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5464" y="1544479"/>
            <a:ext cx="398355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 heat source melts the base metal and filler to form a weld pool — as it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5464" y="1704322"/>
            <a:ext cx="413912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solidifies, a continuous metallic connection forms across the joint. The joint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5464" y="1864164"/>
            <a:ext cx="385501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is not glued; it is a continuation of the metal itself. Microstructure and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5464" y="2023993"/>
            <a:ext cx="397702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mechanical properties are determined by the thermal cycle experienced.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5464" y="2402675"/>
            <a:ext cx="97612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2E4A6B"/>
                </a:solidFill>
                <a:latin typeface="Calibri"/>
              </a:rPr>
              <a:t>Weld positions: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5464" y="2666956"/>
            <a:ext cx="397196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Flat (1G/1F)  ·  Horizontal (2G/2F)  ·  Vertical (3G/3F)  ·  Overhead (4G/4F)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5464" y="2826798"/>
            <a:ext cx="422916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Position affects heat input control, weld pool behavior, and the skill required.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05464" y="2986641"/>
            <a:ext cx="314773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Procedure and welder qualifications are position-specific.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78895" y="3317075"/>
            <a:ext cx="69356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Heat Input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5464" y="3622402"/>
            <a:ext cx="334034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1" sz="1000">
                <a:solidFill>
                  <a:srgbClr val="1C2B3A"/>
                </a:solidFill>
                <a:latin typeface="Calibri"/>
              </a:rPr>
              <a:t>HI = (V × A × 60) / (1000 × travel speed mm/min)  →  kJ/mm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05464" y="3905789"/>
            <a:ext cx="417313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Higher heat input → slower cooling → coarser grain structure, wider HAZ, more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05464" y="4058430"/>
            <a:ext cx="57433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distortion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05464" y="4211071"/>
            <a:ext cx="381097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Lower heat input → faster cooling → finer grain structure, greater risk of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05464" y="4363699"/>
            <a:ext cx="206722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hydrogen cracking in hardenable steels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5464" y="4516341"/>
            <a:ext cx="360282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Heat input specified in the WPS and must be controlled within limits.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15116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15116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955" y="1279806"/>
            <a:ext cx="109448" cy="76788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955" y="2194206"/>
            <a:ext cx="109448" cy="76788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955" y="3108606"/>
            <a:ext cx="109448" cy="76788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955" y="4023006"/>
            <a:ext cx="109448" cy="76788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804597"/>
            <a:ext cx="4315676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804242"/>
            <a:ext cx="4315676" cy="40212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18164" y="1279806"/>
            <a:ext cx="109435" cy="7678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18164" y="2194206"/>
            <a:ext cx="109435" cy="76788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18164" y="3108606"/>
            <a:ext cx="109435" cy="76788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18164" y="4023006"/>
            <a:ext cx="109435" cy="76788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8424" y="158292"/>
            <a:ext cx="5011965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SMAW &amp; GMAW — Stick and MIG Welding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780" y="895943"/>
            <a:ext cx="245749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SMAW — Shielded Metal Arc Welding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500" y="1314755"/>
            <a:ext cx="83938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How it 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500" y="1555025"/>
            <a:ext cx="379017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Consumable coated electrode; the arc melts both the core wire and the flux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500" y="1699754"/>
            <a:ext cx="376738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coating. Molten flux forms a shielding gas and a slag layer that floats on the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500" y="1844471"/>
            <a:ext cx="283080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pool and slows cooling — slag removed between passes.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500" y="2229155"/>
            <a:ext cx="70752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E6C52"/>
                </a:solidFill>
                <a:latin typeface="Calibri"/>
              </a:rPr>
              <a:t>Equipment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500" y="2541790"/>
            <a:ext cx="362760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AC or DC power source, electrode holder, work clamp, cables — minimal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500" y="2686506"/>
            <a:ext cx="360119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equipment, highly portable. Can be used anywhere with a power supply.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500" y="3143555"/>
            <a:ext cx="168064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6B5219"/>
                </a:solidFill>
                <a:latin typeface="Calibri"/>
              </a:rPr>
              <a:t>E7018 — AWS Classification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500" y="3383825"/>
            <a:ext cx="386554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E = electrode  ·  70 = 70 ksi (480 MPa) minimum tensile  ·  1 = all positions  ·  8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500" y="3528554"/>
            <a:ext cx="384046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= low-hydrogen flux, DC or AC. Must be stored in a heated oven; use within 4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500" y="3673271"/>
            <a:ext cx="93317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hours of removal.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500" y="4057955"/>
            <a:ext cx="151848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5B6B7C"/>
                </a:solidFill>
                <a:latin typeface="Calibri"/>
              </a:rPr>
              <a:t>Advantages / Limitations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4500" y="4298225"/>
            <a:ext cx="379608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Versatile, portable, all-position, tolerant of surface contamination and wind.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500" y="4442954"/>
            <a:ext cx="377558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Lower deposition rate than GMAW/FCAW; frequent electrode changes; slag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4500" y="4587671"/>
            <a:ext cx="176253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removal required; skill-dependent.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42179" y="895943"/>
            <a:ext cx="257094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GMAW — Gas Metal Arc Welding (MIG)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06695" y="1314755"/>
            <a:ext cx="83938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How it works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06695" y="1555025"/>
            <a:ext cx="356948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Continuous bare wire fed from a spool through the gun — no electrode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06695" y="1699754"/>
            <a:ext cx="369177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changes. Shielding gas protects the arc. Arc length is self-regulating with a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06695" y="1844471"/>
            <a:ext cx="183839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constant-voltage (CV) power source.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06695" y="2229155"/>
            <a:ext cx="95377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E6C52"/>
                </a:solidFill>
                <a:latin typeface="Calibri"/>
              </a:rPr>
              <a:t>Shielding gases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06695" y="2397073"/>
            <a:ext cx="347830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Pure argon: non-ferrous metals (Al, Cu, Ti) — stable arc, good wetting.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06695" y="2541790"/>
            <a:ext cx="334636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Pure CO₂: carbon steel — deep penetration, more spatter, low cost.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06695" y="2686506"/>
            <a:ext cx="371142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75Ar/25CO₂: most common for structural steel — best balance of stability,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06695" y="2831235"/>
            <a:ext cx="127966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penetration, and spatter.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06695" y="3143555"/>
            <a:ext cx="96774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6B5219"/>
                </a:solidFill>
                <a:latin typeface="Calibri"/>
              </a:rPr>
              <a:t>Transfer modes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06695" y="3383825"/>
            <a:ext cx="392163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Short circuit: low V/A — thin material and out-of-position; risk of lack of fusion.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06695" y="3528554"/>
            <a:ext cx="357599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Spray: high V/A — flat/horizontal only; high deposition, excellent fusion.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06695" y="3673271"/>
            <a:ext cx="319067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Pulsed spray: combines high rate with out-of-position capability.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06695" y="4057955"/>
            <a:ext cx="151847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5B6B7C"/>
                </a:solidFill>
                <a:latin typeface="Calibri"/>
              </a:rPr>
              <a:t>Advantages / Limitations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06695" y="4298225"/>
            <a:ext cx="394057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High deposition rate, no slag removal, suitable for automation, good for thin to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06695" y="4442954"/>
            <a:ext cx="394756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medium material. Sensitive to drafts (outdoor use needs windshields); requires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06695" y="4587671"/>
            <a:ext cx="220489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clean base metal; less portable than SMAW.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15116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151160" cy="40212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955" y="1279806"/>
            <a:ext cx="109448" cy="76788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955" y="2194206"/>
            <a:ext cx="109448" cy="7678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955" y="3108606"/>
            <a:ext cx="109448" cy="76788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955" y="4023006"/>
            <a:ext cx="109448" cy="76788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804597"/>
            <a:ext cx="4315676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804242"/>
            <a:ext cx="4315676" cy="40212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18164" y="1279806"/>
            <a:ext cx="109435" cy="76788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18164" y="2194206"/>
            <a:ext cx="109435" cy="7678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18164" y="3108606"/>
            <a:ext cx="109435" cy="76788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18164" y="4023006"/>
            <a:ext cx="109435" cy="76788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8424" y="158292"/>
            <a:ext cx="536368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GTAW &amp; FCAW — TIG and Flux-Cored Welding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780" y="895943"/>
            <a:ext cx="264130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GTAW — Gas Tungsten Arc Welding (TIG)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500" y="1314755"/>
            <a:ext cx="83938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How it 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500" y="1555025"/>
            <a:ext cx="374904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Non-consumable tungsten electrode — only the base metal and separately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500" y="1699754"/>
            <a:ext cx="362410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fed filler rod melt. Complete independent control of heat input and filler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500" y="1844471"/>
            <a:ext cx="148238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addition. No spatter; no slag.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500" y="2229155"/>
            <a:ext cx="77806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AC vs. DCEN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500" y="2397073"/>
            <a:ext cx="367367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AC for aluminum: positive half-cycle cleans the oxide layer (Al₂O₃ melts at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500" y="2541790"/>
            <a:ext cx="352750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2050°C, base metal at 660°C); negative half-cycle provides penetration.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500" y="2686506"/>
            <a:ext cx="387411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DCEN for steel and stainless: maximum heat into the workpiece, narrow deep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500" y="2831235"/>
            <a:ext cx="102555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penetration profile.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500" y="3143555"/>
            <a:ext cx="79245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6B5219"/>
                </a:solidFill>
                <a:latin typeface="Calibri"/>
              </a:rPr>
              <a:t>Applications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500" y="3383825"/>
            <a:ext cx="364280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Root passes in pipe and pressure vessel welds; thin sheet; stainless steel,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500" y="3528554"/>
            <a:ext cx="368766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aluminum, titanium; any application where quality takes precedence over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4500" y="3673271"/>
            <a:ext cx="68510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productivity.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500" y="4057955"/>
            <a:ext cx="151848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5B6B7C"/>
                </a:solidFill>
                <a:latin typeface="Calibri"/>
              </a:rPr>
              <a:t>Advantages / Limitations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4500" y="4298225"/>
            <a:ext cx="353209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Highest quality welds; precise heat control; all materials and positions.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4500" y="4442954"/>
            <a:ext cx="391571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Slowest arc process; highest skill required; filler by hand limits deposition rate;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4500" y="4587671"/>
            <a:ext cx="172117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not economical for thick material.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42179" y="895943"/>
            <a:ext cx="212444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FCAW — Flux-Cored Arc Welding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06695" y="1314755"/>
            <a:ext cx="83938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How it works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06695" y="1555025"/>
            <a:ext cx="395479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Tubular wire filled with flux fed continuously — same equipment as GMAW but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06695" y="1699754"/>
            <a:ext cx="391934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combines continuous wire feeding with slag protection. Higher current density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06695" y="1844471"/>
            <a:ext cx="220345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than solid wire gives higher deposition rate.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06695" y="2229155"/>
            <a:ext cx="121720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FCAW-S vs. FCAW-G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06695" y="2324709"/>
            <a:ext cx="375061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Self-shielded (FCAW-S): flux core generates its own shielding — no external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06695" y="2469425"/>
            <a:ext cx="376992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gas; highly portable and tolerant of wind; AWS D1.1 approved for structural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06695" y="2614154"/>
            <a:ext cx="94801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steel site welding.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06695" y="2758871"/>
            <a:ext cx="380283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Gas-shielded (FCAW-G): external CO₂/mixed gas added — better mechanical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06695" y="2903587"/>
            <a:ext cx="295780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properties and lower fumes; preferred for shop fabrication.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06695" y="3143555"/>
            <a:ext cx="79245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E6C52"/>
                </a:solidFill>
                <a:latin typeface="Calibri"/>
              </a:rPr>
              <a:t>Applications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06695" y="3383825"/>
            <a:ext cx="379946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Heavy structural fabrication, shipbuilding, heavy equipment manufacture —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06695" y="3528554"/>
            <a:ext cx="388352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wherever high deposition rate and tolerance to mill scale are required. Out-of-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06695" y="3673271"/>
            <a:ext cx="158706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position with appropriate wire.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06695" y="4057955"/>
            <a:ext cx="151847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5B6B7C"/>
                </a:solidFill>
                <a:latin typeface="Calibri"/>
              </a:rPr>
              <a:t>Advantages / Limitations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06695" y="4298225"/>
            <a:ext cx="345250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High deposition rate; all-position capability; tolerant of mill scale and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06695" y="4442954"/>
            <a:ext cx="339545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contamination. Slag removal required between passes; higher fume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06695" y="4587671"/>
            <a:ext cx="294513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generation; FCAW-S generally lower toughness weld metal.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15116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955" y="1901877"/>
            <a:ext cx="109448" cy="658088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955" y="2706486"/>
            <a:ext cx="109448" cy="658075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955" y="3511437"/>
            <a:ext cx="109448" cy="65808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804597"/>
            <a:ext cx="4315676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804242"/>
            <a:ext cx="4315676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18164" y="1700277"/>
            <a:ext cx="4132796" cy="23724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18164" y="2852637"/>
            <a:ext cx="4132796" cy="237248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18164" y="3803398"/>
            <a:ext cx="4132796" cy="237248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8424" y="158292"/>
            <a:ext cx="501615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Filler Metals — Classification and Selection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780" y="888653"/>
            <a:ext cx="167786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How Filler Metals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416" y="1304716"/>
            <a:ext cx="395691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Filler metal melts into the weld pool and becomes part of the deposited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416" y="1464558"/>
            <a:ext cx="313481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weld metal — its composition determines the as-welded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416" y="1624401"/>
            <a:ext cx="353427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microstructure, mechanical properties, and corrosion resistance.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500" y="1936471"/>
            <a:ext cx="125617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Match or overmatch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500" y="2194394"/>
            <a:ext cx="381694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Filler selected to meet or exceed base metal minimum tensile strength — an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500" y="2339110"/>
            <a:ext cx="347854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undermatching weld is the weakest point of the joint and will fail first.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500" y="2741067"/>
            <a:ext cx="140129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E6C52"/>
                </a:solidFill>
                <a:latin typeface="Calibri"/>
              </a:rPr>
              <a:t>Chemical compatibility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500" y="2926994"/>
            <a:ext cx="362181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Filler must be chemically compatible with the base metal and process —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500" y="3071710"/>
            <a:ext cx="387748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different processes use different filler forms (coated electrode, bare wire, flux-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500" y="3216426"/>
            <a:ext cx="88240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cored wire, rod).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500" y="3545675"/>
            <a:ext cx="53936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Dilution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500" y="3731589"/>
            <a:ext cx="391390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Deposited weld metal is a mix of filler and melted base metal. SMAW: 20–30%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500" y="3876306"/>
            <a:ext cx="357128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dilution. GMAW: 25–35%. SAW: 50–70%. The WPS specifies the filler to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500" y="4021035"/>
            <a:ext cx="106209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account for dilution.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42179" y="888653"/>
            <a:ext cx="185087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AWS Classification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5464" y="1283837"/>
            <a:ext cx="416550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Prefix letter identifies the form: E = electrode; ER = electrode or rod; R = rod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5464" y="1443679"/>
            <a:ext cx="33060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only.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8540" y="1723827"/>
            <a:ext cx="225860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E7018  —  SMAW low-hydrogen electrode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78540" y="1965426"/>
            <a:ext cx="236758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E  =  electrode (SMAW consumable coated rod)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78540" y="2166314"/>
            <a:ext cx="245550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70  =  70 ksi (480 MPa) minimum tensile strength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78540" y="2367546"/>
            <a:ext cx="216389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1  =  all-position capability (1G, 2G, 3G, 4G)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78540" y="2568790"/>
            <a:ext cx="303667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8  =  low-hydrogen potassium flux; DC or AC; bake before use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8540" y="2875831"/>
            <a:ext cx="245061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ER308L  —  GTAW/GMAW stainless steel wire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78540" y="3117430"/>
            <a:ext cx="115857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ER  =  electrode or rod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78540" y="3318674"/>
            <a:ext cx="275555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308  =  austenitic stainless filler for 304/308 base metal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78540" y="3519906"/>
            <a:ext cx="263712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L  =  low carbon (≤ 0.03% C) — prevents sensitization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78540" y="3826947"/>
            <a:ext cx="226915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ER4043  —  GTAW/GMAW aluminum wire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78540" y="4068546"/>
            <a:ext cx="115857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ER  =  electrode or rod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78540" y="4269434"/>
            <a:ext cx="259732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4043  =  aluminum-silicon filler for 6xxx series alloys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78540" y="4470666"/>
            <a:ext cx="298445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Lower cracking risk than 5xxx fillers for heat-treatable alloys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15116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116" y="1956957"/>
            <a:ext cx="3748684" cy="25560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116" y="2797558"/>
            <a:ext cx="1042200" cy="493559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116" y="3437638"/>
            <a:ext cx="1042200" cy="493559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116" y="4077718"/>
            <a:ext cx="1042200" cy="49356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804597"/>
            <a:ext cx="4315676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804242"/>
            <a:ext cx="4315676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18164" y="1298157"/>
            <a:ext cx="109435" cy="76788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18164" y="2212557"/>
            <a:ext cx="109435" cy="76788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18164" y="3126957"/>
            <a:ext cx="109435" cy="76788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18164" y="4041357"/>
            <a:ext cx="109435" cy="76788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8424" y="158292"/>
            <a:ext cx="655432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Preheat &amp; Interpass Temperature — Controlling the HAZ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780" y="888653"/>
            <a:ext cx="204899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Carbon Equivalent &amp; Preheat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416" y="1252164"/>
            <a:ext cx="394146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Preheat is the minimum temperature the base metal must reach before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7416" y="1411993"/>
            <a:ext cx="351629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welding begins. It slows the cooling rate of the weld and HAZ —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7416" y="1571835"/>
            <a:ext cx="360700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preventing brittle martensite formation and allowing hydrogen to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416" y="1731677"/>
            <a:ext cx="219630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diffuse out before it can cause cracking.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860" y="1985474"/>
            <a:ext cx="184666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Carbon Equivalent (CE) Formula: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416" y="2267543"/>
            <a:ext cx="282236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1" sz="1200">
                <a:solidFill>
                  <a:srgbClr val="1C2B3A"/>
                </a:solidFill>
                <a:latin typeface="Calibri"/>
              </a:rPr>
              <a:t>CE  =  C + Mn/6 + (Cr+Mo+V)/5 + (Ni+Cu)/15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7416" y="2528423"/>
            <a:ext cx="310912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Higher CE = higher hardenability = higher preheat required.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1464" y="2948907"/>
            <a:ext cx="55057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CE &lt; 0.40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41424" y="2948907"/>
            <a:ext cx="251313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Generally no preheat required for thin sections.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2455" y="3588987"/>
            <a:ext cx="748813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CE 0.40–0.60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41424" y="3512660"/>
            <a:ext cx="2602219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Preheat typically 100–200°C; required for thicker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41424" y="3665301"/>
            <a:ext cx="52592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sections.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1464" y="4229067"/>
            <a:ext cx="550575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CE &gt; 0.60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41424" y="4152740"/>
            <a:ext cx="2677321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Preheat 200–300°C or higher; mandatory for most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41424" y="4305381"/>
            <a:ext cx="723653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applications.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42179" y="902907"/>
            <a:ext cx="263964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Interpass Temperature, Verification &amp; PWHT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06695" y="1332751"/>
            <a:ext cx="196809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Interpass temperature minimum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06695" y="1645754"/>
            <a:ext cx="380983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Must not cool below the preheat temperature between passes — critical for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06695" y="1790470"/>
            <a:ext cx="332032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multi-pass welds on thick sections where the joint can cool rapidly.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06695" y="2247151"/>
            <a:ext cx="199085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B83232"/>
                </a:solidFill>
                <a:latin typeface="Calibri"/>
              </a:rPr>
              <a:t>Interpass temperature maximum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06695" y="2487789"/>
            <a:ext cx="394575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Carbon steel typically 250–300°C. Austenitic stainless typically 150°C maximum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06695" y="2632506"/>
            <a:ext cx="393176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— excessive heat causes sensitization (Cr₂₃C₆ precipitation at grain boundaries,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06695" y="2777235"/>
            <a:ext cx="157211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reducing corrosion resistance).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06695" y="3161551"/>
            <a:ext cx="74175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E6C52"/>
                </a:solidFill>
                <a:latin typeface="Calibri"/>
              </a:rPr>
              <a:t>Verification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06695" y="3402190"/>
            <a:ext cx="394949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Tempilstik (temperature-indicating crayons), contact thermometers, or infrared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06695" y="3546906"/>
            <a:ext cx="343199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pyrometers. Per AWS D1.1: verify at 75 mm from the joint each side,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06695" y="3691635"/>
            <a:ext cx="147032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immediately before welding.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06695" y="4075951"/>
            <a:ext cx="208513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6B5219"/>
                </a:solidFill>
                <a:latin typeface="Calibri"/>
              </a:rPr>
              <a:t>Post-Weld Heat Treatment (PWHT)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06695" y="4244225"/>
            <a:ext cx="369683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Stress relief PWHT reduces residual stress and tempers HAZ martensite —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06695" y="4388954"/>
            <a:ext cx="384408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mandatory in many pressure vessel and piping codes above certain thickness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06695" y="4533670"/>
            <a:ext cx="362712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and CE thresholds. Temperature, heating/cooling rate, and hold time are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06695" y="4678387"/>
            <a:ext cx="209961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specified in the applicable code and WPS.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15116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9724" y="1828446"/>
            <a:ext cx="3291471" cy="54355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044" y="2212926"/>
            <a:ext cx="255600" cy="25560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044" y="2688477"/>
            <a:ext cx="255600" cy="25560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044" y="3163686"/>
            <a:ext cx="255600" cy="2556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044" y="3639237"/>
            <a:ext cx="255600" cy="25560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044" y="4114801"/>
            <a:ext cx="255600" cy="25560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044" y="4590366"/>
            <a:ext cx="255600" cy="25560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804597"/>
            <a:ext cx="4315676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804242"/>
            <a:ext cx="4315676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17796" y="1298526"/>
            <a:ext cx="548284" cy="383756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17796" y="1774077"/>
            <a:ext cx="548284" cy="383768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17796" y="2249286"/>
            <a:ext cx="548284" cy="383755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17796" y="2724837"/>
            <a:ext cx="548284" cy="38376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17796" y="3200401"/>
            <a:ext cx="548284" cy="383756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17796" y="3675966"/>
            <a:ext cx="548284" cy="383755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18164" y="4169526"/>
            <a:ext cx="4132796" cy="62136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8424" y="158292"/>
            <a:ext cx="559583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Weld Symbols — Reading the Drawing Standard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780" y="888653"/>
            <a:ext cx="192622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Anatomy of a Weld Symbol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44459" y="1606630"/>
            <a:ext cx="1132232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900">
                <a:solidFill>
                  <a:srgbClr val="64748B"/>
                </a:solidFill>
                <a:latin typeface="Calibri"/>
              </a:rPr>
              <a:t>OTHER SIDE (above line)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22501" y="1935662"/>
            <a:ext cx="1176511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900">
                <a:solidFill>
                  <a:srgbClr val="64748B"/>
                </a:solidFill>
                <a:latin typeface="Calibri"/>
              </a:rPr>
              <a:t>ARROW SIDE (below line)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053" y="1618471"/>
            <a:ext cx="53990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800">
                <a:solidFill>
                  <a:srgbClr val="E07B39"/>
                </a:solidFill>
                <a:latin typeface="Calibri"/>
              </a:rPr>
              <a:t>Size →</a:t>
            </a:r>
            <a:r>
              <a:rPr b="1" i="0" sz="1200">
                <a:solidFill>
                  <a:srgbClr val="1C2B3A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9773" y="1828449"/>
            <a:ext cx="212957" cy="257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1C2B3A"/>
                </a:solidFill>
                <a:latin typeface="DejaVu Sans"/>
              </a:rPr>
              <a:t>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2379" y="1625435"/>
            <a:ext cx="47287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C2B3A"/>
                </a:solidFill>
                <a:latin typeface="Calibri"/>
              </a:rPr>
              <a:t>50-200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18220" y="1673985"/>
            <a:ext cx="718398" cy="1746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800">
                <a:solidFill>
                  <a:srgbClr val="E07B39"/>
                </a:solidFill>
                <a:latin typeface="Calibri"/>
              </a:rPr>
              <a:t>← Length-Pitch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61664" y="1676055"/>
            <a:ext cx="439209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2E4A6B"/>
                </a:solidFill>
                <a:latin typeface="Calibri"/>
              </a:rPr>
              <a:t>WPS-01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4935" y="1856865"/>
            <a:ext cx="332912" cy="1746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800">
                <a:solidFill>
                  <a:srgbClr val="E07B39"/>
                </a:solidFill>
                <a:latin typeface="Calibri"/>
              </a:rPr>
              <a:t>← Tail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975" y="1895294"/>
            <a:ext cx="492139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1C2B3A"/>
                </a:solidFill>
                <a:latin typeface="Calibri"/>
              </a:rPr>
              <a:t>↙ Arrow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8863" y="2238147"/>
            <a:ext cx="14687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3740" y="2217743"/>
            <a:ext cx="82251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3B6FBA"/>
                </a:solidFill>
                <a:latin typeface="Calibri"/>
              </a:rPr>
              <a:t>Reference 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3900" y="2201657"/>
            <a:ext cx="2077044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Horizontal baseline — all weld information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3900" y="2339185"/>
            <a:ext cx="1007821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attaches to this line.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8863" y="2713711"/>
            <a:ext cx="14687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3740" y="2692951"/>
            <a:ext cx="40253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Arrow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43900" y="2676853"/>
            <a:ext cx="2047508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Points to the joint; arrow side = below the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43900" y="2814381"/>
            <a:ext cx="1660688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reference line; other side = above.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8863" y="3188907"/>
            <a:ext cx="14687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3740" y="3168503"/>
            <a:ext cx="101885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Weld type symbol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3900" y="3152417"/>
            <a:ext cx="2323514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Sits on the reference line — below = arrow side;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3900" y="3289932"/>
            <a:ext cx="96512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above = other side.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8863" y="3664471"/>
            <a:ext cx="14687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3740" y="3644067"/>
            <a:ext cx="278886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Size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43900" y="3627981"/>
            <a:ext cx="2374458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Left of symbol — leg size for fillets; depth of prep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43900" y="3765496"/>
            <a:ext cx="876858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for groove welds.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8863" y="4140035"/>
            <a:ext cx="14687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3740" y="4119631"/>
            <a:ext cx="80409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B83232"/>
                </a:solidFill>
                <a:latin typeface="Calibri"/>
              </a:rPr>
              <a:t>Length / Pitch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3900" y="4103532"/>
            <a:ext cx="225666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Right of symbol — length of each weld; pitch =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43900" y="4241061"/>
            <a:ext cx="1238035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center-to-center spacing.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8863" y="4615587"/>
            <a:ext cx="14687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3740" y="4595183"/>
            <a:ext cx="253344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6B7C"/>
                </a:solidFill>
                <a:latin typeface="Calibri"/>
              </a:rPr>
              <a:t>Tail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43900" y="4579097"/>
            <a:ext cx="2398268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Fork at the opposite end — WPS number, process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43900" y="4716625"/>
            <a:ext cx="1084063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designation, or notes.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42179" y="895943"/>
            <a:ext cx="256150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Weld Type Symbols &amp; Special Modifiers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64138" y="1366981"/>
            <a:ext cx="505641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DejaVu Sans"/>
              </a:rPr>
              <a:t>△</a:t>
            </a:r>
            <a:r>
              <a:rPr b="1" i="0" sz="1400">
                <a:solidFill>
                  <a:srgbClr val="FFFFFF"/>
                </a:solidFill>
                <a:latin typeface="Calibri"/>
              </a:rPr>
              <a:t>/ </a:t>
            </a:r>
            <a:r>
              <a:rPr b="1" i="0" sz="1400">
                <a:solidFill>
                  <a:srgbClr val="FFFFFF"/>
                </a:solidFill>
                <a:latin typeface="DejaVu Sans"/>
              </a:rPr>
              <a:t>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45544" y="1303343"/>
            <a:ext cx="33352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3B6FBA"/>
                </a:solidFill>
                <a:latin typeface="Calibri"/>
              </a:rPr>
              <a:t>Fillet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45544" y="1493175"/>
            <a:ext cx="3411288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T-joints and lap joints; most common weld type in structural fabrication.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06695" y="1846813"/>
            <a:ext cx="220604" cy="257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DejaVu Sans"/>
              </a:rPr>
              <a:t>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45544" y="1778551"/>
            <a:ext cx="54536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V-groove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45544" y="1899981"/>
            <a:ext cx="3476309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Full-penetration butt weld; single V most common for plate; double V for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45544" y="2037496"/>
            <a:ext cx="73341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thick sections.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74653" y="2317741"/>
            <a:ext cx="285515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| |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45544" y="2254103"/>
            <a:ext cx="83039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Square groove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45544" y="2443935"/>
            <a:ext cx="2815772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Full penetration in thin material without bevel preparation.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62423" y="2793305"/>
            <a:ext cx="309161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⌐</a:t>
            </a:r>
            <a:r>
              <a:rPr b="1" i="0" sz="1400">
                <a:solidFill>
                  <a:srgbClr val="FFFFFF"/>
                </a:solidFill>
                <a:latin typeface="DejaVu Sans"/>
              </a:rPr>
              <a:t>∨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45544" y="2729667"/>
            <a:ext cx="75288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Bevel groove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45544" y="2919499"/>
            <a:ext cx="2826191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One-sided access; one plate bevelled, the other left square.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06695" y="3273125"/>
            <a:ext cx="220604" cy="257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DejaVu Sans"/>
              </a:rPr>
              <a:t>∪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45544" y="3205231"/>
            <a:ext cx="55781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6B7C"/>
                </a:solidFill>
                <a:latin typeface="Calibri"/>
              </a:rPr>
              <a:t>U-groove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45544" y="3395063"/>
            <a:ext cx="341724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Thick material — less weld volume than V-groove; more expensive prep.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98695" y="3744421"/>
            <a:ext cx="436724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○ / □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45544" y="3680783"/>
            <a:ext cx="615511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B83232"/>
                </a:solidFill>
                <a:latin typeface="Calibri"/>
              </a:rPr>
              <a:t>Plug / Slot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45544" y="3870614"/>
            <a:ext cx="320030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Weld through a hole or slot in the top piece into the piece beneath.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78540" y="4289900"/>
            <a:ext cx="115313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○ Weld all around  · 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68195" y="4289900"/>
            <a:ext cx="1326376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 Field weld  ·  G / M / C 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856020" y="4292950"/>
            <a:ext cx="190060" cy="1985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DejaVu Sans"/>
              </a:rPr>
              <a:t>⚑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20063" y="4289900"/>
            <a:ext cx="1642163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Finish (grind/machine/chip)  · 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78540" y="4442541"/>
            <a:ext cx="1707476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Contour: flat / convex / concave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115646"/>
            <a:ext cx="832067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1590842"/>
            <a:ext cx="8631720" cy="1060196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955" y="1590842"/>
            <a:ext cx="200888" cy="1060196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600" y="2706117"/>
            <a:ext cx="8631720" cy="1060208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955" y="2706117"/>
            <a:ext cx="200888" cy="1060208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600" y="3821762"/>
            <a:ext cx="8631720" cy="1060196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5955" y="3821762"/>
            <a:ext cx="200888" cy="1060196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696" y="564194"/>
            <a:ext cx="3859157" cy="515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000">
                <a:solidFill>
                  <a:srgbClr val="FFFFFF"/>
                </a:solidFill>
                <a:latin typeface="Calibri"/>
              </a:rPr>
              <a:t>Technician's Perspective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04" y="1137408"/>
            <a:ext cx="820186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Welding is a quality-critical operation — the process, consumables, parameters, and thermal control are all specified for a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04" y="1335769"/>
            <a:ext cx="570431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reason.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935" y="1658132"/>
            <a:ext cx="447340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B83232"/>
                </a:solidFill>
                <a:latin typeface="Calibri"/>
              </a:rPr>
              <a:t>Red Flag: E7018 electrodes left out overnight — low-hydrogen status lost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4304" y="1924347"/>
            <a:ext cx="785885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A welder removes a fresh can of E7018 electrodes from the rod oven at end of shift and leaves them on the bench. Next morning they are used without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4304" y="2076989"/>
            <a:ext cx="806954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reconditioning. E7018 flux absorbs atmospheric moisture within hours — the 'low-hydrogen' designation is meaningless; hydrogen content in the deposited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4304" y="2229630"/>
            <a:ext cx="796369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weld metal is now equivalent to a standard electrode. On a high-CE structural steel this is a recipe for hydrogen-induced cold cracking in the HAZ, possibly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4304" y="2382271"/>
            <a:ext cx="777282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hours after the weld passes visual inspection. Reject the weld lot, recondition or discard the exposed electrodes, and document the non-conformance.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935" y="2773776"/>
            <a:ext cx="474045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6B5219"/>
                </a:solidFill>
                <a:latin typeface="Calibri"/>
              </a:rPr>
              <a:t>Caution: Preheat verified 30 minutes before welding — joint has since cooled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304" y="3116306"/>
            <a:ext cx="778349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A welder preheats a thick plate joint to 150°C, confirmed by Tempilstik. Welding is delayed by 30 minutes while other work is completed. The joint has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4304" y="3268947"/>
            <a:ext cx="7989743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cooled to ambient. The technician must require re-preheat and re-verification immediately before the arc is struck — per AWS D1.1 the temperature must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304" y="3421588"/>
            <a:ext cx="4643319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be present at the joint at the time of welding. A preheat reading taken earlier is not valid.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935" y="3889407"/>
            <a:ext cx="414731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1E6C52"/>
                </a:solidFill>
                <a:latin typeface="Calibri"/>
              </a:rPr>
              <a:t>Good Practice: Using the weld symbol to verify the completed weld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4304" y="4231950"/>
            <a:ext cx="7723773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A drawing calls for a 6 mm fillet weld, 50 mm long at 200 mm pitch, both sides of a T-joint. The technician locates the symbol on the reference line —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4304" y="4384591"/>
            <a:ext cx="7976016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triangle below (arrow side) and above (other side), 6 to the left, 50-200 to the right. After welding, they measure the fillet leg with a weld gauge — finds 5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4304" y="4537220"/>
            <a:ext cx="6580341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mm on the arrow side. This is undersize; an NCR is raised. Reading the symbol correctly is the foundation of all weld inspection.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731166"/>
            <a:ext cx="8320671" cy="3635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2696" y="258278"/>
            <a:ext cx="3266186" cy="4535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600">
                <a:solidFill>
                  <a:srgbClr val="FFFFFF"/>
                </a:solidFill>
                <a:latin typeface="Calibri"/>
              </a:rPr>
              <a:t>Core Question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704" y="879203"/>
            <a:ext cx="346634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1" sz="1000">
                <a:solidFill>
                  <a:srgbClr val="E07B39"/>
                </a:solidFill>
                <a:latin typeface="Calibri"/>
              </a:rPr>
              <a:t>What is welding and how does it create a metallurgical bond?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704" y="1132350"/>
            <a:ext cx="787181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A heat source melts the base metal edges and filler metal to form a weld pool — as it solidifies it creates a continuous metallic connection. The joint is a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704" y="1284991"/>
            <a:ext cx="825736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continuation of the metal itself, not glued. Microstructure and mechanical properties are determined by the temperatures reached and the heating and cooling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704" y="1437620"/>
            <a:ext cx="451903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rates — which is why controlling the thermal cycle is the foundation of welding quality.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04" y="1720514"/>
            <a:ext cx="366081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1" sz="1000">
                <a:solidFill>
                  <a:srgbClr val="E07B39"/>
                </a:solidFill>
                <a:latin typeface="Calibri"/>
              </a:rPr>
              <a:t>What are the main arc welding processes and when is each used?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04" y="1973661"/>
            <a:ext cx="813499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SMAW (stick): coated electrode, slag protection, portable and tolerant of wind/contamination — site work and maintenance. GMAW (MIG): continuous wire,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04" y="2126303"/>
            <a:ext cx="822102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shielding gas, high deposition rate, automatable — manufacturing and fabrication. GTAW (TIG): non-consumable tungsten, highest quality, all materials — root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04" y="2278944"/>
            <a:ext cx="753836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passes, stainless, aluminum, titanium. FCAW: flux-cored tubular wire, highest deposition rate, tolerant of mill scale — heavy structural fabrication.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04" y="2561838"/>
            <a:ext cx="301453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1" sz="1000">
                <a:solidFill>
                  <a:srgbClr val="E07B39"/>
                </a:solidFill>
                <a:latin typeface="Calibri"/>
              </a:rPr>
              <a:t>How do filler metals work and how are they selected?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704" y="2814986"/>
            <a:ext cx="818391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Filler melts into the weld pool and determines the as-welded composition, microstructure, and properties. Selected to match or overmatch base metal tensile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704" y="2967627"/>
            <a:ext cx="831671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strength. AWS classification: prefix (E/ER) + tensile strength + position + flux/gas type. E7018 = low-hydrogen SMAW electrode, 70 ksi, all positions. ER308L = low-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704" y="3120268"/>
            <a:ext cx="524934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carbon austenitic stainless GTAW/GMAW wire for 304L/316L. ER4043 = Al-Si filler for 6xxx aluminum.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04" y="3403162"/>
            <a:ext cx="441284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1" sz="1000">
                <a:solidFill>
                  <a:srgbClr val="E07B39"/>
                </a:solidFill>
                <a:latin typeface="Calibri"/>
              </a:rPr>
              <a:t>What are preheat and interpass temperature and why are they quality-critical?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704" y="3655941"/>
            <a:ext cx="8308581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Preheat is the minimum base metal temperature before welding — slows cooling to prevent martensite formation and allow hydrogen to diffuse out, preventing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704" y="3808583"/>
            <a:ext cx="803866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HIC. Required preheat determined by CE = C + Mn/6 + (Cr+Mo+V)/5 + (Ni+Cu)/15. Interpass minimum maintains preheat benefit between passes; interpass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704" y="3961224"/>
            <a:ext cx="833284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maximum (250–300°C carbon steel, 150°C stainless) prevents grain coarsening and sensitization. Verified by Tempilstik or pyrometer immediately before welding.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704" y="4244474"/>
            <a:ext cx="219643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1" sz="1000">
                <a:solidFill>
                  <a:srgbClr val="E07B39"/>
                </a:solidFill>
                <a:latin typeface="Calibri"/>
              </a:rPr>
              <a:t>How do you read a basic weld symbol?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704" y="4497266"/>
            <a:ext cx="8362963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Reference line is the horizontal baseline. Arrow points to the joint — symbols below the line apply to the arrow side, symbols above apply to the other side. Weld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704" y="4649907"/>
            <a:ext cx="8489914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type symbol sits on the reference line. Number left of symbol = weld size (leg for fillets, depth for grooves). Number right = length and pitch. Circle at arrow junction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704" y="4802548"/>
            <a:ext cx="7047219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= weld all around; flag = field weld. Tail specifies WPS number or process. Reading a symbol correctly is a non-negotiable inspection skill.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914401"/>
            <a:ext cx="8631720" cy="11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955" y="914401"/>
            <a:ext cx="529920" cy="1170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2176197"/>
            <a:ext cx="8631720" cy="11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955" y="2176197"/>
            <a:ext cx="529920" cy="1170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600" y="3438006"/>
            <a:ext cx="8631720" cy="1169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955" y="3438006"/>
            <a:ext cx="529920" cy="116999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424" y="158292"/>
            <a:ext cx="5450843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Key Takeaways — Week 14: Welding Processes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056" y="1291842"/>
            <a:ext cx="243242" cy="453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6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1344" y="1235857"/>
            <a:ext cx="761812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The four main arc welding processes — SMAW, GMAW, GTAW, and FCAW — each occupy a distinct niche defined by portability,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344" y="1411168"/>
            <a:ext cx="784000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productivity, quality, and base metal suitability; a technician must know not just what each process is but why it was specified for a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344" y="1586491"/>
            <a:ext cx="373586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given application and what quality risks are associated with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056" y="2553638"/>
            <a:ext cx="243242" cy="453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6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344" y="2497652"/>
            <a:ext cx="767747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Preheat and interpass temperature are not optional comfort measures — they are mathematically derived quality requirements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344" y="2672976"/>
            <a:ext cx="753058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based on the carbon equivalent of the steel and the hydrogen level of the process; failing to achieve or maintain the specified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344" y="2848287"/>
            <a:ext cx="619127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temperature is a non-conformance that must be documented and addressed before welding continues.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56" y="3815446"/>
            <a:ext cx="243242" cy="453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6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344" y="3759817"/>
            <a:ext cx="765861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Reading weld symbols is a non-negotiable literacy skill for any technician working in fabrication or inspection — a symbol that is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344" y="3935127"/>
            <a:ext cx="779265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misread means the wrong weld is made, and a wrong weld that passes inspection because the inspector did not check against the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344" y="4110451"/>
            <a:ext cx="305897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symbol is a latent defect waiting to cause a failure.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955" y="804597"/>
            <a:ext cx="4827600" cy="4132808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6844" y="1316521"/>
            <a:ext cx="4297311" cy="27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81037"/>
            <a:ext cx="72720" cy="45684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02766"/>
            <a:ext cx="72720" cy="45683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724482"/>
            <a:ext cx="72720" cy="45684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346198"/>
            <a:ext cx="72720" cy="45684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968282"/>
            <a:ext cx="72720" cy="45684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0075" y="804597"/>
            <a:ext cx="3657244" cy="4132808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12956" y="1590842"/>
            <a:ext cx="3108604" cy="27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8424" y="158292"/>
            <a:ext cx="2983519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Resources &amp; What's 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144" y="959237"/>
            <a:ext cx="1696621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E07B39"/>
                </a:solidFill>
                <a:latin typeface="Calibri"/>
              </a:rPr>
              <a:t>Week 14 Resources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744" y="1484612"/>
            <a:ext cx="207485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Kalpakjian Ch. 30  ·  Moniz Ch.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744" y="1729519"/>
            <a:ext cx="380386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Fusion Welding Processes and Welding Metallurgy — primary reading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744" y="2106327"/>
            <a:ext cx="271198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SMAW / GMAW / GTAW / FCAW Visualizers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744" y="2351234"/>
            <a:ext cx="392347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Arc establishment, transfer modes, shielding gas selection — interactive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744" y="2728056"/>
            <a:ext cx="217541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AWS D1.1 Structural Welding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744" y="2973318"/>
            <a:ext cx="387539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Pre-qualified joints, filler metals, preheat, and inspection requirements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744" y="3349771"/>
            <a:ext cx="172244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Weld Symbols — AWS A2.4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744" y="3595034"/>
            <a:ext cx="396130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Complete standard for welding and NDT symbols — quick reference card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744" y="3971856"/>
            <a:ext cx="229877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Preheat Calculator — Lincoln Electric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744" y="4216762"/>
            <a:ext cx="393280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CE-based preheat recommendation by steel grade and section thickness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0256" y="973141"/>
            <a:ext cx="2892978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E07B39"/>
                </a:solidFill>
                <a:latin typeface="Calibri"/>
              </a:rPr>
              <a:t>Week 15 — Weld Metallurgy &amp; Failure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256" y="1314387"/>
            <a:ext cx="229004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November 30, 2026  ·  Unit 5 continues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81904" y="1749542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24982" y="1768393"/>
            <a:ext cx="288400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Weld microstructure — weld metal, CGHAZ, FGHAZ,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24982" y="1928235"/>
            <a:ext cx="115043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and their properties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81904" y="2279818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24982" y="2298681"/>
            <a:ext cx="301507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Hydrogen-induced cracking — the three preconditions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24982" y="2458524"/>
            <a:ext cx="119705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and why it is delayed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81904" y="2890383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24982" y="2909234"/>
            <a:ext cx="301427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Hot cracking — solidification cracking and crater cracks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81904" y="3340738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24982" y="3359601"/>
            <a:ext cx="289399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Fracture types — ductile, brittle, and fatigue surface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24982" y="3519444"/>
            <a:ext cx="51628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features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81904" y="3871026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24982" y="3889877"/>
            <a:ext cx="255261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Failure analysis methodology — preservation,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24982" y="4049719"/>
            <a:ext cx="152498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documentation, root cause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