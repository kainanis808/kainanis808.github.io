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126292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Machining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806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November 9,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475243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Cutting Zone &amp; Machining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1927495"/>
            <a:ext cx="724769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Shear plane, chip types, heat generation, and surface integrity — then turning, milling, drilling,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5664" y="2140982"/>
            <a:ext cx="66680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grinding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2754973"/>
            <a:ext cx="260833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Cutting Tool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5664" y="3024775"/>
            <a:ext cx="749062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HSS to CBN — hardness, heat resistance, toughness, coatings, and how to choose the right tool for the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238262"/>
            <a:ext cx="305255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664" y="3852253"/>
            <a:ext cx="5251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Surface Finish, Integrity &amp; Machining Defects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5664" y="4228976"/>
            <a:ext cx="686196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Ra, Rz, residual stress, grinding burn, machining cracks, chatter — and how to detect each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Metallography Lab — Module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EXAMET-5-R-600-HD  ·  50–500×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11  ·  Week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95716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Machining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8362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Examine near-surface grain condition at 500×. Identify any subsurface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16464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deformation from sectioning.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Observe — complete feature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Sketch — label magnification &amp; specimen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— 4 short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Specimens to Check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150114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A — 1018 steel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149675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B — 1045 steel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1894402"/>
            <a:ext cx="19690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Specimen G — 6061-T6 aluminum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check out the kit: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See instructor after class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Sign out the specimen tray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Use the EXAMET-5 at your convenience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Return kit before leaving 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Submit completed module with your portfolio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8472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12  ← here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377086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336456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4205886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12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60256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79849"/>
            <a:ext cx="41829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cutting zone — shear plane, primary and secondary deformation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55173"/>
            <a:ext cx="343417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zones, chip types, heat distribution, and surface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10891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30496"/>
            <a:ext cx="419642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Turning and milling — single-point vs. multi-tooth cutting, operations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8654" y="1905807"/>
            <a:ext cx="32133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produced, surface finish formula, up vs. down milling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061537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081131"/>
            <a:ext cx="41324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Drilling and grinding — twist drill geometry, hole tolerance, grinding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654" y="2256454"/>
            <a:ext cx="247943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wheel types, grinding burn, and dressing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412172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431778"/>
            <a:ext cx="425577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Cutting tool materials — HSS, cemented carbide, coatings (TiN, TiAlN),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54" y="2607088"/>
            <a:ext cx="254184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ceramics, CBN, PCD, and selection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2762819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782412"/>
            <a:ext cx="39559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finish — Ra and Rz parameters, typical values by process,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654" y="2957735"/>
            <a:ext cx="28419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connection to fatigue and sealing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576" y="3113453"/>
            <a:ext cx="128088" cy="2317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133059"/>
            <a:ext cx="421148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Machining defects — built-up edge, chatter, grinding burn (re-temper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654" y="3308370"/>
            <a:ext cx="369361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and re-hardening), machining cracks, and recast layer in EDM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1702417"/>
            <a:ext cx="1618232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21, 22 &amp; 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1877727"/>
            <a:ext cx="257473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Fundamentals of Cutting · Tool Materials ·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2053051"/>
            <a:ext cx="131245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Machining 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2468787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2735612"/>
            <a:ext cx="157891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Cutting &amp; Chip 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2910936"/>
            <a:ext cx="24062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Turning &amp; Milling — Sandvik Coromant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3086259"/>
            <a:ext cx="72911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Calculators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3456263"/>
            <a:ext cx="94681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Surface Finish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3384" y="3745116"/>
            <a:ext cx="24427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1A2433"/>
                </a:solidFill>
                <a:latin typeface="Calibri"/>
              </a:rPr>
              <a:t>Ra = f² / (8r)  ·  feed &amp; nose radius control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3384" y="3912870"/>
            <a:ext cx="124122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1A2433"/>
                </a:solidFill>
                <a:latin typeface="Calibri"/>
              </a:rPr>
              <a:t>roughness in turning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3384" y="4304551"/>
            <a:ext cx="22238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Next: Week 13 — Powder Metallurgy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98747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4626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17584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88899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602521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315678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445189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126968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5123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1629533"/>
            <a:ext cx="621964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happens at the cutting zone during machining and why does it matter for part quality?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17" y="222549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700" y="2342688"/>
            <a:ext cx="507916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machining processes and what does each one produce?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2938654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700" y="3055857"/>
            <a:ext cx="55015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cutting tool materials and how do you choose between them?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17" y="365217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769012"/>
            <a:ext cx="492962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is surface finish measured and why does it matter for performance?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436533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4482169"/>
            <a:ext cx="59536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machining-related defects should a technician know how to recognize and detect?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120" y="1298157"/>
            <a:ext cx="365404" cy="3654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120" y="2285646"/>
            <a:ext cx="365404" cy="365391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120" y="3273122"/>
            <a:ext cx="365404" cy="36540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475" y="4224237"/>
            <a:ext cx="3858488" cy="548284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7796" y="1279806"/>
            <a:ext cx="127799" cy="60299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17796" y="2048042"/>
            <a:ext cx="127799" cy="602996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7796" y="2815922"/>
            <a:ext cx="127799" cy="602996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18164" y="3620518"/>
            <a:ext cx="4004640" cy="310679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82670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The Cutting Zone — Where Dimensions and Surface Integrity Are Made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780" y="888653"/>
            <a:ext cx="18127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Three Deformation Zones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935" y="1357265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616" y="1323747"/>
            <a:ext cx="121329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Primary Shear Zone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616" y="1624756"/>
            <a:ext cx="34535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Chip forms along the shear plane ahead of the tool tip — most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616" y="1784598"/>
            <a:ext cx="28818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the cutting energy consumed here. Severe plastic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616" y="1944441"/>
            <a:ext cx="23311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deformation; temperatures to 400–700°C.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935" y="2344741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616" y="2311235"/>
            <a:ext cx="176919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Secondary Deformation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616" y="2612232"/>
            <a:ext cx="341106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Tool-chip interface — friction between chip and tool rake face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616" y="2772074"/>
            <a:ext cx="33938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generates significant heat. Drives tool wear and built-up edge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616" y="2931916"/>
            <a:ext cx="14085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formation at low speeds.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935" y="3332216"/>
            <a:ext cx="166186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616" y="3298711"/>
            <a:ext cx="83910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Tertiary 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616" y="3599720"/>
            <a:ext cx="34519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Tool flank rubbing the new machined surface — contributes to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616" y="3759562"/>
            <a:ext cx="316931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work hardening and residual stress. Source of white layer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616" y="3919392"/>
            <a:ext cx="13024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damage if tool is worn.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220" y="4250301"/>
            <a:ext cx="36667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1A2433"/>
                </a:solidFill>
                <a:latin typeface="Calibri"/>
              </a:rPr>
              <a:t>Heat distribution: chip carries ~75–80% of cutting heat away from the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220" y="4402943"/>
            <a:ext cx="363890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1A2433"/>
                </a:solidFill>
                <a:latin typeface="Calibri"/>
              </a:rPr>
              <a:t>part — which is why good chip control and coolant matter for surface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220" y="4555584"/>
            <a:ext cx="5317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1A2433"/>
                </a:solidFill>
                <a:latin typeface="Calibri"/>
              </a:rPr>
              <a:t>integrity.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2179" y="888653"/>
            <a:ext cx="230197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Chip Types &amp; Cutting Parameters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4704" y="1296036"/>
            <a:ext cx="10272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E6C52"/>
                </a:solidFill>
                <a:latin typeface="Calibri"/>
              </a:rPr>
              <a:t>Continuous Chip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4704" y="1574069"/>
            <a:ext cx="37537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Ductile materials at high speed with sharp tools — smooth ribbon; best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4704" y="1726710"/>
            <a:ext cx="346303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finish. Chip control is a safety concern; chip breakers used.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24704" y="2064271"/>
            <a:ext cx="118912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Discontinuous Chip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4704" y="2342304"/>
            <a:ext cx="364742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Brittle materials (cast iron) or low speed — segments break off easily.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4704" y="2494946"/>
            <a:ext cx="26825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Easier to control but may produce rougher surface.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4704" y="2832151"/>
            <a:ext cx="12167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Built-Up Edge (BUE)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704" y="3033870"/>
            <a:ext cx="384464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Workpiece material welds to tool rake face at low speed — BUE fractures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704" y="3186499"/>
            <a:ext cx="349582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adheres to machined surface; torn, rough finish. Prevented by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4704" y="3339140"/>
            <a:ext cx="22279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increasing speed or improving lubrication.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33264" y="3673475"/>
            <a:ext cx="118563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Cutting Parameters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5096" y="3915149"/>
            <a:ext cx="396650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Cutting speed (Vc):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Velocity of workpiece surface vs. tool (m/min) — higher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5096" y="4067790"/>
            <a:ext cx="263081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speed → more heat, better finish above threshold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5096" y="4244180"/>
            <a:ext cx="420198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Feed (f):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Tool advance per revolution or per tooth — controls chip thickness and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5096" y="4396821"/>
            <a:ext cx="141825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roughness directly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5096" y="4573580"/>
            <a:ext cx="415966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Depth of cut (ap):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Radial/axial depth per pass — controls material removal rate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5096" y="4726221"/>
            <a:ext cx="94247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cutting force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475" y="1298157"/>
            <a:ext cx="109448" cy="5482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992962"/>
            <a:ext cx="109448" cy="5482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475" y="2688122"/>
            <a:ext cx="109448" cy="5482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475" y="3382926"/>
            <a:ext cx="109448" cy="548271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475" y="4077718"/>
            <a:ext cx="109448" cy="54828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16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804242"/>
            <a:ext cx="4151160" cy="4021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83035" y="1298157"/>
            <a:ext cx="109448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83035" y="1992962"/>
            <a:ext cx="109448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83035" y="2688122"/>
            <a:ext cx="109448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83035" y="3382926"/>
            <a:ext cx="109448" cy="548271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83035" y="4077718"/>
            <a:ext cx="109448" cy="54828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424" y="158292"/>
            <a:ext cx="661131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Turning &amp; Milling — Single Point and Multi-Tooth Cutting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780" y="888653"/>
            <a:ext cx="59059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Turning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660" y="1314387"/>
            <a:ext cx="8393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60" y="1558157"/>
            <a:ext cx="35642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Workpiece rotates; single-point tool traverses — each revolution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60" y="1717999"/>
            <a:ext cx="153018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removes a helical chip strip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660" y="2009191"/>
            <a:ext cx="71842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60" y="2252962"/>
            <a:ext cx="36309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External turning (reducing diameter), facing (flat end face), boring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660" y="2412804"/>
            <a:ext cx="249600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(enlarging bore), threading, grooving, parting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660" y="2704351"/>
            <a:ext cx="8560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Surface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660" y="2948121"/>
            <a:ext cx="35514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Theoretical Ra = f² / (8r) — finer feed and larger nose radius give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660" y="3107964"/>
            <a:ext cx="309219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smoother surface; finish turning achieves Ra 0.8–3.2 μm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660" y="3399156"/>
            <a:ext cx="105769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Typical Ra 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660" y="3642913"/>
            <a:ext cx="37087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Rough turning: 6.3–25 μm  ·  Finish turning: 0.8–3.2 μm  ·  Precision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660" y="3802755"/>
            <a:ext cx="114244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turning: 0.2–0.8 μm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660" y="4093947"/>
            <a:ext cx="122781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3B6FBA"/>
                </a:solidFill>
                <a:latin typeface="Calibri"/>
              </a:rPr>
              <a:t>CNC turning centers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660" y="4338073"/>
            <a:ext cx="369038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Combine turning, milling, drilling in one setup — reduces handling,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660" y="4497915"/>
            <a:ext cx="34322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improves dimensional consistency for complex rotational parts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6340" y="888653"/>
            <a:ext cx="54779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Milling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9220" y="1314387"/>
            <a:ext cx="8393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How it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9220" y="1558157"/>
            <a:ext cx="368252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Rotating multi-tooth cutter removes material — each tooth takes a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9220" y="1717999"/>
            <a:ext cx="31643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small chip per revolution; workpiece feeds past the cutter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9220" y="2009191"/>
            <a:ext cx="7589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Face milling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9220" y="2252962"/>
            <a:ext cx="356610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Large diameter cutter with inserts facing workpiece — generates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9220" y="2412804"/>
            <a:ext cx="25014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flat surfaces on large areas; highly productive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9220" y="2704351"/>
            <a:ext cx="7188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End milling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9220" y="2948121"/>
            <a:ext cx="325323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Smaller cutter for slots, pockets, contours, and complex 3D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9220" y="3107964"/>
            <a:ext cx="288427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surfaces — the workhorse of CNC machining centers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9220" y="3399156"/>
            <a:ext cx="123158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Up vs. Down milling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9220" y="3562992"/>
            <a:ext cx="350630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Up (conventional): chip starts thin, increases — less sensitive to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9220" y="3722834"/>
            <a:ext cx="371822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backlash. Down (climb): chip starts thick, decreases — better finish,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9220" y="3882676"/>
            <a:ext cx="295340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compressive surface residual stress, preferred on CNC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9220" y="4093947"/>
            <a:ext cx="85600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Surface finish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9220" y="4338073"/>
            <a:ext cx="302906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 milling: Ra 0.8–3.2 μm  ·  Down milling produces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89220" y="4497915"/>
            <a:ext cx="301600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compressive residual stress — beneficial for fatigue 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22672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3182037"/>
            <a:ext cx="4151160" cy="175536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3181682"/>
            <a:ext cx="415116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1865162"/>
            <a:ext cx="127799" cy="7311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7796" y="2742846"/>
            <a:ext cx="127799" cy="73115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164" y="3657246"/>
            <a:ext cx="4132796" cy="273951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548855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Drilling &amp; Grinding — Holes and Finest Finishes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80" y="888653"/>
            <a:ext cx="56613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Drilling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784" y="1224935"/>
            <a:ext cx="121312" cy="20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862" y="1242141"/>
            <a:ext cx="34383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Two helical flutes carry chips out; two cutting edges at 118° point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862" y="1394783"/>
            <a:ext cx="24324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angle (135° for harder materials and stainless)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784" y="1606532"/>
            <a:ext cx="121312" cy="20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862" y="1623751"/>
            <a:ext cx="34043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Drilled hole: Ra 1.6–6.3 μm; tolerance H12–H13 — rough; follow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862" y="1776380"/>
            <a:ext cx="33391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with reaming (sizing) or boring (single-point) for precision bores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784" y="1988129"/>
            <a:ext cx="121312" cy="20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862" y="2005348"/>
            <a:ext cx="352491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Peck drilling: drill withdrawn periodically to break chips — used for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862" y="2157989"/>
            <a:ext cx="27305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deep holes to prevent chip packing and overheating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784" y="2369726"/>
            <a:ext cx="121312" cy="208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862" y="2386945"/>
            <a:ext cx="358896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Common errors: drill wandering at entry (use center drill first); work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862" y="2539586"/>
            <a:ext cx="34700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hardening at hole entrance in stainless (use sharp tools, adequate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62" y="2692227"/>
            <a:ext cx="357498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feed, no rubbing); BUE in aluminum (sharp HSS or uncoated carbide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862" y="2844869"/>
            <a:ext cx="8783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with cutting oil)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780" y="3266092"/>
            <a:ext cx="109143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Grinding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775" y="3695540"/>
            <a:ext cx="187852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Surface: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Flat reference surfaces 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775" y="3848181"/>
            <a:ext cx="120921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precision components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3104" y="3695540"/>
            <a:ext cx="182084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Cylindrical: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External diameters —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3104" y="3848181"/>
            <a:ext cx="126982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shafts, bearing journals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9775" y="4244180"/>
            <a:ext cx="199928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Internal: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Precision bores — hydraulic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775" y="4396821"/>
            <a:ext cx="146222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cylinders, bearing housings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3104" y="4244180"/>
            <a:ext cx="178593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Centerless: 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High-volume bar and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83104" y="4396821"/>
            <a:ext cx="149157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tube — no centers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2179" y="895943"/>
            <a:ext cx="32754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Grinding Burn — The Most Serious Grinding Defect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5464" y="1258640"/>
            <a:ext cx="40092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Occurs when heat at the grinding zone exceeds the material's capacity to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5464" y="1418482"/>
            <a:ext cx="41043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dissipate it — surface temperature rises above the tempering temperature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5464" y="1578312"/>
            <a:ext cx="105120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hardened steel.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4704" y="1881391"/>
            <a:ext cx="11789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6B5219"/>
                </a:solidFill>
                <a:latin typeface="Calibri"/>
              </a:rPr>
              <a:t>Re-tempering Burn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24704" y="2128830"/>
            <a:ext cx="34617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heated above tempering temperature — locally softened.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24704" y="2281471"/>
            <a:ext cx="36821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Appears as dark band on Nital etch. Tensile residual stress introduced.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24704" y="2434100"/>
            <a:ext cx="11051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Reduces fatigue life.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24704" y="2759075"/>
            <a:ext cx="116468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B83232"/>
                </a:solidFill>
                <a:latin typeface="Calibri"/>
              </a:rPr>
              <a:t>Re-hardening Burn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24704" y="3006502"/>
            <a:ext cx="37281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heated above austenitising temperature then quenched by the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4704" y="3159143"/>
            <a:ext cx="355580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bulk — untempered martensite white layer forms. Very brittle, high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4704" y="3311784"/>
            <a:ext cx="232201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tensile residual stress. Most damaging type.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3264" y="3692195"/>
            <a:ext cx="64146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Detection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5464" y="4055179"/>
            <a:ext cx="40220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Grinding cracks: MT or PT — always reject in critical components. Burn: Nital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5464" y="4207820"/>
            <a:ext cx="379470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etch (acid reveals re-tempered/re-hardened zones) or Barkhausen noise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5464" y="4360461"/>
            <a:ext cx="39424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analysis. Wheel dressing restores sharpness and prevents burn from glazed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5464" y="4513102"/>
            <a:ext cx="46924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wheels.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166392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1663928" cy="694435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70646" y="804597"/>
            <a:ext cx="166391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70646" y="804242"/>
            <a:ext cx="1663915" cy="69443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84955" y="804597"/>
            <a:ext cx="166392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84955" y="804242"/>
            <a:ext cx="1663928" cy="69443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9646" y="804597"/>
            <a:ext cx="166391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99646" y="804242"/>
            <a:ext cx="1663915" cy="694435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3955" y="804597"/>
            <a:ext cx="1663928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3955" y="804242"/>
            <a:ext cx="1663928" cy="694435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494575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Cutting Tool Materials — From HSS to CBN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340" y="934283"/>
            <a:ext cx="131626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High Speed Steel (HSS)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340" y="1186457"/>
            <a:ext cx="144489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5B6B7C"/>
                </a:solidFill>
                <a:latin typeface="Calibri"/>
              </a:rPr>
              <a:t>Tough · Resharpened · 600°C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340" y="1323972"/>
            <a:ext cx="27985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5B6B7C"/>
                </a:solidFill>
                <a:latin typeface="Calibri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340" y="1626621"/>
            <a:ext cx="15173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Most versatile tool material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340" y="1779262"/>
            <a:ext cx="126296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excellent toughness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340" y="1931904"/>
            <a:ext cx="1395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handles interrupted cuts.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340" y="2084545"/>
            <a:ext cx="11534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Suitable for complex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340" y="2237186"/>
            <a:ext cx="158129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geometries (drills, taps, form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340" y="2389828"/>
            <a:ext cx="157074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tools). Softens above ~600°C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340" y="2542469"/>
            <a:ext cx="1271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limited to moderate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340" y="2695110"/>
            <a:ext cx="15191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cutting speeds. Used where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340" y="2847739"/>
            <a:ext cx="135636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toughness matters more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340" y="3000380"/>
            <a:ext cx="67981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than speed.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9017" y="934283"/>
            <a:ext cx="109236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Cemented Carbide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49017" y="1255215"/>
            <a:ext cx="137953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3B6FBA"/>
                </a:solidFill>
                <a:latin typeface="Calibri"/>
              </a:rPr>
              <a:t>Hard · Fast · Indexed inserts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49017" y="1626621"/>
            <a:ext cx="11818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Most widely used for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49017" y="1779262"/>
            <a:ext cx="137301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production machining —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9017" y="1931904"/>
            <a:ext cx="13052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significantly harder and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9017" y="2084545"/>
            <a:ext cx="137720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more heat-resistant than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49017" y="2237186"/>
            <a:ext cx="135877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HSS; allows much higher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9017" y="2389828"/>
            <a:ext cx="130413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cutting speeds. Used as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49017" y="2542469"/>
            <a:ext cx="14045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indexable inserts that are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9017" y="2695110"/>
            <a:ext cx="11576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replaced rather than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9017" y="2847739"/>
            <a:ext cx="160251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resharpened. Grades tailored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49017" y="3000380"/>
            <a:ext cx="118366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to specific workpiece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49017" y="3153022"/>
            <a:ext cx="15033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materials (P for steel, M for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49017" y="3305662"/>
            <a:ext cx="13473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stainless, K for cast iron).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3340" y="934283"/>
            <a:ext cx="155922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Coatings (TiN, TiAlN, Al₂O₃)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3340" y="1186457"/>
            <a:ext cx="160069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E07B39"/>
                </a:solidFill>
                <a:latin typeface="Calibri"/>
              </a:rPr>
              <a:t>CVD/PVD · Wear resistant · Low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3340" y="1323972"/>
            <a:ext cx="41390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E07B39"/>
                </a:solidFill>
                <a:latin typeface="Calibri"/>
              </a:rPr>
              <a:t>friction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3340" y="1626621"/>
            <a:ext cx="157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Deposited on carbide inserts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3340" y="1779262"/>
            <a:ext cx="151597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extend tool life 3–10× by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63340" y="1931904"/>
            <a:ext cx="14882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reducing wear and friction.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3340" y="2084545"/>
            <a:ext cx="11211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TiN (gold) is general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3340" y="2237186"/>
            <a:ext cx="155854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purpose; TiAlN is superior at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63340" y="2389828"/>
            <a:ext cx="156146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 temperatures; Al₂O₃ for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63340" y="2542469"/>
            <a:ext cx="15369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high-speed steel machining.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63340" y="2695110"/>
            <a:ext cx="138330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 familiar gold color of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63340" y="2847739"/>
            <a:ext cx="152804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coated drills and inserts. Do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63340" y="3000380"/>
            <a:ext cx="13714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not confuse coating type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3340" y="3153022"/>
            <a:ext cx="10592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with base material.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78017" y="934283"/>
            <a:ext cx="13132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Ceramics (Al₂O₃, Si₃N₄)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78017" y="1186457"/>
            <a:ext cx="117678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1E6C52"/>
                </a:solidFill>
                <a:latin typeface="Calibri"/>
              </a:rPr>
              <a:t>Very hard · High-speed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78017" y="1323972"/>
            <a:ext cx="48122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1E6C52"/>
                </a:solidFill>
                <a:latin typeface="Calibri"/>
              </a:rPr>
              <a:t>finishing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78017" y="1626621"/>
            <a:ext cx="159806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Used for high-speed finishing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8017" y="1779262"/>
            <a:ext cx="150784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of hardened steels and cast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78017" y="1931904"/>
            <a:ext cx="15144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irons where carbide wear is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8017" y="2084545"/>
            <a:ext cx="14193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excessive. Extremely hard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8017" y="2237186"/>
            <a:ext cx="15764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and heat-resistant but brittle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78017" y="2389828"/>
            <a:ext cx="14476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— sensitive to interrupted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78017" y="2542469"/>
            <a:ext cx="127490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cuts and vibration. Not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78017" y="2695110"/>
            <a:ext cx="109535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suitable for general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78017" y="2847739"/>
            <a:ext cx="116880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machining; specialist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78017" y="3000380"/>
            <a:ext cx="7724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finishing tool.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92340" y="934283"/>
            <a:ext cx="6849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CBN &amp; PCD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2340" y="1186457"/>
            <a:ext cx="124055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6B5219"/>
                </a:solidFill>
                <a:latin typeface="Calibri"/>
              </a:rPr>
              <a:t>Hardest tools · Precision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92340" y="1323972"/>
            <a:ext cx="48122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1" sz="900">
                <a:solidFill>
                  <a:srgbClr val="6B5219"/>
                </a:solidFill>
                <a:latin typeface="Calibri"/>
              </a:rPr>
              <a:t>finishing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92340" y="1626621"/>
            <a:ext cx="15765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CBN (cubic boron nitride) for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92340" y="1779262"/>
            <a:ext cx="11426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hardened steels and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2340" y="1931904"/>
            <a:ext cx="13426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superalloys — machines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2340" y="2084545"/>
            <a:ext cx="140630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materials carbide cannot.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92340" y="2237186"/>
            <a:ext cx="111974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PCD (polycrystalline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92340" y="2389828"/>
            <a:ext cx="14079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diamond) for non-ferrous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92340" y="2542469"/>
            <a:ext cx="1426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metals and composites —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92340" y="2695110"/>
            <a:ext cx="147912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extreme hardness and tool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92340" y="2847739"/>
            <a:ext cx="13159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life but cannot machine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92340" y="3000380"/>
            <a:ext cx="139957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ferrous materials (carbon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92340" y="3153022"/>
            <a:ext cx="10649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diffusion at cutting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2340" y="3305662"/>
            <a:ext cx="156464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temperature). Both are used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92340" y="3458304"/>
            <a:ext cx="147048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 high-precision finishing.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9374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937404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120" y="2102766"/>
            <a:ext cx="4626355" cy="273951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120" y="2395806"/>
            <a:ext cx="4626355" cy="347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120" y="2395806"/>
            <a:ext cx="91084" cy="3470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120" y="2761566"/>
            <a:ext cx="4626355" cy="347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120" y="2761566"/>
            <a:ext cx="91084" cy="3470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120" y="3127326"/>
            <a:ext cx="4626355" cy="347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120" y="3127326"/>
            <a:ext cx="91084" cy="3470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120" y="3493086"/>
            <a:ext cx="4626355" cy="347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120" y="3493086"/>
            <a:ext cx="91084" cy="3470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120" y="3858846"/>
            <a:ext cx="4626355" cy="347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120" y="3858846"/>
            <a:ext cx="91084" cy="3470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120" y="4224606"/>
            <a:ext cx="4626355" cy="34704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120" y="4224606"/>
            <a:ext cx="91084" cy="3470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235" y="804597"/>
            <a:ext cx="354744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0235" y="804242"/>
            <a:ext cx="354744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044" y="2048397"/>
            <a:ext cx="127800" cy="74952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044" y="2980806"/>
            <a:ext cx="127800" cy="749515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044" y="3913558"/>
            <a:ext cx="127800" cy="7495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424" y="158292"/>
            <a:ext cx="641184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Surface Finish &amp; Surface Integrity — More Than Just 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780" y="888653"/>
            <a:ext cx="35287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Roughness Parameters &amp; Typical Values by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420" y="1257872"/>
            <a:ext cx="46111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2E4A6B"/>
                </a:solidFill>
                <a:latin typeface="Calibri"/>
              </a:rPr>
              <a:t>Ra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(arithmetic mean roughness) — average deviation of profile from mean line;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420" y="1425626"/>
            <a:ext cx="36634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most widely specified parameter; lower Ra = smoother surface.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420" y="1558113"/>
            <a:ext cx="42382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5B6B7C"/>
                </a:solidFill>
                <a:latin typeface="Calibri"/>
              </a:rPr>
              <a:t>Rz</a:t>
            </a:r>
            <a:r>
              <a:rPr b="0" i="0" sz="1100">
                <a:solidFill>
                  <a:srgbClr val="1A2433"/>
                </a:solidFill>
                <a:latin typeface="Calibri"/>
              </a:rPr>
              <a:t> (mean roughness depth) — average peak-to-valley height over several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420" y="1725867"/>
            <a:ext cx="45734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sampling lengths; more sensitive to deep valleys; more relevant for fatigue and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420" y="1893634"/>
            <a:ext cx="12194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sealing applications.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860" y="2141354"/>
            <a:ext cx="48977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4544" y="2141354"/>
            <a:ext cx="5843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Ra Range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2300" y="2461038"/>
            <a:ext cx="74272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Sand casting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4544" y="2461038"/>
            <a:ext cx="71714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6.3 – 25 μm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2300" y="2826798"/>
            <a:ext cx="6393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Hot rolling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44544" y="2826798"/>
            <a:ext cx="78507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6B7C"/>
                </a:solidFill>
                <a:latin typeface="Calibri"/>
              </a:rPr>
              <a:t>12.5 – 50 μm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2300" y="3192558"/>
            <a:ext cx="12515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Rough turning/milling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4544" y="3192558"/>
            <a:ext cx="82050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3.2 – 12.5 μm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300" y="3558318"/>
            <a:ext cx="12243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Finish turning/milling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44544" y="3558318"/>
            <a:ext cx="75324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3B6FBA"/>
                </a:solidFill>
                <a:latin typeface="Calibri"/>
              </a:rPr>
              <a:t>0.8 – 3.2 μm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2300" y="3924078"/>
            <a:ext cx="5370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Grinding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4544" y="3924078"/>
            <a:ext cx="8873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0.025 – 0.8 μm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2300" y="4289838"/>
            <a:ext cx="99046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Lapping / Honing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4544" y="4289838"/>
            <a:ext cx="8873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0.012 – 0.4 μm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0415" y="888653"/>
            <a:ext cx="119983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Surface Integrity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3344" y="1208602"/>
            <a:ext cx="28268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integrity is broader than surface finish — it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3344" y="1368432"/>
            <a:ext cx="286322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encompasses roughness, residual stress state, work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73344" y="1528274"/>
            <a:ext cx="32176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hardening depth, and microstructural alteration. Specified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73344" y="1688116"/>
            <a:ext cx="291850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for fatigue-critical aerospace, power generation, and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3344" y="1847959"/>
            <a:ext cx="122822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medical components.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92940" y="2067923"/>
            <a:ext cx="162448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Compressive Residual Stress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92940" y="2263107"/>
            <a:ext cx="250284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Sharp tools, adequate coolant, down milling —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2940" y="2415748"/>
            <a:ext cx="306490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compressive surface stress; beneficial for fatigue life. Shot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92940" y="2568390"/>
            <a:ext cx="300428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peening deliberately introduces deep compressive stress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2940" y="2721031"/>
            <a:ext cx="91147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after machining.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92940" y="3000318"/>
            <a:ext cx="130188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B83232"/>
                </a:solidFill>
                <a:latin typeface="Calibri"/>
              </a:rPr>
              <a:t>Tensile Residual Stress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92940" y="3272185"/>
            <a:ext cx="302170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Worn tools, excessive heat, aggressive grinding — tensile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92940" y="3424826"/>
            <a:ext cx="27444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surface stress; dramatically reduces fatigue life. The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92940" y="3577468"/>
            <a:ext cx="241389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primary damage mechanism in grinding burn.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92940" y="3933082"/>
            <a:ext cx="157440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Why Surface Finish Matters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92940" y="4128267"/>
            <a:ext cx="289030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 on a drawing is an engineering requirement, not an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92940" y="4280908"/>
            <a:ext cx="306859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aesthetic — stress concentrations at surface peaks reduce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92940" y="4433549"/>
            <a:ext cx="308066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fatigue life; rough bores leak; rough bearing surfaces wear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92940" y="4586191"/>
            <a:ext cx="44942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rapidly.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242"/>
            <a:ext cx="8631720" cy="32867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51637"/>
            <a:ext cx="8631720" cy="7858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151637"/>
            <a:ext cx="72720" cy="78588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1974598"/>
            <a:ext cx="8631720" cy="7858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1974598"/>
            <a:ext cx="72720" cy="785888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797558"/>
            <a:ext cx="8631720" cy="7858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2797558"/>
            <a:ext cx="72720" cy="785888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3620518"/>
            <a:ext cx="8631720" cy="7858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955" y="3620518"/>
            <a:ext cx="72720" cy="78588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4443477"/>
            <a:ext cx="8631720" cy="7858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955" y="4443477"/>
            <a:ext cx="72720" cy="78588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565561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Machining Defects — Recognition and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615" y="873511"/>
            <a:ext cx="4158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455" y="873511"/>
            <a:ext cx="38715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2815" y="873511"/>
            <a:ext cx="7038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Appearance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8735" y="873511"/>
            <a:ext cx="5190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7456" y="873511"/>
            <a:ext cx="5876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6544" y="873511"/>
            <a:ext cx="41562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424" y="1371789"/>
            <a:ext cx="77760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B5219"/>
                </a:solidFill>
                <a:latin typeface="Calibri"/>
              </a:rPr>
              <a:t>Built-Up Edge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424" y="1516506"/>
            <a:ext cx="3874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B5219"/>
                </a:solidFill>
                <a:latin typeface="Calibri"/>
              </a:rPr>
              <a:t>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5824" y="1241181"/>
            <a:ext cx="175822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Workpiece material welds onto tool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5824" y="1378697"/>
            <a:ext cx="14803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rake face at low speed — BUE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24" y="1516225"/>
            <a:ext cx="172181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fractures and adheres to machined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5824" y="1653740"/>
            <a:ext cx="412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23184" y="1309939"/>
            <a:ext cx="164981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Torn, rough patches on machined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3184" y="1447455"/>
            <a:ext cx="141845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surface; inconsistent surface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3184" y="1584983"/>
            <a:ext cx="32690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9104" y="1378697"/>
            <a:ext cx="93650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 over machined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9104" y="1516225"/>
            <a:ext cx="4125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7824" y="1447455"/>
            <a:ext cx="19995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VT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6544" y="1386310"/>
            <a:ext cx="1830996" cy="182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Increase cutting speed; use appropriate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6544" y="1515901"/>
            <a:ext cx="1228347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lubricant; replace dull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424" y="2267114"/>
            <a:ext cx="7818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3B6FBA"/>
                </a:solidFill>
                <a:latin typeface="Calibri"/>
              </a:rPr>
              <a:t>Chatter Marks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5824" y="2132899"/>
            <a:ext cx="137414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Vibration between tool and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5824" y="2270414"/>
            <a:ext cx="174253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workpiece — tool overhang, fixture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5824" y="2407943"/>
            <a:ext cx="166389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rigidity, or cutting parameter 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23184" y="2132899"/>
            <a:ext cx="142760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Regular wave-like pattern on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3184" y="2270414"/>
            <a:ext cx="164981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machined surface; audible during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23184" y="2407943"/>
            <a:ext cx="5568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9104" y="2132899"/>
            <a:ext cx="9576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Machined surface,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9104" y="2270414"/>
            <a:ext cx="117266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oriented perpendicular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9104" y="2407943"/>
            <a:ext cx="95962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 cutting direction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7824" y="2270414"/>
            <a:ext cx="84606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VT, profilometer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6544" y="2209270"/>
            <a:ext cx="1895689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Reduce tool overhang; improve fixturing;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6544" y="2338861"/>
            <a:ext cx="119822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adjust cutting parameters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424" y="3017710"/>
            <a:ext cx="87685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B83232"/>
                </a:solidFill>
                <a:latin typeface="Calibri"/>
              </a:rPr>
              <a:t>Grinding Burn /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1424" y="3162426"/>
            <a:ext cx="3936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B83232"/>
                </a:solidFill>
                <a:latin typeface="Calibri"/>
              </a:rPr>
              <a:t>Cracks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5824" y="2887101"/>
            <a:ext cx="162245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Insufficient coolant or aggressive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5824" y="3024617"/>
            <a:ext cx="153086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grinding parameters — surface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5824" y="3162145"/>
            <a:ext cx="159211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temperature exceeds tempering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5824" y="3299660"/>
            <a:ext cx="31877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23184" y="2955859"/>
            <a:ext cx="159348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Discoloration (burn); network of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23184" y="3093374"/>
            <a:ext cx="13900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fine cracks perpendicular or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23184" y="3230903"/>
            <a:ext cx="9734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cross-hatch pattern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9104" y="2955859"/>
            <a:ext cx="105819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Machined surface —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9104" y="3093374"/>
            <a:ext cx="114095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often invisible without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9104" y="3230903"/>
            <a:ext cx="41700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etching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7824" y="2955859"/>
            <a:ext cx="92837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MT, PT; Nital etch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7824" y="3093374"/>
            <a:ext cx="103197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(dark/white zones);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7824" y="3230903"/>
            <a:ext cx="91589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Barkhausen noise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6544" y="3032231"/>
            <a:ext cx="1811665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Reduce grinding depth/speed; improve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6544" y="3161821"/>
            <a:ext cx="978440" cy="182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coolant; dress wheel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1424" y="3768305"/>
            <a:ext cx="8933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5B6B7C"/>
                </a:solidFill>
                <a:latin typeface="Calibri"/>
              </a:rPr>
              <a:t>Chatter Cracks /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1424" y="3913034"/>
            <a:ext cx="6270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5B6B7C"/>
                </a:solidFill>
                <a:latin typeface="Calibri"/>
              </a:rPr>
              <a:t>Machining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1424" y="4057751"/>
            <a:ext cx="39361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5B6B7C"/>
                </a:solidFill>
                <a:latin typeface="Calibri"/>
              </a:rPr>
              <a:t>Cracks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85824" y="3778819"/>
            <a:ext cx="148553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Severe thermal or mechanical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5824" y="3916334"/>
            <a:ext cx="152171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conditions — most common in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5824" y="4053863"/>
            <a:ext cx="154689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hardened steels during grinding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23184" y="3778819"/>
            <a:ext cx="140586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Fine cracks perpendicular to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23184" y="3916334"/>
            <a:ext cx="151060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grinding direction or in a cross-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23184" y="4053863"/>
            <a:ext cx="70227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hatch pattern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9104" y="3847577"/>
            <a:ext cx="93661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Ground surface of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9104" y="3985105"/>
            <a:ext cx="112767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hardened components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7824" y="3778819"/>
            <a:ext cx="10881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MT or PT — always a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57824" y="3916334"/>
            <a:ext cx="963518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reject condition in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7824" y="4053863"/>
            <a:ext cx="100610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critical components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6544" y="3855191"/>
            <a:ext cx="1815769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Reduce aggressiveness; correct coolant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6544" y="3984781"/>
            <a:ext cx="1476430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delivery; use softer wheel grade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1424" y="4663630"/>
            <a:ext cx="72019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4748B"/>
                </a:solidFill>
                <a:latin typeface="Calibri"/>
              </a:rPr>
              <a:t>Recast Layer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1424" y="4808346"/>
            <a:ext cx="38915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64748B"/>
                </a:solidFill>
                <a:latin typeface="Calibri"/>
              </a:rPr>
              <a:t>(EDM)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5824" y="4533021"/>
            <a:ext cx="158307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EDM melts and re-solidifies thin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5824" y="4670537"/>
            <a:ext cx="156922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 layer — contains tensile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85824" y="4808065"/>
            <a:ext cx="156486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residual stress and untempered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5824" y="4945581"/>
            <a:ext cx="57990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martensite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23184" y="4601779"/>
            <a:ext cx="141181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White layer on cross-section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23184" y="4739294"/>
            <a:ext cx="145611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metallography; no surface VT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23184" y="4876823"/>
            <a:ext cx="53319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indication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69104" y="4670537"/>
            <a:ext cx="96248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 EDM-machined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9104" y="4808065"/>
            <a:ext cx="45832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57824" y="4670537"/>
            <a:ext cx="110501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Metallography (cross-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7824" y="4808065"/>
            <a:ext cx="96534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section); Nital etch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46544" y="4678151"/>
            <a:ext cx="1761008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Finish grind or polish to remove white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46544" y="4807742"/>
            <a:ext cx="1597821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layer in fatigue-critical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1564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59084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955" y="1590842"/>
            <a:ext cx="200888" cy="1060196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706117"/>
            <a:ext cx="8631720" cy="10602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955" y="2706117"/>
            <a:ext cx="200888" cy="106020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821762"/>
            <a:ext cx="8631720" cy="106019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955" y="3821762"/>
            <a:ext cx="200888" cy="1060196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564194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696" y="1245408"/>
            <a:ext cx="532371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Cutting parameters are quality parameters — not just productivity parameters.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935" y="1664191"/>
            <a:ext cx="507589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B83232"/>
                </a:solidFill>
                <a:latin typeface="Calibri"/>
              </a:rPr>
              <a:t>Red Flag: Ground hardened shaft passes VT — but Nital etch reveals dark bands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04" y="1919599"/>
            <a:ext cx="762411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hardened steel shaft is ground to final diameter and passes visual and dimensional inspection. Nital acid etch reveals dark bands at regular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304" y="2079441"/>
            <a:ext cx="798667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intervals along the ground surface — re-tempered (softened) zones from grinding burn. The dark bands are locally softened martensite with tensile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304" y="2239284"/>
            <a:ext cx="793245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residual stress. This shaft must be rejected — the fatigue life has been compromised regardless of the dimensional compliance. Root cause: glazed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304" y="2399113"/>
            <a:ext cx="686301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grinding wheel or insufficient coolant. Do not accept any ground fatigue-critical component without specifying etch inspection.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935" y="2779823"/>
            <a:ext cx="467751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6B5219"/>
                </a:solidFill>
                <a:latin typeface="Calibri"/>
              </a:rPr>
              <a:t>Caution: Chatter marks on a milled bore evaluated as within Ra tolerance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304" y="3035243"/>
            <a:ext cx="773666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milled bore shows a wave-like surface pattern characteristic of chatter. Profilometer measurement shows Ra = 1.6 μm — within the specified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304" y="3195073"/>
            <a:ext cx="798734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limit. Do not accept on Ra alone. Chatter marks introduce cyclic residual stresses whose period matches the wave pattern — under pressure cycling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04" y="3354915"/>
            <a:ext cx="761571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they can nucleate fatigue cracks at a much lower stress than a uniformly rough surface. Flag the chatter pattern, identify the root cause (tool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304" y="3514757"/>
            <a:ext cx="392427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overhang, fixture rigidity, cutting parameters), correct it, and re-inspect.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935" y="3895467"/>
            <a:ext cx="450801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1E6C52"/>
                </a:solidFill>
                <a:latin typeface="Calibri"/>
              </a:rPr>
              <a:t>Good Practice: Specifying NDT method on the machining drawing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304" y="4150875"/>
            <a:ext cx="756883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 bearing journal on a hardened shaft includes a drawing note: 'MT after final grind; Nital etch acceptance per AMS 2759/9.' The technician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304" y="4310717"/>
            <a:ext cx="78028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performs MT — no indications. Then applies Nital etch per the procedure — no re-tempered or re-hardened zones. Both steps are required; MT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304" y="4470559"/>
            <a:ext cx="79368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alone cannot detect grinding burn. The complete inspection record is signed off as the final release document. This is the correct sequence for any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304" y="4630401"/>
            <a:ext cx="17101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ground fatigue-critical surface.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96037"/>
            <a:ext cx="832067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390556"/>
            <a:ext cx="3505274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025722"/>
            <a:ext cx="40478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happens at the cutting zone and why does it matter for part quality?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260150"/>
            <a:ext cx="82475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Three deformation zones: primary shear zone (chip forms, most energy), secondary zone (tool-chip friction, heat), tertiary zone (flank rubbing, surface work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412791"/>
            <a:ext cx="83869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hardening). Heat goes 75–80% into the chip, rest into tool and workpiece. Cutting parameters and tool condition determine surface integrity — residual stress,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565420"/>
            <a:ext cx="468944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microstructural damage, and work hardening affect fatigue life and corrosion resistance.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1830318"/>
            <a:ext cx="385421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are the main machining processes and what does each produce?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065101"/>
            <a:ext cx="839842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Turning: workpiece rotates, single-point tool traverses — cylindrical surfaces, bores, threads. Milling: rotating multi-tooth cutter — flat surfaces, slots, pockets,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217743"/>
            <a:ext cx="824949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complex 3D geometry. Drilling: twist drill — holes (rough, Ra 1.6–6.3 μm; ream or bore for precision). Grinding: abrasive wheel — finest finish (Ra 0.025–0.8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370384"/>
            <a:ext cx="367042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μm), hardened materials, finishing operation after turning or milling.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2634914"/>
            <a:ext cx="44165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are the main cutting tool materials and how do you choose between them?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2869710"/>
            <a:ext cx="844454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HSS: toughest, resharpened, &lt;600°C — for drills, taps, interrupted cuts at moderate speed. Carbide: hardest practical, indexed inserts, high-speed production —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022351"/>
            <a:ext cx="833730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the default for most CNC work. Coatings (TiN, TiAlN): extend carbide life 3–10×. Ceramics: high-speed finishing of hard/cast iron, brittle. CBN: hardened steels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174980"/>
            <a:ext cx="383346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and superalloys. PCD: non-ferrous, composites — cannot machine steel.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439523"/>
            <a:ext cx="305396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How is surface finish measured and why does it matter?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3674305"/>
            <a:ext cx="846577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Ra = arithmetic mean roughness (μm); Rz = peak-to-valley depth. Ra on a drawing is a legal requirement — stress concentrations at surface peaks reduce fatigue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3826947"/>
            <a:ext cx="80715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life; rough bores leak and wear faster. Theoretical Ra for turning = f²/8r (feed² / 8 × nose radius). Surface integrity also encompasses residual stress, work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3979588"/>
            <a:ext cx="433287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hardening depth, and microstructural alteration — all affect fatigue performance.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4244474"/>
            <a:ext cx="436103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000">
                <a:solidFill>
                  <a:srgbClr val="CADCFC"/>
                </a:solidFill>
                <a:latin typeface="Calibri"/>
              </a:rPr>
              <a:t>What machining defects should a technician recognize and know how to detect?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4478901"/>
            <a:ext cx="819688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Built-up edge marks (torn surface — increase speed/lubrication); chatter marks (wave pattern — fix vibration); grinding burn/re-tempering (dark Nital etch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704" y="4631543"/>
            <a:ext cx="839118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bands — tensile residual stress, reduced fatigue life — MT + etch); grinding cracks (network cracks — MT or PT, always reject); recast layer in EDM (white layer,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704" y="4784184"/>
            <a:ext cx="322133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tensile stress — remove by grinding in fatigue-critical parts).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409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409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2125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125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584157"/>
            <a:ext cx="8631720" cy="127980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584157"/>
            <a:ext cx="511555" cy="127980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452755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12: Machining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95" y="1259235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344" y="1197631"/>
            <a:ext cx="77294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What happens at the cutting zone — shear deformation, heat generation, and tool-workpiece interaction — determines not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344" y="1380511"/>
            <a:ext cx="75039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just the dimensions of the machined part but its surface integrity, residual stress state, and fatigue performance. Cutting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344" y="1563391"/>
            <a:ext cx="54780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parameters and tool condition are quality parameters, not just productivity parameters.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495" y="2630836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344" y="2569231"/>
            <a:ext cx="77504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Surface finish is a specified engineering requirement, not an aesthetic preference — Ra values on drawings must be verified.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344" y="2752111"/>
            <a:ext cx="77743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connection between surface roughness, stress concentration, and fatigue life means that a surface that looks acceptable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344" y="2934991"/>
            <a:ext cx="43062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 the eye may still fail the specification and compromise service life.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495" y="4002435"/>
            <a:ext cx="256172" cy="484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344" y="3849391"/>
            <a:ext cx="76467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Grinding burn and machining cracks are among the most serious manufacturing defects because they are often invisible to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344" y="4032272"/>
            <a:ext cx="755769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visual inspection and introduce tensile residual stresses and microstructural damage that dramatically reduce fatigue life.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344" y="4215152"/>
            <a:ext cx="752784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Recognizing the conditions that cause them and specifying MT, PT, or Nital etch inspection is essential knowledge for any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344" y="4398031"/>
            <a:ext cx="12064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quality technician.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8643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6844" y="1316521"/>
            <a:ext cx="429731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484" y="1462686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484" y="20844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484" y="27061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484" y="3328202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484" y="3949917"/>
            <a:ext cx="727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66435" y="804597"/>
            <a:ext cx="3620528" cy="41328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7680" y="1590842"/>
            <a:ext cx="3053880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424" y="158292"/>
            <a:ext cx="29835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44" y="959237"/>
            <a:ext cx="1696621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12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660" y="1471952"/>
            <a:ext cx="171494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Kalpakjian Ch. 21, 22 &amp;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660" y="1641996"/>
            <a:ext cx="43202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Fundamentals of Cutting · Tool Materials · Machining Processes — primary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660" y="1809750"/>
            <a:ext cx="50416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reading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660" y="2093667"/>
            <a:ext cx="23146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Cutting &amp; Chip Formation Visualizer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660" y="2347595"/>
            <a:ext cx="316091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Shear plane, chip types, heat zones, BUE — interactive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660" y="2715383"/>
            <a:ext cx="196103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Sandvik Coromant Calculators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60" y="2969667"/>
            <a:ext cx="41616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Turning and milling cutting speed, feed, and Ra calculators — interactive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60" y="3337467"/>
            <a:ext cx="220759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Nital Etch Acceptance (AMS 2759)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660" y="3507512"/>
            <a:ext cx="389699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Standard for inspecting ground hardened steel surfaces for burn —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60" y="3675266"/>
            <a:ext cx="61911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660" y="3959183"/>
            <a:ext cx="176108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Barkhausen Noise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660" y="4213111"/>
            <a:ext cx="420344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Non-contact grinding burn detection for production line use —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4980" y="966189"/>
            <a:ext cx="2528068" cy="283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500">
                <a:solidFill>
                  <a:srgbClr val="E07B39"/>
                </a:solidFill>
                <a:latin typeface="Calibri"/>
              </a:rPr>
              <a:t>Week 13 — Powder Metallurgy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4980" y="1314387"/>
            <a:ext cx="32003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November 16, 2026  ·  Unit 4: Manufacturing continues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6615" y="172254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693" y="1741393"/>
            <a:ext cx="25928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What powder metallurgy is and why it enables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693" y="1901235"/>
            <a:ext cx="22065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impossible by any other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36615" y="225281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693" y="2271681"/>
            <a:ext cx="276519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Powder production — water and gas atomisation,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693" y="2431524"/>
            <a:ext cx="1853854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reduction, electrolytic deposition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6615" y="2783106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693" y="2801957"/>
            <a:ext cx="277877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Compaction and sintering — green compact, neck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9693" y="2961799"/>
            <a:ext cx="160624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formation, densification, 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6615" y="3313382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693" y="3332233"/>
            <a:ext cx="266756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PM limitations and defects — density gradients,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693" y="3492075"/>
            <a:ext cx="157041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lamination cracks, blistering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6615" y="3843658"/>
            <a:ext cx="123485" cy="215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693" y="3862521"/>
            <a:ext cx="293528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Process selection — how to choose between casting,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693" y="4022364"/>
            <a:ext cx="159704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forming, machining, and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