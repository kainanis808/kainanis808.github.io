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428084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49334"/>
            <a:ext cx="385456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200">
                <a:solidFill>
                  <a:srgbClr val="CADCFC"/>
                </a:solidFill>
                <a:latin typeface="Calibri"/>
              </a:rPr>
              <a:t>Non-Destructive Testing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30432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October 12,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435686"/>
            <a:ext cx="530315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62720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72448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82176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782571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622" y="176748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664" y="1657693"/>
            <a:ext cx="385680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Surface &amp; Near-Surface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664" y="2034416"/>
            <a:ext cx="737129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Visual inspection, dye penetrant, and magnetic particle — what each finds and where each falls short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622" y="286476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664" y="2754973"/>
            <a:ext cx="244295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Volumetric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5664" y="3131696"/>
            <a:ext cx="700992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Ultrasonic and radiographic testing — detecting internal defects, technique selection, and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622" y="396204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5664" y="3852253"/>
            <a:ext cx="393139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Method Selection &amp; Qualification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664" y="4228976"/>
            <a:ext cx="621801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Matching the method to the defect, written procedures, and ASNT certification levels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397884" cy="3608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Alloy Research Portfolio — Module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No Microscope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3270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7  ·  Week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1234108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NDT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82361"/>
            <a:ext cx="3899236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Research 1018 steel, 360 brass, and Ti-6Al-4V: typical inclusions,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742204"/>
            <a:ext cx="1685493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intentional particles, and why NDT replaces sectioning here.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— record data &amp;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Answer — short-answer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Apply — critical-thinking &amp; equations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096" y="831872"/>
            <a:ext cx="1597840" cy="2365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Alloys of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1309034"/>
            <a:ext cx="1501146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A — 1018 steel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1601718"/>
            <a:ext cx="1832941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L — 360 leaded brass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1894402"/>
            <a:ext cx="1917257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P — Ti-6Al-4V titanium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Complete This Module: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the alloy(s) using credible 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Record data with a source citation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the short-answer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Answer the critical-thinking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Keep the module with your portfolio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5096" y="4637234"/>
            <a:ext cx="17650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79" y="731522"/>
            <a:ext cx="1691284" cy="5025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97557" y="731522"/>
            <a:ext cx="1691284" cy="5025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97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7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7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79" y="731522"/>
            <a:ext cx="1691284" cy="50256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79" y="2057046"/>
            <a:ext cx="1691284" cy="785876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79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6557" y="731522"/>
            <a:ext cx="1691284" cy="502564"/>
          </a:xfrm>
          <a:prstGeom prst="rect">
            <a:avLst/>
          </a:prstGeom>
          <a:solidFill>
            <a:srgbClr val="6B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26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26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6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557" y="370296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731522"/>
            <a:ext cx="1691284" cy="502564"/>
          </a:xfrm>
          <a:prstGeom prst="rect">
            <a:avLst/>
          </a:prstGeom>
          <a:solidFill>
            <a:srgbClr val="5B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79" y="4580638"/>
            <a:ext cx="8549284" cy="484199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424" y="15829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55" y="1010671"/>
            <a:ext cx="13146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255" y="147686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55" y="1651356"/>
            <a:ext cx="10371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55" y="1819110"/>
            <a:ext cx="6710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255" y="229982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255" y="247431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55" y="2642070"/>
            <a:ext cx="6619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7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7946" y="1010671"/>
            <a:ext cx="7765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0577" y="129398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7946" y="147686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7946" y="1651356"/>
            <a:ext cx="6143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7946" y="1819110"/>
            <a:ext cx="7245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0577" y="211694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7946" y="229982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7946" y="2474316"/>
            <a:ext cx="6966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7946" y="2642070"/>
            <a:ext cx="6330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0577" y="293990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7946" y="312278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7946" y="3297276"/>
            <a:ext cx="8456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7946" y="3465030"/>
            <a:ext cx="9758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2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2255" y="1010671"/>
            <a:ext cx="9473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4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72255" y="1476863"/>
            <a:ext cx="3477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2255" y="165135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2255" y="1819110"/>
            <a:ext cx="4707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4900" y="2116943"/>
            <a:ext cx="78312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Wk 8  ← here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2255" y="229982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2255" y="2558187"/>
            <a:ext cx="8614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4900" y="293990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72255" y="312278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2255" y="3297276"/>
            <a:ext cx="4848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72255" y="3465030"/>
            <a:ext cx="6410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6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6946" y="1010671"/>
            <a:ext cx="8352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59577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86946" y="147686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86946" y="1735227"/>
            <a:ext cx="4875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59577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86946" y="229982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86946" y="2558187"/>
            <a:ext cx="5439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9577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86946" y="312278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6946" y="3381147"/>
            <a:ext cx="6716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59577" y="3762862"/>
            <a:ext cx="4073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86946" y="3945743"/>
            <a:ext cx="43785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86946" y="4120236"/>
            <a:ext cx="5086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86946" y="4287990"/>
            <a:ext cx="6903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01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01255" y="1010671"/>
            <a:ext cx="9212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3900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01255" y="147686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01255" y="1651356"/>
            <a:ext cx="5420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01255" y="1819110"/>
            <a:ext cx="63168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73900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1255" y="229982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01255" y="2474316"/>
            <a:ext cx="10162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01255" y="2642070"/>
            <a:ext cx="5840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73900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01255" y="3122783"/>
            <a:ext cx="36288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01255" y="3297276"/>
            <a:ext cx="6276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01255" y="3465030"/>
            <a:ext cx="6990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59936" y="4699854"/>
            <a:ext cx="18435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242"/>
            <a:ext cx="51202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804597"/>
            <a:ext cx="5120271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204" y="804242"/>
            <a:ext cx="32914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204" y="804597"/>
            <a:ext cx="3291471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084" y="2267282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084" y="2980438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084" y="3949917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62593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8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584" y="905094"/>
            <a:ext cx="5291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5963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654" y="1380143"/>
            <a:ext cx="42856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Visual inspection (VT) — the first step in every inspection sequence;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654" y="1563023"/>
            <a:ext cx="140702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capabilities and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172539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654" y="1745903"/>
            <a:ext cx="398781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Dye penetrant testing (PT) — capillary action, color contrast vs.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654" y="1928783"/>
            <a:ext cx="296643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fluorescent, dwell time, and surface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76" y="209115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654" y="2111663"/>
            <a:ext cx="431933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Magnetic particle testing (MT) — ferromagnetic materials only; yoke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654" y="2294543"/>
            <a:ext cx="288785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vs. prod; field orientation and 2-direction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76" y="245691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654" y="2477423"/>
            <a:ext cx="422431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Ultrasonic testing (UT) — sound waves, couplant, straight beam vs.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654" y="2660303"/>
            <a:ext cx="214515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angle beam, A-scan, phased array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76" y="282267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654" y="2843183"/>
            <a:ext cx="37452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Radiographic testing (RT) — X-ray vs. gamma sources, what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654" y="3026063"/>
            <a:ext cx="327602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volumetric defects look like, planar defect limitation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576" y="318843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654" y="3208943"/>
            <a:ext cx="422811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Method selection — matching defect type, material, and geometry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654" y="3391823"/>
            <a:ext cx="129067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to the right 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576" y="355419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654" y="3574703"/>
            <a:ext cx="426268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Written procedures and ASNT SNT-TC-1A qualification levels (I, II, III)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3384" y="905094"/>
            <a:ext cx="82134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3384" y="1389871"/>
            <a:ext cx="12795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3384" y="1737267"/>
            <a:ext cx="8831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Moniz Ch. 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3384" y="1920147"/>
            <a:ext cx="181987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Nondestructive Examination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3384" y="2432071"/>
            <a:ext cx="105098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Kalpakjian Ch.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3384" y="2614951"/>
            <a:ext cx="24826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Surfaces, Inspection, &amp; Product Quality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3384" y="3072507"/>
            <a:ext cx="110336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Pages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3384" y="3328107"/>
            <a:ext cx="25126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NDT Methods — Physics, Techniques &amp;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3384" y="3510987"/>
            <a:ext cx="75646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Limitations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93384" y="3693867"/>
            <a:ext cx="124240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Defect Recognition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93384" y="4041631"/>
            <a:ext cx="166499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Unit 3 Quiz — Weeks 7–9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93384" y="4324943"/>
            <a:ext cx="164535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Scheduled during Week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24344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773721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5416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30983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407771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696" y="660111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696" y="1400577"/>
            <a:ext cx="614694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17" y="182337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700" y="1967568"/>
            <a:ext cx="726032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the difference between destructive and non-destructive testing, and why does it matter in practice?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17" y="259125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700" y="2735817"/>
            <a:ext cx="548069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the five main NDT methods and what types of defects can each detect?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17" y="3359494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700" y="3503697"/>
            <a:ext cx="663820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How do you choose the right NDT method for a given situation — what factors must you consider?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17" y="412737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700" y="4271933"/>
            <a:ext cx="744060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role do written procedures and technician qualification play in NDT — and why are they non-negotiable?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2516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25160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799" y="804597"/>
            <a:ext cx="42058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9799" y="804597"/>
            <a:ext cx="4205884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703370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Visual Inspection (VT) — The Foundation of Every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416" y="881701"/>
            <a:ext cx="227979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What VT Can and Cannot Find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416" y="1343783"/>
            <a:ext cx="68899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Direct VT: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416" y="1572751"/>
            <a:ext cx="39387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Naked eye + adequate lighting, mirrors, and magnifying lenses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416" y="1755631"/>
            <a:ext cx="343668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— the simplest and most universal method. Minimum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416" y="1938511"/>
            <a:ext cx="260246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illuminance is specified in the procedure.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16" y="2221823"/>
            <a:ext cx="80443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Remote VT: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416" y="2450423"/>
            <a:ext cx="360725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Borescopes, videoscopes, and drones reach where direct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416" y="2633303"/>
            <a:ext cx="386506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access is impossible — internal pipe surfaces, turbine blades,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2816183"/>
            <a:ext cx="103803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vessel interiors.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3099507"/>
            <a:ext cx="100499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What VT finds: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3328463"/>
            <a:ext cx="378831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Surface cracks, corrosion, mechanical damage, weld surface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3511343"/>
            <a:ext cx="396070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defects (undercut, overlap, spatter, surface porosity), incorrect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3694223"/>
            <a:ext cx="274835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geometry, misalignment, coating condition.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3977547"/>
            <a:ext cx="111722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What VT misses: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4206147"/>
            <a:ext cx="361866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Anything subsurface — a visually clean surface gives zero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4389027"/>
            <a:ext cx="388714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information about what lies beneath. VT is always Step 1; it is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416" y="4571907"/>
            <a:ext cx="275795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never the only step for critical components.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1615" y="881701"/>
            <a:ext cx="172209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Weld Inspection by VT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1620" y="1341536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4698" y="1361130"/>
            <a:ext cx="308572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Check weld profile against the weld symbol on the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4698" y="1536453"/>
            <a:ext cx="267134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drawing — correct size, length, and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41620" y="1692171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4698" y="1711776"/>
            <a:ext cx="295738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Undercut: a groove at the weld toe that reduces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4698" y="1887087"/>
            <a:ext cx="309186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effective throat thickness — measured with a fillet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4698" y="2062411"/>
            <a:ext cx="42933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gauge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41620" y="2218128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84698" y="2237734"/>
            <a:ext cx="316202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Overlap: weld metal rolled over base metal without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4698" y="2413058"/>
            <a:ext cx="308806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fusion — visible as a rolled edge; planar defect, no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4698" y="2588369"/>
            <a:ext cx="121730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acceptable amount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41620" y="2744099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4698" y="2763692"/>
            <a:ext cx="331052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Excessive spatter: indicates incorrect parameters; may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84698" y="2939015"/>
            <a:ext cx="233385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also indicate moisture in consumables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41620" y="3094733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4698" y="3114339"/>
            <a:ext cx="301936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Surface porosity: visible pores in the weld face —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84698" y="3289650"/>
            <a:ext cx="304100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investigate shielding gas coverage and base metal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4698" y="3464973"/>
            <a:ext cx="72151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cleanliness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41620" y="3620691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84698" y="3640297"/>
            <a:ext cx="325103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Cracks: linear indications at the weld surface, HAZ, or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84698" y="3815608"/>
            <a:ext cx="298019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crater — any crack is cause for rejection pending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84698" y="3990931"/>
            <a:ext cx="82792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investigation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41620" y="4146649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84698" y="4166255"/>
            <a:ext cx="330555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Key requirement: lighting ≥ 500 lux (or per procedure)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84698" y="4341578"/>
            <a:ext cx="324548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— poor lighting is the most common cause of missed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84698" y="4516889"/>
            <a:ext cx="96984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surface defects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2516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25160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3755" y="1389598"/>
            <a:ext cx="310680" cy="31067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3755" y="1992962"/>
            <a:ext cx="310680" cy="310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3755" y="2596682"/>
            <a:ext cx="310680" cy="310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3755" y="3200046"/>
            <a:ext cx="310680" cy="310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3755" y="3803398"/>
            <a:ext cx="310680" cy="310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3755" y="4407117"/>
            <a:ext cx="310680" cy="310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99799" y="804242"/>
            <a:ext cx="4205884" cy="19745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99799" y="804597"/>
            <a:ext cx="4205884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99799" y="2888998"/>
            <a:ext cx="4205884" cy="20480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99799" y="2889366"/>
            <a:ext cx="4205884" cy="43848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720328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Dye Penetrant Testing (PT) — How It Works and Where It Fails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881701"/>
            <a:ext cx="107280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Process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061" y="1435591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176" y="1338092"/>
            <a:ext cx="86738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Pre-cleaning: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176" y="1550556"/>
            <a:ext cx="363692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Remove all paint, scale, oil, and coatings — any contamination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176" y="1718311"/>
            <a:ext cx="32806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can seal the defect opening and prevent penetrant entry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061" y="2038943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176" y="1941812"/>
            <a:ext cx="142412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Penetrant application: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176" y="2154276"/>
            <a:ext cx="363022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Apply to the cleaned surface; low-viscosity liquid is drawn into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176" y="2322030"/>
            <a:ext cx="154459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defects by capillary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8061" y="2642663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176" y="2545176"/>
            <a:ext cx="77340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Dwell time: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176" y="2673757"/>
            <a:ext cx="355130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Hold time specified in the procedure — too short misses fine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176" y="2841511"/>
            <a:ext cx="351610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defects; too long may dry the penetrant in the defect before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176" y="3009265"/>
            <a:ext cx="121929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developer is applied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061" y="3246027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176" y="3148896"/>
            <a:ext cx="103255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Excess removal: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176" y="3277477"/>
            <a:ext cx="366248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Remove surface penetrant without flushing the defect — use a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3176" y="3445231"/>
            <a:ext cx="314946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damp cloth (solvent removable) or water rinse (water-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3176" y="3612985"/>
            <a:ext cx="65417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washable)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8061" y="3849391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3176" y="3752247"/>
            <a:ext cx="144955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Developer application: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3176" y="3964712"/>
            <a:ext cx="334919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Draws trapped penetrant back out of defects — creates a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3176" y="4132466"/>
            <a:ext cx="320072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visible bleed-out indication against a white background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061" y="4453111"/>
            <a:ext cx="1532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176" y="4355612"/>
            <a:ext cx="151284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Inspection + post-clean: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3176" y="4568076"/>
            <a:ext cx="325128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Inspect per procedure; document indications; clean the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3176" y="4735830"/>
            <a:ext cx="303143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surface to remove developer and residual penetrant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1615" y="881701"/>
            <a:ext cx="227374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Color Contrast vs. Fluorescent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1615" y="1338092"/>
            <a:ext cx="147820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Color contrast (visible):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51615" y="1550556"/>
            <a:ext cx="383623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Red penetrant on white developer — inspected under white light.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51615" y="1718311"/>
            <a:ext cx="235331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Standard field method, simpler logistics.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51615" y="1996536"/>
            <a:ext cx="82076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Fluorescent: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51615" y="2208988"/>
            <a:ext cx="348593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Penetrant glows under UV (black) light — significantly more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51615" y="2376755"/>
            <a:ext cx="30631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sensitive; used for critical or fine-defect applications.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615" y="2966457"/>
            <a:ext cx="89621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41620" y="3408296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4698" y="3427889"/>
            <a:ext cx="317956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Only detects surface-breaking defects — subsurface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84698" y="3603213"/>
            <a:ext cx="158286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defects are invisible to 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41620" y="3758931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84698" y="3778536"/>
            <a:ext cx="339471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Surface must be clean and free of coatings that seal the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84698" y="3953847"/>
            <a:ext cx="96473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defect opening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41620" y="4109577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84698" y="4129171"/>
            <a:ext cx="299626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Porous materials (as-cast surfaces, thermal spray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84698" y="4304494"/>
            <a:ext cx="313717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coatings) cannot be inspected — the whole surface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84698" y="4479818"/>
            <a:ext cx="77340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bleeds back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41620" y="4635535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84698" y="4655129"/>
            <a:ext cx="338638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Works on any non-porous material — metals, ceramics,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84698" y="4830452"/>
            <a:ext cx="339252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plastics (unlike MT which needs ferromagnetic material)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2516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25160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799" y="804597"/>
            <a:ext cx="42058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9799" y="804597"/>
            <a:ext cx="4205884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774412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Magnetic Particle Testing (MT) — Principle, Methods &amp;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416" y="881701"/>
            <a:ext cx="269771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Principle &amp; Magnetization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416" y="1343783"/>
            <a:ext cx="94696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How it works: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416" y="1505135"/>
            <a:ext cx="385907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component is magnetised; at a defect, the magnetic field is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416" y="1680458"/>
            <a:ext cx="400188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forced out of the material creating flux leakage; iron particles (dry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416" y="1855769"/>
            <a:ext cx="39885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or wet suspension) are attracted to the leakage and form a visible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16" y="2031093"/>
            <a:ext cx="69842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indication.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416" y="2221823"/>
            <a:ext cx="41168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Yoke: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416" y="2470297"/>
            <a:ext cx="357318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Electromagnetic yoke placed on the surface induces a field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2645607"/>
            <a:ext cx="384110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between its poles — portable, widely used for weld inspection;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2820931"/>
            <a:ext cx="255923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detects defects perpendicular to the field.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3099507"/>
            <a:ext cx="41320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Prod: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3348337"/>
            <a:ext cx="394970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Electrical contacts pressed onto the surface pass current through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3523647"/>
            <a:ext cx="379579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material — creates a circular field; detects defects running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3698971"/>
            <a:ext cx="328479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between the prods; risk of arc burns at contact points.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3977547"/>
            <a:ext cx="159905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Coil / central conductor: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4226008"/>
            <a:ext cx="353868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Used for magnetising whole components longitudinally or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416" y="4401332"/>
            <a:ext cx="379827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circularly — common in shop environments for valves, fittings,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4576655"/>
            <a:ext cx="90831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and bar stock.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1615" y="881701"/>
            <a:ext cx="180994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Key Rules &amp; Limitations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1615" y="1338092"/>
            <a:ext cx="128980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Ferromagnetic only: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1615" y="1512392"/>
            <a:ext cx="368525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steels, low-alloy steels, martensitic and ferritic stainless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1615" y="1680147"/>
            <a:ext cx="39450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steels. Cannot be used on austenitic stainless, aluminum, copper, or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1615" y="1847914"/>
            <a:ext cx="59271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titanium.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1615" y="2069612"/>
            <a:ext cx="111104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Depth capability: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1615" y="2243913"/>
            <a:ext cx="38313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Detects surface and near-surface defects up to approximately 2–3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1615" y="2411667"/>
            <a:ext cx="387507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mm below the surface — superior to PT for near-surface detection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1615" y="2579434"/>
            <a:ext cx="133215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 magnetic materials.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1615" y="2801132"/>
            <a:ext cx="123016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Two-direction rule: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1615" y="2975433"/>
            <a:ext cx="368622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 defect must be at 45–90° to the field to produce a detectable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1615" y="3143187"/>
            <a:ext cx="334793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indication. Inspections must be performed in at least two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1615" y="3310954"/>
            <a:ext cx="365312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perpendicular directions to ensure all orientations are covered.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1615" y="3532652"/>
            <a:ext cx="50943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WFMT: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1615" y="3706953"/>
            <a:ext cx="393610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Wet fluorescent MT: iron particles in liquid carrier viewed under UV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1615" y="3874707"/>
            <a:ext cx="374615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light — the most sensitive MT technique; widely used for critical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1615" y="4042474"/>
            <a:ext cx="341358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 inspection in pressure vessel and pipeline fabrication.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1615" y="4264172"/>
            <a:ext cx="114948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Demagnetization: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1615" y="4438473"/>
            <a:ext cx="333229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Required after inspection on components where residual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51615" y="4606227"/>
            <a:ext cx="371556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magnetism would interfere with service — near instruments, or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51615" y="4773994"/>
            <a:ext cx="263783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where particles could contaminate a process.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2516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25160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799" y="804597"/>
            <a:ext cx="42058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9799" y="804597"/>
            <a:ext cx="4205884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743794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Ultrasonic Testing (UT) — Detecting Internal Defects with Sound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416" y="881701"/>
            <a:ext cx="174983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Principle &amp; Techniques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416" y="1343783"/>
            <a:ext cx="94696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How it works: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416" y="1505135"/>
            <a:ext cx="390351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 transducer converts electrical energy to high-frequency sound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416" y="1680458"/>
            <a:ext cx="383072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waves (1–10 MHz) that travel through the material. Reflections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416" y="1855769"/>
            <a:ext cx="380192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from defects or the back wall return to the transducer; time of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16" y="2031093"/>
            <a:ext cx="113150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flight gives depth.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416" y="2221823"/>
            <a:ext cx="68884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Couplant: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416" y="2470297"/>
            <a:ext cx="393932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Gel, oil, or water between transducer and surface — air is a poor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2645607"/>
            <a:ext cx="395262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transmitter of ultrasound. Couplant must be compatible with the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2820931"/>
            <a:ext cx="157876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material and the process.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3099507"/>
            <a:ext cx="229835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Straight beam (compression wave):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3348337"/>
            <a:ext cx="395174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Transducer perpendicular to the surface — sound travels straight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3523647"/>
            <a:ext cx="326404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through. Used for lamination detection and thickness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3698971"/>
            <a:ext cx="195236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measurement in corroded pipe.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3977547"/>
            <a:ext cx="171205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Angle beam (shear wave):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4226008"/>
            <a:ext cx="369990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Transducer angled to direct sound at 45°, 60°, or 70° into the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416" y="4401332"/>
            <a:ext cx="380587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material — used for weld inspection where the sound must be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4576655"/>
            <a:ext cx="288825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directed toward fusion faces and the weld root.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1615" y="881701"/>
            <a:ext cx="303987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Reading Results &amp; Advanced Techniques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1615" y="1343783"/>
            <a:ext cx="101230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A-scan display: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1615" y="1603833"/>
            <a:ext cx="381696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Time-base trace showing signal amplitude vs. time of flight — the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1615" y="1771587"/>
            <a:ext cx="393163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inspector reads peaks (echoes) to identify defect depth and relative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1615" y="1939354"/>
            <a:ext cx="174321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size. Fundamental UT display.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1615" y="2221823"/>
            <a:ext cx="160621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Phased array UT (PAUT):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1615" y="2481517"/>
            <a:ext cx="35627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Multiple elements steer and focus the beam electronically —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1615" y="2649271"/>
            <a:ext cx="388554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produces S-scans (sectoral cross-sections of the weld). Increasingly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1615" y="2817025"/>
            <a:ext cx="375620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replaces conventional UT and radiography in modern fabrication.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1615" y="3099507"/>
            <a:ext cx="164291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Thickness measurement: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1615" y="3359557"/>
            <a:ext cx="380802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Straight beam UT from one side gives remaining wall thickness —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1615" y="3527311"/>
            <a:ext cx="386794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essential for in-service corrosion monitoring where internal access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1615" y="3695065"/>
            <a:ext cx="83714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is impossible.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1615" y="3977547"/>
            <a:ext cx="81798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Limitations: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1615" y="4153358"/>
            <a:ext cx="394923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Rough surfaces reduce coupling efficiency. Coarse-grained materials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1615" y="4321112"/>
            <a:ext cx="349836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(some austenitic stainless, castings) scatter sound and make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1615" y="4488866"/>
            <a:ext cx="392591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interpretation difficult. Defects parallel to the beam may not reflect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1615" y="4656633"/>
            <a:ext cx="104442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sufficient energy.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2516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25160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799" y="804597"/>
            <a:ext cx="42058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9799" y="804597"/>
            <a:ext cx="4205884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837995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Radiographic Testing (RT) — Volumetric Imaging with X-Ray and Gamma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416" y="881701"/>
            <a:ext cx="149694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Principle &amp;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416" y="1343783"/>
            <a:ext cx="94696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How it works: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416" y="1505135"/>
            <a:ext cx="378321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Radiation passes through the component onto film or a digital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416" y="1680458"/>
            <a:ext cx="372241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detector on the opposite side. Denser material absorbs more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416" y="1855769"/>
            <a:ext cx="396504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radiation and appears lighter on the image; voids absorb less and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16" y="2031093"/>
            <a:ext cx="93126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appear darker.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416" y="2221823"/>
            <a:ext cx="94864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X-ray sources: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416" y="2470297"/>
            <a:ext cx="394736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X-ray tubes generate radiation with adjustable energy — suitable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2645607"/>
            <a:ext cx="392616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 a wide range of thicknesses; require electrical power. Used in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2820931"/>
            <a:ext cx="125413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shop environments.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3099507"/>
            <a:ext cx="135357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Gamma ray sources: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3348337"/>
            <a:ext cx="396840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Radioactive isotopes (Ir-192, Co-60, Se-75) — compact, no power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3523647"/>
            <a:ext cx="375369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required, fixed energy output. Ideal for field use and confined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3698971"/>
            <a:ext cx="216386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spaces where power is unavailable.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3977547"/>
            <a:ext cx="121331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Film RT vs. digital: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4138531"/>
            <a:ext cx="34645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Film provides a permanent archival image processed in a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416" y="4313854"/>
            <a:ext cx="381099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darkroom. Digital radiography (DR) and computed radiography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4489177"/>
            <a:ext cx="348592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(CR) use digital detectors or phosphor plates — faster, no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416" y="4664488"/>
            <a:ext cx="222452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chemicals, images can be enhanced.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1615" y="881701"/>
            <a:ext cx="258923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What RT Finds, Misses, and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1615" y="1343783"/>
            <a:ext cx="89108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Detects well: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1615" y="1603833"/>
            <a:ext cx="388750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Volumetric defects — porosity, slag inclusions, tungsten inclusions,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1615" y="1771587"/>
            <a:ext cx="385663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burn-through, lack of fill. The rounded or irregular shape creates a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1615" y="1939354"/>
            <a:ext cx="186613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clear density difference on film.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1615" y="2221823"/>
            <a:ext cx="10368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Detects poorly: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1615" y="2481517"/>
            <a:ext cx="394141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Tight planar defects (cracks, lack of fusion) oriented at a small angle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1615" y="2649271"/>
            <a:ext cx="36726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to the beam may be completely invisible on a radiograph. UT is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1615" y="2817025"/>
            <a:ext cx="213500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superior for planar defect detection.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1615" y="3099507"/>
            <a:ext cx="125900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Permanent record: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1615" y="3359557"/>
            <a:ext cx="368944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RT produces an image record that can be stored, reviewed, and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1615" y="3527311"/>
            <a:ext cx="360633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compared over time — valuable for in-service monitoring and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1615" y="3695065"/>
            <a:ext cx="186906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fitness-for-service assessments.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1615" y="3977547"/>
            <a:ext cx="113930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Radiation safety: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1615" y="4153358"/>
            <a:ext cx="392843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RT involves ionising radiation subject to strict regulatory controls —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1615" y="4321112"/>
            <a:ext cx="38680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designated radiation areas, dosimetry monitoring, and licensing. A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1615" y="4488866"/>
            <a:ext cx="350060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technician working near RT must understand exclusion zone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1615" y="4656633"/>
            <a:ext cx="389797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requirements and never enter a restricted area during an exposure.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242"/>
            <a:ext cx="863172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261442"/>
            <a:ext cx="8631720" cy="36540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1627202"/>
            <a:ext cx="8631720" cy="6397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285646"/>
            <a:ext cx="8631720" cy="63971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2944077"/>
            <a:ext cx="8631720" cy="6397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3602521"/>
            <a:ext cx="8631720" cy="63972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600" y="4260598"/>
            <a:ext cx="8631720" cy="6397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600" y="4772878"/>
            <a:ext cx="8631720" cy="31067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424" y="158292"/>
            <a:ext cx="682977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Method Selection — Matching the Method to 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784" y="892660"/>
            <a:ext cx="703096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Ask five questions in sequence — the answers eliminate unsuitable methods and point to the correct choice.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44" y="1334791"/>
            <a:ext cx="46666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5824" y="1334791"/>
            <a:ext cx="2415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VT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2097" y="1334791"/>
            <a:ext cx="23077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4897" y="1334791"/>
            <a:ext cx="28391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0178" y="1334791"/>
            <a:ext cx="25056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6822" y="1334791"/>
            <a:ext cx="23533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344" y="1845031"/>
            <a:ext cx="95209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Defect 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8136" y="1848682"/>
            <a:ext cx="73392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254" y="1768761"/>
            <a:ext cx="9812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Surface-breaking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5382" y="1928603"/>
            <a:ext cx="30543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8662" y="1768761"/>
            <a:ext cx="59567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&amp;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334" y="1928603"/>
            <a:ext cx="74804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near-surface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7381" y="1768761"/>
            <a:ext cx="59567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&amp;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8385" y="1928603"/>
            <a:ext cx="79240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deep internal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6102" y="1768761"/>
            <a:ext cx="59567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&amp;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7105" y="1928603"/>
            <a:ext cx="79240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deep internal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344" y="2503475"/>
            <a:ext cx="86340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Material 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6736" y="2507114"/>
            <a:ext cx="27945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9820" y="2427193"/>
            <a:ext cx="71554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Non-porous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6142" y="2587035"/>
            <a:ext cx="74285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any material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7623" y="2427193"/>
            <a:ext cx="85660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Ferromagnetic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4102" y="2587035"/>
            <a:ext cx="30543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3582" y="2427193"/>
            <a:ext cx="74271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Most metals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0816" y="2587035"/>
            <a:ext cx="80838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&amp; composites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6302" y="2427193"/>
            <a:ext cx="63443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Most solid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6896" y="2587035"/>
            <a:ext cx="57409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materials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6344" y="3077668"/>
            <a:ext cx="91746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Detects planar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6344" y="3245435"/>
            <a:ext cx="7695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cracks well?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01024" y="3085282"/>
            <a:ext cx="54945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Depends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02814" y="3245124"/>
            <a:ext cx="54692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(surface)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52900" y="3085282"/>
            <a:ext cx="38908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Yes (if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41141" y="3245124"/>
            <a:ext cx="101204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surface-breaking)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36502" y="3085282"/>
            <a:ext cx="59899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Yes (near-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2934" y="3245124"/>
            <a:ext cx="50602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01257" y="3085282"/>
            <a:ext cx="24829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Yes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93180" y="3245124"/>
            <a:ext cx="66280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(preferred)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65974" y="3085282"/>
            <a:ext cx="89456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Poor (if parallel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1938" y="3245124"/>
            <a:ext cx="56410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 beam)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6344" y="3819995"/>
            <a:ext cx="98813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Access required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02814" y="3743713"/>
            <a:ext cx="54558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One side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02738" y="3903555"/>
            <a:ext cx="74631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(direct view)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4414" y="3823634"/>
            <a:ext cx="54558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One side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63134" y="3823634"/>
            <a:ext cx="54558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One side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51854" y="3823634"/>
            <a:ext cx="54558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One side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98461" y="3743713"/>
            <a:ext cx="63016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Both sides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91184" y="3903555"/>
            <a:ext cx="84541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(source + film)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6344" y="4394556"/>
            <a:ext cx="128606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Produces permanent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6344" y="4562310"/>
            <a:ext cx="90069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image record?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60498" y="4482078"/>
            <a:ext cx="23164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32097" y="4482078"/>
            <a:ext cx="23164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0817" y="4482078"/>
            <a:ext cx="2316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68415" y="4402157"/>
            <a:ext cx="51228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A-scan /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37377" y="4561999"/>
            <a:ext cx="77415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S-scan digital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89977" y="4402157"/>
            <a:ext cx="24829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Yes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79665" y="4561999"/>
            <a:ext cx="86659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(film or digital)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9775" y="4829474"/>
            <a:ext cx="758428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ASNT SNT-TC-1A — Level I: perform under supervision  ·  Level II: perform, interpret &amp; accept/reject  ·  Level III: write procedures &amp; certify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914046"/>
            <a:ext cx="8320671" cy="36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362398"/>
            <a:ext cx="4625866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04" y="1040067"/>
            <a:ext cx="551429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is the difference between destructive and non-destructive testing, and why does it matter?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04" y="1325787"/>
            <a:ext cx="829886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Destructive testing (tensile, hardness, Charpy) consumes or damages the specimen — accurate but the tested piece cannot go into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704" y="1508667"/>
            <a:ext cx="799643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service. NDT inspects the actual component without altering it, enabling 100% inspection and in-service monitoring of critical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04" y="1691547"/>
            <a:ext cx="90021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components.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04" y="2045907"/>
            <a:ext cx="379922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are the five main NDT methods and what does each detect?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04" y="2331627"/>
            <a:ext cx="786698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VT: visible surface defects. PT: surface-breaking defects in any non-porous material. MT: surface and near-surface defects in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2514507"/>
            <a:ext cx="814003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ferromagnetic materials. UT: surface and deep internal defects via sound waves. RT: volumetric defects (porosity, inclusions) via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04" y="2697387"/>
            <a:ext cx="122138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radiation imaging.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04" y="3051747"/>
            <a:ext cx="250332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How do you choose the right NDT method?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04" y="3428907"/>
            <a:ext cx="817292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Consider: (1) defect type and expected location (surface, near-surface, volumetric); (2) material (ferromagnetic or not, porous or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04" y="3611787"/>
            <a:ext cx="754155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not); (3) geometry and access available; (4) required sensitivity; (5) applicable code or standard specifying the method.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04" y="4057587"/>
            <a:ext cx="591152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role do written procedures and technician qualification play — and why are they non-negotiable?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04" y="4343307"/>
            <a:ext cx="817871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Every method must be performed per a qualified written procedure specifying equipment, materials, technique, and acceptance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04" y="4526187"/>
            <a:ext cx="824876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criteria. Technicians must hold ASNT Level I, II, or III certification for the method. An uncertified person cannot accept or reject an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04" y="4709067"/>
            <a:ext cx="60703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indication, and deviating from the procedure invalidates the inspection regardless of the result.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3964" y="859321"/>
            <a:ext cx="8594991" cy="12430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3964" y="859321"/>
            <a:ext cx="511556" cy="12430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3964" y="2212557"/>
            <a:ext cx="8594991" cy="124308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3964" y="2212557"/>
            <a:ext cx="511556" cy="124308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3964" y="3565806"/>
            <a:ext cx="8594991" cy="12430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3964" y="3565806"/>
            <a:ext cx="511556" cy="12430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179176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294" y="1203263"/>
            <a:ext cx="307543" cy="608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6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064" y="1157220"/>
            <a:ext cx="759724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Each NDT method operates on a different physical principle and detects a different subset of defects — no single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064" y="1355568"/>
            <a:ext cx="739301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method finds everything, and method selection must be matched to the defect type, material, geometry, and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064" y="1553929"/>
            <a:ext cx="203296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applicable code requirement.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294" y="2556511"/>
            <a:ext cx="307543" cy="608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6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064" y="2510455"/>
            <a:ext cx="784841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Written procedures and technician qualification are not bureaucratic formalities — they are what makes NDT results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064" y="2708817"/>
            <a:ext cx="771903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legally and technically defensible. An inspection performed outside its qualified procedure is not a valid inspection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064" y="2907178"/>
            <a:ext cx="276134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regardless of what the technician found.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294" y="3909747"/>
            <a:ext cx="307543" cy="608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6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064" y="3962687"/>
            <a:ext cx="782924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Understanding the limitations of each method is just as important as understanding its capabilities — knowing what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064" y="4161049"/>
            <a:ext cx="623583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 method cannot detect is what prevents a false sense of security after an inspection passes.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188366"/>
            <a:ext cx="8320671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34518"/>
            <a:ext cx="4160164" cy="3529088"/>
          </a:xfrm>
          <a:prstGeom prst="rect">
            <a:avLst/>
          </a:prstGeom>
          <a:solidFill>
            <a:srgbClr val="25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1555" y="1993317"/>
            <a:ext cx="9108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1555" y="2651761"/>
            <a:ext cx="9108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1555" y="3310206"/>
            <a:ext cx="91084" cy="2555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1555" y="3968637"/>
            <a:ext cx="9108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8164" y="1334518"/>
            <a:ext cx="4160151" cy="3529088"/>
          </a:xfrm>
          <a:prstGeom prst="rect">
            <a:avLst/>
          </a:prstGeom>
          <a:solidFill>
            <a:srgbClr val="25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00676" y="2139482"/>
            <a:ext cx="3657244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696" y="669562"/>
            <a:ext cx="3778077" cy="4847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584" y="1480509"/>
            <a:ext cx="159327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8 Resources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455" y="1980224"/>
            <a:ext cx="92812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Moniz Ch. 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55" y="2238147"/>
            <a:ext cx="277806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Nondestructive Examination — primary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55" y="2638656"/>
            <a:ext cx="112149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Kalpakjian Ch.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55" y="2896235"/>
            <a:ext cx="30206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Surfaces, Inspection, and Product Quality Assurance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55" y="3297100"/>
            <a:ext cx="167605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NDT Methods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55" y="3554667"/>
            <a:ext cx="307990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Physics, techniques, and limitations for all 5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55" y="3955544"/>
            <a:ext cx="174257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Defect Recognition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55" y="4213111"/>
            <a:ext cx="337727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Visual identification of common weld and material defects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7976" y="1480509"/>
            <a:ext cx="2473637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9 — Quality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7976" y="1847071"/>
            <a:ext cx="114798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October 19,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7981" y="223730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058" y="2257827"/>
            <a:ext cx="31304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What quality standards are and why they exist —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058" y="2440707"/>
            <a:ext cx="20522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ASTM, AWS, ASME, ISO, and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7981" y="260306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058" y="2623587"/>
            <a:ext cx="337973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Common weld defects and how to recognize them —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058" y="2806467"/>
            <a:ext cx="194307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porosity, LOF, cracks, undercut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7981" y="296882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058" y="2989347"/>
            <a:ext cx="313607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Indication vs. discontinuity vs. defect vs. reject —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058" y="3172227"/>
            <a:ext cx="190515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precise language that matters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7981" y="333458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1058" y="3355107"/>
            <a:ext cx="331379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What good inspection documentation looks like and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1058" y="3537987"/>
            <a:ext cx="167261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why it is a legal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