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514367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3063242"/>
            <a:ext cx="4571631" cy="4536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2696" y="1003499"/>
            <a:ext cx="250571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E07B39"/>
                </a:solidFill>
                <a:latin typeface="Calibri"/>
              </a:rPr>
              <a:t>M E C H 1 9 1 — M e t a l l u r g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2696" y="1382427"/>
            <a:ext cx="2428084" cy="9805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6000">
                <a:solidFill>
                  <a:srgbClr val="FFFFFF"/>
                </a:solidFill>
                <a:latin typeface="Calibri"/>
              </a:rPr>
              <a:t>Week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2696" y="2435080"/>
            <a:ext cx="4278224" cy="422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2400">
                <a:solidFill>
                  <a:srgbClr val="CADCFC"/>
                </a:solidFill>
                <a:latin typeface="Calibri"/>
              </a:rPr>
              <a:t>Mechanical Properties &amp; Behavior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696" y="3311813"/>
            <a:ext cx="322219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August 31, 2026  ·  5:00 – 7:30 PM  ·  Kai Santos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435686"/>
            <a:ext cx="5303151" cy="45351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1627202"/>
            <a:ext cx="639711" cy="63972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404" y="2724482"/>
            <a:ext cx="639711" cy="63972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404" y="3821762"/>
            <a:ext cx="639711" cy="63972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696" y="782571"/>
            <a:ext cx="2696648" cy="63977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800">
                <a:solidFill>
                  <a:srgbClr val="FFFFFF"/>
                </a:solidFill>
                <a:latin typeface="Calibri"/>
              </a:rPr>
              <a:t>Class 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1622" y="1767484"/>
            <a:ext cx="35751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5664" y="1657693"/>
            <a:ext cx="176270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Stress &amp; Strain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5664" y="2034416"/>
            <a:ext cx="5145473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The fundamental language for describing how metals respond to force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1622" y="2864764"/>
            <a:ext cx="35751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5664" y="2754973"/>
            <a:ext cx="1786453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Crystal Defects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5664" y="3131696"/>
            <a:ext cx="6329696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Point, line, planar, and volume defects — and why they matter more than you'd expect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1622" y="3962044"/>
            <a:ext cx="35751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5664" y="3852253"/>
            <a:ext cx="343776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Grain Boundaries &amp; Diffusion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5664" y="4122055"/>
            <a:ext cx="7222976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How boundaries strengthen metal, the Hall-Petch relationship, and how atoms move through solid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5664" y="4335542"/>
            <a:ext cx="488784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metal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"/>
            <a:ext cx="9143631" cy="621360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749886"/>
            <a:ext cx="4151160" cy="4187519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600" y="749517"/>
            <a:ext cx="415116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2475" y="1791718"/>
            <a:ext cx="3858488" cy="3635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749886"/>
            <a:ext cx="4315676" cy="4187519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749517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17796" y="2559966"/>
            <a:ext cx="4023004" cy="3636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4534918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704" y="144840"/>
            <a:ext cx="3397884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E07B39"/>
                </a:solidFill>
                <a:latin typeface="Calibri"/>
              </a:rPr>
              <a:t>Metallography Lab — Module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6344" y="193848"/>
            <a:ext cx="222431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64748B"/>
                </a:solidFill>
                <a:latin typeface="Calibri"/>
              </a:rPr>
              <a:t>EXAMET-5-R-600-HD  ·  50–500×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775" y="831872"/>
            <a:ext cx="13270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Module 2  ·  Week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9775" y="1352353"/>
            <a:ext cx="1954475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FFFFFF"/>
                </a:solidFill>
                <a:latin typeface="Calibri"/>
              </a:rPr>
              <a:t>Mechanical Properties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775" y="1963827"/>
            <a:ext cx="135659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What to do this week: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9775" y="2582361"/>
            <a:ext cx="349791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Compare pearlite fraction in A vs B. Measure the Vickers indent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9775" y="2742204"/>
            <a:ext cx="209294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diagonal (now on B) and calculate HV.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9775" y="3435871"/>
            <a:ext cx="42845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Steps: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9775" y="3838821"/>
            <a:ext cx="196518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1  Observe — complete feature 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9775" y="3991462"/>
            <a:ext cx="231439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2  Sketch — label magnification &amp; specimen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9775" y="4144104"/>
            <a:ext cx="164050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3  Answer — 4 short questions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5096" y="831872"/>
            <a:ext cx="159784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Specimens to Check Out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5096" y="1309034"/>
            <a:ext cx="150114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· Specimen A — 1018 steel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5096" y="1601718"/>
            <a:ext cx="279143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· Specimen B — 1045 steel (Vickers indent applied)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5096" y="2731707"/>
            <a:ext cx="153551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How to check out the kit: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5096" y="3219620"/>
            <a:ext cx="177190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1  See instructor after class today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5096" y="3372261"/>
            <a:ext cx="156248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2  Sign out the specimen tray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5096" y="3524903"/>
            <a:ext cx="220853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3  Use the EXAMET-5 at your convenience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05096" y="3677544"/>
            <a:ext cx="172831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4  Return kit before leaving class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05096" y="3830185"/>
            <a:ext cx="254885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5  Submit completed module with your portfolio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5096" y="4637234"/>
            <a:ext cx="176501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Portfolio Handout — Module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79" y="731522"/>
            <a:ext cx="1691284" cy="502564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79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79" y="2057046"/>
            <a:ext cx="1691284" cy="785876"/>
          </a:xfrm>
          <a:prstGeom prst="rect">
            <a:avLst/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97557" y="731522"/>
            <a:ext cx="1691284" cy="502564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97557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97557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97557" y="288000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79" y="731522"/>
            <a:ext cx="1691284" cy="502564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11879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11879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11879" y="288000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26557" y="731522"/>
            <a:ext cx="1691284" cy="502564"/>
          </a:xfrm>
          <a:prstGeom prst="rect">
            <a:avLst/>
          </a:prstGeom>
          <a:solidFill>
            <a:srgbClr val="6B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26557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6557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6557" y="288000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26557" y="370296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40880" y="731522"/>
            <a:ext cx="1691284" cy="502564"/>
          </a:xfrm>
          <a:prstGeom prst="rect">
            <a:avLst/>
          </a:prstGeom>
          <a:solidFill>
            <a:srgbClr val="5B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40880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040880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40880" y="288000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2879" y="4580638"/>
            <a:ext cx="8549284" cy="484199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8424" y="158292"/>
            <a:ext cx="441804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MECH 191 — Course &amp; Unit Roadmap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3255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3255" y="1010671"/>
            <a:ext cx="131468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Materials Fundamentals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900" y="129398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Wk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3255" y="1476863"/>
            <a:ext cx="4318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Aug 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3255" y="1651356"/>
            <a:ext cx="103716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Atomic Structure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3255" y="1819110"/>
            <a:ext cx="67107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&amp; Bonding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5900" y="2116943"/>
            <a:ext cx="78312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Wk 2  ← here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3255" y="2299823"/>
            <a:ext cx="4318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Aug 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3255" y="2474316"/>
            <a:ext cx="72764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Mechanical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3255" y="2642070"/>
            <a:ext cx="66199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Properties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57946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57946" y="1010671"/>
            <a:ext cx="77651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Steel &amp; Alloys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30577" y="1293983"/>
            <a:ext cx="3431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Wk 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7946" y="1476863"/>
            <a:ext cx="41943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Sep 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7946" y="1651356"/>
            <a:ext cx="61436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Carbon &amp;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57946" y="1819110"/>
            <a:ext cx="72456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Alloy Steels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30577" y="2116943"/>
            <a:ext cx="3431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Wk 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57946" y="2299823"/>
            <a:ext cx="41943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Sep 21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57946" y="2474316"/>
            <a:ext cx="69663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Stainless &amp;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57946" y="2642070"/>
            <a:ext cx="63308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Cast Irons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30577" y="2939903"/>
            <a:ext cx="3431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Wk 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57946" y="3122783"/>
            <a:ext cx="41943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Sep 28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57946" y="3297276"/>
            <a:ext cx="84566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Nonferrous &amp;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57946" y="3465030"/>
            <a:ext cx="97584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Phase Diagrams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72255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72255" y="1010671"/>
            <a:ext cx="94730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Testing &amp; Quality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44900" y="129398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Wk 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72255" y="1476863"/>
            <a:ext cx="34776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72255" y="1651356"/>
            <a:ext cx="72764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Mechanical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72255" y="1819110"/>
            <a:ext cx="47078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Testing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44900" y="211694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Wk 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72255" y="2299823"/>
            <a:ext cx="41193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12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72255" y="2558187"/>
            <a:ext cx="86145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NDT Methods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44900" y="293990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Wk 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72255" y="3122783"/>
            <a:ext cx="41193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19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72255" y="3297276"/>
            <a:ext cx="48488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Quality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72255" y="3465030"/>
            <a:ext cx="64104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Standards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86946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86946" y="1010671"/>
            <a:ext cx="83522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Manufacturing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359577" y="129398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3A2E"/>
                </a:solidFill>
                <a:latin typeface="Calibri"/>
              </a:rPr>
              <a:t>Wk 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86946" y="1476863"/>
            <a:ext cx="41193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386946" y="1735227"/>
            <a:ext cx="48754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Casting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59577" y="211694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3A2E"/>
                </a:solidFill>
                <a:latin typeface="Calibri"/>
              </a:rPr>
              <a:t>Wk 11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86946" y="2299823"/>
            <a:ext cx="37368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86946" y="2558187"/>
            <a:ext cx="54397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Forming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59577" y="293990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3A2E"/>
                </a:solidFill>
                <a:latin typeface="Calibri"/>
              </a:rPr>
              <a:t>Wk 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86946" y="3122783"/>
            <a:ext cx="37368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86946" y="3381147"/>
            <a:ext cx="67163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Machining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59577" y="3762862"/>
            <a:ext cx="40736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3A2E"/>
                </a:solidFill>
                <a:latin typeface="Calibri"/>
              </a:rPr>
              <a:t>Wk 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386946" y="3945743"/>
            <a:ext cx="43785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16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86946" y="4120236"/>
            <a:ext cx="50863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Powder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386946" y="4287990"/>
            <a:ext cx="69034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Metallurgy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01255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01255" y="1010671"/>
            <a:ext cx="92125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Joining &amp; Failure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73900" y="129398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2E6B"/>
                </a:solidFill>
                <a:latin typeface="Calibri"/>
              </a:rPr>
              <a:t>Wk 14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101255" y="1476863"/>
            <a:ext cx="43785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23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101255" y="1651356"/>
            <a:ext cx="54201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Welding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101255" y="1819110"/>
            <a:ext cx="63168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Processes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073900" y="211694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2E6B"/>
                </a:solidFill>
                <a:latin typeface="Calibri"/>
              </a:rPr>
              <a:t>Wk 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101255" y="2299823"/>
            <a:ext cx="43785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30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101255" y="2474316"/>
            <a:ext cx="101621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Weld Metallurgy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01255" y="2642070"/>
            <a:ext cx="58405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&amp; Failure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073900" y="293990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2E6B"/>
                </a:solidFill>
                <a:latin typeface="Calibri"/>
              </a:rPr>
              <a:t>Wk 16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01255" y="3122783"/>
            <a:ext cx="36288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Dec 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101255" y="3297276"/>
            <a:ext cx="62763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Corrosion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101255" y="3465030"/>
            <a:ext cx="69900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&amp; Wrap-up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559936" y="4699854"/>
            <a:ext cx="1843553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Week 17  ·  FINAL EXAM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59" y="822606"/>
            <a:ext cx="5074564" cy="411443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23559" y="822606"/>
            <a:ext cx="3245764" cy="411443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806084" y="3291486"/>
            <a:ext cx="2742831" cy="26999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8424" y="158292"/>
            <a:ext cx="2625936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Week 2 — At a Glance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5940" y="957540"/>
            <a:ext cx="560480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500">
                <a:solidFill>
                  <a:srgbClr val="2E4A6B"/>
                </a:solidFill>
                <a:latin typeface="Calibri"/>
              </a:rPr>
              <a:t>Topics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944" y="1329367"/>
            <a:ext cx="137033" cy="2629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022" y="1353348"/>
            <a:ext cx="3990603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Stress and strain — the language of mechanical behavior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944" y="1534917"/>
            <a:ext cx="137033" cy="2629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022" y="1558909"/>
            <a:ext cx="3456641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Elastic vs. plastic deformation and the yield 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944" y="1740479"/>
            <a:ext cx="137033" cy="2629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022" y="1764472"/>
            <a:ext cx="3949304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Key properties: strength, hardness, ductility, toughness,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022" y="1970021"/>
            <a:ext cx="803799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brittleness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944" y="2151603"/>
            <a:ext cx="137033" cy="2629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022" y="2175583"/>
            <a:ext cx="3415686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Crystal defects — point, line, planar, and volume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5944" y="2357166"/>
            <a:ext cx="137033" cy="2629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022" y="2381146"/>
            <a:ext cx="4124606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Grain boundaries — formation, energy, and the Hall-Petch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022" y="2586708"/>
            <a:ext cx="468445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effect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944" y="2768277"/>
            <a:ext cx="137033" cy="2629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022" y="2792270"/>
            <a:ext cx="3506506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Diffusion — how atoms move through solid metal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93740" y="957540"/>
            <a:ext cx="872224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500">
                <a:solidFill>
                  <a:srgbClr val="2E4A6B"/>
                </a:solidFill>
                <a:latin typeface="Calibri"/>
              </a:rPr>
              <a:t>Resources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93384" y="1398863"/>
            <a:ext cx="127956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Reference Material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83744" y="1879101"/>
            <a:ext cx="123585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1A2433"/>
                </a:solidFill>
                <a:latin typeface="Calibri"/>
              </a:rPr>
              <a:t>Moniz 5th — Ch.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83744" y="2061981"/>
            <a:ext cx="207342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Mechanical Properties of Metals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83744" y="2427741"/>
            <a:ext cx="149763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1A2433"/>
                </a:solidFill>
                <a:latin typeface="Calibri"/>
              </a:rPr>
              <a:t>Kalpakjian 6th — Ch.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83744" y="2610621"/>
            <a:ext cx="185398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Fundamentals of Mechanical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83744" y="2793501"/>
            <a:ext cx="139849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Behavior of Materials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93384" y="3428907"/>
            <a:ext cx="74275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Visualizers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83744" y="387458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26822" y="3895111"/>
            <a:ext cx="202393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Stress-Strain Curve (Interactive)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83744" y="405746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26822" y="4077991"/>
            <a:ext cx="186418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Hot vs Cold Working &amp; Work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26822" y="4260872"/>
            <a:ext cx="71640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Hardening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389966"/>
            <a:ext cx="8320671" cy="45351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1919886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404" y="2541602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404" y="3163317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404" y="3785402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404" y="4407117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696" y="806275"/>
            <a:ext cx="2642450" cy="5466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200">
                <a:solidFill>
                  <a:srgbClr val="FFFFFF"/>
                </a:solidFill>
                <a:latin typeface="Calibri"/>
              </a:rPr>
              <a:t>Core Questions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696" y="1547097"/>
            <a:ext cx="614694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Try to answer these before we dive in — we'll revisit them with answers at the end of class.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17" y="1969530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9700" y="2078096"/>
            <a:ext cx="6563180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is the difference between strength and toughness? Can a material be strong but not tough?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617" y="2591259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9700" y="2699812"/>
            <a:ext cx="698437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At the atomic level, what exactly happens at the yield point when you pull a metal specimen in tension?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17" y="3212975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9700" y="3222176"/>
            <a:ext cx="756916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Cold-working a metal (rolling, drawing) increases its strength but reduces ductility. What microstructural change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9700" y="3420537"/>
            <a:ext cx="257214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explains both effects simultaneously?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617" y="3835059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9700" y="3943256"/>
            <a:ext cx="746703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A fine-grained and a coarse-grained steel have identical composition. Which yields at higher stress — and why?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617" y="4456775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9700" y="4465608"/>
            <a:ext cx="748290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A steel shaft fails well below its yield strength after thousands of rotation cycles. What failure mode is this, and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9700" y="4663969"/>
            <a:ext cx="290444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property should have been checked?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59" y="1389966"/>
            <a:ext cx="4160164" cy="3547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59" y="1389966"/>
            <a:ext cx="4160164" cy="43848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3172677"/>
            <a:ext cx="3794404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63440" y="1389966"/>
            <a:ext cx="4160163" cy="3547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63440" y="1389966"/>
            <a:ext cx="4160163" cy="43848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46320" y="3172677"/>
            <a:ext cx="3794404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424" y="158292"/>
            <a:ext cx="396519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Stress and Strain — The Language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8416" y="804618"/>
            <a:ext cx="7960280" cy="275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500">
                <a:solidFill>
                  <a:srgbClr val="1C2B3A"/>
                </a:solidFill>
                <a:latin typeface="Calibri"/>
              </a:rPr>
              <a:t>When a force is applied to a metal, we need precise language to describe what happens inside it — at the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8416" y="1025649"/>
            <a:ext cx="2644630" cy="275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500">
                <a:solidFill>
                  <a:srgbClr val="1C2B3A"/>
                </a:solidFill>
                <a:latin typeface="Calibri"/>
              </a:rPr>
              <a:t>grain level and at the atomic level.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5940" y="1485551"/>
            <a:ext cx="901739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FFFFFF"/>
                </a:solidFill>
                <a:latin typeface="Calibri"/>
              </a:rPr>
              <a:t>Stress  (σ)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77580" y="1967836"/>
            <a:ext cx="1384161" cy="515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000">
                <a:solidFill>
                  <a:srgbClr val="2E4A6B"/>
                </a:solidFill>
                <a:latin typeface="Calibri"/>
              </a:rPr>
              <a:t>σ = F / 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5940" y="2487773"/>
            <a:ext cx="368040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Internal force per unit area — the pressure the atoms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5940" y="2686134"/>
            <a:ext cx="379425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inside the material experience when an external load is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940" y="2884496"/>
            <a:ext cx="61306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applied.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5940" y="3291747"/>
            <a:ext cx="103986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2E4A6B"/>
                </a:solidFill>
                <a:latin typeface="Calibri"/>
              </a:rPr>
              <a:t>Types of stress: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944" y="3683383"/>
            <a:ext cx="2294591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Tensile — pulling apart (positive σ)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44" y="3873820"/>
            <a:ext cx="3002831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Compressive — pushing together (negative σ)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944" y="4064256"/>
            <a:ext cx="2805647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Shear — sliding one plane over another (τ)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940" y="4679671"/>
            <a:ext cx="112473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64748B"/>
                </a:solidFill>
                <a:latin typeface="Calibri"/>
              </a:rPr>
              <a:t>Units: Pa, MPa, ksi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33620" y="1485551"/>
            <a:ext cx="877172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FFFFFF"/>
                </a:solidFill>
                <a:latin typeface="Calibri"/>
              </a:rPr>
              <a:t>Strain  (ε)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8184" y="1967836"/>
            <a:ext cx="1639354" cy="515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000">
                <a:solidFill>
                  <a:srgbClr val="3B6FBA"/>
                </a:solidFill>
                <a:latin typeface="Calibri"/>
              </a:rPr>
              <a:t>ε = ΔL / L₀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33620" y="2487773"/>
            <a:ext cx="368404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The amount of deformation relative to original size —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33620" y="2686134"/>
            <a:ext cx="362819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how much the material has stretched or compressed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33620" y="2884496"/>
            <a:ext cx="84291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under load.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33620" y="3291747"/>
            <a:ext cx="77397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3B6FBA"/>
                </a:solidFill>
                <a:latin typeface="Calibri"/>
              </a:rPr>
              <a:t>Key points: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23625" y="3683383"/>
            <a:ext cx="2358573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Dimensionless — or expressed as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23625" y="3873820"/>
            <a:ext cx="3095709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Ductility is reported as % elongation at fracture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23625" y="4064256"/>
            <a:ext cx="3275271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Strain rate matters — fast loading vs. slow loading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33620" y="4679671"/>
            <a:ext cx="296411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64748B"/>
                </a:solidFill>
                <a:latin typeface="Calibri"/>
              </a:rPr>
              <a:t>Dimensionless — expressed as mm/mm, in/in, or 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804597"/>
            <a:ext cx="2815920" cy="376704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804597"/>
            <a:ext cx="2815920" cy="43848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475" y="3437638"/>
            <a:ext cx="2596680" cy="26999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64484" y="804597"/>
            <a:ext cx="2815920" cy="376704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64484" y="804597"/>
            <a:ext cx="2815920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3920" y="3437638"/>
            <a:ext cx="2596680" cy="2699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08915" y="804597"/>
            <a:ext cx="2815920" cy="376704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08915" y="804597"/>
            <a:ext cx="2815920" cy="438480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17996" y="3437638"/>
            <a:ext cx="2596679" cy="26999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9684" y="4645077"/>
            <a:ext cx="8503551" cy="383768"/>
          </a:xfrm>
          <a:prstGeom prst="rect">
            <a:avLst/>
          </a:prstGeom>
          <a:solidFill>
            <a:srgbClr val="EE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8424" y="158292"/>
            <a:ext cx="3524643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Elastic vs. Plastic Deformation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775" y="898142"/>
            <a:ext cx="1006292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500">
                <a:solidFill>
                  <a:srgbClr val="FFFFFF"/>
                </a:solidFill>
                <a:latin typeface="Calibri"/>
              </a:rPr>
              <a:t>Elastic Zone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775" y="1746169"/>
            <a:ext cx="257313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The material deforms under load but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775" y="1944531"/>
            <a:ext cx="261345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returns to its original shape when the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775" y="2142892"/>
            <a:ext cx="269508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load is removed — like a spring. Atoms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775" y="2341253"/>
            <a:ext cx="241979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are displaced but not permanently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775" y="2539614"/>
            <a:ext cx="251381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rearranged. The bonds stretch, then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6775" y="2737976"/>
            <a:ext cx="71187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pull back.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775" y="3547703"/>
            <a:ext cx="65381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1E6C52"/>
                </a:solidFill>
                <a:latin typeface="Calibri"/>
              </a:rPr>
              <a:t>Example: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775" y="3933573"/>
            <a:ext cx="2197111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Spring, tight bolt that can still be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6775" y="4124023"/>
            <a:ext cx="2510984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removed, a bent ruler that snaps back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61220" y="898142"/>
            <a:ext cx="920405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500">
                <a:solidFill>
                  <a:srgbClr val="FFFFFF"/>
                </a:solidFill>
                <a:latin typeface="Calibri"/>
              </a:rPr>
              <a:t>Yield Point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61220" y="1746169"/>
            <a:ext cx="256801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The critical transition stress — above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61220" y="1944531"/>
            <a:ext cx="190457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this, deformation becomes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61220" y="2142892"/>
            <a:ext cx="247779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permanent. Atoms and dislocations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61220" y="2341253"/>
            <a:ext cx="2599081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have moved too far to recover. This is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61220" y="2539614"/>
            <a:ext cx="256669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the most important value in material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61220" y="2737976"/>
            <a:ext cx="2096751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selection for structural design.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61220" y="3547703"/>
            <a:ext cx="65382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Example: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61220" y="3933573"/>
            <a:ext cx="2608463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The 'click' when a bolt is overtightened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61220" y="4124023"/>
            <a:ext cx="2662601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— it won't come back to correct preload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5296" y="898142"/>
            <a:ext cx="1013908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500">
                <a:solidFill>
                  <a:srgbClr val="FFFFFF"/>
                </a:solidFill>
                <a:latin typeface="Calibri"/>
              </a:rPr>
              <a:t>Plastic Zone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5296" y="1746169"/>
            <a:ext cx="216846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Permanent deformation — the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5296" y="1944531"/>
            <a:ext cx="203775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material will not spring back.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5296" y="2142892"/>
            <a:ext cx="253017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Dislocations are moving through the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5296" y="2341253"/>
            <a:ext cx="269739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crystal, allowing shape change without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5296" y="2539614"/>
            <a:ext cx="199694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fracture. The material flows,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5296" y="2737976"/>
            <a:ext cx="130343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distributing stress.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5296" y="3547703"/>
            <a:ext cx="65382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B83232"/>
                </a:solidFill>
                <a:latin typeface="Calibri"/>
              </a:rPr>
              <a:t>Example: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05296" y="3933573"/>
            <a:ext cx="2458123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Bent paperclip, cold-formed bracket,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5296" y="4124023"/>
            <a:ext cx="2162820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stamped sheet metal door panel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864" y="4626987"/>
            <a:ext cx="813089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200">
                <a:solidFill>
                  <a:srgbClr val="2E4A6B"/>
                </a:solidFill>
                <a:latin typeface="Calibri"/>
              </a:rPr>
              <a:t>Ultimate Tensile Strength (UTS): the maximum stress the material can handle before fracture — the peak of the stress-strain curve,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9864" y="4809867"/>
            <a:ext cx="129174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200">
                <a:solidFill>
                  <a:srgbClr val="2E4A6B"/>
                </a:solidFill>
                <a:latin typeface="Calibri"/>
              </a:rPr>
              <a:t>past the yield point.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1389966"/>
            <a:ext cx="1663915" cy="358415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389966"/>
            <a:ext cx="1663915" cy="475195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4087078"/>
            <a:ext cx="1481035" cy="2700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84324" y="1389966"/>
            <a:ext cx="1663915" cy="358415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84324" y="1389966"/>
            <a:ext cx="1663915" cy="475195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75764" y="4087078"/>
            <a:ext cx="1481035" cy="27000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40035" y="1389966"/>
            <a:ext cx="1663928" cy="358415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40035" y="1389966"/>
            <a:ext cx="1663928" cy="475195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31475" y="4087078"/>
            <a:ext cx="1481048" cy="2700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95404" y="1389966"/>
            <a:ext cx="1663915" cy="358415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95404" y="1389966"/>
            <a:ext cx="1663915" cy="475195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586844" y="4087078"/>
            <a:ext cx="1481035" cy="27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51115" y="1389966"/>
            <a:ext cx="1663928" cy="358415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51115" y="1389966"/>
            <a:ext cx="1663928" cy="475195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42555" y="4087078"/>
            <a:ext cx="1481048" cy="27000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8424" y="158292"/>
            <a:ext cx="3142196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Key Mechanical Properties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8416" y="811864"/>
            <a:ext cx="7876182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400">
                <a:solidFill>
                  <a:srgbClr val="1C2B3A"/>
                </a:solidFill>
                <a:latin typeface="Calibri"/>
              </a:rPr>
              <a:t>These five properties are how engineers describe and compare materials — you will encounter all of them in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8416" y="1025338"/>
            <a:ext cx="3236560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400">
                <a:solidFill>
                  <a:srgbClr val="1C2B3A"/>
                </a:solidFill>
                <a:latin typeface="Calibri"/>
              </a:rPr>
              <a:t>specifications, data sheets, and test reports.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901" y="1448168"/>
            <a:ext cx="22817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8464" y="1524770"/>
            <a:ext cx="66015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Strength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7340" y="2353647"/>
            <a:ext cx="118646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Maximum stress a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7340" y="2528971"/>
            <a:ext cx="128264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material can handle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7340" y="2704294"/>
            <a:ext cx="135250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before yielding (yield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7340" y="2879618"/>
            <a:ext cx="142368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strength) or fracturing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7340" y="3054929"/>
            <a:ext cx="158534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(UTS). Higher = harder to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7340" y="3230252"/>
            <a:ext cx="149940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permanently deform or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7340" y="3405575"/>
            <a:ext cx="44804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break.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7340" y="4194080"/>
            <a:ext cx="73965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How tested: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7340" y="4476636"/>
            <a:ext cx="153035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64748B"/>
                </a:solidFill>
                <a:latin typeface="Calibri"/>
              </a:rPr>
              <a:t>Tensile test, compression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7340" y="4644390"/>
            <a:ext cx="29046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64748B"/>
                </a:solidFill>
                <a:latin typeface="Calibri"/>
              </a:rPr>
              <a:t>test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21382" y="1448168"/>
            <a:ext cx="25219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74175" y="1524770"/>
            <a:ext cx="70774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Hardness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63064" y="2353647"/>
            <a:ext cx="158388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Resistance of the surface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63064" y="2528971"/>
            <a:ext cx="111455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to indentation or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63064" y="2704294"/>
            <a:ext cx="123499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scratching. Directly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63064" y="2879618"/>
            <a:ext cx="153258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related to yield strength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63064" y="3054929"/>
            <a:ext cx="125443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— harder materials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63064" y="3230252"/>
            <a:ext cx="89091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resist surface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63064" y="3405575"/>
            <a:ext cx="85203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deformation.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63064" y="4194080"/>
            <a:ext cx="73965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6B7C"/>
                </a:solidFill>
                <a:latin typeface="Calibri"/>
              </a:rPr>
              <a:t>How tested: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63064" y="4560507"/>
            <a:ext cx="147573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64748B"/>
                </a:solidFill>
                <a:latin typeface="Calibri"/>
              </a:rPr>
              <a:t>Rockwell, Brinell, Vickers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63416" y="1448168"/>
            <a:ext cx="279855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29899" y="1524770"/>
            <a:ext cx="64842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Ductility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818775" y="2441138"/>
            <a:ext cx="115913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How much plastic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18775" y="2616448"/>
            <a:ext cx="147747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deformation a material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18775" y="2791772"/>
            <a:ext cx="123849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can tolerate before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18775" y="2967095"/>
            <a:ext cx="147075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fracturing. Reported as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18775" y="3142419"/>
            <a:ext cx="146549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% elongation. Essential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18775" y="3317730"/>
            <a:ext cx="145087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for forming operations.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818775" y="4194080"/>
            <a:ext cx="73965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How tested: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818775" y="4476636"/>
            <a:ext cx="129192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64748B"/>
                </a:solidFill>
                <a:latin typeface="Calibri"/>
              </a:rPr>
              <a:t>% elongation, % area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18775" y="4644390"/>
            <a:ext cx="62316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64748B"/>
                </a:solidFill>
                <a:latin typeface="Calibri"/>
              </a:rPr>
              <a:t>reduction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74575" y="1448168"/>
            <a:ext cx="168668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J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85255" y="1524770"/>
            <a:ext cx="78854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Toughness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74144" y="2353647"/>
            <a:ext cx="152629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Energy absorbed before 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574144" y="2528971"/>
            <a:ext cx="127299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fracture — the area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574144" y="2704294"/>
            <a:ext cx="144546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under the stress-strain 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574144" y="2879618"/>
            <a:ext cx="152717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curve. High toughness = 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74144" y="3054929"/>
            <a:ext cx="112419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survives impacts. 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74144" y="3230252"/>
            <a:ext cx="146695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Requires both strength 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574144" y="3405575"/>
            <a:ext cx="83844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and ductility.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74144" y="4194080"/>
            <a:ext cx="73965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How tested: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74144" y="4560507"/>
            <a:ext cx="149138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64748B"/>
                </a:solidFill>
                <a:latin typeface="Calibri"/>
              </a:rPr>
              <a:t>Charpy, Izod impact tests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59383" y="1454873"/>
            <a:ext cx="310026" cy="3756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DejaVu Sans"/>
              </a:rPr>
              <a:t>✗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740980" y="1524770"/>
            <a:ext cx="800611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Brittleness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29855" y="2353647"/>
            <a:ext cx="141739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Fractures with little or 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29855" y="2528971"/>
            <a:ext cx="148361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no plastic deformation. 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29855" y="2704294"/>
            <a:ext cx="147922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Brittle materials can be 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29855" y="2879618"/>
            <a:ext cx="121964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very strong but fail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29855" y="3054929"/>
            <a:ext cx="112975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suddenly with no 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329855" y="3230252"/>
            <a:ext cx="158563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warning. The opposite of 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29855" y="3405575"/>
            <a:ext cx="72414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toughness.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29855" y="4194080"/>
            <a:ext cx="73965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B83232"/>
                </a:solidFill>
                <a:latin typeface="Calibri"/>
              </a:rPr>
              <a:t>How tested: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29855" y="4476636"/>
            <a:ext cx="150171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64748B"/>
                </a:solidFill>
                <a:latin typeface="Calibri"/>
              </a:rPr>
              <a:t>Observed at the fracture 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329855" y="4644390"/>
            <a:ext cx="48824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64748B"/>
                </a:solidFill>
                <a:latin typeface="Calibri"/>
              </a:rPr>
              <a:t>surface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804597"/>
            <a:ext cx="8412111" cy="475208"/>
          </a:xfrm>
          <a:prstGeom prst="rect">
            <a:avLst/>
          </a:prstGeom>
          <a:solidFill>
            <a:srgbClr val="EE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389966"/>
            <a:ext cx="2815920" cy="358415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89966"/>
            <a:ext cx="2815920" cy="43848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9475" y="3254757"/>
            <a:ext cx="2596680" cy="2700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64484" y="1389966"/>
            <a:ext cx="2815920" cy="358415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64484" y="1389966"/>
            <a:ext cx="2815920" cy="43848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73920" y="3254757"/>
            <a:ext cx="2596680" cy="2700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08915" y="1389966"/>
            <a:ext cx="2815920" cy="358415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8915" y="1389966"/>
            <a:ext cx="2815920" cy="438480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17996" y="3254757"/>
            <a:ext cx="2596679" cy="27000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8424" y="158292"/>
            <a:ext cx="3695613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Crystal Defects — Point Defects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576" y="826372"/>
            <a:ext cx="790426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2E4A6B"/>
                </a:solidFill>
                <a:latin typeface="Calibri"/>
              </a:rPr>
              <a:t>No real metal is perfect — defects exist at every scale. Point defects are disruptions at a single lattice site. Every cubic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576" y="1024733"/>
            <a:ext cx="288990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2E4A6B"/>
                </a:solidFill>
                <a:latin typeface="Calibri"/>
              </a:rPr>
              <a:t>centimeter of real metal contains millions.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775" y="1490463"/>
            <a:ext cx="674803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Vacancy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775" y="2057262"/>
            <a:ext cx="2621483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A missing atom — an empty site where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775" y="2247699"/>
            <a:ext cx="2585285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an atom should be. The most common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775" y="2438135"/>
            <a:ext cx="2297925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point defect in all metals. Number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6775" y="2628585"/>
            <a:ext cx="1929596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increases exponentially with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775" y="2819021"/>
            <a:ext cx="929390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temperature.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775" y="3368492"/>
            <a:ext cx="101238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2E4A6B"/>
                </a:solidFill>
                <a:latin typeface="Calibri"/>
              </a:rPr>
              <a:t>Why it matters: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6775" y="3689549"/>
            <a:ext cx="229241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Enable atom movement (diffusion).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775" y="3872429"/>
            <a:ext cx="254886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Essential for heat treatment, annealing,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775" y="4055309"/>
            <a:ext cx="162311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and solid-state reactions.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775" y="4363282"/>
            <a:ext cx="262973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One missing atom out of billions — but millions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6775" y="4523112"/>
            <a:ext cx="231192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of them create measurable softening and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775" y="4682954"/>
            <a:ext cx="112166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diffusion pathways.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61220" y="1490463"/>
            <a:ext cx="1357522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Interstitial Defect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61220" y="2152296"/>
            <a:ext cx="2327136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An extra atom squeezed into a gap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61220" y="2342746"/>
            <a:ext cx="2220131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between host atoms. If the same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61220" y="2533182"/>
            <a:ext cx="2424143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element: self-interstitial. If a smaller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61220" y="2723619"/>
            <a:ext cx="2195841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foreign element: interstitial alloy.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61220" y="3368492"/>
            <a:ext cx="101238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1E6C52"/>
                </a:solidFill>
                <a:latin typeface="Calibri"/>
              </a:rPr>
              <a:t>Why it matters: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61220" y="3689549"/>
            <a:ext cx="255495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Carbon in iron is an interstitial defect —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61220" y="3872429"/>
            <a:ext cx="251444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even tiny amounts dramatically harden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61220" y="4055309"/>
            <a:ext cx="254688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steel by blocking dislocation movement.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61220" y="4443203"/>
            <a:ext cx="268594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This is exactly what we covered in Week 1 — the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61220" y="4603033"/>
            <a:ext cx="185159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mechanism behind carbon steels.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5296" y="1490463"/>
            <a:ext cx="1628192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Substitutional Defect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5296" y="2152296"/>
            <a:ext cx="2443512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A wrong atom sitting in a lattice site,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05296" y="2342746"/>
            <a:ext cx="2684200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replacing a host atom. Works best when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5296" y="2533182"/>
            <a:ext cx="2671342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the substitute is within ~15% in size and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05296" y="2723619"/>
            <a:ext cx="1956746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has similar valence electrons.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5296" y="3368492"/>
            <a:ext cx="101238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6B5219"/>
                </a:solidFill>
                <a:latin typeface="Calibri"/>
              </a:rPr>
              <a:t>Why it matters: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05296" y="3689549"/>
            <a:ext cx="265744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Cr, Ni, Mo in steel are all substitutional —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5296" y="3872429"/>
            <a:ext cx="263216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this is how stainless steel and alloy steels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5296" y="4055309"/>
            <a:ext cx="69722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are made.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5296" y="4443203"/>
            <a:ext cx="223293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Same mechanism as substitutional solid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5296" y="4603033"/>
            <a:ext cx="130228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solutions from Week 1.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804597"/>
            <a:ext cx="8412111" cy="566648"/>
          </a:xfrm>
          <a:prstGeom prst="rect">
            <a:avLst/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481406"/>
            <a:ext cx="2815920" cy="349271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481406"/>
            <a:ext cx="2815920" cy="43848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9475" y="3949917"/>
            <a:ext cx="2596680" cy="2700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64484" y="1481406"/>
            <a:ext cx="2815920" cy="349271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64484" y="1481406"/>
            <a:ext cx="2815920" cy="438480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73920" y="3949917"/>
            <a:ext cx="2596680" cy="27000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08915" y="1481406"/>
            <a:ext cx="2815920" cy="349271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8915" y="1481406"/>
            <a:ext cx="2815920" cy="43848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17996" y="3949917"/>
            <a:ext cx="2596679" cy="2700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8424" y="158292"/>
            <a:ext cx="5199695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Crystal Defects — Line Defects (Dislocations)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5584" y="850223"/>
            <a:ext cx="99448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Core question: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5584" y="998502"/>
            <a:ext cx="7894632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If dislocations make metals easier to deform, why don’t we want to eliminate them? A metal with zero dislocations would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584" y="1188938"/>
            <a:ext cx="5955499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need enormous stress to deform at all, then fracture suddenly with no warning — like glass.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775" y="1585541"/>
            <a:ext cx="1237685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Edge Dislocation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775" y="2276903"/>
            <a:ext cx="267678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An extra half-plane of atoms inserted into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775" y="2459783"/>
            <a:ext cx="243891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the lattice — like forcing an extra card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6775" y="2642663"/>
            <a:ext cx="212916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into a deck halfway through. The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775" y="2825543"/>
            <a:ext cx="238728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distortion runs along the edge of this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775" y="3008423"/>
            <a:ext cx="80549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extra plane.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6775" y="3534867"/>
            <a:ext cx="240359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2E4A6B"/>
                </a:solidFill>
                <a:latin typeface="Calibri"/>
              </a:rPr>
              <a:t>Burgers vector (b): perpendicular to the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775" y="3702635"/>
            <a:ext cx="95461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2E4A6B"/>
                </a:solidFill>
                <a:latin typeface="Calibri"/>
              </a:rPr>
              <a:t>dislocation 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775" y="4171296"/>
            <a:ext cx="255383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200">
                <a:solidFill>
                  <a:srgbClr val="64748B"/>
                </a:solidFill>
                <a:latin typeface="Calibri"/>
              </a:rPr>
              <a:t>Like a wrinkle in a rug — slide the wrinkle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775" y="4346607"/>
            <a:ext cx="248396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200">
                <a:solidFill>
                  <a:srgbClr val="64748B"/>
                </a:solidFill>
                <a:latin typeface="Calibri"/>
              </a:rPr>
              <a:t>across instead of lifting the whole rug at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6775" y="4521931"/>
            <a:ext cx="35493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200">
                <a:solidFill>
                  <a:srgbClr val="64748B"/>
                </a:solidFill>
                <a:latin typeface="Calibri"/>
              </a:rPr>
              <a:t>once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61220" y="1585541"/>
            <a:ext cx="1323364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Screw Dislocation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61220" y="2276903"/>
            <a:ext cx="224688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 helical distortion of the lattice —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61220" y="2459783"/>
            <a:ext cx="205393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atomic planes spiral around the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61220" y="2642663"/>
            <a:ext cx="234358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dislocation line like a corkscrew. Can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61220" y="2825543"/>
            <a:ext cx="237403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cross-slip between slip planes, giving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61220" y="3008423"/>
            <a:ext cx="146870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more paths to deform.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61220" y="3534867"/>
            <a:ext cx="268950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6B5219"/>
                </a:solidFill>
                <a:latin typeface="Calibri"/>
              </a:rPr>
              <a:t>Burgers vector (b): parallel to the dislocation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61220" y="3702635"/>
            <a:ext cx="28962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6B5219"/>
                </a:solidFill>
                <a:latin typeface="Calibri"/>
              </a:rPr>
              <a:t>line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61220" y="4259130"/>
            <a:ext cx="265935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200">
                <a:solidFill>
                  <a:srgbClr val="64748B"/>
                </a:solidFill>
                <a:latin typeface="Calibri"/>
              </a:rPr>
              <a:t>Like tearing paper by sliding the two halves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61220" y="4434453"/>
            <a:ext cx="245750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200">
                <a:solidFill>
                  <a:srgbClr val="64748B"/>
                </a:solidFill>
                <a:latin typeface="Calibri"/>
              </a:rPr>
              <a:t>sideways rather than pulling them apart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5296" y="1585541"/>
            <a:ext cx="1343416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Mixed Dislocation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5296" y="2276903"/>
            <a:ext cx="224139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In practice, most dislocations are a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5296" y="2459783"/>
            <a:ext cx="253515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mixture of edge and screw character —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5296" y="2642663"/>
            <a:ext cx="244561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the Burgers vector is at an angle. Pure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05296" y="2825543"/>
            <a:ext cx="246038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edge or pure screw are rarely found in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5296" y="3008423"/>
            <a:ext cx="79651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real metals.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05296" y="3534867"/>
            <a:ext cx="266492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3B6FBA"/>
                </a:solidFill>
                <a:latin typeface="Calibri"/>
              </a:rPr>
              <a:t>Burgers vector: at an angle — has both edge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5296" y="3702635"/>
            <a:ext cx="141623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3B6FBA"/>
                </a:solidFill>
                <a:latin typeface="Calibri"/>
              </a:rPr>
              <a:t>and screw components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05296" y="4171296"/>
            <a:ext cx="240547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200">
                <a:solidFill>
                  <a:srgbClr val="64748B"/>
                </a:solidFill>
                <a:latin typeface="Calibri"/>
              </a:rPr>
              <a:t>Real metal dislocations wind and curve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5296" y="4346607"/>
            <a:ext cx="225565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200">
                <a:solidFill>
                  <a:srgbClr val="64748B"/>
                </a:solidFill>
                <a:latin typeface="Calibri"/>
              </a:rPr>
              <a:t>through the crystal in complex three-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5296" y="4521931"/>
            <a:ext cx="115854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200">
                <a:solidFill>
                  <a:srgbClr val="64748B"/>
                </a:solidFill>
                <a:latin typeface="Calibri"/>
              </a:rPr>
              <a:t>dimensional paths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9684" y="1298526"/>
            <a:ext cx="4205871" cy="2486876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19684" y="1298526"/>
            <a:ext cx="4205871" cy="43848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663084" y="1298526"/>
            <a:ext cx="4205871" cy="2486876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63084" y="1298526"/>
            <a:ext cx="4205871" cy="43848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3858846"/>
            <a:ext cx="8549284" cy="117000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3858846"/>
            <a:ext cx="109435" cy="1170000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424" y="158292"/>
            <a:ext cx="3830265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Crystal Defects — Planar Defects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8416" y="767889"/>
            <a:ext cx="8057232" cy="275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500">
                <a:solidFill>
                  <a:srgbClr val="1C2B3A"/>
                </a:solidFill>
                <a:latin typeface="Calibri"/>
              </a:rPr>
              <a:t>Two-dimensional surfaces where crystal structure or orientation changes — grain boundaries are the most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8416" y="988933"/>
            <a:ext cx="2320051" cy="275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500">
                <a:solidFill>
                  <a:srgbClr val="1C2B3A"/>
                </a:solidFill>
                <a:latin typeface="Calibri"/>
              </a:rPr>
              <a:t>common and most important.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144" y="1399023"/>
            <a:ext cx="1354144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Grain Boundaries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144" y="1942061"/>
            <a:ext cx="3626609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The most common planar defect. When independently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144" y="2132497"/>
            <a:ext cx="4014943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nucleating crystals grow into each other during solidification,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144" y="2322934"/>
            <a:ext cx="3739488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the orientation mismatch creates a disordered boundary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144" y="2513383"/>
            <a:ext cx="524387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region.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136" y="2902849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214" y="2922455"/>
            <a:ext cx="330701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High misorientation (&gt;15°): high disorder, high energy,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214" y="3097778"/>
            <a:ext cx="245356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more reactive to corrosion and diffusion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136" y="3253496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214" y="3273089"/>
            <a:ext cx="348679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Low misorientation (&lt;15°): tilt or twist boundary — more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214" y="3448413"/>
            <a:ext cx="154018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structured, lower energy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87544" y="1399023"/>
            <a:ext cx="1308618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Twin Boundaries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87544" y="2037463"/>
            <a:ext cx="4029394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A boundary where the crystal on each side is a perfect mirror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7544" y="2227900"/>
            <a:ext cx="3963510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image of the other — extremely low energy and very stable.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87544" y="2418336"/>
            <a:ext cx="2145036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Two types with different origins: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77536" y="2815371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20614" y="2834977"/>
            <a:ext cx="320820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Annealing twins: form during recrystallization of FCC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20614" y="3010288"/>
            <a:ext cx="243412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metals (Cu, Al, austenitic stainless steel)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77536" y="3166018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20614" y="3185612"/>
            <a:ext cx="322092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Deformation twins: form under shock loading or low-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20614" y="3360935"/>
            <a:ext cx="344630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temperature plastic deformation — common in HCP and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20614" y="3536258"/>
            <a:ext cx="31108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BCC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5584" y="3951892"/>
            <a:ext cx="108531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5B6B7C"/>
                </a:solidFill>
                <a:latin typeface="Calibri"/>
              </a:rPr>
              <a:t>Stacking Faults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5584" y="4283909"/>
            <a:ext cx="810196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 disruption in the normal atomic stacking sequence — FCC follows ABCABC… and HCP follows ABAB…; a fault breaks this pattern.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5584" y="4466789"/>
            <a:ext cx="812404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Low Stacking Fault Energy (SFE) → wide stable faults → dislocations can’t cross-slip → the metal work-hardens quickly. High SFE →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5584" y="4649669"/>
            <a:ext cx="398217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narrow faults → easy cross-slip → softer cold-working behavior.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1316877"/>
            <a:ext cx="2121115" cy="37029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316521"/>
            <a:ext cx="2121115" cy="511555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3968282"/>
            <a:ext cx="1938235" cy="2700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441524" y="1316877"/>
            <a:ext cx="2121115" cy="37029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441524" y="1316521"/>
            <a:ext cx="2121115" cy="511555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32964" y="3968282"/>
            <a:ext cx="1938235" cy="27000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54435" y="1316877"/>
            <a:ext cx="2121128" cy="37029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54435" y="1316521"/>
            <a:ext cx="2121128" cy="511555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45875" y="3968282"/>
            <a:ext cx="1938248" cy="27000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67004" y="1316877"/>
            <a:ext cx="2121116" cy="37029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67004" y="1316521"/>
            <a:ext cx="2121116" cy="511555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58444" y="3968282"/>
            <a:ext cx="1938235" cy="27000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424" y="158292"/>
            <a:ext cx="3976930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Crystal Defects — Volume Defects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416" y="767889"/>
            <a:ext cx="8078793" cy="275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500">
                <a:solidFill>
                  <a:srgbClr val="1C2B3A"/>
                </a:solidFill>
                <a:latin typeface="Calibri"/>
              </a:rPr>
              <a:t>Three-dimensional imperfections large enough to detect with inspection equipment. These are the defects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8416" y="988933"/>
            <a:ext cx="2233608" cy="275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500">
                <a:solidFill>
                  <a:srgbClr val="1C2B3A"/>
                </a:solidFill>
                <a:latin typeface="Calibri"/>
              </a:rPr>
              <a:t>that cause failures in service.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7340" y="1490303"/>
            <a:ext cx="111265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Voids &amp; Porosity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344" y="1965986"/>
            <a:ext cx="176207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Empty spaces trapped during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344" y="2133753"/>
            <a:ext cx="83309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solidification.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344" y="2282825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422" y="2301507"/>
            <a:ext cx="140897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Gas porosity: dissolved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422" y="2469274"/>
            <a:ext cx="135101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gases escape as metal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422" y="2637028"/>
            <a:ext cx="130366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solidifies — spherical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422" y="2804795"/>
            <a:ext cx="37147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voids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344" y="2953867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422" y="2972550"/>
            <a:ext cx="119639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Shrinkage porosity: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422" y="3140317"/>
            <a:ext cx="132824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metal contracts while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0422" y="3308071"/>
            <a:ext cx="145646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cooling without enough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422" y="3475825"/>
            <a:ext cx="139067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feed metal — irregular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422" y="3643592"/>
            <a:ext cx="37147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voids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7340" y="4210228"/>
            <a:ext cx="195063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64748B"/>
                </a:solidFill>
                <a:latin typeface="Calibri"/>
              </a:rPr>
              <a:t>Stress concentrators that reduce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7340" y="4377995"/>
            <a:ext cx="145758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64748B"/>
                </a:solidFill>
                <a:latin typeface="Calibri"/>
              </a:rPr>
              <a:t>fatigue life. Detected by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7340" y="4545750"/>
            <a:ext cx="167575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64748B"/>
                </a:solidFill>
                <a:latin typeface="Calibri"/>
              </a:rPr>
              <a:t>radiography (X-ray, CT scan).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20264" y="1490303"/>
            <a:ext cx="70270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Inclusions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10256" y="2133753"/>
            <a:ext cx="182087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Non-metallic particles (oxides,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10256" y="2301507"/>
            <a:ext cx="157462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sulfides, silicates) trapped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10256" y="2469274"/>
            <a:ext cx="142070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inside the metal during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10256" y="2637028"/>
            <a:ext cx="54229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melting.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10256" y="2786100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53334" y="2804795"/>
            <a:ext cx="148216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Disrupt metal continuity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53334" y="2972550"/>
            <a:ext cx="72387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throughout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10256" y="3121621"/>
            <a:ext cx="125784" cy="2237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53334" y="3140317"/>
            <a:ext cx="145325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Common initiation sites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53334" y="3308071"/>
            <a:ext cx="121077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for fatigue cracks in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53334" y="3475825"/>
            <a:ext cx="47399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service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20264" y="4210228"/>
            <a:ext cx="178819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64748B"/>
                </a:solidFill>
                <a:latin typeface="Calibri"/>
              </a:rPr>
              <a:t>Managed by vacuum melting,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20264" y="4377995"/>
            <a:ext cx="178302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64748B"/>
                </a:solidFill>
                <a:latin typeface="Calibri"/>
              </a:rPr>
              <a:t>good melt practice, and clean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20264" y="4545750"/>
            <a:ext cx="160298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64748B"/>
                </a:solidFill>
                <a:latin typeface="Calibri"/>
              </a:rPr>
              <a:t>steel processing standards.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33175" y="1490303"/>
            <a:ext cx="47777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Cracks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23180" y="2049869"/>
            <a:ext cx="176835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Planar separations within the 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23180" y="2217636"/>
            <a:ext cx="175927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metal — the most dangerous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23180" y="2385391"/>
            <a:ext cx="76717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defect class.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23180" y="2534462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66258" y="2553158"/>
            <a:ext cx="149836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Hot cracks: form at grain 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66258" y="2720912"/>
            <a:ext cx="114694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boundaries during 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66258" y="2888666"/>
            <a:ext cx="79650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solidification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23180" y="3037738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66258" y="3056433"/>
            <a:ext cx="148328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Cold cracks: form during 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66258" y="3224187"/>
            <a:ext cx="148342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cooling, heat treatment, 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66258" y="3391954"/>
            <a:ext cx="129877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or in service (fatigue, 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166258" y="3559709"/>
            <a:ext cx="101062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stress corrosion)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733175" y="4042474"/>
            <a:ext cx="184406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64748B"/>
                </a:solidFill>
                <a:latin typeface="Calibri"/>
              </a:rPr>
              <a:t>Stress concentrators that grow 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733175" y="4210228"/>
            <a:ext cx="151401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64748B"/>
                </a:solidFill>
                <a:latin typeface="Calibri"/>
              </a:rPr>
              <a:t>rapidly under cyclic load. 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33175" y="4377995"/>
            <a:ext cx="165996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64748B"/>
                </a:solidFill>
                <a:latin typeface="Calibri"/>
              </a:rPr>
              <a:t>Detected by dye penetrant, 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733175" y="4545750"/>
            <a:ext cx="149110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64748B"/>
                </a:solidFill>
                <a:latin typeface="Calibri"/>
              </a:rPr>
              <a:t>magnetic particle, UT, or 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733175" y="4713516"/>
            <a:ext cx="78141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64748B"/>
                </a:solidFill>
                <a:latin typeface="Calibri"/>
              </a:rPr>
              <a:t>radiography.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45744" y="1398863"/>
            <a:ext cx="113108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Delaminations &amp;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45744" y="1581743"/>
            <a:ext cx="82163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Segregation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035736" y="1714348"/>
            <a:ext cx="165494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Two structural defect types: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035736" y="1863420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78813" y="1882115"/>
            <a:ext cx="96341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Delaminations: 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378813" y="2049869"/>
            <a:ext cx="124192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separation between 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78813" y="2217636"/>
            <a:ext cx="121915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rolled/forged layers 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78813" y="2385391"/>
            <a:ext cx="97989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from elongated 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78813" y="2553158"/>
            <a:ext cx="136162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inclusions — detected 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378813" y="2720912"/>
            <a:ext cx="40122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by UT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035736" y="2869984"/>
            <a:ext cx="125784" cy="2237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378813" y="2888666"/>
            <a:ext cx="126957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Segregation: uneven 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378813" y="3056433"/>
            <a:ext cx="138606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distribution of alloying 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378813" y="3224187"/>
            <a:ext cx="94050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elements from 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378813" y="3391954"/>
            <a:ext cx="139696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solidification — causes 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378813" y="3559709"/>
            <a:ext cx="138900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localized hardness and 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378813" y="3727476"/>
            <a:ext cx="124639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corrosion resistance 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78813" y="3895230"/>
            <a:ext cx="63042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variations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45744" y="4210228"/>
            <a:ext cx="170564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64748B"/>
                </a:solidFill>
                <a:latin typeface="Calibri"/>
              </a:rPr>
              <a:t>Both require careful process 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45744" y="4377995"/>
            <a:ext cx="200580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64748B"/>
                </a:solidFill>
                <a:latin typeface="Calibri"/>
              </a:rPr>
              <a:t>control and systematic inspection 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945744" y="4545750"/>
            <a:ext cx="134277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64748B"/>
                </a:solidFill>
                <a:latin typeface="Calibri"/>
              </a:rPr>
              <a:t>during manufacturing.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353237"/>
            <a:ext cx="5028831" cy="361152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1353237"/>
            <a:ext cx="5028831" cy="43848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531764" y="1353237"/>
            <a:ext cx="3382911" cy="361152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531764" y="1353237"/>
            <a:ext cx="3382911" cy="438480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79" y="1901877"/>
            <a:ext cx="72720" cy="840968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79" y="2889366"/>
            <a:ext cx="72720" cy="840956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79" y="3877197"/>
            <a:ext cx="72720" cy="840968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8424" y="158292"/>
            <a:ext cx="5523756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Grain Boundaries — Strengthening and Growth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8416" y="786254"/>
            <a:ext cx="8127821" cy="275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500">
                <a:solidFill>
                  <a:srgbClr val="1C2B3A"/>
                </a:solidFill>
                <a:latin typeface="Calibri"/>
              </a:rPr>
              <a:t>Grain boundaries are high-energy regions that actively control strength, toughness, corrosion, and diffusion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416" y="1007297"/>
            <a:ext cx="2338483" cy="275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500">
                <a:solidFill>
                  <a:srgbClr val="1C2B3A"/>
                </a:solidFill>
                <a:latin typeface="Calibri"/>
              </a:rPr>
              <a:t>— not just where grains meet.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5584" y="1446783"/>
            <a:ext cx="2239748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500">
                <a:solidFill>
                  <a:srgbClr val="FFFFFF"/>
                </a:solidFill>
                <a:latin typeface="Calibri"/>
              </a:rPr>
              <a:t>The Hall-Petch Relationship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5137" y="1904198"/>
            <a:ext cx="2237520" cy="4535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600">
                <a:solidFill>
                  <a:srgbClr val="2E4A6B"/>
                </a:solidFill>
                <a:latin typeface="Calibri"/>
              </a:rPr>
              <a:t>σᵧ  =  σ₀ + k / √d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5584" y="2481652"/>
            <a:ext cx="459352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Yield strength increases as grain size (d) decreases — smaller grains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584" y="2680013"/>
            <a:ext cx="380813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mean more boundaries, and dislocations pile up sooner.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5576" y="3166227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8654" y="3188743"/>
            <a:ext cx="4174021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When a dislocation reaches a grain boundary, it cannot cross —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8654" y="3379180"/>
            <a:ext cx="2016439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orientation mismatch blocks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576" y="3547112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8654" y="3569616"/>
            <a:ext cx="4040503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Dislocations pile up, creating a back-stress that resists further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8654" y="3760066"/>
            <a:ext cx="875887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deformation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576" y="3927985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8654" y="3950503"/>
            <a:ext cx="3928257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Smaller grain = shorter distance before hitting a boundary =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8654" y="4140939"/>
            <a:ext cx="1653666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more pile-ups = stronger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576" y="4308871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8654" y="4331375"/>
            <a:ext cx="4063682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One of the most powerful and practical strengthening tools in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8654" y="4521825"/>
            <a:ext cx="761578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metallurgy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01944" y="1453734"/>
            <a:ext cx="2040778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Grain Growth in Annealing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20740" y="1929151"/>
            <a:ext cx="80534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1. Recovery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20740" y="2164658"/>
            <a:ext cx="219148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Internal stresses relieved, no major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20740" y="2339969"/>
            <a:ext cx="301454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microstructure change. Metal softens slightly but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20740" y="2515293"/>
            <a:ext cx="185282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retains deformed grain shape.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20740" y="2916627"/>
            <a:ext cx="125900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2E4A6B"/>
                </a:solidFill>
                <a:latin typeface="Calibri"/>
              </a:rPr>
              <a:t>2. Recrystallization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20740" y="3152134"/>
            <a:ext cx="268654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New strain-free grains nucleate and replace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20740" y="3327458"/>
            <a:ext cx="286399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deformed grains. Strength drops, ductility fully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20740" y="3502769"/>
            <a:ext cx="61481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recovers.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20740" y="3904471"/>
            <a:ext cx="108295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6B5219"/>
                </a:solidFill>
                <a:latin typeface="Calibri"/>
              </a:rPr>
              <a:t>3. Grain Growth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20740" y="4139610"/>
            <a:ext cx="277220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New grains coarsen as boundaries migrate to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20740" y="4314933"/>
            <a:ext cx="232786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reduce total energy. Control time and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20740" y="4490257"/>
            <a:ext cx="235475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temperature to reach target grain size.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59" y="1352882"/>
            <a:ext cx="4160164" cy="292572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59" y="1353237"/>
            <a:ext cx="4160164" cy="43848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19" y="3318842"/>
            <a:ext cx="3885844" cy="26999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54879" y="1352882"/>
            <a:ext cx="4160164" cy="292572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54879" y="1353237"/>
            <a:ext cx="4160164" cy="43848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2040" y="3318842"/>
            <a:ext cx="3885844" cy="26999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404" y="4370758"/>
            <a:ext cx="8412111" cy="658088"/>
          </a:xfrm>
          <a:prstGeom prst="rect">
            <a:avLst/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8424" y="158292"/>
            <a:ext cx="3436644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Diffusion — Atoms in Motion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8416" y="786254"/>
            <a:ext cx="7901113" cy="275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500">
                <a:solidFill>
                  <a:srgbClr val="1C2B3A"/>
                </a:solidFill>
                <a:latin typeface="Calibri"/>
              </a:rPr>
              <a:t>Even in solid metal, atoms are not perfectly still — they vibrate constantly, and at elevated temperatures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416" y="1007297"/>
            <a:ext cx="3721215" cy="275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500">
                <a:solidFill>
                  <a:srgbClr val="1C2B3A"/>
                </a:solidFill>
                <a:latin typeface="Calibri"/>
              </a:rPr>
              <a:t>they have enough energy to jump between sites.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0219" y="1453734"/>
            <a:ext cx="1812789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Substitutional Diffusion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0219" y="2074903"/>
            <a:ext cx="3837128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Larger atoms move by jumping into neighboring vacancies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0219" y="2265339"/>
            <a:ext cx="3825856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— hopping from one lattice site to an adjacent empty 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0219" y="2646225"/>
            <a:ext cx="3890314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Requires: a nearby vacancy AND enough thermal energy to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0219" y="2836661"/>
            <a:ext cx="2739444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squeeze through the gap between atoms.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219" y="3390450"/>
            <a:ext cx="397352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2E4A6B"/>
                </a:solidFill>
                <a:latin typeface="Calibri"/>
              </a:rPr>
              <a:t>Rate: Slow — vacancies are relatively rare and large atoms must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0219" y="3565773"/>
            <a:ext cx="159616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2E4A6B"/>
                </a:solidFill>
                <a:latin typeface="Calibri"/>
              </a:rPr>
              <a:t>squeeze between others.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0219" y="3803672"/>
            <a:ext cx="398369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Example: Alloying additions spreading through steel: Cr, Ni, Mo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0219" y="3986552"/>
            <a:ext cx="214226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homogenization during annealing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79340" y="1453734"/>
            <a:ext cx="1541940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Interstitial Diffusion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9340" y="1979856"/>
            <a:ext cx="3765847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Small atoms move through the gaps between host atoms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79340" y="2170305"/>
            <a:ext cx="3841419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without displacing them — flowing through the interstitial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79340" y="2360742"/>
            <a:ext cx="652348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network.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79340" y="2741615"/>
            <a:ext cx="3600098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No vacancy required — gaps are everywhere, so this is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79340" y="2932064"/>
            <a:ext cx="2718646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much faster than substitutional diffusion.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79340" y="3390450"/>
            <a:ext cx="370078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1E6C52"/>
                </a:solidFill>
                <a:latin typeface="Calibri"/>
              </a:rPr>
              <a:t>Rate: Fast — gaps are abundant, and small atoms can move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79340" y="3565773"/>
            <a:ext cx="217950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1E6C52"/>
                </a:solidFill>
                <a:latin typeface="Calibri"/>
              </a:rPr>
              <a:t>easily even at lower temperatures.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79340" y="3803672"/>
            <a:ext cx="343653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Example: Carbon in iron (carburizing, case hardening),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79340" y="3986552"/>
            <a:ext cx="172103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nitrogen in steel (nitriding)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5584" y="4469214"/>
            <a:ext cx="141414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E07B39"/>
                </a:solidFill>
                <a:latin typeface="Calibri"/>
              </a:rPr>
              <a:t>Temperature Effect: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20695" y="4387535"/>
            <a:ext cx="6035679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Diffusion rate increases exponentially with temperature — a small temperature rise causes a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20695" y="4577984"/>
            <a:ext cx="5761492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dramatic increase in atom movement. This is why heat treatment temperatures must be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20695" y="4768420"/>
            <a:ext cx="1363288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controlled precisely.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389966"/>
            <a:ext cx="8320671" cy="45351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1572478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404" y="2267282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404" y="2962442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404" y="3657246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404" y="4352038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696" y="806275"/>
            <a:ext cx="4625866" cy="5466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200">
                <a:solidFill>
                  <a:srgbClr val="FFFFFF"/>
                </a:solidFill>
                <a:latin typeface="Calibri"/>
              </a:rPr>
              <a:t>Core Questions — Answers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617" y="1622134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9695" y="1598067"/>
            <a:ext cx="327586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CADCFC"/>
                </a:solidFill>
                <a:latin typeface="Calibri"/>
              </a:rPr>
              <a:t>What is the difference between strength and toughness?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9695" y="1726059"/>
            <a:ext cx="7838116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Strength is the peak stress before yielding or fracture. Toughness is total energy absorbed — the area under the stress-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9695" y="1916496"/>
            <a:ext cx="7605682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strain curve. A material can be strong but brittle (high-carbon steel, glass): high peak stress, negligible plastic zone,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695" y="2106945"/>
            <a:ext cx="1070054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low toughness.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17" y="2316939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695" y="2292871"/>
            <a:ext cx="304009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CADCFC"/>
                </a:solidFill>
                <a:latin typeface="Calibri"/>
              </a:rPr>
              <a:t>What happens at the yield point at the atomic level?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9695" y="2420863"/>
            <a:ext cx="7696651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Dislocations overcome their pinning obstacles and begin moving irreversibly through the crystal. Below yield, bonds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9695" y="2611300"/>
            <a:ext cx="7748886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stretch elastically and recover. At yield, atomic planes shift permanently — plastic deformation begins and cannot be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695" y="2801736"/>
            <a:ext cx="2052796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undone by removing the load.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617" y="3012098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9695" y="2987675"/>
            <a:ext cx="435667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CADCFC"/>
                </a:solidFill>
                <a:latin typeface="Calibri"/>
              </a:rPr>
              <a:t>Why does cold work increase strength AND reduce ductility simultaneously?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9695" y="3116023"/>
            <a:ext cx="7696019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Cold work multiplies dislocation density enormously. Dislocations tangle and block each other — work hardening —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695" y="3306460"/>
            <a:ext cx="7764126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requiring more stress to continue deformation (higher strength). But with so many dislocations already present, little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9695" y="3496897"/>
            <a:ext cx="3818871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capacity for further plastic flow remains (lower ductility).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5617" y="3706890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695" y="3682835"/>
            <a:ext cx="375564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CADCFC"/>
                </a:solidFill>
                <a:latin typeface="Calibri"/>
              </a:rPr>
              <a:t>Fine-grained vs. coarse-grained steel: which is stronger and why?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695" y="3906218"/>
            <a:ext cx="7565829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Fine-grained. Hall-Petch: σ_y = σ_0 + k/√d. More grain boundaries per unit volume block dislocation movement at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695" y="4096654"/>
            <a:ext cx="7272600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each boundary — each crossing requires additional stress. Finer grains = more barriers = higher yield strength.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5617" y="4401695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9695" y="4377627"/>
            <a:ext cx="363930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CADCFC"/>
                </a:solidFill>
                <a:latin typeface="Calibri"/>
              </a:rPr>
              <a:t>Shaft fails below yield strength under cyclic loading. What is it?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9695" y="4505975"/>
            <a:ext cx="7614411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Fatigue failure. Cyclic loading initiates tiny cracks at stress concentrations (surface defects, notches) that grow with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9695" y="4696424"/>
            <a:ext cx="7311333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each cycle until catastrophic fracture — often well below the static yield strength. The relevant property is the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9695" y="4886861"/>
            <a:ext cx="1150388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endurance limit.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987477"/>
            <a:ext cx="8320671" cy="4536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1170002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404" y="1919886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404" y="2669757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404" y="3419642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404" y="4169157"/>
            <a:ext cx="402120" cy="402120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696" y="394796"/>
            <a:ext cx="2578639" cy="5466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200">
                <a:solidFill>
                  <a:srgbClr val="FFFFFF"/>
                </a:solidFill>
                <a:latin typeface="Calibri"/>
              </a:rPr>
              <a:t>Key Takeaways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617" y="1219659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9695" y="1183377"/>
            <a:ext cx="3370294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Stress and strain are the engineer’s language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9695" y="1462947"/>
            <a:ext cx="743114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Stress (σ = F/A) is internal force per area. Strain (ε = ΔL/L₀) is deformation relative to original size. The yield point — the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9695" y="1645827"/>
            <a:ext cx="556990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elastic-to-plastic transition — is the most important value in structural material selection.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617" y="1969530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9695" y="1933261"/>
            <a:ext cx="2480748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Defects are features, not failures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695" y="2212831"/>
            <a:ext cx="767236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Point, line, planar, and volume defects each affect metal differently. Dislocations enable ductility — eliminate them and the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9695" y="2395711"/>
            <a:ext cx="528544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metal becomes brittle. Real engineering metals are defined by their defect structure.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617" y="2719414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695" y="2683145"/>
            <a:ext cx="2716918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Grain size is the most practical lever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695" y="2962703"/>
            <a:ext cx="773556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Hall-Petch: σᵧ = σ₀ + k/√d — making grains smaller makes metal stronger. Grain size is controlled through alloy additions and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9695" y="3145583"/>
            <a:ext cx="342146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thermal processing (annealing temperature and time).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5617" y="3469299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695" y="3432661"/>
            <a:ext cx="2390940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Diffusion drives heat treatment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9695" y="3712587"/>
            <a:ext cx="751825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Atoms move through solids at rates exponential with temperature. Carburizing, nitriding, and homogenization all rely on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695" y="3895467"/>
            <a:ext cx="472182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controlled diffusion — this is why heat treatment temperatures are precise.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617" y="4218815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695" y="4182545"/>
            <a:ext cx="1699506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B83232"/>
                </a:solidFill>
                <a:latin typeface="Calibri"/>
              </a:rPr>
              <a:t>Safety is not optional!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695" y="4462103"/>
            <a:ext cx="772368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PPE is mandatory in the shop — no exceptions. We work with heat, sharp edges, and hazardous materials every lab session.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695" y="4644983"/>
            <a:ext cx="237662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Protect yourself and your classmates.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389966"/>
            <a:ext cx="8320671" cy="45351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79" y="1481406"/>
            <a:ext cx="4068724" cy="3401276"/>
          </a:xfrm>
          <a:prstGeom prst="rect">
            <a:avLst/>
          </a:prstGeom>
          <a:solidFill>
            <a:srgbClr val="24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19040" y="2303997"/>
            <a:ext cx="3565804" cy="36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696" y="806275"/>
            <a:ext cx="4314942" cy="5466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200">
                <a:solidFill>
                  <a:srgbClr val="FFFFFF"/>
                </a:solidFill>
                <a:latin typeface="Calibri"/>
              </a:rPr>
              <a:t>Resources &amp; What's 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144" y="1563313"/>
            <a:ext cx="1593276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E07B39"/>
                </a:solidFill>
                <a:latin typeface="Calibri"/>
              </a:rPr>
              <a:t>Week 2 Resources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136" y="2093543"/>
            <a:ext cx="134860" cy="25536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214" y="2116616"/>
            <a:ext cx="325028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Moniz Ch. 3 — Mechanical Properties of Metals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136" y="2291905"/>
            <a:ext cx="134860" cy="25536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214" y="2314977"/>
            <a:ext cx="331456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Kalpakjian Ch. 2 — Fundamentals of Mechanical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214" y="2513338"/>
            <a:ext cx="150618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Behavior of Materials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144" y="3063069"/>
            <a:ext cx="961838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E07B39"/>
                </a:solidFill>
                <a:latin typeface="Calibri"/>
              </a:rPr>
              <a:t>Visualizers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136" y="3509784"/>
            <a:ext cx="134860" cy="25536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214" y="3532856"/>
            <a:ext cx="218350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Stress-Strain Curve (Interactive)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136" y="3708145"/>
            <a:ext cx="134860" cy="25536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214" y="3731217"/>
            <a:ext cx="355168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Hot vs Cold Working &amp; Work Hardening (Interactive)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6340" y="1635677"/>
            <a:ext cx="1897017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E07B39"/>
                </a:solidFill>
                <a:latin typeface="Calibri"/>
              </a:rPr>
              <a:t>Coming Up — Week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06340" y="1936912"/>
            <a:ext cx="2348436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FFFFFF"/>
                </a:solidFill>
                <a:latin typeface="Calibri"/>
              </a:rPr>
              <a:t>Carbon &amp; Alloy Steels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96345" y="308834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9422" y="3108867"/>
            <a:ext cx="200946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Week 3 is Labor Day — no class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96345" y="327122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9422" y="3291747"/>
            <a:ext cx="297937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Iron vs. steel — what carbon does to the lattice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96345" y="345410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9422" y="3474627"/>
            <a:ext cx="248779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AISI/SAE four-digit classification system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6345" y="363698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39422" y="3657507"/>
            <a:ext cx="295074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Plain carbon vs. alloy steel grades and alloying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9422" y="3840387"/>
            <a:ext cx="64818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elements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63382" y="4791503"/>
            <a:ext cx="605523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200">
                <a:solidFill>
                  <a:srgbClr val="64748B"/>
                </a:solidFill>
                <a:latin typeface="Calibri"/>
              </a:rPr>
              <a:t>Unit 1 Quiz covers Weeks 1 – 2  ·  Review bonding, crystal structures, and the stress-strain curvees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