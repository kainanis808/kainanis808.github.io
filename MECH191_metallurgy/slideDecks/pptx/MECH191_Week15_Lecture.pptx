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3026820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Weld Metallurgy &amp;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46295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November 30,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88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39580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456358"/>
            <a:ext cx="475195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530564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38" y="142089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784" y="1327042"/>
            <a:ext cx="1567475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Weld Metallurgy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784" y="1703852"/>
            <a:ext cx="54974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Weld metal microstructure, HAZ sub-zones, and what the thermal cycle does to each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738" y="248181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784" y="2387962"/>
            <a:ext cx="1349745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Weld Cracking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84" y="2764772"/>
            <a:ext cx="66249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Hot cracking, hydrogen-induced cold cracking, and lamellar tearing — mechanisms, conditions, and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738" y="3542375"/>
            <a:ext cx="307543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784" y="3448526"/>
            <a:ext cx="2456970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Fracture &amp; Failure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84" y="3825336"/>
            <a:ext cx="605403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Ductile, brittle, and fatigue fracture surfaces — and how a technician investigates a failed component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14  ·  Week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3119692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Precipitation Hardening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02440"/>
            <a:ext cx="3841829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HV for 17-4PH stainless, then pull your logged 2024-T3 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662283"/>
            <a:ext cx="3753519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chromium-copper values to compare precipitation hardening across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2822112"/>
            <a:ext cx="2929559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three base metals — steel, aluminum, and copper.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831872"/>
            <a:ext cx="1723389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309034"/>
            <a:ext cx="2498915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F — 17-4PH stainless (revisit)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1601718"/>
            <a:ext cx="333578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Alloys J, O — 2024-T3 Al &amp; chromium copper (revisit)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00" y="658078"/>
            <a:ext cx="1682280" cy="51156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324" y="658078"/>
            <a:ext cx="1682280" cy="51156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67035" y="658078"/>
            <a:ext cx="1682279" cy="51156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2760" y="658078"/>
            <a:ext cx="1682279" cy="511568"/>
          </a:xfrm>
          <a:prstGeom prst="rect">
            <a:avLst/>
          </a:prstGeom>
          <a:solidFill>
            <a:srgbClr val="6B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78116" y="658078"/>
            <a:ext cx="1682280" cy="511568"/>
          </a:xfrm>
          <a:prstGeom prst="rect">
            <a:avLst/>
          </a:prstGeom>
          <a:solidFill>
            <a:srgbClr val="4B2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324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7035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2760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78116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324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035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760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78116" y="1920242"/>
            <a:ext cx="1682280" cy="62136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324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035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760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116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760" y="32918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5600" y="3986277"/>
            <a:ext cx="863172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900" y="18637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1C2B3A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4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44" y="926183"/>
            <a:ext cx="11964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205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055" y="926183"/>
            <a:ext cx="70834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7779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779" y="926183"/>
            <a:ext cx="8628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50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3504" y="926183"/>
            <a:ext cx="76341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921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9215" y="926183"/>
            <a:ext cx="8406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344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344" y="1438095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44" y="1545310"/>
            <a:ext cx="901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44" y="1690026"/>
            <a:ext cx="5879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2055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2055" y="1438095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2055" y="1545310"/>
            <a:ext cx="5385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2055" y="1690026"/>
            <a:ext cx="6331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7779" y="1288630"/>
            <a:ext cx="330663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7779" y="1438095"/>
            <a:ext cx="32175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7779" y="1545310"/>
            <a:ext cx="634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7779" y="1690026"/>
            <a:ext cx="415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3504" y="1288630"/>
            <a:ext cx="391445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3504" y="1438095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3504" y="1617674"/>
            <a:ext cx="4297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9215" y="1288630"/>
            <a:ext cx="391447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9215" y="1438095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9215" y="1545310"/>
            <a:ext cx="4756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9215" y="1690026"/>
            <a:ext cx="5526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44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44" y="2114903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44" y="2221750"/>
            <a:ext cx="6348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6344" y="2366466"/>
            <a:ext cx="5799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2055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2055" y="211490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2055" y="2221750"/>
            <a:ext cx="6088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2055" y="2366466"/>
            <a:ext cx="5538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27779" y="196542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7779" y="211490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27779" y="2294114"/>
            <a:ext cx="7503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3504" y="19654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83504" y="211490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3504" y="2294114"/>
            <a:ext cx="4785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9215" y="1965426"/>
            <a:ext cx="78218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E07B39"/>
                </a:solidFill>
                <a:latin typeface="Calibri"/>
              </a:rPr>
              <a:t>Wk 15 ← here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9215" y="21149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9215" y="2221750"/>
            <a:ext cx="8843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9215" y="2366466"/>
            <a:ext cx="513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72055" y="264186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72055" y="279134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72055" y="2898545"/>
            <a:ext cx="7367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2055" y="3043275"/>
            <a:ext cx="8477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7779" y="264186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27779" y="279134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27779" y="2898545"/>
            <a:ext cx="4276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27779" y="3043275"/>
            <a:ext cx="5613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83504" y="264186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3504" y="279134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83504" y="2970910"/>
            <a:ext cx="5880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39215" y="264186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9215" y="2791343"/>
            <a:ext cx="3353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9215" y="2898545"/>
            <a:ext cx="5490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39215" y="3043275"/>
            <a:ext cx="6111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83504" y="33370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3504" y="34865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3504" y="3593350"/>
            <a:ext cx="4486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83504" y="3738066"/>
            <a:ext cx="6040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41737" y="4070688"/>
            <a:ext cx="170909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501048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501048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2956" y="804597"/>
            <a:ext cx="347436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2956" y="804242"/>
            <a:ext cx="3474364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484" y="2121118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484" y="3200046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484" y="4096082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15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80" y="888653"/>
            <a:ext cx="4942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79240"/>
            <a:ext cx="385673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Weld metal microstructure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columnar solidification, acicular ferrite,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76" y="1539082"/>
            <a:ext cx="25860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allotriomorphic ferrite, bainite, and martensite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1698911"/>
            <a:ext cx="38112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HAZ sub-zones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CGHAZ, FGHAZ, ICHAZ, SCHAZ: peak temperatures,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858753"/>
            <a:ext cx="23658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microstructures, and property implications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2018596"/>
            <a:ext cx="439175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Hot cracking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solidification cracking and crater cracks: low-melting films, Mn:S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2178438"/>
            <a:ext cx="9704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ratio,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338280"/>
            <a:ext cx="427355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Hydrogen-induced cracking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three conditions, delayed nature, preheat, low-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498122"/>
            <a:ext cx="230339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hydrogen consumables, inspection 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657952"/>
            <a:ext cx="44098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Lamellar tearing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through-thickness failure, MnS inclusions, Z-quality steel, UT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817794"/>
            <a:ext cx="588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2977636"/>
            <a:ext cx="42091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Fracture types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ductile (dimples, cup-cone), brittle (chevrons, river marks),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3137478"/>
            <a:ext cx="17987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fatigue (beach marks, striations)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3297320"/>
            <a:ext cx="42531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Failure analysis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preserve, document, examine: the technician's role in root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576" y="3457163"/>
            <a:ext cx="10923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cause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5140" y="888653"/>
            <a:ext cx="7652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5140" y="1325787"/>
            <a:ext cx="12795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5140" y="1642352"/>
            <a:ext cx="239381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Moniz Ch. 27 &amp; Ch. 8  ·  Kalpakjian Ch. 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5140" y="1810106"/>
            <a:ext cx="204714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 &amp; Failure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5140" y="2221823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140" y="2477599"/>
            <a:ext cx="22398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Microstructure &amp; HAZ (Interactive)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5140" y="2637441"/>
            <a:ext cx="18677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Fracture Types &amp; Surface Reading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5140" y="2797284"/>
            <a:ext cx="21298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Cracking — Hot, Cold &amp; Lamellar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5140" y="2957113"/>
            <a:ext cx="172745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SEM Fractography (Interactive)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140" y="3300751"/>
            <a:ext cx="9702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Key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5140" y="3544996"/>
            <a:ext cx="20139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ESAB Welding Metallurgy Handbook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5140" y="3704838"/>
            <a:ext cx="17269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ASM Vol. 11 — Failure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5140" y="3864680"/>
            <a:ext cx="201449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Lincoln Electric HIC &amp; Preheat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65140" y="4171042"/>
            <a:ext cx="22206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Next: Week 16 — Corrosion &amp; Wrap-up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59321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532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2676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1820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40964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289678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969387"/>
            <a:ext cx="56879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944" y="142784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060" y="1455657"/>
            <a:ext cx="591825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metallurgical zones in a weld and what microstructure does each contain?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944" y="234224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060" y="2370057"/>
            <a:ext cx="575582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hydrogen-induced cracking and why is it the most dangerous welding defect?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944" y="3256642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060" y="3284457"/>
            <a:ext cx="613075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fracture types and how do you identify them from the fracture surface?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944" y="4171042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060" y="4198857"/>
            <a:ext cx="434302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does a technician approach a failure analysis investigation?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280162"/>
            <a:ext cx="3840124" cy="255599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231277"/>
            <a:ext cx="3840124" cy="2556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3182037"/>
            <a:ext cx="3840124" cy="2556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160" y="1919886"/>
            <a:ext cx="4023004" cy="23723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2742846"/>
            <a:ext cx="4023004" cy="237236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3565806"/>
            <a:ext cx="4023004" cy="23723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3471004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Weld Zones &amp; Microstructure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416" y="899256"/>
            <a:ext cx="25510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Metallurgical Zones in Every Fusion Weld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55" y="1309034"/>
            <a:ext cx="7142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Weld Metal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1534870"/>
            <a:ext cx="37665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Fully molten region — solidifies as cast metal with columnar grains growing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679587"/>
            <a:ext cx="371106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from the fusion boundary toward the weld centerline. Composition = filler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824316"/>
            <a:ext cx="37923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 + diluted base metal. Target microstructure in low-alloy steel: acicular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969032"/>
            <a:ext cx="26900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ferrite, for its combination of strength and toughness.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2260163"/>
            <a:ext cx="14701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Heat-Affected Zone (HAZ)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2485986"/>
            <a:ext cx="35218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Base metal heated above ~730°C but not melted — enough to alter its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630715"/>
            <a:ext cx="37205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microstructure. Subdivided into sub-zones by peak temperature. The most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775432"/>
            <a:ext cx="370189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metallurgically complex and most failure-prone region of any welded joint.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3210923"/>
            <a:ext cx="13210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Unaffected Base Metal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3436746"/>
            <a:ext cx="38151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Beyond the HAZ — original microstructure fully preserved. Properties match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581475"/>
            <a:ext cx="374205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mill certificate. Serves as the reference baseline against which HAZ and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726192"/>
            <a:ext cx="188555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metal properties are compared.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3460" y="899256"/>
            <a:ext cx="284572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Weld Metal Microstructure — Low-Alloy Steel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3460" y="1247907"/>
            <a:ext cx="37014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Solidification is epitaxial — grains nucleate at the fusion boundary 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3460" y="1400548"/>
            <a:ext cx="38454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continue the crystal orientation of the partially melted base metal grains.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3460" y="1553190"/>
            <a:ext cx="4050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Columnar grains grow perpendicular to the fusion boundary toward the weld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3460" y="1705831"/>
            <a:ext cx="23615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centerline, producing anisotropic properties.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4900" y="1939754"/>
            <a:ext cx="8881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Acicular ferrite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2156230"/>
            <a:ext cx="402450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Fine, interlocking ferrite plates nucleating on non-metallic inclusions — the most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2300947"/>
            <a:ext cx="376822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desirable microstructure. Deflects crack propagation and provides excellent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2445676"/>
            <a:ext cx="41162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strength-toughness balance. Promoted by controlled oxygen content and inclusion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2590393"/>
            <a:ext cx="57837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chemistry.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4900" y="2762714"/>
            <a:ext cx="13177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Allotriomorphic ferrite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979191"/>
            <a:ext cx="365462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Forms at prior austenite grain boundaries on cooling. Provides easy crack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3123907"/>
            <a:ext cx="36552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propagation paths along boundaries — reduces toughness. Minimized by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3460" y="3268636"/>
            <a:ext cx="18945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composition and cooling rate control.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4900" y="3585674"/>
            <a:ext cx="118520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Bainite / Martensite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802150"/>
            <a:ext cx="39181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 at higher cooling rates or in higher CE weld metals. Increase strength but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946867"/>
            <a:ext cx="4062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reduce toughness. Martensite in weld metal is generally undesirable and requires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4091596"/>
            <a:ext cx="10974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tempering via PWHT.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4371669"/>
            <a:ext cx="34976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Dilution by process: SMAW 20–30%  ·  GMAW 25–35%  ·  SAW 50–70%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4516386"/>
            <a:ext cx="39650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The WPS specifies filler metal to account for dilution and achieve required weld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661115"/>
            <a:ext cx="9177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metal properties.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298526"/>
            <a:ext cx="3840124" cy="2556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39837"/>
            <a:ext cx="3840124" cy="2556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980806"/>
            <a:ext cx="3840124" cy="2556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3822117"/>
            <a:ext cx="3840124" cy="25560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316877"/>
            <a:ext cx="4023004" cy="25560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322717"/>
            <a:ext cx="4023004" cy="2556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3328557"/>
            <a:ext cx="4023004" cy="25560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625037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Heat-Affected Zone — Sub-Zones &amp; Critical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899256"/>
            <a:ext cx="229979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HAZ Sub-Zones by Peak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55" y="1327398"/>
            <a:ext cx="96542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CGHAZ  &gt;1100°C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552866"/>
            <a:ext cx="38328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Coarse-Grained HAZ — extensive austenite grain growth (5–10× base metal).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697595"/>
            <a:ext cx="373674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Cools to coarse upper bainite or martensite. Lowest toughness of any weld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842312"/>
            <a:ext cx="2484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zone. Primary site for hydrogen-induced cracking.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2168722"/>
            <a:ext cx="11582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FGHAZ  900–1100°C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2394190"/>
            <a:ext cx="38070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Fine-Grained HAZ — fully austenitised but insufficient time for grain growth.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538907"/>
            <a:ext cx="37184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Cools to a fine-grained microstructure. Typically the toughest region in the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683636"/>
            <a:ext cx="6573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entire weld.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3009678"/>
            <a:ext cx="105187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ICHAZ  730–900°C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3235146"/>
            <a:ext cx="35820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Intercritical HAZ — partially austenitised (between Ac1 and Ac3). Mixed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379875"/>
            <a:ext cx="37822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microstructure of transformed and untransformed regions. Can be a site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524592"/>
            <a:ext cx="170947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localized softening in HSLA steels.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5" y="3851002"/>
            <a:ext cx="8783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SCHAZ  &lt;730°C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4076470"/>
            <a:ext cx="38287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Subcritical HAZ — no phase transformation. Tempering and stress relief only.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4221187"/>
            <a:ext cx="32319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 approach base metal. Typically no toughness concern.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3460" y="899256"/>
            <a:ext cx="271914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HAZ Width, Multi-Pass Welds &amp; CGHAZ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4900" y="1345763"/>
            <a:ext cx="6512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HAZ width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3460" y="1571230"/>
            <a:ext cx="407636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Determined by heat input and base metal thermal conductivity. Higher heat input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1715947"/>
            <a:ext cx="409035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→ wider HAZ. Aluminum has higher thermal conductivity than steel → produces a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860676"/>
            <a:ext cx="251061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proportionally wider HAZ for the same heat input.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4900" y="2351602"/>
            <a:ext cx="100525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Multi-pass welds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2577070"/>
            <a:ext cx="39759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Each subsequent pass reheats the HAZ of previous passes. The reheated CGHAZ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2721787"/>
            <a:ext cx="38063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(now an ICHAZ of the prior pass) can be partially retransformed, refining the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866516"/>
            <a:ext cx="372035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coarse grain structure. Well-designed multi-pass procedures exploit this to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3011233"/>
            <a:ext cx="12665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improve HAZ toughness.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4900" y="3357442"/>
            <a:ext cx="124674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Why CGHAZ is critical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3582910"/>
            <a:ext cx="388774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CGHAZ combines the worst of all factors: coarse grains reduce toughness;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727627"/>
            <a:ext cx="39790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martensite/bainite raise hardness; weld toe is a stress concentration; and this is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872356"/>
            <a:ext cx="411507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where hydrogen concentrates during cooling. All three HIC preconditions converge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4017073"/>
            <a:ext cx="3288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316521"/>
            <a:ext cx="384012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57477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998802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3840126"/>
            <a:ext cx="384012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157477"/>
            <a:ext cx="402300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2998802"/>
            <a:ext cx="402300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840126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78216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Weld Cracking — Hot Cracking &amp; Lamellar Tearing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99256"/>
            <a:ext cx="237697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Hot Cracking — Solidification Cracking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534515"/>
            <a:ext cx="391222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Liquid films at austenite grain boundaries cannot withstand tensile stress from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679231"/>
            <a:ext cx="35214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shrinkage during solidification. Most common in alloys with wide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823948"/>
            <a:ext cx="378583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solidification temperature ranges and high S or P content — these elements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1968677"/>
            <a:ext cx="33449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concentrate in the last liquid to solidify and form low-melting films.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55" y="2171667"/>
            <a:ext cx="7038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Appearance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375826"/>
            <a:ext cx="38691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Centerline cracks along the weld bead (solidification cracking) or open craters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2520555"/>
            <a:ext cx="37898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 run ends (crater cracks). Crack surfaces are oxidized from exposure to the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665272"/>
            <a:ext cx="378764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arc environment at high temperature — a key distinction from cold cracking.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55" y="3012991"/>
            <a:ext cx="6486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Prevention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217150"/>
            <a:ext cx="38932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Control S and P in base metal and filler; maintain Mn:S ratio &gt;25:1 (Mn ties up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361867"/>
            <a:ext cx="355452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 as MnS with a higher melting point); use low crack-susceptibility filler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506596"/>
            <a:ext cx="28259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metals; fill craters properly at run ends; reduce restraint.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855" y="3854303"/>
            <a:ext cx="58768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416" y="4058106"/>
            <a:ext cx="38175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VT and PT for surface-breaking cracks; RT or UT for internal centerline cracks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4202836"/>
            <a:ext cx="15286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that do not break the surface.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3460" y="899256"/>
            <a:ext cx="107231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Lamellar Tearing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900" y="1330711"/>
            <a:ext cx="57624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534515"/>
            <a:ext cx="39422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 base metal failure unique to welded joints — occurs in the through-thickness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1679231"/>
            <a:ext cx="40155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direction of rolled plate under the transverse shrinkage stress of a fillet or T-joint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1823948"/>
            <a:ext cx="34693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weld. It is not a weld defect — the weld itself may be perfectly sound.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4900" y="2171667"/>
            <a:ext cx="3871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375826"/>
            <a:ext cx="399544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Elongated MnS and silicate inclusions aligned parallel to the plate rolling surface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520555"/>
            <a:ext cx="39488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provide easy fracture paths under through-thickness tensile stress. Rolled plate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3460" y="2665272"/>
            <a:ext cx="386676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has much lower ductility in the through-thickness direction than in the rolling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2809988"/>
            <a:ext cx="3775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plane.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900" y="3012991"/>
            <a:ext cx="7038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Appearance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217150"/>
            <a:ext cx="40197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 stepped, terraced crack below and parallel to the fusion line, in the base metal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3361867"/>
            <a:ext cx="38322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rather than the HAZ. The characteristic stepped morphology (tread-and-riser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3506596"/>
            <a:ext cx="396058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pattern) is diagnostic — cracks run along inclusion planes and connect via short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3651313"/>
            <a:ext cx="126772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through-thickness steps.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4900" y="3854303"/>
            <a:ext cx="13054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Prevention &amp;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460" y="4058106"/>
            <a:ext cx="399845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Use low-sulfur steel (S &lt;0.005%) with good through-thickness ductility (Z-quality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460" y="4202836"/>
            <a:ext cx="38434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plate, tested by through-thickness tensile test — Z25 or Z35 grade). Redesign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3460" y="4347552"/>
            <a:ext cx="39672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joints to reduce through-thickness stress; use buttering passes. Detection: UT is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3460" y="4492268"/>
            <a:ext cx="30996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primary — characteristic subsurface location and morphology.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8631720" cy="402120"/>
          </a:xfrm>
          <a:prstGeom prst="rect">
            <a:avLst/>
          </a:prstGeom>
          <a:solidFill>
            <a:srgbClr val="F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1316521"/>
            <a:ext cx="2815920" cy="362051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316521"/>
            <a:ext cx="2815920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316521"/>
            <a:ext cx="2815920" cy="362051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316521"/>
            <a:ext cx="2815920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844" y="1316521"/>
            <a:ext cx="2815920" cy="362051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844" y="1316521"/>
            <a:ext cx="2815920" cy="40212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4224237"/>
            <a:ext cx="8631720" cy="73116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424" y="158292"/>
            <a:ext cx="582043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Hydrogen-Induced Cracking (HIC) — Cold Cracking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7416" y="821963"/>
            <a:ext cx="81804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HIC is uniquely dangerous because it is delayed — a weld that looks and tests sound immediately after completion can develop cracks hours to days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16" y="981793"/>
            <a:ext cx="35365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022" y="1380077"/>
            <a:ext cx="17893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740" y="1418838"/>
            <a:ext cx="155162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Susceptible Microstructure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24" y="1791150"/>
            <a:ext cx="26780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 martensite or coarse bainite in the CGHAZ —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24" y="1943791"/>
            <a:ext cx="24588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formed when hardenable steel (high CE) cools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424" y="2096420"/>
            <a:ext cx="259065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rapidly. The harder the microstructure, the more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24" y="2249061"/>
            <a:ext cx="25545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susceptible to HIC. Controlled by preheat (slows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424" y="2401702"/>
            <a:ext cx="26052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cooling) and keeping CE below critical thresholds.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098" y="1380077"/>
            <a:ext cx="17893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7815" y="1418838"/>
            <a:ext cx="10089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Hydrogen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5855" y="1791150"/>
            <a:ext cx="24682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Atomic hydrogen generated in the welding arc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5855" y="1943791"/>
            <a:ext cx="26323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dissolves into the weld pool. Sources: moisture in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5855" y="2096420"/>
            <a:ext cx="23889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consumable flux/coating, base metal surface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5855" y="2249061"/>
            <a:ext cx="248759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contamination, humid atmosphere. E7018 low-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5855" y="2401702"/>
            <a:ext cx="25550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hydrogen electrodes must be stored in a heated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5855" y="2554344"/>
            <a:ext cx="194396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oven; use within 4 hours of removal.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9543" y="1380077"/>
            <a:ext cx="178935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2260" y="1418838"/>
            <a:ext cx="8075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Tensile Stress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9944" y="1791150"/>
            <a:ext cx="26355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Weld shrinkage stress and external restraint drive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9944" y="1943791"/>
            <a:ext cx="1992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hydrogen toward areas of high stress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9944" y="2096420"/>
            <a:ext cx="241351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concentration — typically the weld toe in the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9944" y="2249061"/>
            <a:ext cx="255964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CGHAZ. Higher restraint = greater risk. Minimize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9944" y="2401702"/>
            <a:ext cx="208705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by joint design, welding sequence, and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9944" y="2554344"/>
            <a:ext cx="138050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intermediate stress relief.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7416" y="4323390"/>
            <a:ext cx="78437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Mechanism: </a:t>
            </a:r>
            <a:r>
              <a:rPr b="0" i="0" sz="1000">
                <a:solidFill>
                  <a:srgbClr val="CADCFC"/>
                </a:solidFill>
                <a:latin typeface="Calibri"/>
              </a:rPr>
              <a:t>H diffuses to hard microstructure at high-stress sites → reduces cohesive strength → HIC initiates and grows.  </a:t>
            </a:r>
            <a:r>
              <a:rPr b="1" i="0" sz="1000">
                <a:solidFill>
                  <a:srgbClr val="E07B39"/>
                </a:solidFill>
                <a:latin typeface="Calibri"/>
              </a:rPr>
              <a:t>Prevention: </a:t>
            </a:r>
            <a:r>
              <a:rPr b="0" i="0" sz="1000">
                <a:solidFill>
                  <a:srgbClr val="CADCFC"/>
                </a:solidFill>
                <a:latin typeface="Calibri"/>
              </a:rPr>
              <a:t>Preheat + low-H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416" y="4476031"/>
            <a:ext cx="838539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consumables + minimize restraint — all three must be controlled simultaneously.  </a:t>
            </a:r>
            <a:r>
              <a:rPr b="1" i="0" sz="1000">
                <a:solidFill>
                  <a:srgbClr val="E07B39"/>
                </a:solidFill>
                <a:latin typeface="Calibri"/>
              </a:rPr>
              <a:t>Detection timing: </a:t>
            </a:r>
            <a:r>
              <a:rPr b="0" i="0" sz="1000">
                <a:solidFill>
                  <a:srgbClr val="CADCFC"/>
                </a:solidFill>
                <a:latin typeface="Calibri"/>
              </a:rPr>
              <a:t>Inspect ≥24–48 h after welding on hardenable steels per AWS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7416" y="4628660"/>
            <a:ext cx="3459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D1.1.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316521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02766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888998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3675598"/>
            <a:ext cx="384012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102766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2888998"/>
            <a:ext cx="402300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675598"/>
            <a:ext cx="402300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398810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Fracture Types — Ductile &amp; Brittle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88653"/>
            <a:ext cx="11590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Ductile Fracture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534515"/>
            <a:ext cx="36356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Microvoid coalescence (MVC) — voids nucleate at inclusions and second-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679231"/>
            <a:ext cx="383419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phase particles, grow under applied stress, and coalesce to form the fracture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823948"/>
            <a:ext cx="4609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55" y="2116943"/>
            <a:ext cx="9184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Fracture 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320746"/>
            <a:ext cx="37245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Dull, fibrous, gray appearance. Dimpled texture under SEM — each dimple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465476"/>
            <a:ext cx="257284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represents one coalesced void. Rough to the touch.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2903187"/>
            <a:ext cx="10236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Macroscopic signs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3107346"/>
            <a:ext cx="375712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Significant plastic deformation — necking in round specimens, distortion of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252075"/>
            <a:ext cx="386711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flat sections. Cup-and-cone profile in round bars (flat central zone + 45° shear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396792"/>
            <a:ext cx="25925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lip). The two halves do not fit back together cleanly.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5" y="3689787"/>
            <a:ext cx="136767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Conditions that promote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893591"/>
            <a:ext cx="38819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 temperature, low strain rate, low strength, high toughness, small section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4038307"/>
            <a:ext cx="35086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size (lower triaxiality). Most common failure mode in ductile metals at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416" y="4183036"/>
            <a:ext cx="22176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ambient temperature under static overload.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3460" y="888653"/>
            <a:ext cx="11010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Brittle Fracture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4900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1534515"/>
            <a:ext cx="394129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Cleavage — atoms separate along specific crystallographic planes with minimal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679231"/>
            <a:ext cx="391355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energy absorption. Grain boundaries may arrest cleavage cracks, causing short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1823948"/>
            <a:ext cx="24580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intergranular segments between cleavage facets.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4900" y="2116943"/>
            <a:ext cx="9184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Fracture surface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2320746"/>
            <a:ext cx="389835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Flat, bright, granular, crystalline appearance. Chevron marks (V-shaped ridges)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465476"/>
            <a:ext cx="398494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point back toward the fracture origin. River marks (fine lines on cleavage facets)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610192"/>
            <a:ext cx="25913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show crack propagation direction within each grain.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4900" y="2903187"/>
            <a:ext cx="10236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Macroscopic signs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3107346"/>
            <a:ext cx="369575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 visible plastic deformation — the two fracture halves fit back together.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252075"/>
            <a:ext cx="407032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Fracture surface is perpendicular to the maximum tensile stress. Failure is sudden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396792"/>
            <a:ext cx="173287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catastrophic with no warning.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4900" y="3689787"/>
            <a:ext cx="136767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Conditions that promote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3893591"/>
            <a:ext cx="40033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Low temperature (below DBTT — ductile-to-brittle transition temperature), high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4038307"/>
            <a:ext cx="386507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strain rate (impact loading), triaxial stress state (thick sections, notches), high-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183036"/>
            <a:ext cx="20241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strength/low-toughness microstructure.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737006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651406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3565806"/>
            <a:ext cx="384012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2157477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998802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3840126"/>
            <a:ext cx="402300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563633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Fatigue Fracture — Reading the Fracture Surface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899256"/>
            <a:ext cx="227801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Initiation &amp; Slow Crack Growth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1232781"/>
            <a:ext cx="38346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Initiation requires a stress concentration at or near the surface. Common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385423"/>
            <a:ext cx="353445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sites in welded components: weld toe, undercut, machining marks,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538064"/>
            <a:ext cx="21815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corrosion pits, or near-surface inclusions.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855" y="1754834"/>
            <a:ext cx="14363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Beach marks (arrest marks)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955355"/>
            <a:ext cx="379451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Curved lines showing successive positions of the crack front — visible to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2100071"/>
            <a:ext cx="390920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naked eye. Form during crack arrest periods (rest, low load). Spacing increases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244788"/>
            <a:ext cx="39182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as the crack grows and stress intensity rises. The beach mark zone is the entire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389517"/>
            <a:ext cx="132404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slow crack growth region.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2669234"/>
            <a:ext cx="55208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Striations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869755"/>
            <a:ext cx="36397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Microscopic ridges — one formed per load cycle, visible only under SEM.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014471"/>
            <a:ext cx="38246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Spacing equals crack growth per cycle and can be used to calculate how long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159188"/>
            <a:ext cx="38835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cracking was occurring. Parallel striations on a flat zone are the SEM signature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303917"/>
            <a:ext cx="5705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of fatigue.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855" y="3583634"/>
            <a:ext cx="78954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Ratchet marks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3784155"/>
            <a:ext cx="39327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Steps between multiple initiation sites — indicate high stress or multiple stress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416" y="3928871"/>
            <a:ext cx="387399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concentrations. Each step is where two independent crack fronts have joined.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4073588"/>
            <a:ext cx="280523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More ratchet marks = more severe stress concentration.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3460" y="899256"/>
            <a:ext cx="239377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Overload Zone &amp; Reading the Fracture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900" y="1334350"/>
            <a:ext cx="1045455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Final overload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534515"/>
            <a:ext cx="40925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Rough fast fracture at the opposite edge from initiation. Its proportion of the total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1679231"/>
            <a:ext cx="39411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fracture area indicates applied stress: small fast zone = low stress, many cycles;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1823948"/>
            <a:ext cx="199517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large fast zone = high stress, few cycles.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4900" y="2175306"/>
            <a:ext cx="11387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Reading the full 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375826"/>
            <a:ext cx="38111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Start at the initiation site (apex of the beach mark arc at the surface). Follow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520555"/>
            <a:ext cx="393200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beach marks outward as spacing increases. Locate the overload zone — its size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3460" y="2665272"/>
            <a:ext cx="34254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indicates stress level. Count ratchet marks for concentration severity.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4900" y="3016630"/>
            <a:ext cx="107065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Fatigue in weld toes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217150"/>
            <a:ext cx="398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weld toe is the most common initiation site — it combines geometric stress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361867"/>
            <a:ext cx="406695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concentration with tensile residual stress. Post-weld toe grinding, TIG dressing, or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3506596"/>
            <a:ext cx="39851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peening remove the concentration and introduce compressive residual stress to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3651313"/>
            <a:ext cx="98153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extend fatigue life.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4900" y="3857954"/>
            <a:ext cx="170995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Distinguishing from other modes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058106"/>
            <a:ext cx="407442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Fatigue: beach marks, smooth, surface-initiated. Brittle: chevrons, flat, crystalline,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460" y="4202836"/>
            <a:ext cx="3755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 deformation. Ductile: dimpled, gray, plastic deformation. Fracture mode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460" y="4347552"/>
            <a:ext cx="35582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identification is the first and most time-critical step of any investigation.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243446"/>
            <a:ext cx="8320671" cy="1170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1243077"/>
            <a:ext cx="8320671" cy="27396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505597"/>
            <a:ext cx="8320671" cy="1170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2505242"/>
            <a:ext cx="8320671" cy="273964"/>
          </a:xfrm>
          <a:prstGeom prst="rect">
            <a:avLst/>
          </a:prstGeom>
          <a:solidFill>
            <a:srgbClr val="8B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3767406"/>
            <a:ext cx="8320671" cy="11699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404" y="3767037"/>
            <a:ext cx="8320671" cy="2739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239480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936327"/>
            <a:ext cx="77517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Weld metallurgy and fracture mechanics only matter when someone has to act on them — here is what that looks like in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855" y="1288274"/>
            <a:ext cx="5124240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Red Flag: HIC found 72 hours after SMAW on high-CE structural steel — weld passed VT at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855" y="1553235"/>
            <a:ext cx="77253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 welder completes a highly restrained structural connection on A514 steel (CE ≈ 0.55). Preheat was applied and verified at the start of the joint, but was not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55" y="1697951"/>
            <a:ext cx="79178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maintained throughout a long multi-run sequence — the joint cooled between runs on a cool morning. VT immediately after welding shows no defects. 72 hours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55" y="1842667"/>
            <a:ext cx="80139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later, MT reveals tight transverse cracks at the weld toes in the CGHAZ. Action: for high-CE steels, preheat is an interpass requirement, not just a starting condition;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55" y="1987397"/>
            <a:ext cx="8016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maintain throughout the entire joint. Per AWS D1.1, final MT inspection must not be performed until at least 48 hours after completion of welding on any joint in a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2132113"/>
            <a:ext cx="7349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high-CE steel.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855" y="2550070"/>
            <a:ext cx="52795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Caution: Fatigue fracture at a crane boom weld toe — the weld meets the drawing, but the joint still fails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855" y="2815030"/>
            <a:ext cx="800692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 crane boom fails in service after 3 years. The fracture surface shows clear beach marks initiating at a weld toe with a sharp profile and visible undercut. The weld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2959747"/>
            <a:ext cx="80993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meets all dimensional requirements on the drawing. Root cause: the weld toe is a stress concentration — even a code-compliant weld toe creates a fatigue initiation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55" y="3104476"/>
            <a:ext cx="7926249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site under cyclic loading. No post-weld toe treatment was specified. Action: fatigue-critical welds require more than dimensional conformance; specify toe angle,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55" y="3249192"/>
            <a:ext cx="6560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post-weld toe grinding or TIG dressing, and verify surface condition. Raise an NCR and an engineering review for the remaining joints.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855" y="3812234"/>
            <a:ext cx="57769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Good Practice: Preserving the fracture surface — the difference between a defensible investigation and a dead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4076826"/>
            <a:ext cx="79883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 technician receives a failed shaft removed from service. Before doing anything else, they photograph the component in its as-found condition, bag each fracture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855" y="4221555"/>
            <a:ext cx="80464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half separately in clean plastic, label with part number, date, and location found, and store in a dry environment. The fracture surface later reveals fatigue striations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55" y="4366272"/>
            <a:ext cx="79273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under SEM with an initiation site at a machining mark. Preservation allowed the fractographic evidence to survive for definitive laboratory analysis. Action: never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55" y="4510988"/>
            <a:ext cx="79298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clean, separate without care, or allow corrosion to develop on a fracture surface. The fracture is the primary evidence — treat it accordingly from the moment of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5" y="4655705"/>
            <a:ext cx="5204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987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828801"/>
            <a:ext cx="8631720" cy="98712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853006"/>
            <a:ext cx="8631720" cy="987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3877197"/>
            <a:ext cx="8631720" cy="987119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276813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775" y="864151"/>
            <a:ext cx="466301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are the metallurgical zones in a weld and what microstructure does each contain?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75" y="1077670"/>
            <a:ext cx="7959052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Three zones: Weld Metal (fully molten, solidifies to columnar grains; acicular ferrite is the target microstructure for toughness). HAZ (not melted but heat-altered,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775" y="1222387"/>
            <a:ext cx="8375238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subdivided into CGHAZ &gt;1100°C with coarse grains/martensite/lowest toughness; FGHAZ 900-1100°C with fine grains/best toughness; ICHAZ partially transformed; SCHAZ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75" y="1367116"/>
            <a:ext cx="4329011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tempered only). Unaffected base metal beyond the HAZ retains original microstructure.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775" y="1888343"/>
            <a:ext cx="453505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is hydrogen-induced cracking and why is it the most dangerous welding defect?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2101874"/>
            <a:ext cx="82902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HIC requires three simultaneous conditions: susceptible microstructure (martensite/bainite in CGHAZ), hydrogen (from consumables/moisture/atmosphere), and tensile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2246591"/>
            <a:ext cx="80039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stress (weld shrinkage/restraint). Hydrogen dissolves in the arc and diffuses to high-stress hard microstructure regions, reducing cohesion. It is uniquely dangerous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2391307"/>
            <a:ext cx="83856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because it is delayed — cracks develop hours to days after a weld passes VT. Prevention: preheat + low-hydrogen consumables + minimize restraint. Inspection timing: ≥48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36037"/>
            <a:ext cx="18793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 after welding on hardenable steels.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912179"/>
            <a:ext cx="48285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are the main fracture types and how do you identify them from the fracture surface?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126066"/>
            <a:ext cx="81224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Ductile: dull, fibrous, gray, dimpled (SEM); cup-and-cone in round bars; significant deformation; halves don't fit back. Brittle: flat, bright, granular, crystalline; chevron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270795"/>
            <a:ext cx="822449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marks pointing to origin; river marks; no deformation; halves fit back; sudden failure. Fatigue: smooth beach mark zone (slow growth, visible to naked eye) + rough fast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415512"/>
            <a:ext cx="58893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fracture zone; striations under SEM; initiation at a surface stress concentration; ratchet marks if multiple initiation sites.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936383"/>
            <a:ext cx="343685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How does a technician approach a failure analysis investigation?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4149915"/>
            <a:ext cx="833845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(1) Preserve — secure immediately; do not clean, separate carelessly, or allow further damage. (2) Document — photograph in as-found condition; record service history,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775" y="4294631"/>
            <a:ext cx="82369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loading, environment, maintenance. (3) Visual examination — identify fracture type, locate initiation site, note crack path direction. (4) Non-destructive examination —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775" y="4439348"/>
            <a:ext cx="804648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MT/PT for additional cracks; UT for subsurface; dimensional check. (5) Mechanical and metallographic testing — hardness survey, cross-section metallography, SEM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775" y="4584077"/>
            <a:ext cx="56392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fractography. (6) Root cause and report — classify failure mode; identify root cause; recommend corrective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914046"/>
            <a:ext cx="8631720" cy="1225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914046"/>
            <a:ext cx="676440" cy="12250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230922"/>
            <a:ext cx="8631720" cy="1225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30922"/>
            <a:ext cx="676440" cy="12250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547442"/>
            <a:ext cx="8631720" cy="122507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547442"/>
            <a:ext cx="676440" cy="122507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33921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15: Weld Metallurgy &amp;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178" y="1291040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135" y="1256437"/>
            <a:ext cx="75465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HAZ is the most metallurgically complex and vulnerable region of any welded joint — understanding what happens to each sub-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135" y="1424191"/>
            <a:ext cx="75635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zone during the thermal cycle explains why preheat, heat input control, and PWHT are specified, and why hydrogen cracking almost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135" y="1591945"/>
            <a:ext cx="519583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always initiates in the coarse-grained HAZ rather than in the weld metal or the base metal.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178" y="2607916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135" y="2573312"/>
            <a:ext cx="72521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Hydrogen-induced cracking is uniquely dangerous because it is delayed — a weld that looks and tests sound immediately after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35" y="2741067"/>
            <a:ext cx="76559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completion can develop cracks hours or days later; for hardenable steels, inspection timing is a code requirement, not a convenience,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1135" y="2908834"/>
            <a:ext cx="571095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and a VT performed immediately after welding does not satisfy the requirement for a 48-hour 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178" y="3924436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35" y="3889833"/>
            <a:ext cx="76349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fracture surface is a record of how a component failed — ductile dimples, cleavage facets, beach marks, and striations each tell 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135" y="4057587"/>
            <a:ext cx="736204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specific story; a technician who can read a fracture surface can identify the failure mode, locate the initiation site, and direct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135" y="4225354"/>
            <a:ext cx="423459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investigation toward the root cause before any laboratory testing is done.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71779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717795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261442"/>
            <a:ext cx="4388764" cy="26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137124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1919886"/>
            <a:ext cx="91084" cy="32867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246852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116" y="3017166"/>
            <a:ext cx="91084" cy="32867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116" y="356580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116" y="411444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804597"/>
            <a:ext cx="3767035" cy="4132808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164" y="1590842"/>
            <a:ext cx="329147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164" y="1700277"/>
            <a:ext cx="91071" cy="3286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164" y="2175842"/>
            <a:ext cx="91071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164" y="2651406"/>
            <a:ext cx="91071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164" y="3126957"/>
            <a:ext cx="91071" cy="3286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164" y="3602521"/>
            <a:ext cx="91071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888653"/>
            <a:ext cx="13948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Week 15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015" y="1369467"/>
            <a:ext cx="24410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Moniz Ch. 27 &amp; Ch. 8  ·  Kalpakjian Ch. 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015" y="1568303"/>
            <a:ext cx="31086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Welding Metallurgy and Failure Analysis — primary reading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015" y="1918107"/>
            <a:ext cx="22693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Weld Microstructure &amp; HAZ Visualizer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015" y="2116943"/>
            <a:ext cx="396816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Interactive — zone boundaries, sub-zone microstructures, multi-pass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015" y="2466747"/>
            <a:ext cx="201306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Fracture Types &amp; Surface Reading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015" y="2665583"/>
            <a:ext cx="365809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Interactive — ductile, brittle, and fatigue surface feature identification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015" y="3015387"/>
            <a:ext cx="258475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Weld Cracking Types (Hot, Cold &amp; Lamellar)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015" y="3214223"/>
            <a:ext cx="36040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Interactive — mechanism, morphology, and prevention for each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015" y="3564027"/>
            <a:ext cx="217718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ESAB Welding Metallurgy Handbook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015" y="3762862"/>
            <a:ext cx="302207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Primary reference for weld metal and HAZ microstructure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015" y="4112667"/>
            <a:ext cx="26625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ASM Vol. 11 — Failure Analysis &amp; Prevention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015" y="4311503"/>
            <a:ext cx="298039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Standard reference for failure investigation methodology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90820" y="961728"/>
            <a:ext cx="23398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Week 16 — Corrosion &amp; Wrap-up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0820" y="1318038"/>
            <a:ext cx="210653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December 7, 2026  ·  Unit 5 concludes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0060" y="1722673"/>
            <a:ext cx="329571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Electrochemical corrosion — the four-element cell and how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0060" y="1882515"/>
            <a:ext cx="62577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to break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0060" y="2278158"/>
            <a:ext cx="289532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Uniform, galvanic, pitting, crevice corrosion, and SCC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0060" y="2673801"/>
            <a:ext cx="293835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Protection methods — coatings, cathodic protection,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0060" y="2833644"/>
            <a:ext cx="58448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inhibitors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0060" y="3228918"/>
            <a:ext cx="29438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Material selection and design for corrosion 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0060" y="3704482"/>
            <a:ext cx="263279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Course wrap-up — key themes across all 5 units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