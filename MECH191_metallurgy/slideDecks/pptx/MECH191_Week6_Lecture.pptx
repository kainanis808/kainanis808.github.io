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42981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Nonferrous Metals &amp; Phase Diagrams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948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September 28,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224293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Nonferrous Metals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559273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Aluminum, copper, and titanium — what each family offers that steel cannot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32472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Iron-Carbon Phase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66654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Reading the map of steel microstructures — phases, regions, and key transformation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221862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228976"/>
            <a:ext cx="457496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Technician's perspective on phase diagrams — and Unit 2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Metallography Lab — Module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EXAMET-5-R-600-HD  ·  50–500×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5  ·  Week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321410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Nonferrous Metals &amp; Phase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7043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Observe twin density in brass vs. stainless steel. Look for fine Mg₂Si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4404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precipitates in Al at 500×.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Observe — complete feature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Sketch — label magnification &amp; specimen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— 4 short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Specimens to Check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9690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G — 6061-T6 aluminum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5698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K — 70/30 brass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check out the kit: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See instructor after class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Sign out the specimen tray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Use the EXAMET-5 at your convenience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Return kit before leaving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Submit completed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7831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6  ← 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30399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296244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394991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6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795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454"/>
            <a:ext cx="382696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Aluminum, copper, and titanium — why each family exists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70903"/>
            <a:ext cx="103004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alongside steel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3882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61340"/>
            <a:ext cx="41219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Aluminum alloy designation (1xxx–7xxx) and heat-treatable vs.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51776"/>
            <a:ext cx="14685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work-hardened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119709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142225"/>
            <a:ext cx="39676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Brass and bronze — how copper alloys balance conductivity,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332662"/>
            <a:ext cx="22525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strength, and corrosion 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50058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523098"/>
            <a:ext cx="37085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Titanium's alpha/beta microstructure and why Ti-6Al-4V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713535"/>
            <a:ext cx="144775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dominates aerospace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881467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903984"/>
            <a:ext cx="403320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iron-carbon phase diagram: ferrite, austenite, cementite,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3094421"/>
            <a:ext cx="153808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pearlite, and eutectoid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76" y="326235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284857"/>
            <a:ext cx="383808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CCT diagram — what actually forms during real cooling vs.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54" y="3475294"/>
            <a:ext cx="156729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equilibrium predictions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576" y="3643226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654" y="3665743"/>
            <a:ext cx="37163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Annealing, normalizing, quenching, tempering, and case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654" y="3856180"/>
            <a:ext cx="72617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hardening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1847071"/>
            <a:ext cx="19898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Ch. 6 — Phase Diagrams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450423"/>
            <a:ext cx="10509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2633303"/>
            <a:ext cx="18958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Nonferrous Metals and Alloys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072507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419547"/>
            <a:ext cx="25546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Iron-Carbon Phase Diagram (Interactive)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602427"/>
            <a:ext cx="20848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Solidification &amp; Dendrite Growth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4041631"/>
            <a:ext cx="7754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Unit 2 Quiz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3384" y="4352311"/>
            <a:ext cx="11953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Covers Weeks 4–6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1633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7854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4071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54709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1978732"/>
            <a:ext cx="769160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three major nonferrous metal families and what unique advantage does each offer that steel cannot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177093"/>
            <a:ext cx="57043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match?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700" y="2699812"/>
            <a:ext cx="70570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does the iron-carbon phase diagram tell you — and what critical information does it NOT give you?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7" y="3212975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3222176"/>
            <a:ext cx="74934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an iron-carbon phase diagram and a CCT diagram, and when do you need each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420537"/>
            <a:ext cx="40717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one?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38350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3943256"/>
            <a:ext cx="730114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does cooling rate determine the microstructure — and therefore the mechanical properties — of steel?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17" y="44567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700" y="4465608"/>
            <a:ext cx="763310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Quenched martensite is extremely hard but is almost never used in that condition. What does tempering do, and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700" y="4663969"/>
            <a:ext cx="21121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trade-off does it involve?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777242"/>
            <a:ext cx="2834284" cy="4160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77242"/>
            <a:ext cx="2834284" cy="47519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395" y="777242"/>
            <a:ext cx="2834284" cy="4160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395" y="777242"/>
            <a:ext cx="2834284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0835" y="777242"/>
            <a:ext cx="2834284" cy="4160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0835" y="777242"/>
            <a:ext cx="2834284" cy="47519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20735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Nonferrous Metals — Why They Exist Alongside Steel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813429"/>
            <a:ext cx="95310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Aluminum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1058431"/>
            <a:ext cx="138788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1/3 the density of steel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696" y="134250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74" y="1361186"/>
            <a:ext cx="16050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~2.7 g/cm³ — dominant in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774" y="1528953"/>
            <a:ext cx="16908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aerospace, automotive, and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774" y="1696708"/>
            <a:ext cx="217746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structural applications where weight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774" y="1864475"/>
            <a:ext cx="5117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696" y="201354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774" y="2032229"/>
            <a:ext cx="188051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Naturally corrosion-resistant —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774" y="2199996"/>
            <a:ext cx="21359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stable Al₂O₃ passive layer (similar to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774" y="2367750"/>
            <a:ext cx="6009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696" y="2516822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774" y="2535517"/>
            <a:ext cx="21329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1xxx–7xxx designation system; heat-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774" y="2703272"/>
            <a:ext cx="18774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treatable (2xxx, 6xxx, 7xxx) and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774" y="2871026"/>
            <a:ext cx="19854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work-hardened (1xxx, 3xxx, 5xxx)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774" y="3038793"/>
            <a:ext cx="40485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696" y="318786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774" y="3206547"/>
            <a:ext cx="216671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Melts at ~660°C — much lower than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774" y="3374314"/>
            <a:ext cx="168762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steel; weldable but requires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774" y="3542069"/>
            <a:ext cx="195272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different process (GTAW/GMAW)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5499" y="813429"/>
            <a:ext cx="682259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Copper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5499" y="1058431"/>
            <a:ext cx="15957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Best electrical conductivity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5504" y="134250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8582" y="1361186"/>
            <a:ext cx="178009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 for electrical wiring,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8582" y="1528953"/>
            <a:ext cx="21225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busbars, and heat exchangers — no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8582" y="1696708"/>
            <a:ext cx="21363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common structural metal matches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5504" y="184578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8582" y="1864475"/>
            <a:ext cx="17481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Brass (Cu-Zn): good strength,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8582" y="2032229"/>
            <a:ext cx="20658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machinability, corrosion resistance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8582" y="2199996"/>
            <a:ext cx="16981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— fittings, valves, decorative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5504" y="234906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8582" y="2367750"/>
            <a:ext cx="20171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Bronze (Cu-Sn or Cu-Al/Si): higher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8582" y="2535517"/>
            <a:ext cx="19055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strength and wear resistance —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8582" y="2703272"/>
            <a:ext cx="16309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bearings, bushings, marine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8582" y="2871026"/>
            <a:ext cx="6195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hardware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5504" y="302009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8582" y="3038793"/>
            <a:ext cx="21303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thermal conductivity demands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8582" y="3206547"/>
            <a:ext cx="19648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greater heat input when welding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8582" y="3374314"/>
            <a:ext cx="11022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compared to steel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7940" y="813429"/>
            <a:ext cx="825602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Titanium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7940" y="1058431"/>
            <a:ext cx="171318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Best strength-to-weight ratio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7945" y="134250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022" y="1361186"/>
            <a:ext cx="18545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~60% the density of steel, with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1022" y="1528953"/>
            <a:ext cx="21055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comparable or superior strength —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1022" y="1696708"/>
            <a:ext cx="21299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used in aerospace, medical implants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7945" y="184578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1022" y="1864475"/>
            <a:ext cx="20513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 resistance exceeds even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1022" y="2032229"/>
            <a:ext cx="154068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best stainless in most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11022" y="2199996"/>
            <a:ext cx="86159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environments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7945" y="234906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1022" y="2367750"/>
            <a:ext cx="20845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Alpha (HCP), beta (BCC), and alpha-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11022" y="2535517"/>
            <a:ext cx="210762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beta alloys — Ti-6Al-4V (Grade 5) is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11022" y="2703272"/>
            <a:ext cx="12001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workhorse alloy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7945" y="285234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11022" y="2871026"/>
            <a:ext cx="182325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Extremely reactive at elevated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11022" y="3038793"/>
            <a:ext cx="16830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temps — must weld in inert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11022" y="3206547"/>
            <a:ext cx="18700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shielding or vacuum to prevent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11022" y="3374314"/>
            <a:ext cx="9022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embrittlement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04597"/>
            <a:ext cx="5394591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804242"/>
            <a:ext cx="5394591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680" y="1261442"/>
            <a:ext cx="785876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275" y="1261442"/>
            <a:ext cx="1279804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3800" y="1261442"/>
            <a:ext cx="1133639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59" y="1261442"/>
            <a:ext cx="1663915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1035" y="1554126"/>
            <a:ext cx="5284800" cy="40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035" y="1974598"/>
            <a:ext cx="5284800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035" y="2395437"/>
            <a:ext cx="5284800" cy="40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1035" y="2815922"/>
            <a:ext cx="5284800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1035" y="3236762"/>
            <a:ext cx="5284800" cy="40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1035" y="3657246"/>
            <a:ext cx="5284800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33795" y="804597"/>
            <a:ext cx="309024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33795" y="804242"/>
            <a:ext cx="309024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424" y="158292"/>
            <a:ext cx="541815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Aluminum Alloys — Designation and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144" y="881701"/>
            <a:ext cx="205429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4-Digit Designation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55" y="1296391"/>
            <a:ext cx="4228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Series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5664" y="1296391"/>
            <a:ext cx="105755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Alloying Element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4175" y="1296391"/>
            <a:ext cx="8942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Strengthening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6535" y="1296391"/>
            <a:ext cx="8525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Common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055" y="1652791"/>
            <a:ext cx="3400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1xxx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664" y="1652791"/>
            <a:ext cx="9117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Pure Al (≥99%)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4175" y="1568908"/>
            <a:ext cx="9967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Work-hardened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4175" y="1736675"/>
            <a:ext cx="3174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6535" y="1652791"/>
            <a:ext cx="14971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Electrical conductors, foil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055" y="2073631"/>
            <a:ext cx="3400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2xxx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664" y="2073631"/>
            <a:ext cx="6943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Cu alloying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4175" y="2073631"/>
            <a:ext cx="9011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Heat-treatable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6535" y="1989747"/>
            <a:ext cx="16658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Aerospace structures (7075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6535" y="2157515"/>
            <a:ext cx="3591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rival)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055" y="2494115"/>
            <a:ext cx="3400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3xxx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5664" y="2494115"/>
            <a:ext cx="74007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Mn alloying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74175" y="2410232"/>
            <a:ext cx="9967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Work-hardened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4175" y="2577986"/>
            <a:ext cx="3174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6535" y="2494115"/>
            <a:ext cx="13595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Beverage cans, roofing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1055" y="2914955"/>
            <a:ext cx="3400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5xxx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5664" y="2914955"/>
            <a:ext cx="7326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Mg alloying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74175" y="2831072"/>
            <a:ext cx="9967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Work-hardened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74175" y="2998826"/>
            <a:ext cx="3174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6535" y="2831072"/>
            <a:ext cx="11663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Marine, structural,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6535" y="2998826"/>
            <a:ext cx="99372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pressure vessels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1055" y="3335427"/>
            <a:ext cx="34004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6xxx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664" y="3335427"/>
            <a:ext cx="9607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Mg + Si alloying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4175" y="3335427"/>
            <a:ext cx="9011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Heat-treatable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26535" y="3251556"/>
            <a:ext cx="126427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Most widely used —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6535" y="3419310"/>
            <a:ext cx="112124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extrusions, frames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1055" y="3755911"/>
            <a:ext cx="34004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7xxx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5664" y="3755911"/>
            <a:ext cx="68504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Zn alloying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74175" y="3755911"/>
            <a:ext cx="9011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Heat-treatable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26535" y="3672028"/>
            <a:ext cx="13518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Highest-strength Al —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6535" y="3839795"/>
            <a:ext cx="78951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aircraft skins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5255" y="881701"/>
            <a:ext cx="132195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Technician Notes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5255" y="1321469"/>
            <a:ext cx="93341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Melting point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5255" y="1536023"/>
            <a:ext cx="26219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~660°C — far lower than steel. High heat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5255" y="1718903"/>
            <a:ext cx="27742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input in welding can cause burn-through or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5255" y="1901783"/>
            <a:ext cx="24931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hot cracking without proper technique.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5255" y="2199141"/>
            <a:ext cx="9154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Weld process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5255" y="2413707"/>
            <a:ext cx="24941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GTAW (TIG) or GMAW (MIG) with inert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5255" y="2596587"/>
            <a:ext cx="27740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shielding. AC polarity for GTAW to break up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5255" y="2779467"/>
            <a:ext cx="21614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tenacious Al₂O₃ surface oxide.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5255" y="3076825"/>
            <a:ext cx="105113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Heat treatment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5255" y="3291747"/>
            <a:ext cx="278917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T6 temper (solution treat + age) is the most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5255" y="3474627"/>
            <a:ext cx="26090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common condition for 6061 and 7075 —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5255" y="3657507"/>
            <a:ext cx="18492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provides near-peak strength.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5255" y="3954865"/>
            <a:ext cx="8715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Galvanic risk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5255" y="4169431"/>
            <a:ext cx="25788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Aluminum is anodic relative to steel and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5255" y="4352311"/>
            <a:ext cx="22477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copper. Avoid direct contact in wet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5255" y="4535191"/>
            <a:ext cx="23039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environments; use isolation gaskets.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7520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647330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Copper &amp; Titanium — Key Properties and Alloy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49433"/>
            <a:ext cx="123268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Copper Alloys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104151"/>
            <a:ext cx="334318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Best electrical &amp; thermal conductivity of structural metals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776" y="1378252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854" y="1397858"/>
            <a:ext cx="335232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Pure copper (C10000–C18000): highest conductivity —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854" y="1573169"/>
            <a:ext cx="276854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standard for wiring, busbars, heat exchangers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776" y="172889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854" y="1748492"/>
            <a:ext cx="34414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Brass (Cu-Zn): improved strength and machinability over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854" y="1923816"/>
            <a:ext cx="32166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pure Cu — fittings, valves, fasteners, decorative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776" y="2079533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854" y="2099139"/>
            <a:ext cx="319257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Bronze (Cu-Sn): better wear resistance than brass —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854" y="2274450"/>
            <a:ext cx="301147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bearings, bushings, gear blanks, marine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776" y="2430168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54" y="2449773"/>
            <a:ext cx="30079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Cu-Al / Cu-Si / Cu-Be bronzes: specialist alloys for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854" y="2625097"/>
            <a:ext cx="317839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springs, corrosion-resistant bolts, non-sparking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776" y="2780815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854" y="2800408"/>
            <a:ext cx="323115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Welding: high thermal conductivity demands greater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854" y="2975731"/>
            <a:ext cx="331066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heat input than steel; most grades weld with GTAW or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854" y="3151055"/>
            <a:ext cx="345522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GMAW; oxygen-free grades preferred to prevent porosity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1615" y="849433"/>
            <a:ext cx="137582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Titanium Alloys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1104151"/>
            <a:ext cx="363385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Best strength-to-weight ratio · exceptional corrosion resistance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1620" y="1378252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4698" y="1397858"/>
            <a:ext cx="32725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Density ~4.5 g/cm³ (60% of steel) with comparable or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4698" y="1573169"/>
            <a:ext cx="28964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superior strength — indispensable in aerospace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41620" y="172889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4698" y="1748492"/>
            <a:ext cx="294730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Alpha alloys (HCP): best creep resistance at high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4698" y="1923816"/>
            <a:ext cx="32526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temperature; weldable; CP titanium used in chemical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4698" y="2099139"/>
            <a:ext cx="7060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1620" y="2254857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4698" y="2274450"/>
            <a:ext cx="34107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Beta alloys (BCC): highest strength, heat-treatable; used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4698" y="2449773"/>
            <a:ext cx="15318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 fasteners and springs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1620" y="260549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4698" y="2625097"/>
            <a:ext cx="34084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Alpha-beta: Ti-6Al-4V (Grade 5) — accounts for ~50% of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4698" y="2800408"/>
            <a:ext cx="34467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all titanium used; dominant in aircraft frames, jet engine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4698" y="2975731"/>
            <a:ext cx="17633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fan blades, medical implants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41620" y="313144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4698" y="3151055"/>
            <a:ext cx="32811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Welding: extremely reactive above 600°C — must use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4698" y="3326378"/>
            <a:ext cx="33613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inert gas trailing shield or weld in a purge box/vacuum;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4698" y="3501689"/>
            <a:ext cx="271285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any oxygen or nitrogen pickup causes brittle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4698" y="3677013"/>
            <a:ext cx="94046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embrittlement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38876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597"/>
            <a:ext cx="438876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73244" y="804597"/>
            <a:ext cx="413279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73244" y="804597"/>
            <a:ext cx="4132795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373835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Iron-Carbon Phase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30097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What It Tells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20" y="1340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98" y="1361423"/>
            <a:ext cx="35006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Maps the stable phases in the iron-carbon system from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98" y="1544303"/>
            <a:ext cx="304805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pure iron (0% C) to iron carbide (6.67% C = Fe₃C)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20" y="17066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98" y="1727183"/>
            <a:ext cx="31047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Horizontal axis: carbon content (%). Vertical axis: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98" y="1910063"/>
            <a:ext cx="36192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 (°C). Any point = equilibrium microstructure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98" y="2092943"/>
            <a:ext cx="16592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at that T and 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20" y="22553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498" y="2275823"/>
            <a:ext cx="334440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Crossing a phase boundary during heating or cooling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98" y="2458703"/>
            <a:ext cx="20141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triggers a phase transformation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20" y="26210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98" y="2641583"/>
            <a:ext cx="32428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diagram assumes equilibrium — it shows what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824463"/>
            <a:ext cx="36131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should form if you hold temperature long enough for the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98" y="3007343"/>
            <a:ext cx="19843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microstructure to fully stabilize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20" y="31697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8" y="3190223"/>
            <a:ext cx="35018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It does NOT account for cooling rate — that is what the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98" y="3373103"/>
            <a:ext cx="11898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CCT diagram is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4704" y="881701"/>
            <a:ext cx="162410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Key Regions &amp;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4704" y="1338092"/>
            <a:ext cx="7273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Ferrite (α):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4704" y="1532192"/>
            <a:ext cx="36894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BCC, max 0.022% C at 727°C — soft and ductile; stable phase in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4704" y="1699946"/>
            <a:ext cx="23055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low-carbon steels at room temperature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4704" y="1941812"/>
            <a:ext cx="8916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Austenite (γ):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4704" y="2135556"/>
            <a:ext cx="38337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FCC, dissolves up to 2.14% C at 1147°C — the phase steel must be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4704" y="2303310"/>
            <a:ext cx="205524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 for most heat treatment to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4704" y="2545176"/>
            <a:ext cx="11344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Cementite (Fe₃C):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4704" y="2739276"/>
            <a:ext cx="34841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6.67% C — extremely hard, brittle iron carbide; forms when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4704" y="2907030"/>
            <a:ext cx="17856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exceeds solubility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4704" y="3148896"/>
            <a:ext cx="58251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Pearlite: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4704" y="3342628"/>
            <a:ext cx="364111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Not a phase — a microstructural constituent: lamellar ferrite +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4704" y="3510395"/>
            <a:ext cx="27910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cementite formed at eutectoid (0.77% C, 727°C)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4704" y="3752247"/>
            <a:ext cx="10457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Eutectoid point: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4704" y="3946348"/>
            <a:ext cx="386459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0.77% C at 727°C — austenite transforms simultaneously to ferrite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4704" y="4114115"/>
            <a:ext cx="340338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+ cementite; boundary between hypo- and hypereutectoid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4704" y="4355612"/>
            <a:ext cx="11858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Steel vs. Cast Iron: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704" y="4549712"/>
            <a:ext cx="35573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2.14% C = boundary — above this, carbon can no longer fully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704" y="4717466"/>
            <a:ext cx="122614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dissolve in austenite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28342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597"/>
            <a:ext cx="2834284" cy="47520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395" y="804597"/>
            <a:ext cx="28342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395" y="804597"/>
            <a:ext cx="2834284" cy="47520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0835" y="804597"/>
            <a:ext cx="28342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0835" y="804597"/>
            <a:ext cx="2834284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57662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Reading the Phase Diagram — Steel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839620"/>
            <a:ext cx="1511349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Hypoeutectoid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1060472"/>
            <a:ext cx="6789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&lt; 0.77%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696" y="13788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74" y="1397546"/>
            <a:ext cx="19097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 slow cooling from austenite,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774" y="1565314"/>
            <a:ext cx="19854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proeutectoid ferrite forms first 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774" y="1733068"/>
            <a:ext cx="10318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grain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696" y="188214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774" y="1900835"/>
            <a:ext cx="156289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Remaining austenite then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774" y="2068589"/>
            <a:ext cx="18228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transforms to pearlite at 727°C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696" y="221766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774" y="2236356"/>
            <a:ext cx="21144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Room-temperature microstructure: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774" y="2404110"/>
            <a:ext cx="10008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ferrite + pearlite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696" y="2553182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774" y="2571877"/>
            <a:ext cx="19644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More carbon → more pearlite →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774" y="2739632"/>
            <a:ext cx="18263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higher strength, lower ductility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696" y="288870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774" y="2907386"/>
            <a:ext cx="19166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Examples: 1020 (0.20% C), 1040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774" y="3075153"/>
            <a:ext cx="205678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(0.40% C) — most structural steels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774" y="3242907"/>
            <a:ext cx="5382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fall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5499" y="839620"/>
            <a:ext cx="1136925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Eutectoid Steel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5499" y="1060472"/>
            <a:ext cx="6789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= 0.77%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5504" y="13788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8582" y="1397546"/>
            <a:ext cx="19127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Austenite transforms entirely to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8582" y="1565314"/>
            <a:ext cx="18200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pearlite at exactly 727°C — no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8582" y="1733068"/>
            <a:ext cx="11817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proeutectoid phase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5504" y="188214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8582" y="1900835"/>
            <a:ext cx="212480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Finest microstructure achievable by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8582" y="2068589"/>
            <a:ext cx="11243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slow cooling alone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5504" y="2217661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8582" y="2236356"/>
            <a:ext cx="182632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Maximum hardness from slow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8582" y="2404110"/>
            <a:ext cx="193233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cooling, but martensite gives far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8582" y="2571877"/>
            <a:ext cx="19302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higher hardness when quenched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5504" y="272093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8582" y="2739632"/>
            <a:ext cx="19509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Example: 1080 (0.80% C) — wire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8582" y="2907386"/>
            <a:ext cx="8842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rope, rail steel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7940" y="839620"/>
            <a:ext cx="1562758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Hypereutectoid Steel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7940" y="1060472"/>
            <a:ext cx="6789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&gt; 0.77%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7945" y="137886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1022" y="1397546"/>
            <a:ext cx="18101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 slow cooling, proeutectoid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1022" y="1565314"/>
            <a:ext cx="205762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cementite forms at prior austenite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1022" y="1733068"/>
            <a:ext cx="19066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grain boundaries before pearlite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7945" y="188214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022" y="1900835"/>
            <a:ext cx="17900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Cementite network can cause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1022" y="2068589"/>
            <a:ext cx="187883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brittleness — often spheroidize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1022" y="2236356"/>
            <a:ext cx="20115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annealed to break up the network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7945" y="238542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1022" y="2404110"/>
            <a:ext cx="21144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Room-temperature microstructure: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1022" y="2571877"/>
            <a:ext cx="122320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cementite + pearlite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7945" y="272093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11022" y="2739632"/>
            <a:ext cx="19882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Examples: 1095 (0.95% C), 52100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1022" y="2907386"/>
            <a:ext cx="184378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bearing steel (1.0% C) — tools,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11022" y="3075153"/>
            <a:ext cx="10300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springs, bearings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242"/>
            <a:ext cx="8668080" cy="13345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1919884" cy="133451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2248917"/>
            <a:ext cx="8668080" cy="13345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48917"/>
            <a:ext cx="1919884" cy="133452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3693962"/>
            <a:ext cx="8668080" cy="13345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693962"/>
            <a:ext cx="1919884" cy="133451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585955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Technician's Perspective — Putting It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224" y="1354857"/>
            <a:ext cx="132161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Material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300" y="9020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378" y="922587"/>
            <a:ext cx="575250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Use aluminum (6061-T6) where weight matters and strength is moderate — most structural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378" y="1105468"/>
            <a:ext cx="19697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fabrication, frames, enclosures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1300" y="12678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378" y="1288348"/>
            <a:ext cx="60389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Specify copper alloy based on function: pure Cu for conductivity; brass for fittings/machinability;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378" y="1471228"/>
            <a:ext cx="16384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bronze for bearings/wear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1300" y="16335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378" y="1654107"/>
            <a:ext cx="584904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Titanium when steel is too heavy AND stainless isn't corrosion-resistant enough — budget for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378" y="1836988"/>
            <a:ext cx="199439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specialized welding procedures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653" y="2700892"/>
            <a:ext cx="186012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Reading a WPS / Material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94" y="2899253"/>
            <a:ext cx="36057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1300" y="23467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378" y="2367263"/>
            <a:ext cx="59125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Phase diagram knowledge lets you interpret weld heat-affected zone behavior — why HAZ can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378" y="2550143"/>
            <a:ext cx="24492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soften (Al) or harden (medium-C steel)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1300" y="27125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378" y="2733023"/>
            <a:ext cx="57901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CCT diagram reasoning: if you see 'preheat to 200°C,' that's slowing the cooling rate to avoid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378" y="2915903"/>
            <a:ext cx="14251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martensite in the HAZ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1300" y="30782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378" y="3098783"/>
            <a:ext cx="57209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 color on stainless or Ti welds tells you the surface temperature reached — purple =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378" y="3281663"/>
            <a:ext cx="15092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~300°C, straw = ~200°C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02" y="4145567"/>
            <a:ext cx="118363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Heat Treatment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025" y="4343929"/>
            <a:ext cx="101228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Specifications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81300" y="37917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378" y="3812307"/>
            <a:ext cx="52309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'Normalize and temper' on a drawing means two separate heating cycles — not 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1300" y="39746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4378" y="3995187"/>
            <a:ext cx="56436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Tempering temperature is critical: 150°C gives a different hardness than 450°C; verify with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378" y="4178067"/>
            <a:ext cx="12293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hardness test 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81300" y="43404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378" y="4360947"/>
            <a:ext cx="58705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Case depth on carburized parts is specified on drawing — confirm by sectioning a coupon and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378" y="4543827"/>
            <a:ext cx="11453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etching with nital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5724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26728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9624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5724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5203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62213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598067"/>
            <a:ext cx="52343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are the three major nonferrous families and what unique advantage does each offer?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726059"/>
            <a:ext cx="749137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Aluminum (one-third the density of steel — weight-critical apps), Copper (best electrical/thermal conductivity —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1916496"/>
            <a:ext cx="775079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wiring &amp; heat exchangers), Titanium (best strength-to-weight ratio + exceptional corrosion resistance — aerospace &amp;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695" y="2106945"/>
            <a:ext cx="68172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medical).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231693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292871"/>
            <a:ext cx="484762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does the iron-carbon phase diagram tell you — and what does it NOT tell you?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516253"/>
            <a:ext cx="746660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It maps which phases are stable at equilibrium for any temperature and carbon %. It does NOT show what forms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695" y="2706702"/>
            <a:ext cx="62876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during real industrial cooling — that requires the CCT diagram, which accounts for cooling rate.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3012098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2987675"/>
            <a:ext cx="48040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is the difference between the iron-carbon phase diagram and a CCT diagram?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116023"/>
            <a:ext cx="768776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Phase diagram = thermodynamic equilibrium — what forms if you hold temperature long enough. CCT = continuous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95" y="3306460"/>
            <a:ext cx="760600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cooling — what actually forms at different cooling rates. CCT is steel-specific; phase diagram covers the whole Fe-C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496897"/>
            <a:ext cx="57566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17" y="370689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3682835"/>
            <a:ext cx="47090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How does cooling rate determine the microstructure — and properties — of steel?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95" y="3906218"/>
            <a:ext cx="73842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Slow → carbon diffuses fully → soft pearlite. Intermediate → bainite (stronger, tougher). Fast quench → carbon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096654"/>
            <a:ext cx="700285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trapped → hard brittle martensite. CCT diagram shows exactly which cooling curve produces which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17" y="440169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377627"/>
            <a:ext cx="506635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does tempering do to as-quenched martensite, and what trade-off does it involve?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695" y="4505975"/>
            <a:ext cx="763425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Tempering reheats martensite below the austenite region, letting some carbon diffuse and relieving internal stress.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695" y="4696424"/>
            <a:ext cx="741818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Trade-off: higher tempering temperature = more toughness but lower hardness. Required because as-quenched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695" y="4886861"/>
            <a:ext cx="23895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martensite is too brittle for 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41326"/>
            <a:ext cx="866808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41326"/>
            <a:ext cx="658088" cy="12614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2231277"/>
            <a:ext cx="866808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955" y="2231277"/>
            <a:ext cx="658088" cy="12614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3620886"/>
            <a:ext cx="8668080" cy="1261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3620886"/>
            <a:ext cx="658088" cy="1261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303073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20" y="1306560"/>
            <a:ext cx="33316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135" y="1155342"/>
            <a:ext cx="7822922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three major nonferrous families solve problems steel cannot: aluminum for weight, copper for conductivity,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135" y="1360904"/>
            <a:ext cx="7475060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titanium for corrosion resistance combined with high strength-to-weight. Knowing when to reach for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135" y="1566466"/>
            <a:ext cx="5776353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nonferrous alloy — and which one — is as important as knowing the steel families.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20" y="2696511"/>
            <a:ext cx="33316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135" y="2545306"/>
            <a:ext cx="7293929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iron-carbon phase diagram and the CCT diagram work together — the phase diagram shows what is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35" y="2750868"/>
            <a:ext cx="745226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thermodynamically possible at equilibrium; the CCT diagram shows what actually forms under real cooling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1135" y="2956430"/>
            <a:ext cx="4152708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conditions. You need both to reason about heat treatment.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20" y="4086120"/>
            <a:ext cx="33316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35" y="3832311"/>
            <a:ext cx="7638195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Cooling rate is the most powerful processing variable in steel heat treatment: slow cooling gives soft pearlite,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135" y="4037861"/>
            <a:ext cx="783662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fast quenching gives hard martensite, and tempering after quenching trades some hardness back for toughness.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135" y="4243423"/>
            <a:ext cx="7837828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This gives a technician the ability to reason about why a heat-treated part performs the way it does — and what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135" y="4448985"/>
            <a:ext cx="2059533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went wrong when it doesn't.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79" y="1481406"/>
            <a:ext cx="4068724" cy="3401276"/>
          </a:xfrm>
          <a:prstGeom prst="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9040" y="2303997"/>
            <a:ext cx="3565804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696" y="806275"/>
            <a:ext cx="4314942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44" y="1563313"/>
            <a:ext cx="167814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36" y="2093543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14" y="2116616"/>
            <a:ext cx="295814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Moniz 5th Edition — Ch. 6: Phase Diagrams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36" y="229190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214" y="2314977"/>
            <a:ext cx="34517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Kalpakjian 6th Edition — Ch. 7: Nonferrous Metals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214" y="2513338"/>
            <a:ext cx="7579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and Alloys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3063069"/>
            <a:ext cx="96183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36" y="3509784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14" y="3532856"/>
            <a:ext cx="27568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Iron-Carbon Phase Diagram (Interactive)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136" y="370814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214" y="3731217"/>
            <a:ext cx="30981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Solidification &amp; Dendrite Growth (Interactive)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6340" y="1635677"/>
            <a:ext cx="189701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Coming Up — Week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340" y="1936912"/>
            <a:ext cx="2081055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Mechanical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6345" y="28140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422" y="2834547"/>
            <a:ext cx="31505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Tensile testing and the stress-strain curve — yield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9422" y="3017427"/>
            <a:ext cx="16314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strength, UTS, elongation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6345" y="31797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9422" y="3200307"/>
            <a:ext cx="328470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Hardness testing: Rockwell, Brinell, Vickers — when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9422" y="3383187"/>
            <a:ext cx="7814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to use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6345" y="35455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9422" y="3566067"/>
            <a:ext cx="32505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Charpy impact testing — measuring toughness and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422" y="3748947"/>
            <a:ext cx="17193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ductile-to-brittle transition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345" y="3911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9422" y="3931827"/>
            <a:ext cx="254627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How testing results connect back to the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9422" y="4114707"/>
            <a:ext cx="24329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microstructures we mapped this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6820" y="4791503"/>
            <a:ext cx="51904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Unit 2 Quiz covers Weeks 4 – 6  ·  Review the Fe-C diagram and CCT microstructures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