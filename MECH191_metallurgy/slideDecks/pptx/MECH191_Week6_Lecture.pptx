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428084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49334"/>
            <a:ext cx="429819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200">
                <a:solidFill>
                  <a:srgbClr val="CADCFC"/>
                </a:solidFill>
                <a:latin typeface="Calibri"/>
              </a:rPr>
              <a:t>Nonferrous Metals &amp; Phase Diagrams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49484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September 28,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435686"/>
            <a:ext cx="530315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62720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72448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82176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782571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622" y="176748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664" y="1657693"/>
            <a:ext cx="224293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Nonferrous Metals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5664" y="2034416"/>
            <a:ext cx="559273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Aluminum, copper, and titanium — what each family offers that steel cannot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622" y="286476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5664" y="2754973"/>
            <a:ext cx="324723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Iron-Carbon Phase Diagram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5664" y="3131696"/>
            <a:ext cx="66654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Reading the map of steel microstructures — phases, regions, and key transformation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622" y="396204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5664" y="3852253"/>
            <a:ext cx="221862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Putting It Together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5664" y="4228976"/>
            <a:ext cx="4574967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Technician's perspective on phase diagrams — and Unit 2 Quiz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397884" cy="36088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Alloy Research Portfolio — Module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No Microscope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327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5  ·  Week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3214103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Nonferrous Metals &amp; Phase Diagrams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82361"/>
            <a:ext cx="3704370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Research 6061-T6 aluminum and 70/30 brass: composition, the T6 temper,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742204"/>
            <a:ext cx="1440409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and each alloy's strengthening mechanism.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Research — record data &amp; 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Answer — short-answer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Apply — critical-thinking &amp; equations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Alloys of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1309034"/>
            <a:ext cx="1969070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Alloy G — 6061-T6 aluminum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1601718"/>
            <a:ext cx="1569876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Alloy K — 70/30 brass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Complete This Module: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Research the alloy(s) using credible 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Record data with a source citation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the short-answer questions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Answer the critical-thinking questions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Keep the module with your portfolio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096" y="4637234"/>
            <a:ext cx="17650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79" y="731522"/>
            <a:ext cx="1691284" cy="5025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97557" y="731522"/>
            <a:ext cx="1691284" cy="5025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97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97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97557" y="2880006"/>
            <a:ext cx="1691284" cy="785876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79" y="731522"/>
            <a:ext cx="1691284" cy="50256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1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11879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6557" y="731522"/>
            <a:ext cx="1691284" cy="502564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6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6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6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6557" y="370296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731522"/>
            <a:ext cx="1691284" cy="502564"/>
          </a:xfrm>
          <a:prstGeom prst="rect">
            <a:avLst/>
          </a:prstGeom>
          <a:solidFill>
            <a:srgbClr val="5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79" y="4580638"/>
            <a:ext cx="8549284" cy="484199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424" y="15829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3255" y="1010671"/>
            <a:ext cx="13146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3255" y="147686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255" y="1651356"/>
            <a:ext cx="10371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255" y="1819110"/>
            <a:ext cx="6710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55" y="229982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255" y="247431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3255" y="2642070"/>
            <a:ext cx="6619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7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7946" y="1010671"/>
            <a:ext cx="7765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77" y="129398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7946" y="147686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7946" y="1651356"/>
            <a:ext cx="6143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7946" y="1819110"/>
            <a:ext cx="7245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0577" y="211694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57946" y="229982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7946" y="2474316"/>
            <a:ext cx="6966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57946" y="2642070"/>
            <a:ext cx="6330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0577" y="2939903"/>
            <a:ext cx="7831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Wk 6  ← here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7946" y="312278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57946" y="3297276"/>
            <a:ext cx="8456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7946" y="3465030"/>
            <a:ext cx="9758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72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2255" y="1010671"/>
            <a:ext cx="9473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44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72255" y="1476863"/>
            <a:ext cx="3477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255" y="165135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2255" y="1819110"/>
            <a:ext cx="4707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44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2255" y="229982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72255" y="2558187"/>
            <a:ext cx="8614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44900" y="293990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72255" y="312278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2255" y="3297276"/>
            <a:ext cx="4848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2255" y="3465030"/>
            <a:ext cx="6410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6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86946" y="1010671"/>
            <a:ext cx="8352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59577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86946" y="147686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86946" y="1735227"/>
            <a:ext cx="4875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59577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86946" y="229982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86946" y="2558187"/>
            <a:ext cx="5439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59577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6946" y="312278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6946" y="3381147"/>
            <a:ext cx="6716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59577" y="3762862"/>
            <a:ext cx="4073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86946" y="3945743"/>
            <a:ext cx="4378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86946" y="4120236"/>
            <a:ext cx="5086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86946" y="4287990"/>
            <a:ext cx="6903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1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01255" y="1010671"/>
            <a:ext cx="9212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73900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01255" y="147686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01255" y="1651356"/>
            <a:ext cx="5420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01255" y="1819110"/>
            <a:ext cx="63168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73900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01255" y="229982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01255" y="2474316"/>
            <a:ext cx="10162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01255" y="2642070"/>
            <a:ext cx="5840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73900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1255" y="3122783"/>
            <a:ext cx="36288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01255" y="3297276"/>
            <a:ext cx="6276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01255" y="3465030"/>
            <a:ext cx="6990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59936" y="4699854"/>
            <a:ext cx="18435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242"/>
            <a:ext cx="51202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804597"/>
            <a:ext cx="5120271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23204" y="804242"/>
            <a:ext cx="32914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23204" y="804597"/>
            <a:ext cx="3291471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084" y="2303997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084" y="2962442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084" y="3949917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62593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6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584" y="905094"/>
            <a:ext cx="5291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57950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654" y="1380454"/>
            <a:ext cx="382696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Aluminum, copper, and titanium — why each family exists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654" y="1570903"/>
            <a:ext cx="103004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alongside steel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738823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8654" y="1761340"/>
            <a:ext cx="412194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Aluminum alloy designation (1xxx–7xxx) and heat-treatable vs.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654" y="1951776"/>
            <a:ext cx="146854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work-hardened series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76" y="2119709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654" y="2142225"/>
            <a:ext cx="396763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Brass and bronze — how copper alloys balance conductivity,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654" y="2332662"/>
            <a:ext cx="225251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strength, and corrosion resistance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76" y="2500582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654" y="2523098"/>
            <a:ext cx="370853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Titanium's alpha/beta microstructure and why Ti-6Al-4V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654" y="2713535"/>
            <a:ext cx="144775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dominates aerospace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576" y="2881467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654" y="2903984"/>
            <a:ext cx="403320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iron-carbon phase diagram: ferrite, austenite, cementite,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654" y="3094421"/>
            <a:ext cx="153808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pearlite, and eutectoid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576" y="3262353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654" y="3284857"/>
            <a:ext cx="383808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CCT diagram — what actually forms during real cooling vs.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654" y="3475294"/>
            <a:ext cx="156729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equilibrium predictions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576" y="3643226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654" y="3665743"/>
            <a:ext cx="371631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Annealing, normalizing, quenching, tempering, and case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654" y="3856180"/>
            <a:ext cx="72617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hardening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3384" y="905094"/>
            <a:ext cx="82134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3384" y="1389871"/>
            <a:ext cx="1279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3384" y="1847071"/>
            <a:ext cx="198982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Moniz Ch. 6 — Phase Diagrams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3384" y="2450423"/>
            <a:ext cx="105098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Kalpakjian Ch. 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93384" y="2633303"/>
            <a:ext cx="18958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Nonferrous Metals and Alloys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93384" y="3072507"/>
            <a:ext cx="7427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3384" y="3419547"/>
            <a:ext cx="25546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Iron-Carbon Phase Diagram (Interactive)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93384" y="3602427"/>
            <a:ext cx="208484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Solidification &amp; Dendrite Growth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93384" y="4041631"/>
            <a:ext cx="77549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Unit 2 Quiz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93384" y="4352311"/>
            <a:ext cx="119534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Covers Weeks 4–6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91988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5416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16331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7854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40711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806275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696" y="1547097"/>
            <a:ext cx="614694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17" y="1969530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700" y="1978732"/>
            <a:ext cx="769160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the three major nonferrous metal families and what unique advantage does each offer that steel cannot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700" y="2177093"/>
            <a:ext cx="57043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match?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17" y="259125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9700" y="2699812"/>
            <a:ext cx="705708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does the iron-carbon phase diagram tell you — and what critical information does it NOT give you?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17" y="3212975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9700" y="3222176"/>
            <a:ext cx="749347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the difference between an iron-carbon phase diagram and a CCT diagram, and when do you need each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9700" y="3420537"/>
            <a:ext cx="40717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one?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17" y="383505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00" y="3943256"/>
            <a:ext cx="730114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How does cooling rate determine the microstructure — and therefore the mechanical properties — of steel?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17" y="445677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9700" y="4465608"/>
            <a:ext cx="763310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Quenched martensite is extremely hard but is almost never used in that condition. What does tempering do, and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9700" y="4663969"/>
            <a:ext cx="211211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trade-off does it involve?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777242"/>
            <a:ext cx="2834284" cy="41601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77242"/>
            <a:ext cx="2834284" cy="47519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18395" y="777242"/>
            <a:ext cx="2834284" cy="41601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18395" y="777242"/>
            <a:ext cx="2834284" cy="47519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0835" y="777242"/>
            <a:ext cx="2834284" cy="41601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0835" y="777242"/>
            <a:ext cx="2834284" cy="475195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620735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Nonferrous Metals — Why They Exist Alongside Steel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04" y="813429"/>
            <a:ext cx="953107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Aluminum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1058431"/>
            <a:ext cx="138788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1/3 the density of steel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696" y="134250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5774" y="1361186"/>
            <a:ext cx="160507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~2.7 g/cm³ — dominant in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774" y="1528953"/>
            <a:ext cx="169083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aerospace, automotive, and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5774" y="1696708"/>
            <a:ext cx="217746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structural applications where weight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5774" y="1864475"/>
            <a:ext cx="51170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696" y="2013547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774" y="2032229"/>
            <a:ext cx="188051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Naturally corrosion-resistant —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5774" y="2199996"/>
            <a:ext cx="21359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stable Al₂O₃ passive layer (similar to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774" y="2367750"/>
            <a:ext cx="6009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stainless)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696" y="2516822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774" y="2535517"/>
            <a:ext cx="213290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1xxx–7xxx designation system; heat-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5774" y="2703272"/>
            <a:ext cx="187744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treatable (2xxx, 6xxx, 7xxx) and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5774" y="2871026"/>
            <a:ext cx="198541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work-hardened (1xxx, 3xxx, 5xxx)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5774" y="3038793"/>
            <a:ext cx="40485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series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696" y="3187865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774" y="3206547"/>
            <a:ext cx="216671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Melts at ~660°C — much lower than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5774" y="3374314"/>
            <a:ext cx="168762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steel; weldable but requires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5774" y="3542069"/>
            <a:ext cx="195272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different process (GTAW/GMAW)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5499" y="813429"/>
            <a:ext cx="682259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Copper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5499" y="1058431"/>
            <a:ext cx="159572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Best electrical conductivity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05504" y="134250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8582" y="1361186"/>
            <a:ext cx="178009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Standard for electrical wiring,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8582" y="1528953"/>
            <a:ext cx="212257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busbars, and heat exchangers — no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8582" y="1696708"/>
            <a:ext cx="213639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common structural metal matches 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05504" y="1845780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8582" y="1864475"/>
            <a:ext cx="174810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Brass (Cu-Zn): good strength,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8582" y="2032229"/>
            <a:ext cx="206586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machinability, corrosion resistance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8582" y="2199996"/>
            <a:ext cx="169810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— fittings, valves, decorative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5504" y="2349068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48582" y="2367750"/>
            <a:ext cx="201711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Bronze (Cu-Sn or Cu-Al/Si): higher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8582" y="2535517"/>
            <a:ext cx="190551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strength and wear resistance —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48582" y="2703272"/>
            <a:ext cx="16309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bearings, bushings, marine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8582" y="2871026"/>
            <a:ext cx="61953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hardware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5504" y="3020098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48582" y="3038793"/>
            <a:ext cx="213039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High thermal conductivity demands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48582" y="3206547"/>
            <a:ext cx="196488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greater heat input when welding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8582" y="3374314"/>
            <a:ext cx="110224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compared to steel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7940" y="813429"/>
            <a:ext cx="825602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Titanium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77940" y="1058431"/>
            <a:ext cx="171318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Best strength-to-weight ratio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67945" y="134250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11022" y="1361186"/>
            <a:ext cx="185453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~60% the density of steel, with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11022" y="1528953"/>
            <a:ext cx="21055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comparable or superior strength —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11022" y="1696708"/>
            <a:ext cx="212997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used in aerospace, medical implants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67945" y="1845780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11022" y="1864475"/>
            <a:ext cx="205133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 resistance exceeds even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11022" y="2032229"/>
            <a:ext cx="154068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the best stainless in most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11022" y="2199996"/>
            <a:ext cx="86159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environments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67945" y="2349068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11022" y="2367750"/>
            <a:ext cx="20845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Alpha (HCP), beta (BCC), and alpha-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11022" y="2535517"/>
            <a:ext cx="210762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beta alloys — Ti-6Al-4V (Grade 5) is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11022" y="2703272"/>
            <a:ext cx="120016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the workhorse alloy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67945" y="285234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11022" y="2871026"/>
            <a:ext cx="182325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Extremely reactive at elevated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11022" y="3038793"/>
            <a:ext cx="168301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temps — must weld in inert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11022" y="3206547"/>
            <a:ext cx="187004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shielding or vacuum to prevent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11022" y="3374314"/>
            <a:ext cx="90223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embrittlement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3964" y="804597"/>
            <a:ext cx="5394591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3964" y="804242"/>
            <a:ext cx="5394591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0680" y="1261442"/>
            <a:ext cx="785876" cy="27396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5275" y="1261442"/>
            <a:ext cx="1279804" cy="27396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13800" y="1261442"/>
            <a:ext cx="1133639" cy="27396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6159" y="1261442"/>
            <a:ext cx="1663915" cy="27396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1035" y="1554126"/>
            <a:ext cx="5284800" cy="402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1035" y="1974598"/>
            <a:ext cx="5284800" cy="4021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1035" y="2395437"/>
            <a:ext cx="5284800" cy="402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1035" y="2815922"/>
            <a:ext cx="5284800" cy="4021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1035" y="3236762"/>
            <a:ext cx="5284800" cy="402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1035" y="3657246"/>
            <a:ext cx="5284800" cy="4021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33795" y="804597"/>
            <a:ext cx="309024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33795" y="804242"/>
            <a:ext cx="309024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8424" y="158292"/>
            <a:ext cx="541815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Aluminum Alloys — Designation and Selection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144" y="881701"/>
            <a:ext cx="205429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4-Digit Designation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055" y="1296391"/>
            <a:ext cx="42287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Series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5664" y="1296391"/>
            <a:ext cx="105755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Alloying Element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74175" y="1296391"/>
            <a:ext cx="8942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Strengthening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6535" y="1296391"/>
            <a:ext cx="8525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Common 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1055" y="1652791"/>
            <a:ext cx="34004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1xxx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5664" y="1652791"/>
            <a:ext cx="91173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Pure Al (≥99%)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74175" y="1568908"/>
            <a:ext cx="9967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Work-hardened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74175" y="1736675"/>
            <a:ext cx="3174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26535" y="1652791"/>
            <a:ext cx="14971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Electrical conductors, foil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1055" y="2073631"/>
            <a:ext cx="34004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2xxx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5664" y="2073631"/>
            <a:ext cx="69439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Cu alloying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74175" y="2073631"/>
            <a:ext cx="90111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Heat-treatable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26535" y="1989747"/>
            <a:ext cx="166583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Aerospace structures (7075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26535" y="2157515"/>
            <a:ext cx="3591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rival)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1055" y="2494115"/>
            <a:ext cx="34004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3xxx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5664" y="2494115"/>
            <a:ext cx="74007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Mn alloying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74175" y="2410232"/>
            <a:ext cx="9967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Work-hardened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74175" y="2577986"/>
            <a:ext cx="3174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only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26535" y="2494115"/>
            <a:ext cx="135953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Beverage cans, roofing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1055" y="2914955"/>
            <a:ext cx="34004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5xxx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5664" y="2914955"/>
            <a:ext cx="7326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Mg alloying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74175" y="2831072"/>
            <a:ext cx="9967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Work-hardened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4175" y="2998826"/>
            <a:ext cx="3174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only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6535" y="2831072"/>
            <a:ext cx="116636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Marine, structural,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6535" y="2998826"/>
            <a:ext cx="99372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pressure vessels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1055" y="3335427"/>
            <a:ext cx="34004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6xxx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5664" y="3335427"/>
            <a:ext cx="9607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Mg + Si alloying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74175" y="3335427"/>
            <a:ext cx="90111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Heat-treatable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26535" y="3251556"/>
            <a:ext cx="126427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Most widely used —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6535" y="3419310"/>
            <a:ext cx="112124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extrusions, frames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1055" y="3755911"/>
            <a:ext cx="34004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7xxx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75664" y="3755911"/>
            <a:ext cx="68504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Zn alloying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74175" y="3755911"/>
            <a:ext cx="90111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Heat-treatable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26535" y="3672028"/>
            <a:ext cx="135184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Highest-strength Al —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26535" y="3839795"/>
            <a:ext cx="78951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aircraft skins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85255" y="881701"/>
            <a:ext cx="132195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Technician Notes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85255" y="1321469"/>
            <a:ext cx="93341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Melting point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5255" y="1536023"/>
            <a:ext cx="26219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~660°C — far lower than steel. High heat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5255" y="1718903"/>
            <a:ext cx="277424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input in welding can cause burn-through or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85255" y="1901783"/>
            <a:ext cx="249312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hot cracking without proper technique.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5255" y="2199141"/>
            <a:ext cx="91544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Weld process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5255" y="2413707"/>
            <a:ext cx="249418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GTAW (TIG) or GMAW (MIG) with inert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85255" y="2596587"/>
            <a:ext cx="277409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shielding. AC polarity for GTAW to break up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5255" y="2779467"/>
            <a:ext cx="216144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tenacious Al₂O₃ surface oxide.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85255" y="3076825"/>
            <a:ext cx="105113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Heat treatment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85255" y="3291747"/>
            <a:ext cx="278917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T6 temper (solution treat + age) is the most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85255" y="3474627"/>
            <a:ext cx="260901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common condition for 6061 and 7075 —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5255" y="3657507"/>
            <a:ext cx="184926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provides near-peak strength.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85255" y="3954865"/>
            <a:ext cx="87158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Galvanic risk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85255" y="4169431"/>
            <a:ext cx="25788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Aluminum is anodic relative to steel and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5255" y="4352311"/>
            <a:ext cx="224779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copper. Avoid direct contact in wet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85255" y="4535191"/>
            <a:ext cx="230398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environments; use isolation gaskets.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2516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251604" cy="47520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99799" y="804597"/>
            <a:ext cx="42058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9799" y="804597"/>
            <a:ext cx="4205884" cy="47520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647330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Copper &amp; Titanium — Key Properties and Alloy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416" y="849433"/>
            <a:ext cx="123268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Copper Alloys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416" y="1104151"/>
            <a:ext cx="334318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Best electrical &amp; thermal conductivity of structural metals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776" y="1378252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854" y="1397858"/>
            <a:ext cx="335232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Pure copper (C10000–C18000): highest conductivity —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854" y="1573169"/>
            <a:ext cx="276854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standard for wiring, busbars, heat exchangers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776" y="1728899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854" y="1748492"/>
            <a:ext cx="344148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Brass (Cu-Zn): improved strength and machinability over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854" y="1923816"/>
            <a:ext cx="321668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pure Cu — fittings, valves, fasteners, decorative parts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776" y="2079533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854" y="2099139"/>
            <a:ext cx="319257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Bronze (Cu-Sn): better wear resistance than brass —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854" y="2274450"/>
            <a:ext cx="301147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bearings, bushings, gear blanks, marine hardware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76" y="2430168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854" y="2449773"/>
            <a:ext cx="300796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Cu-Al / Cu-Si / Cu-Be bronzes: specialist alloys for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854" y="2625097"/>
            <a:ext cx="317839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springs, corrosion-resistant bolts, non-sparking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776" y="2780815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854" y="2800408"/>
            <a:ext cx="323115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Welding: high thermal conductivity demands greater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854" y="2975731"/>
            <a:ext cx="331066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heat input than steel; most grades weld with GTAW or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854" y="3151055"/>
            <a:ext cx="345522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GMAW; oxygen-free grades preferred to prevent porosity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1615" y="849433"/>
            <a:ext cx="137582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Titanium Alloys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1615" y="1104151"/>
            <a:ext cx="363385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Best strength-to-weight ratio · exceptional corrosion resistance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41620" y="1378252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4698" y="1397858"/>
            <a:ext cx="327252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Density ~4.5 g/cm³ (60% of steel) with comparable or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4698" y="1573169"/>
            <a:ext cx="289643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superior strength — indispensable in aerospace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41620" y="1728899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4698" y="1748492"/>
            <a:ext cx="294730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Alpha alloys (HCP): best creep resistance at high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4698" y="1923816"/>
            <a:ext cx="325264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temperature; weldable; CP titanium used in chemical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84698" y="2099139"/>
            <a:ext cx="70602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41620" y="2254857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4698" y="2274450"/>
            <a:ext cx="341079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Beta alloys (BCC): highest strength, heat-treatable; used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4698" y="2449773"/>
            <a:ext cx="153185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 fasteners and springs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41620" y="2605491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84698" y="2625097"/>
            <a:ext cx="340845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Alpha-beta: Ti-6Al-4V (Grade 5) — accounts for ~50% of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84698" y="2800408"/>
            <a:ext cx="344674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all titanium used; dominant in aircraft frames, jet engine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4698" y="2975731"/>
            <a:ext cx="176337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fan blades, medical implants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41620" y="3131449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84698" y="3151055"/>
            <a:ext cx="328114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Welding: extremely reactive above 600°C — must use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84698" y="3326378"/>
            <a:ext cx="336138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inert gas trailing shield or weld in a purge box/vacuum;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84698" y="3501689"/>
            <a:ext cx="271285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any oxygen or nitrogen pickup causes brittle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84698" y="3677013"/>
            <a:ext cx="94046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embrittlement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38876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597"/>
            <a:ext cx="438876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73244" y="804597"/>
            <a:ext cx="4132795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73244" y="804597"/>
            <a:ext cx="4132795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373835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The Iron-Carbon Phase Diagram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416" y="881701"/>
            <a:ext cx="130097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What It Tells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420" y="134091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498" y="1361423"/>
            <a:ext cx="350064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Maps the stable phases in the iron-carbon system from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498" y="1544303"/>
            <a:ext cx="304805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pure iron (0% C) to iron carbide (6.67% C = Fe₃C)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20" y="170667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498" y="1727183"/>
            <a:ext cx="310470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Horizontal axis: carbon content (%). Vertical axis: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498" y="1910063"/>
            <a:ext cx="361928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temperature (°C). Any point = equilibrium microstructure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498" y="2092943"/>
            <a:ext cx="165920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at that T and composition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420" y="225531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498" y="2275823"/>
            <a:ext cx="334440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Crossing a phase boundary during heating or cooling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498" y="2458703"/>
            <a:ext cx="201418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triggers a phase transformation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20" y="262107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498" y="2641583"/>
            <a:ext cx="324282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diagram assumes equilibrium — it shows what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498" y="2824463"/>
            <a:ext cx="361318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should form if you hold temperature long enough for the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498" y="3007343"/>
            <a:ext cx="19843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microstructure to fully stabilize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7420" y="316971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498" y="3190223"/>
            <a:ext cx="350186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It does NOT account for cooling rate — that is what the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498" y="3373103"/>
            <a:ext cx="118986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CCT diagram is for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24704" y="881701"/>
            <a:ext cx="162410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Key Regions &amp;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4704" y="1338092"/>
            <a:ext cx="72736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Ferrite (α):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24704" y="1532192"/>
            <a:ext cx="36894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BCC, max 0.022% C at 727°C — soft and ductile; stable phase in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4704" y="1699946"/>
            <a:ext cx="230554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low-carbon steels at room temperature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24704" y="1941812"/>
            <a:ext cx="89165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Austenite (γ):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24704" y="2135556"/>
            <a:ext cx="383372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FCC, dissolves up to 2.14% C at 1147°C — the phase steel must be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24704" y="2303310"/>
            <a:ext cx="205524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 for most heat treatment to work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24704" y="2545176"/>
            <a:ext cx="113442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Cementite (Fe₃C):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24704" y="2739276"/>
            <a:ext cx="348411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6.67% C — extremely hard, brittle iron carbide; forms when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24704" y="2907030"/>
            <a:ext cx="178567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exceeds solubility limit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24704" y="3148896"/>
            <a:ext cx="58251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Pearlite: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24704" y="3342628"/>
            <a:ext cx="364111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Not a phase — a microstructural constituent: lamellar ferrite +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24704" y="3510395"/>
            <a:ext cx="279105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cementite formed at eutectoid (0.77% C, 727°C)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24704" y="3752247"/>
            <a:ext cx="104570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Eutectoid point: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4704" y="3946348"/>
            <a:ext cx="386459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0.77% C at 727°C — austenite transforms simultaneously to ferrite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24704" y="4114115"/>
            <a:ext cx="340338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+ cementite; boundary between hypo- and hypereutectoid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24704" y="4355612"/>
            <a:ext cx="11858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Steel vs. Cast Iron: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24704" y="4549712"/>
            <a:ext cx="35573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2.14% C = boundary — above this, carbon can no longer fully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24704" y="4717466"/>
            <a:ext cx="122614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dissolve in austenite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28342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597"/>
            <a:ext cx="2834284" cy="475208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18395" y="804597"/>
            <a:ext cx="28342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18395" y="804597"/>
            <a:ext cx="2834284" cy="47520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0835" y="804597"/>
            <a:ext cx="28342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0835" y="804597"/>
            <a:ext cx="2834284" cy="47520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57662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Reading the Phase Diagram — Steel Classification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04" y="839620"/>
            <a:ext cx="1511349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Hypoeutectoid Steel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1060472"/>
            <a:ext cx="67894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&lt; 0.77%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696" y="137886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5774" y="1397546"/>
            <a:ext cx="190970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On slow cooling from austenite,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774" y="1565314"/>
            <a:ext cx="198541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proeutectoid ferrite forms first at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5774" y="1733068"/>
            <a:ext cx="103185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grain boundaries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696" y="1882140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774" y="1900835"/>
            <a:ext cx="156289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Remaining austenite then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774" y="2068589"/>
            <a:ext cx="182283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transforms to pearlite at 727°C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696" y="2217661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774" y="2236356"/>
            <a:ext cx="21144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Room-temperature microstructure: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774" y="2404110"/>
            <a:ext cx="100084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ferrite + pearlite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696" y="2553182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5774" y="2571877"/>
            <a:ext cx="19644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More carbon → more pearlite →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5774" y="2739632"/>
            <a:ext cx="182632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higher strength, lower ductility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696" y="288870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5774" y="2907386"/>
            <a:ext cx="191669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Examples: 1020 (0.20% C), 1040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774" y="3075153"/>
            <a:ext cx="205678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(0.40% C) — most structural steels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5774" y="3242907"/>
            <a:ext cx="5382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fall here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15499" y="839620"/>
            <a:ext cx="1136925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Eutectoid Steel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5499" y="1060472"/>
            <a:ext cx="67894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= 0.77% 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5504" y="137886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8582" y="1397546"/>
            <a:ext cx="191278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Austenite transforms entirely to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8582" y="1565314"/>
            <a:ext cx="182003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pearlite at exactly 727°C — no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8582" y="1733068"/>
            <a:ext cx="118172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proeutectoid phase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5504" y="1882140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8582" y="1900835"/>
            <a:ext cx="212480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Finest microstructure achievable by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8582" y="2068589"/>
            <a:ext cx="112431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slow cooling alone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5504" y="2217661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8582" y="2236356"/>
            <a:ext cx="182632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Maximum hardness from slow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8582" y="2404110"/>
            <a:ext cx="193233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cooling, but martensite gives far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48582" y="2571877"/>
            <a:ext cx="19302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higher hardness when quenched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05504" y="2720937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48582" y="2739632"/>
            <a:ext cx="195091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Example: 1080 (0.80% C) — wire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8582" y="2907386"/>
            <a:ext cx="88421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rope, rail steel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77940" y="839620"/>
            <a:ext cx="1562758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Hypereutectoid Steel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77940" y="1060472"/>
            <a:ext cx="67894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&gt; 0.77% 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7945" y="137886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11022" y="1397546"/>
            <a:ext cx="181012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On slow cooling, proeutectoid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11022" y="1565314"/>
            <a:ext cx="205762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cementite forms at prior austenite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11022" y="1733068"/>
            <a:ext cx="190663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grain boundaries before pearlite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67945" y="1882140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11022" y="1900835"/>
            <a:ext cx="17900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Cementite network can cause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11022" y="2068589"/>
            <a:ext cx="187883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brittleness — often spheroidize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11022" y="2236356"/>
            <a:ext cx="201153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annealed to break up the network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67945" y="2385428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11022" y="2404110"/>
            <a:ext cx="211447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Room-temperature microstructure: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11022" y="2571877"/>
            <a:ext cx="122320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cementite + pearlite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67945" y="2720937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11022" y="2739632"/>
            <a:ext cx="198820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Examples: 1095 (0.95% C), 52100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11022" y="2907386"/>
            <a:ext cx="184378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bearing steel (1.0% C) — tools,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11022" y="3075153"/>
            <a:ext cx="103003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springs, bearings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242"/>
            <a:ext cx="8668080" cy="133451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1919884" cy="133451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2248917"/>
            <a:ext cx="8668080" cy="133452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248917"/>
            <a:ext cx="1919884" cy="133452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3693962"/>
            <a:ext cx="8668080" cy="133451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3693962"/>
            <a:ext cx="1919884" cy="133451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585955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The Technician's Perspective — Putting It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224" y="1354857"/>
            <a:ext cx="132161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Material Selection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1300" y="9020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378" y="922587"/>
            <a:ext cx="575250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Use aluminum (6061-T6) where weight matters and strength is moderate — most structural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378" y="1105468"/>
            <a:ext cx="196972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fabrication, frames, enclosures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1300" y="126782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24378" y="1288348"/>
            <a:ext cx="603894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Specify copper alloy based on function: pure Cu for conductivity; brass for fittings/machinability;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24378" y="1471228"/>
            <a:ext cx="163849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bronze for bearings/wear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1300" y="163358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24378" y="1654107"/>
            <a:ext cx="584904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Titanium when steel is too heavy AND stainless isn't corrosion-resistant enough — budget for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4378" y="1836988"/>
            <a:ext cx="199439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specialized welding procedures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653" y="2700892"/>
            <a:ext cx="186012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Reading a WPS / Material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94" y="2899253"/>
            <a:ext cx="36057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Cert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1300" y="234675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24378" y="2367263"/>
            <a:ext cx="59125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Phase diagram knowledge lets you interpret weld heat-affected zone behavior — why HAZ can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24378" y="2550143"/>
            <a:ext cx="244927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soften (Al) or harden (medium-C steel)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81300" y="271251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24378" y="2733023"/>
            <a:ext cx="579011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CCT diagram reasoning: if you see 'preheat to 200°C,' that's slowing the cooling rate to avoid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24378" y="2915903"/>
            <a:ext cx="142514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martensite in the HAZ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1300" y="307827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24378" y="3098783"/>
            <a:ext cx="572097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Temper color on stainless or Ti welds tells you the surface temperature reached — purple =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24378" y="3281663"/>
            <a:ext cx="150920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~300°C, straw = ~200°C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702" y="4145567"/>
            <a:ext cx="118363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Heat Treatment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025" y="4343929"/>
            <a:ext cx="101228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Specifications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81300" y="379178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24378" y="3812307"/>
            <a:ext cx="523091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'Normalize and temper' on a drawing means two separate heating cycles — not 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81300" y="39746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24378" y="3995187"/>
            <a:ext cx="564361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Tempering temperature is critical: 150°C gives a different hardness than 450°C; verify with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24378" y="4178067"/>
            <a:ext cx="122930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hardness test after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81300" y="434042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4378" y="4360947"/>
            <a:ext cx="587052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Case depth on carburized parts is specified on drawing — confirm by sectioning a coupon and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24378" y="4543827"/>
            <a:ext cx="114539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etching with nital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57247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26728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296244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65724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35203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806275"/>
            <a:ext cx="4625866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 —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17" y="1622134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9695" y="1598067"/>
            <a:ext cx="523438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are the three major nonferrous families and what unique advantage does each offer?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695" y="1726059"/>
            <a:ext cx="749137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Aluminum (one-third the density of steel — weight-critical apps), Copper (best electrical/thermal conductivity —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695" y="1916496"/>
            <a:ext cx="775079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wiring &amp; heat exchangers), Titanium (best strength-to-weight ratio + exceptional corrosion resistance — aerospace &amp;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695" y="2106945"/>
            <a:ext cx="68172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medical).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17" y="231693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695" y="2292871"/>
            <a:ext cx="484762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does the iron-carbon phase diagram tell you — and what does it NOT tell you?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695" y="2516253"/>
            <a:ext cx="746660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It maps which phases are stable at equilibrium for any temperature and carbon %. It does NOT show what forms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695" y="2706702"/>
            <a:ext cx="628763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during real industrial cooling — that requires the CCT diagram, which accounts for cooling rate.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17" y="3012098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95" y="2987675"/>
            <a:ext cx="48040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is the difference between the iron-carbon phase diagram and a CCT diagram?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695" y="3116023"/>
            <a:ext cx="768776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Phase diagram = thermodynamic equilibrium — what forms if you hold temperature long enough. CCT = continuous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695" y="3306460"/>
            <a:ext cx="760600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cooling — what actually forms at different cooling rates. CCT is steel-specific; phase diagram covers the whole Fe-C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695" y="3496897"/>
            <a:ext cx="57566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617" y="3706890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695" y="3682835"/>
            <a:ext cx="47090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How does cooling rate determine the microstructure — and properties — of steel?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695" y="3906218"/>
            <a:ext cx="738421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Slow → carbon diffuses fully → soft pearlite. Intermediate → bainite (stronger, tougher). Fast quench → carbon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695" y="4096654"/>
            <a:ext cx="700285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trapped → hard brittle martensite. CCT diagram shows exactly which cooling curve produces which result.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617" y="440169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695" y="4377627"/>
            <a:ext cx="506635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does tempering do to as-quenched martensite, and what trade-off does it involve?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9695" y="4505975"/>
            <a:ext cx="763425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Tempering reheats martensite below the austenite region, letting some carbon diffuse and relieving internal stress.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695" y="4696424"/>
            <a:ext cx="741818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Trade-off: higher tempering temperature = more toughness but lower hardness. Required because as-quenched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695" y="4886861"/>
            <a:ext cx="238953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martensite is too brittle for service.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41326"/>
            <a:ext cx="8668080" cy="1261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41326"/>
            <a:ext cx="658088" cy="126144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2231277"/>
            <a:ext cx="8668080" cy="1261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955" y="2231277"/>
            <a:ext cx="658088" cy="12614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3620886"/>
            <a:ext cx="8668080" cy="1261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955" y="3620886"/>
            <a:ext cx="658088" cy="12614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303073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Key Takeaways —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20" y="1306560"/>
            <a:ext cx="333160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1135" y="1155342"/>
            <a:ext cx="7822922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three major nonferrous families solve problems steel cannot: aluminum for weight, copper for conductivity,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1135" y="1360904"/>
            <a:ext cx="7475060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and titanium for corrosion resistance combined with high strength-to-weight. Knowing when to reach for a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1135" y="1566466"/>
            <a:ext cx="5776353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nonferrous alloy — and which one — is as important as knowing the steel families.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20" y="2696511"/>
            <a:ext cx="333160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135" y="2545306"/>
            <a:ext cx="7293929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iron-carbon phase diagram and the CCT diagram work together — the phase diagram shows what is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1135" y="2750868"/>
            <a:ext cx="7452266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thermodynamically possible at equilibrium; the CCT diagram shows what actually forms under real cooling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1135" y="2956430"/>
            <a:ext cx="4152708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conditions. You need both to reason about heat treatment.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20" y="4086120"/>
            <a:ext cx="333160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1135" y="3832311"/>
            <a:ext cx="7638195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Cooling rate is the most powerful processing variable in steel heat treatment: slow cooling gives soft pearlite,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1135" y="4037861"/>
            <a:ext cx="7836626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fast quenching gives hard martensite, and tempering after quenching trades some hardness back for toughness.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1135" y="4243423"/>
            <a:ext cx="7837828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This gives a technician the ability to reason about why a heat-treated part performs the way it does — and what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1135" y="4448985"/>
            <a:ext cx="2059533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went wrong when it doesn't.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79" y="1481406"/>
            <a:ext cx="4068724" cy="3401276"/>
          </a:xfrm>
          <a:prstGeom prst="rect">
            <a:avLst/>
          </a:prstGeom>
          <a:solidFill>
            <a:srgbClr val="24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19040" y="2303997"/>
            <a:ext cx="3565804" cy="36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696" y="806275"/>
            <a:ext cx="4314942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144" y="1563313"/>
            <a:ext cx="1678145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136" y="2093543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214" y="2116616"/>
            <a:ext cx="295814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Moniz 5th Edition — Ch. 6: Phase Diagrams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136" y="2291905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214" y="2314977"/>
            <a:ext cx="345171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Kalpakjian 6th Edition — Ch. 7: Nonferrous Metals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214" y="2513338"/>
            <a:ext cx="75797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and Alloys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44" y="3063069"/>
            <a:ext cx="961838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136" y="3509784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214" y="3532856"/>
            <a:ext cx="275688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Iron-Carbon Phase Diagram (Interactive)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136" y="3708145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214" y="3731217"/>
            <a:ext cx="30981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Solidification &amp; Dendrite Growth (Interactive)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6340" y="1635677"/>
            <a:ext cx="1897017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Coming Up — Week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6340" y="1936912"/>
            <a:ext cx="2081055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Mechanical Testing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345" y="281402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9422" y="2834547"/>
            <a:ext cx="31505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Tensile testing and the stress-strain curve — yield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9422" y="3017427"/>
            <a:ext cx="163149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strength, UTS, elongation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6345" y="317978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9422" y="3200307"/>
            <a:ext cx="328470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Hardness testing: Rockwell, Brinell, Vickers — when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9422" y="3383187"/>
            <a:ext cx="78143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to use each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6345" y="354554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9422" y="3566067"/>
            <a:ext cx="325059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Charpy impact testing — measuring toughness and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9422" y="3748947"/>
            <a:ext cx="17193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ductile-to-brittle transition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6345" y="391130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9422" y="3931827"/>
            <a:ext cx="254627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How testing results connect back to the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39422" y="4114707"/>
            <a:ext cx="243297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microstructures we mapped this week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96820" y="4791503"/>
            <a:ext cx="519041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Unit 2 Quiz covers Weeks 4 – 6  ·  Review the Fe-C diagram and CCT microstructures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