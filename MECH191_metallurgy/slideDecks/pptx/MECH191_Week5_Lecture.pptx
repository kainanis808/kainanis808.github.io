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428084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35080"/>
            <a:ext cx="3508315" cy="422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400">
                <a:solidFill>
                  <a:srgbClr val="CADCFC"/>
                </a:solidFill>
                <a:latin typeface="Calibri"/>
              </a:rPr>
              <a:t>Stainless Steels &amp; Cast Irons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49484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September 21,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435686"/>
            <a:ext cx="530315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62720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72448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82176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782571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622" y="176748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664" y="1657693"/>
            <a:ext cx="183562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Stainless Steels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664" y="2034416"/>
            <a:ext cx="603146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What makes it stainless, and why the grade matters as much as the material family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622" y="286476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664" y="2754973"/>
            <a:ext cx="209347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Stainless Families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5664" y="3131696"/>
            <a:ext cx="709315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Austenitic, ferritic, martensitic, duplex, and PH — microstructure drives every property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622" y="396204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5664" y="3852253"/>
            <a:ext cx="120901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Cast Irons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664" y="4228976"/>
            <a:ext cx="600816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Why cast iron is not steel, and how the form of excess carbon determines the 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397884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Metallography Lab — Module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EXAMET-5-R-600-HD  ·  50–500×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3270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4  ·  Week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2001580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Stainless Steel Families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82361"/>
            <a:ext cx="371369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Compare austenitic twins in D &amp; E. Find the martensitic, precipitate-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742204"/>
            <a:ext cx="135516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hardened structure in 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Observe — complete feature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Sketch — label magnification &amp; specimen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— 4 short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096" y="831872"/>
            <a:ext cx="159784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Specimens to Check 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1309034"/>
            <a:ext cx="192551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Specimen D — 304 stainless steel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1601718"/>
            <a:ext cx="190873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Specimen E — 316 stainless steel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1894402"/>
            <a:ext cx="209600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Specimen F — 17-4PH stainless steel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check out the kit: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See instructor after class 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Sign out the specimen tray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Use the EXAMET-5 at your convenience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Return kit before leaving class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Submit completed module with your portfolio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5096" y="4637234"/>
            <a:ext cx="17650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79" y="731522"/>
            <a:ext cx="1691284" cy="5025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97557" y="731522"/>
            <a:ext cx="1691284" cy="5025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97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7557" y="2057046"/>
            <a:ext cx="1691284" cy="785876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7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79" y="731522"/>
            <a:ext cx="1691284" cy="50256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79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6557" y="731522"/>
            <a:ext cx="1691284" cy="502564"/>
          </a:xfrm>
          <a:prstGeom prst="rect">
            <a:avLst/>
          </a:prstGeom>
          <a:solidFill>
            <a:srgbClr val="6B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26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26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6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557" y="370296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731522"/>
            <a:ext cx="1691284" cy="502564"/>
          </a:xfrm>
          <a:prstGeom prst="rect">
            <a:avLst/>
          </a:prstGeom>
          <a:solidFill>
            <a:srgbClr val="5B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79" y="4580638"/>
            <a:ext cx="8549284" cy="484199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424" y="15829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55" y="1010671"/>
            <a:ext cx="13146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255" y="147686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55" y="1651356"/>
            <a:ext cx="10371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55" y="1819110"/>
            <a:ext cx="6710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255" y="229982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255" y="247431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55" y="2642070"/>
            <a:ext cx="6619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7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7946" y="1010671"/>
            <a:ext cx="7765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0577" y="129398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7946" y="147686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7946" y="1651356"/>
            <a:ext cx="6143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7946" y="1819110"/>
            <a:ext cx="7245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0577" y="2116943"/>
            <a:ext cx="7831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Wk 5  ← here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7946" y="229982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7946" y="2474316"/>
            <a:ext cx="6966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7946" y="2642070"/>
            <a:ext cx="6330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0577" y="293990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7946" y="312278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7946" y="3297276"/>
            <a:ext cx="8456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7946" y="3465030"/>
            <a:ext cx="9758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2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2255" y="1010671"/>
            <a:ext cx="9473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4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72255" y="1476863"/>
            <a:ext cx="3477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2255" y="165135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2255" y="1819110"/>
            <a:ext cx="4707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4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2255" y="229982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2255" y="2558187"/>
            <a:ext cx="8614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4900" y="293990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72255" y="312278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2255" y="3297276"/>
            <a:ext cx="4848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72255" y="3465030"/>
            <a:ext cx="6410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6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6946" y="1010671"/>
            <a:ext cx="8352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59577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86946" y="147686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86946" y="1735227"/>
            <a:ext cx="4875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59577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86946" y="229982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86946" y="2558187"/>
            <a:ext cx="5439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9577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86946" y="312278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6946" y="3381147"/>
            <a:ext cx="6716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59577" y="3762862"/>
            <a:ext cx="4073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86946" y="3945743"/>
            <a:ext cx="43785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86946" y="4120236"/>
            <a:ext cx="5086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86946" y="4287990"/>
            <a:ext cx="6903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01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01255" y="1010671"/>
            <a:ext cx="9212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3900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01255" y="147686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01255" y="1651356"/>
            <a:ext cx="5420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01255" y="1819110"/>
            <a:ext cx="63168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73900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1255" y="229982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01255" y="2474316"/>
            <a:ext cx="10162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01255" y="2642070"/>
            <a:ext cx="5840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73900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01255" y="3122783"/>
            <a:ext cx="36288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01255" y="3297276"/>
            <a:ext cx="6276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01255" y="3465030"/>
            <a:ext cx="6990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59936" y="4699854"/>
            <a:ext cx="18435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242"/>
            <a:ext cx="51202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804597"/>
            <a:ext cx="5120271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204" y="804242"/>
            <a:ext cx="32914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204" y="804597"/>
            <a:ext cx="3291471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084" y="2303997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084" y="3035518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084" y="3949917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62593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5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584" y="905094"/>
            <a:ext cx="5291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57950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654" y="1380454"/>
            <a:ext cx="400700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What makes stainless steel corrosion-resistant — the passive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654" y="1570903"/>
            <a:ext cx="146664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chromium oxide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1738823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654" y="1761340"/>
            <a:ext cx="419307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four stainless steel families and how microstructure defines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654" y="1951776"/>
            <a:ext cx="66203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each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76" y="2119709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654" y="2142225"/>
            <a:ext cx="432405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Austenitic (300s): FCC, Ni-stabilized, non-magnetic, best corrosion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654" y="2332662"/>
            <a:ext cx="72188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resistance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76" y="2500582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654" y="2523098"/>
            <a:ext cx="400160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Ferritic &amp; martensitic (400s): BCC/BCT, magnetic, hardenable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654" y="2713535"/>
            <a:ext cx="50231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grades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76" y="2881467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654" y="2903984"/>
            <a:ext cx="428531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Cast iron as a distinct iron-carbon family — not a low-quality steel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576" y="3071904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654" y="3094421"/>
            <a:ext cx="423133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Gray, white, ductile, and malleable cast iron — how carbon form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654" y="3284857"/>
            <a:ext cx="116261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drives properties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576" y="3452790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654" y="3475294"/>
            <a:ext cx="294996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When and why to choose cast iron over steel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3384" y="905094"/>
            <a:ext cx="82134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3384" y="1389871"/>
            <a:ext cx="12795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3384" y="1755631"/>
            <a:ext cx="162372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Moniz 5th — Ch. 16 &amp; 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3384" y="1938511"/>
            <a:ext cx="174372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Cast Irons / Stainless Steels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3384" y="2487151"/>
            <a:ext cx="146550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Kalpakjian 6th — Ch.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3384" y="2670031"/>
            <a:ext cx="166286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Ferrous Metals and Alloys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3384" y="3145583"/>
            <a:ext cx="68290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Visualizer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3384" y="3456631"/>
            <a:ext cx="177052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Iron-Carbon Phase Diagram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3384" y="3639511"/>
            <a:ext cx="8240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(Interactive)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3384" y="4041631"/>
            <a:ext cx="7071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93384" y="4425387"/>
            <a:ext cx="211606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AISI/SAE Steel Designation Codes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91988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5416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16331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7854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40711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806275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696" y="1547097"/>
            <a:ext cx="614694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17" y="1969530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700" y="1978732"/>
            <a:ext cx="751628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single threshold separates stainless steel from ordinary alloy steel — and why does that exact percentage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700" y="2177093"/>
            <a:ext cx="60265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matter?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17" y="259125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700" y="2699812"/>
            <a:ext cx="601574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A coastal facility needs a tank for chloride brine: 304 or 316? What is the deciding factor?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17" y="3212975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700" y="3222176"/>
            <a:ext cx="747959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Two castings from the same iron-carbon melt: one becomes gray iron, one white iron. What determined which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700" y="3420537"/>
            <a:ext cx="84605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was which?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17" y="383505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700" y="3943256"/>
            <a:ext cx="702915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Why is gray cast iron standard for engine blocks and machine bases, despite having low tensile strength?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17" y="445677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700" y="4465608"/>
            <a:ext cx="729155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A martensitic stainless weld cracks in the heat-affected zone. What most likely went wrong, and how do you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700" y="4663969"/>
            <a:ext cx="79862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prevent 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279806"/>
            <a:ext cx="5028831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279806"/>
            <a:ext cx="5028831" cy="456831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2120" y="1279806"/>
            <a:ext cx="3337204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32120" y="1279806"/>
            <a:ext cx="3337204" cy="456831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79" y="1865162"/>
            <a:ext cx="72720" cy="694436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79" y="2688122"/>
            <a:ext cx="72720" cy="69443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79" y="3511082"/>
            <a:ext cx="72720" cy="69443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79" y="4334042"/>
            <a:ext cx="72720" cy="694435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424" y="158292"/>
            <a:ext cx="457867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What Makes Stainless Steel 'Stainless'?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16" y="740534"/>
            <a:ext cx="7849320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All stainless steels share one feature: a minimum of 10.5% chromium by weight. That single threshold is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416" y="961577"/>
            <a:ext cx="3807658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what separates stainless from ordinary alloy steel.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584" y="1377669"/>
            <a:ext cx="2824198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FFFFFF"/>
                </a:solidFill>
                <a:latin typeface="Calibri"/>
              </a:rPr>
              <a:t>The Passive Chromium Oxide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2218350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654" y="2240854"/>
            <a:ext cx="424403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Chromium reacts with atmospheric oxygen to form a thin, stable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654" y="2431303"/>
            <a:ext cx="404494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Cr₂O₃ layer on the surface — invisible, only a few nanometers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654" y="2621739"/>
            <a:ext cx="38737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76" y="2789672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654" y="2812176"/>
            <a:ext cx="379553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This passive layer acts as a barrier, preventing oxygen and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654" y="3002625"/>
            <a:ext cx="274754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moisture from reaching the steel beneath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76" y="3170545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654" y="3193062"/>
            <a:ext cx="370503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Self-repairing: if scratched or abraded, the layer reforms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654" y="3383498"/>
            <a:ext cx="269546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spontaneously in the presence of oxygen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576" y="3551430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654" y="3573935"/>
            <a:ext cx="358342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Destroy the passive layer (with chlorides, oxygen-poor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654" y="3764384"/>
            <a:ext cx="419751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environments, or mechanical damage in an aggressive medium)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654" y="3954821"/>
            <a:ext cx="225601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and corrosion can proceed rapidly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576" y="4122753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654" y="4145257"/>
            <a:ext cx="420799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10.5% Cr is the threshold — below this, not enough Cr₂O₃ forms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654" y="4335693"/>
            <a:ext cx="287566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to maintain a complete, stable passive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02300" y="1377669"/>
            <a:ext cx="1947997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FFFFFF"/>
                </a:solidFill>
                <a:latin typeface="Calibri"/>
              </a:rPr>
              <a:t>Key Alloying Thresholds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21095" y="1877727"/>
            <a:ext cx="71130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≥ 10.5% 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21095" y="2073275"/>
            <a:ext cx="117404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Stainless threshold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21095" y="2314874"/>
            <a:ext cx="287720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Passive layer forms. Now classified as stainless steel.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21095" y="2700687"/>
            <a:ext cx="55064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2E4A6B"/>
                </a:solidFill>
                <a:latin typeface="Calibri"/>
              </a:rPr>
              <a:t>+ Nickel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21095" y="2896235"/>
            <a:ext cx="118870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Austenite stabilizer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21095" y="3057913"/>
            <a:ext cx="290159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Keeps FCC structure at room temp → non-magnetic,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21095" y="3217755"/>
            <a:ext cx="85061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ductile, tough.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1095" y="3523647"/>
            <a:ext cx="99922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+ Molybdenum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21095" y="3719195"/>
            <a:ext cx="106621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Pitting resistance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21095" y="3880873"/>
            <a:ext cx="286376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Improves resistance to chloride pitting (e.g., 316 vs.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21095" y="4040715"/>
            <a:ext cx="35031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304).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21095" y="4346607"/>
            <a:ext cx="61773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5219"/>
                </a:solidFill>
                <a:latin typeface="Calibri"/>
              </a:rPr>
              <a:t>+ Carbon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21095" y="4542155"/>
            <a:ext cx="86396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Hardenability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21095" y="4703833"/>
            <a:ext cx="288507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Enables hardening by heat treatment → martensitic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21095" y="4863675"/>
            <a:ext cx="46593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grades.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61797"/>
            <a:ext cx="1992960" cy="37944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442"/>
            <a:ext cx="1992960" cy="54828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468526"/>
            <a:ext cx="1810080" cy="270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9" y="3913202"/>
            <a:ext cx="1810080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1720" y="1261797"/>
            <a:ext cx="1992960" cy="37944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261442"/>
            <a:ext cx="1992960" cy="54828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3160" y="2468526"/>
            <a:ext cx="1810080" cy="2700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3913202"/>
            <a:ext cx="1810080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61797"/>
            <a:ext cx="1992960" cy="37944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61442"/>
            <a:ext cx="1992960" cy="54828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2468526"/>
            <a:ext cx="1810080" cy="2700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3913202"/>
            <a:ext cx="1810080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261797"/>
            <a:ext cx="1992960" cy="37944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1261442"/>
            <a:ext cx="1992960" cy="54828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59" y="2468526"/>
            <a:ext cx="1810080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59" y="3913202"/>
            <a:ext cx="1810080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8424" y="158292"/>
            <a:ext cx="637413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Stainless Steel Families — Microstructure Is Everything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416" y="747779"/>
            <a:ext cx="753846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C2B3A"/>
                </a:solidFill>
                <a:latin typeface="Calibri"/>
              </a:rPr>
              <a:t>Same passive chromium oxide layer — very different microstructures. The balance of alloying elements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416" y="961254"/>
            <a:ext cx="692136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C2B3A"/>
                </a:solidFill>
                <a:latin typeface="Calibri"/>
              </a:rPr>
              <a:t>determines which phase is stable at room temperature, and that phase determines everything.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059" y="1318852"/>
            <a:ext cx="75963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Austenitic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059" y="1577663"/>
            <a:ext cx="59543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300 series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059" y="1885043"/>
            <a:ext cx="27599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FCC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059" y="2061863"/>
            <a:ext cx="165537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Non-magnetic · Cold work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059" y="2244743"/>
            <a:ext cx="13422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Cr: 18–20%  /  Ni: 8–12%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059" y="2519668"/>
            <a:ext cx="145883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Nickel stabilizes the FCC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059" y="2687435"/>
            <a:ext cx="180034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austenite phase all the way to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059" y="2855189"/>
            <a:ext cx="152490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room temperature. Most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059" y="3022956"/>
            <a:ext cx="159320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widely used family — best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059" y="3190710"/>
            <a:ext cx="153677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combination of corrosion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059" y="3358477"/>
            <a:ext cx="163706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resistance, formability, and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059" y="3526232"/>
            <a:ext cx="137098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weldability. Cannot be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059" y="3693986"/>
            <a:ext cx="172212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hardened by heat treatment.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059" y="3960868"/>
            <a:ext cx="172463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304 (general purpose)  ·  316 (+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059" y="4113510"/>
            <a:ext cx="148534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Mo for chloride resistance)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3059" y="4396466"/>
            <a:ext cx="186174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Food equipment, chemical vessels,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3059" y="4549107"/>
            <a:ext cx="142384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marine hardware, kitchen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059" y="4701748"/>
            <a:ext cx="148001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appliances, medical devices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10460" y="1318852"/>
            <a:ext cx="55390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Ferritic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10460" y="1577663"/>
            <a:ext cx="59543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400 series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10460" y="1885043"/>
            <a:ext cx="28971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BCC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10460" y="2061863"/>
            <a:ext cx="144976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Magnetic · Not hardenable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10460" y="2244743"/>
            <a:ext cx="137911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Cr: 10.5–30%  /  Ni: No 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10460" y="2519668"/>
            <a:ext cx="145017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High chromium content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10460" y="2687435"/>
            <a:ext cx="14832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stabilizes the BCC ferrite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10460" y="2855189"/>
            <a:ext cx="160829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structure. No nickel makes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10460" y="3022956"/>
            <a:ext cx="170396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these grades less expensive.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10460" y="3190710"/>
            <a:ext cx="187618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Moderate corrosion resistance,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10460" y="3358477"/>
            <a:ext cx="149110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lower toughness in thick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10460" y="3526232"/>
            <a:ext cx="11973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sections and at low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10460" y="3693986"/>
            <a:ext cx="88505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temperatures.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10460" y="4037183"/>
            <a:ext cx="181040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430 (most common)  ·  439  ·  446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10460" y="4396466"/>
            <a:ext cx="167393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Automotive trim and exhausts,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10460" y="4549107"/>
            <a:ext cx="176072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kitchen appliances, architectural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10460" y="4701748"/>
            <a:ext cx="135534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panels, dishwasher liners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67859" y="1318852"/>
            <a:ext cx="85728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Martensitic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67859" y="1577663"/>
            <a:ext cx="59543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400 series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67859" y="1885043"/>
            <a:ext cx="55757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BCC/BCT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67859" y="2061863"/>
            <a:ext cx="156769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Magnetic · Quench &amp; temper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67859" y="2244743"/>
            <a:ext cx="173174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Cr: 10.5–18%  /  Ni: Low or none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67859" y="2519668"/>
            <a:ext cx="177129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Higher carbon content allows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67859" y="2687435"/>
            <a:ext cx="136134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martensite to form on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67859" y="2855189"/>
            <a:ext cx="188833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quenching. Can be hardened to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67859" y="3022956"/>
            <a:ext cx="187157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high strength — but at the cost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67859" y="3190710"/>
            <a:ext cx="174852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of lower corrosion resistance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67859" y="3358477"/>
            <a:ext cx="169516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and toughness compared to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67859" y="3526232"/>
            <a:ext cx="162826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austenitic grades. Requires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67859" y="3693986"/>
            <a:ext cx="16437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preheat and PWHT to weld.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67859" y="4037183"/>
            <a:ext cx="101707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410  ·  420  ·  440C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67859" y="4472780"/>
            <a:ext cx="188131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Cutlery, surgical instruments, valve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67859" y="4625421"/>
            <a:ext cx="185603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stems, pump shafts, turbine blades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25259" y="1318852"/>
            <a:ext cx="55291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Duplex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25259" y="1577663"/>
            <a:ext cx="45679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Various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25259" y="1805121"/>
            <a:ext cx="60419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Austenite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25259" y="1964964"/>
            <a:ext cx="53440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+ Ferrite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25259" y="2061863"/>
            <a:ext cx="143921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Semi-magnetic · Not by HT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25259" y="2244743"/>
            <a:ext cx="12780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Cr: 21–26%  /  Ni: 4–8%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25259" y="2519668"/>
            <a:ext cx="142922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Mixed austenite/ferrite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25259" y="2687435"/>
            <a:ext cx="150381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microstructure — higher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25259" y="2855189"/>
            <a:ext cx="187325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strength than austenitic, better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25259" y="3022956"/>
            <a:ext cx="175411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resistance to stress corrosion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25259" y="3190710"/>
            <a:ext cx="164446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cracking (SCC). Increasingly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25259" y="3358477"/>
            <a:ext cx="183037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common in oil &amp; gas, chemical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25259" y="3526232"/>
            <a:ext cx="142853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processing, and marine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25259" y="3693986"/>
            <a:ext cx="89678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environments.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25259" y="4037183"/>
            <a:ext cx="73661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2205  ·  2507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25259" y="4396466"/>
            <a:ext cx="180659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Subsea pipework, chemical plant,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25259" y="4549107"/>
            <a:ext cx="162856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heat exchangers, desalination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25259" y="4701748"/>
            <a:ext cx="62644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equipment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" y="1279806"/>
            <a:ext cx="4160164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279806"/>
            <a:ext cx="4160164" cy="456831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553282"/>
            <a:ext cx="3794404" cy="270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1279806"/>
            <a:ext cx="4160163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279806"/>
            <a:ext cx="4160163" cy="456831"/>
          </a:xfrm>
          <a:prstGeom prst="rect">
            <a:avLst/>
          </a:prstGeom>
          <a:solidFill>
            <a:srgbClr val="1A5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4553282"/>
            <a:ext cx="3794404" cy="27000"/>
          </a:xfrm>
          <a:prstGeom prst="rect">
            <a:avLst/>
          </a:prstGeom>
          <a:solidFill>
            <a:srgbClr val="1A5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667919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Austenitic Stainless — The Workhorse Family (300 Series)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416" y="740534"/>
            <a:ext cx="7859275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Austenitic grades account for over 70% of all stainless steel produced. 304 and 316 are the two grades a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416" y="961577"/>
            <a:ext cx="2863965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technician will encounter most often.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584" y="1328648"/>
            <a:ext cx="49915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304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8900" y="1428656"/>
            <a:ext cx="190127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General-Purpose Austenitic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940" y="1746271"/>
            <a:ext cx="37942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18% Cr  /  8% Ni  —  the most widely used stainless steel in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940" y="1929151"/>
            <a:ext cx="68701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the world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44" y="217394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022" y="2194467"/>
            <a:ext cx="326993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Excellent corrosion resistance in most atmospheric,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022" y="2377347"/>
            <a:ext cx="213266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food, and chemical environments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44" y="253970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022" y="2560227"/>
            <a:ext cx="314947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FCC structure — very ductile and tough, excellent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022" y="2743107"/>
            <a:ext cx="75036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formability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44" y="290546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022" y="2925987"/>
            <a:ext cx="318298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Non-magnetic in annealed condition (can become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022" y="3108867"/>
            <a:ext cx="212428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slightly magnetic after cold work)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944" y="327122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022" y="3291747"/>
            <a:ext cx="333937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Good weldability — low carbon 304L grade available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022" y="3474627"/>
            <a:ext cx="305886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 thicker weld sections to prevent sensitization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944" y="363698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022" y="3657507"/>
            <a:ext cx="318343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Cannot be hardened by heat treatment — only by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022" y="3840387"/>
            <a:ext cx="67772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cold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944" y="400274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022" y="4023267"/>
            <a:ext cx="32178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Susceptible to chloride pitting and stress corrosion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022" y="4206147"/>
            <a:ext cx="251642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cracking (SCC) in chloride environments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40" y="4595432"/>
            <a:ext cx="383009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Uses: sinks, countertops, food processing, chemical tanks, medical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940" y="4763186"/>
            <a:ext cx="155060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trays, architectural panels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3264" y="1328648"/>
            <a:ext cx="49915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316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6579" y="1428656"/>
            <a:ext cx="179766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Marine &amp; Chemical Grade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23625" y="1836395"/>
            <a:ext cx="348551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5C42"/>
                </a:solidFill>
                <a:latin typeface="Calibri"/>
              </a:rPr>
              <a:t>18% Cr  /  10% Ni  /  2–3% Mo  —  the upgrade for chloride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23625" y="2004149"/>
            <a:ext cx="88086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5C42"/>
                </a:solidFill>
                <a:latin typeface="Calibri"/>
              </a:rPr>
              <a:t>environments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3625" y="2153221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66702" y="2171916"/>
            <a:ext cx="325980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Molybdenum addition dramatically improves resistance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6702" y="2339671"/>
            <a:ext cx="232985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to chloride pitting and crevice corrosion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23625" y="2488743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66702" y="2507438"/>
            <a:ext cx="327517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The grade of choice for marine environments, seawater,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66702" y="2675192"/>
            <a:ext cx="225247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and halide-containing process streams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23625" y="282426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66702" y="2842946"/>
            <a:ext cx="317655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Same FCC structure and non-magnetic behavior as 304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23625" y="2992018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66702" y="3010713"/>
            <a:ext cx="32607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316L (low carbon) is preferred for welded assemblies to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66702" y="3178468"/>
            <a:ext cx="125477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prevent sensitization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3625" y="3327539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66702" y="3346234"/>
            <a:ext cx="328466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Higher cost than 304 — specify it when 304 has failed in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66702" y="3513989"/>
            <a:ext cx="259970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service or chlorides are known to be present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23625" y="3663061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66702" y="3681756"/>
            <a:ext cx="300839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Used in pharmaceutical and food processing where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66702" y="3849510"/>
            <a:ext cx="328187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frequent washdowns with chlorine-based cleaners occur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33620" y="4595432"/>
            <a:ext cx="356820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Uses: marine fittings, chemical plant, pharmaceutical vessels,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33620" y="4763186"/>
            <a:ext cx="208136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coastal architecture, lab equipment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" y="1280162"/>
            <a:ext cx="4160164" cy="32183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279806"/>
            <a:ext cx="4160164" cy="456831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1280162"/>
            <a:ext cx="4160163" cy="32183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1279806"/>
            <a:ext cx="4160163" cy="456831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4589998"/>
            <a:ext cx="8412111" cy="456844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8424" y="158292"/>
            <a:ext cx="56525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Ferritic &amp; Martensitic Stainless — The 400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16" y="740534"/>
            <a:ext cx="7614507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Both are magnetic BCC-based grades. Ferritic cannot be hardened; martensitic can — but both trade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416" y="961577"/>
            <a:ext cx="4057959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corrosion resistance for other performance priorities.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940" y="1370717"/>
            <a:ext cx="1543533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Ferritic  (e.g. 430)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944" y="1836395"/>
            <a:ext cx="358342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BCC structure  ·  Magnetic  ·  No nickel  ·  NOT hardenable by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44" y="2004149"/>
            <a:ext cx="95894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heat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944" y="2153221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022" y="2171916"/>
            <a:ext cx="325044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BCC ferrite phase at all temperatures — high chromium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022" y="2339671"/>
            <a:ext cx="335981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(10.5–30%) stabilizes BCC and prevents transformation to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022" y="2507438"/>
            <a:ext cx="60542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austenite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44" y="2656497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022" y="2675192"/>
            <a:ext cx="260026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 nickel = lower cost than austenitic grades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44" y="282426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022" y="2842946"/>
            <a:ext cx="279231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Moderate corrosion resistance — good for mild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022" y="3010713"/>
            <a:ext cx="310476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environments, not suitable for chloride-rich or highly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022" y="3178468"/>
            <a:ext cx="128927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aggressive conditions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44" y="3327539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022" y="3346234"/>
            <a:ext cx="333690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Limited toughness, especially at low temperatures and in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022" y="3513989"/>
            <a:ext cx="84580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thick sections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944" y="3663061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022" y="3681756"/>
            <a:ext cx="320616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Good oxidation resistance at elevated temperatures —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022" y="3849510"/>
            <a:ext cx="151289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useful in exhaust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944" y="3998582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022" y="4017277"/>
            <a:ext cx="28667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Magnetic — can be detected and separated with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022" y="4185031"/>
            <a:ext cx="236476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magnets (useful in recycling/fabrication)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3620" y="1370717"/>
            <a:ext cx="2320952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Martensitic  (e.g. 410, 420)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23625" y="1836395"/>
            <a:ext cx="370536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BCC/BCT structure  ·  Magnetic  ·  Hardenable  ·  Higher carbon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3625" y="2004149"/>
            <a:ext cx="76172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than ferritic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3625" y="2153221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66702" y="2171916"/>
            <a:ext cx="322586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Higher carbon content allows martensite to form when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66702" y="2339671"/>
            <a:ext cx="316370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austenite is quenched — the same mechanism as tool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6702" y="2507438"/>
            <a:ext cx="200454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steels, applied to a stainless grade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3625" y="2656497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66702" y="2675192"/>
            <a:ext cx="296885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Can be hardened to high strength and hardness by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6702" y="2842946"/>
            <a:ext cx="305783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quench and temper — the only stainless family with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66702" y="3010713"/>
            <a:ext cx="209687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significant heat treatment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23625" y="3159785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66702" y="3178468"/>
            <a:ext cx="306454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Lower corrosion resistance than austenitic or ferritic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66702" y="3346234"/>
            <a:ext cx="139780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grades (less Cr, more C)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3625" y="3495306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66702" y="3513989"/>
            <a:ext cx="153105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Magnetic in all conditions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23625" y="3663061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66702" y="3681756"/>
            <a:ext cx="315211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Requires preheat (typically 200–300°C) and post-weld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6702" y="3849510"/>
            <a:ext cx="324946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heat treatment when welding — failure to do so causes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66702" y="4017277"/>
            <a:ext cx="291033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hard, brittle heat-affected zones prone to cracking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23625" y="4166349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66702" y="4185031"/>
            <a:ext cx="322921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410 (general purpose)  ·  420 (higher C, cutlery)  ·  440C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66702" y="4352786"/>
            <a:ext cx="127349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(maximum hardness)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1304" y="4696056"/>
            <a:ext cx="101655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Welding Note: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35784" y="4608267"/>
            <a:ext cx="618437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Ferritic: limited weldability in thick sections — grain growth reduces toughness. Martensitic: MUST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5784" y="4791147"/>
            <a:ext cx="566402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preheat; PWHT strongly recommended. Never weld martensitic in the hardened condition.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" y="1279806"/>
            <a:ext cx="4160164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279806"/>
            <a:ext cx="4160164" cy="456831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1279806"/>
            <a:ext cx="4160163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1279806"/>
            <a:ext cx="4160163" cy="456831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00600" y="1828801"/>
            <a:ext cx="3858476" cy="29231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139482"/>
            <a:ext cx="3858476" cy="3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2486877"/>
            <a:ext cx="3858476" cy="32868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2834286"/>
            <a:ext cx="3858476" cy="3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0600" y="3181682"/>
            <a:ext cx="3858476" cy="3286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600" y="3529077"/>
            <a:ext cx="3858476" cy="328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3876842"/>
            <a:ext cx="3858476" cy="3286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4224237"/>
            <a:ext cx="3858476" cy="328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4571646"/>
            <a:ext cx="3858476" cy="3286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8424" y="158292"/>
            <a:ext cx="624590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Cast Iron — A Distinct Family, Not a Low-Quality Steel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416" y="740534"/>
            <a:ext cx="7883606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Cast iron is NOT steel that didn't make it. It is a separate family of iron-carbon alloys with its own unique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416" y="961577"/>
            <a:ext cx="3873091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microstructures, properties, and engineering roles.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940" y="1377669"/>
            <a:ext cx="1886489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FFFFFF"/>
                </a:solidFill>
                <a:latin typeface="Calibri"/>
              </a:rPr>
              <a:t>What Defines Cast Iron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44" y="1799189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022" y="1819703"/>
            <a:ext cx="309328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Carbon content above 2.14% — typically 2.5–4%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022" y="2002583"/>
            <a:ext cx="187743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plus significant silicon (1–3%)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44" y="2164949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022" y="2185463"/>
            <a:ext cx="309754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At these carbon levels, the excess carbon cannot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022" y="2368343"/>
            <a:ext cx="294556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stay in solid solution — it must precipitate out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022" y="2551223"/>
            <a:ext cx="129387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during solidification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944" y="2713589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022" y="2734103"/>
            <a:ext cx="307531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FORM the carbon takes when it precipitates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022" y="2916983"/>
            <a:ext cx="298104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determines everything about the cast iron 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944" y="3079349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022" y="3099863"/>
            <a:ext cx="302612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Silicon content affects how carbon precipitates: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022" y="3282743"/>
            <a:ext cx="307942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more Si → graphite forms; less Si → iron carbide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022" y="3465623"/>
            <a:ext cx="118514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(cementite) forms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944" y="3627989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022" y="3648503"/>
            <a:ext cx="332491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Cast iron is poured into complex shapes — generally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022" y="3831383"/>
            <a:ext cx="284049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not wrought, rolled, or drawn into structural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022" y="4014263"/>
            <a:ext cx="57980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944" y="4176629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022" y="4197143"/>
            <a:ext cx="315830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Melting point lower than steel (~1150–1200°C vs.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022" y="4380023"/>
            <a:ext cx="294998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~1500°C) — easier to pour into complex molds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944" y="4542389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022" y="4562903"/>
            <a:ext cx="307653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Generally more brittle than steel — most grades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022" y="4745783"/>
            <a:ext cx="256911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cannot absorb significant impact loading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33620" y="1384621"/>
            <a:ext cx="275817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Steel vs. Cast Iron — Key Differences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33264" y="1876038"/>
            <a:ext cx="55611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03620" y="1876038"/>
            <a:ext cx="34779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Steel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5416" y="1876038"/>
            <a:ext cx="56143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Cast Iron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33264" y="2205083"/>
            <a:ext cx="47179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Carbon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03620" y="2205083"/>
            <a:ext cx="70555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0.02–2.14%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5416" y="2205083"/>
            <a:ext cx="124368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&gt; 2.14% (typ. 2.5–4%)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33264" y="2552478"/>
            <a:ext cx="5874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Structure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03620" y="2472557"/>
            <a:ext cx="99006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Wrought (rolled,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03620" y="2632399"/>
            <a:ext cx="86619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forged, drawn)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65416" y="2472557"/>
            <a:ext cx="103389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Cast (poured into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5416" y="2632399"/>
            <a:ext cx="44369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molds)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33264" y="2900242"/>
            <a:ext cx="53613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Ductility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03620" y="2900242"/>
            <a:ext cx="101977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Good to excellent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5416" y="2900242"/>
            <a:ext cx="109316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Poor (most grades)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33264" y="3247638"/>
            <a:ext cx="64948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Toughness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03620" y="3167717"/>
            <a:ext cx="99819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Good — absorbs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03620" y="3327559"/>
            <a:ext cx="44462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impact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65416" y="3247638"/>
            <a:ext cx="129056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Poor — brittle fracture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33264" y="3595034"/>
            <a:ext cx="82943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Machinability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03620" y="3595034"/>
            <a:ext cx="60805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Moderate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5416" y="3595034"/>
            <a:ext cx="138673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Excellent (gray iron esp.)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33264" y="3942442"/>
            <a:ext cx="56969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Damping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03620" y="3942442"/>
            <a:ext cx="29597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Low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65416" y="3942442"/>
            <a:ext cx="113725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Excellent (gray iron)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33264" y="4289838"/>
            <a:ext cx="70356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Weldability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03620" y="4289838"/>
            <a:ext cx="71661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Fair to good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65416" y="4289838"/>
            <a:ext cx="117468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Poor — very difficult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33264" y="4637602"/>
            <a:ext cx="69383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Cost/shape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03620" y="4557681"/>
            <a:ext cx="112739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Higher for complex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03620" y="4717524"/>
            <a:ext cx="44768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shapes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65416" y="4557681"/>
            <a:ext cx="110901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Cheap for complex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65416" y="4717524"/>
            <a:ext cx="44768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shapes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" y="1279806"/>
            <a:ext cx="4160164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279806"/>
            <a:ext cx="4160164" cy="456831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553282"/>
            <a:ext cx="3794404" cy="270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1279806"/>
            <a:ext cx="4160163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279806"/>
            <a:ext cx="4160163" cy="456831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4553282"/>
            <a:ext cx="3794404" cy="2700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472422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Gray &amp; White Cast Iron — Two Extremes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416" y="740534"/>
            <a:ext cx="8061471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The same iron-carbon composition can produce dramatically different materials depending on cooling rate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416" y="961577"/>
            <a:ext cx="4815309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and silicon content — which determines the form carbon takes.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940" y="1370717"/>
            <a:ext cx="1252178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Gray Cast Iron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44" y="1836395"/>
            <a:ext cx="341805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Carbon precipitates as GRAPHITE FLAKES — slow cooling,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944" y="2004149"/>
            <a:ext cx="84468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higher silicon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944" y="2153221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022" y="2171916"/>
            <a:ext cx="312417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Graphite flakes act as internal stress concentrators —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022" y="2339671"/>
            <a:ext cx="26629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crack initiation sites that limit tensile strength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44" y="2488743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022" y="2507438"/>
            <a:ext cx="32968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Poor tensile strength but excellent compressive strength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022" y="2675192"/>
            <a:ext cx="218333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— used where loads are compressive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944" y="282426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022" y="2842946"/>
            <a:ext cx="302780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Graphite provides self-lubrication and acts as a chip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022" y="3010713"/>
            <a:ext cx="258894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breaker — reduces wear and aids machining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44" y="3159785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022" y="3178468"/>
            <a:ext cx="301104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Outstanding vibration damping — graphite absorbs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022" y="3346234"/>
            <a:ext cx="292109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energy; ideal for machine bases and engine blocks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944" y="3495306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022" y="3513989"/>
            <a:ext cx="297626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Fracture surface appears gray (hence the name) —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022" y="3681756"/>
            <a:ext cx="10677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identified visually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944" y="3830828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022" y="3849510"/>
            <a:ext cx="306481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Inexpensive and easy to cast into complex shapes —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022" y="4017277"/>
            <a:ext cx="18535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most widely produced cast iron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5940" y="4604792"/>
            <a:ext cx="365508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Engine blocks, machine tool bases, brake rotors, pipe, manhole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40" y="4772546"/>
            <a:ext cx="105322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covers, cookware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3620" y="1370717"/>
            <a:ext cx="1374404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White Cast Iron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3625" y="1836395"/>
            <a:ext cx="353956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Carbon locked as IRON CARBIDE (Fe₃C / cementite) — rapid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23625" y="2004149"/>
            <a:ext cx="129527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cooling, lower silicon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23625" y="2153221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6702" y="2171916"/>
            <a:ext cx="328285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Rapid cooling (or low Si content) prevents graphite from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66702" y="2339671"/>
            <a:ext cx="25488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forming — carbon stays as cementite (Fe₃C)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3625" y="2488743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6702" y="2507438"/>
            <a:ext cx="31322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Cementite is extremely hard and brittle — Rockwell C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66702" y="2675192"/>
            <a:ext cx="17672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65–70+ in some compositions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23625" y="282426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66702" y="2842946"/>
            <a:ext cx="292625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Very high wear resistance — resists abrasive wear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66702" y="3010713"/>
            <a:ext cx="108702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exceptionally well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3625" y="3159785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66702" y="3178468"/>
            <a:ext cx="332656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Not machinable by conventional cutting tools — must be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66702" y="3346234"/>
            <a:ext cx="48265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ground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3625" y="3495306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6702" y="3513989"/>
            <a:ext cx="32905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Very brittle — fractures with little or no warning, cannot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66702" y="3681756"/>
            <a:ext cx="8879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absorb impact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23625" y="3830828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66702" y="3849510"/>
            <a:ext cx="276326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Fracture surface appears white or light-colored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66702" y="4017277"/>
            <a:ext cx="112920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(cementite is pale)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3625" y="4166349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66702" y="4185031"/>
            <a:ext cx="323689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Starting material for malleable cast iron — white iron is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66702" y="4352786"/>
            <a:ext cx="288701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annealed to convert cementite to carbon rosettes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33620" y="4604792"/>
            <a:ext cx="351610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Mill liners, crusher plates, grinding media, pump wear parts,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33620" y="4772546"/>
            <a:ext cx="187576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starting stock for malleable iron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" y="1279806"/>
            <a:ext cx="4160164" cy="356579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279806"/>
            <a:ext cx="4160164" cy="456831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498557"/>
            <a:ext cx="3794404" cy="270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1279806"/>
            <a:ext cx="4160163" cy="356579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279806"/>
            <a:ext cx="4160163" cy="456831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4498557"/>
            <a:ext cx="3794404" cy="2700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717534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Ductile &amp; Malleable Cast Iron — Engineering-Grade Cast Irons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416" y="740534"/>
            <a:ext cx="8048380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Both achieve improved ductility by changing the shape of the carbon phase — eliminating the sharp flakes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416" y="961577"/>
            <a:ext cx="2068461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that make gray iron brittle.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940" y="1370717"/>
            <a:ext cx="1905341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Ductile (Nodular) Iron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940" y="1782987"/>
            <a:ext cx="385136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Magnesium or cerium added to the melt just before casting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940" y="1965867"/>
            <a:ext cx="278642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— graphite forms as SPHEROIDS, not flakes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944" y="228374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022" y="2304271"/>
            <a:ext cx="302064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Spheroidal graphite shape eliminates the notch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022" y="2487151"/>
            <a:ext cx="312998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effect of flakes — no internal stress concentrators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44" y="264950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022" y="2670031"/>
            <a:ext cx="303739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Dramatically improved ductility, toughness, and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022" y="2852911"/>
            <a:ext cx="243343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tensile strength compared to gray iron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944" y="301526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022" y="3035791"/>
            <a:ext cx="293962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Tensile strength 400–900 MPa — approaching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022" y="3218671"/>
            <a:ext cx="222617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medium-carbon steel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44" y="338102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022" y="3401551"/>
            <a:ext cx="302247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Can be heat treated to further adjust properties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944" y="356390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022" y="3584431"/>
            <a:ext cx="313623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Good castability — complex shapes achievable at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022" y="3767311"/>
            <a:ext cx="188185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lower cost than steel castings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944" y="392966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022" y="3950191"/>
            <a:ext cx="311704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most widely used cast iron for structural and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022" y="4133071"/>
            <a:ext cx="163362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load-bearing applications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5940" y="4540708"/>
            <a:ext cx="384154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Crankshafts, gears, heavy-duty pipe, automotive suspension, wind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5940" y="4708475"/>
            <a:ext cx="181249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turbine housings, pump bodies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33620" y="1370717"/>
            <a:ext cx="1701494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Malleable Cast Iron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3625" y="1836395"/>
            <a:ext cx="353146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White cast iron annealed at high temperature — cementite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3625" y="2004149"/>
            <a:ext cx="27969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converts to rounded TEMPER CARBON rosettes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23625" y="2153221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66702" y="2171916"/>
            <a:ext cx="332880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Two-step process: cast as white iron (rapid cooling), then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6702" y="2339671"/>
            <a:ext cx="315309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anneal for many hours at ~900°C to convert cementite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3625" y="2488743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66702" y="2507438"/>
            <a:ext cx="31396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Temper carbon rosettes have rounded edges — much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6702" y="2675192"/>
            <a:ext cx="30240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less severe stress concentration than graphite flakes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23625" y="282426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66702" y="2842946"/>
            <a:ext cx="319010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Good ductility and machinability — significantly better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66702" y="3010713"/>
            <a:ext cx="137126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than white or gray iron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23625" y="3159785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66702" y="3178468"/>
            <a:ext cx="322460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Slower, more expensive process than producing ductile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66702" y="3346234"/>
            <a:ext cx="307110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iron — largely being replaced in modern applications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23625" y="3495306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66702" y="3513989"/>
            <a:ext cx="329723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Still used for thin-section castings where ductile iron has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6702" y="3681756"/>
            <a:ext cx="206907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difficulty (small fittings, hand tools)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33620" y="4540708"/>
            <a:ext cx="338006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Pipe fittings, hand tools, brackets, agricultural equipment,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33620" y="4708475"/>
            <a:ext cx="153286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automotive parts (legacy)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61797"/>
            <a:ext cx="1992960" cy="37944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442"/>
            <a:ext cx="1992960" cy="511555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761197"/>
            <a:ext cx="1810080" cy="270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9" y="4132798"/>
            <a:ext cx="1810080" cy="26999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1720" y="1261797"/>
            <a:ext cx="1992960" cy="37944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261442"/>
            <a:ext cx="1992960" cy="51155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3160" y="2761197"/>
            <a:ext cx="1810080" cy="2700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4132798"/>
            <a:ext cx="1810080" cy="26999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61797"/>
            <a:ext cx="1992960" cy="37944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61442"/>
            <a:ext cx="1992960" cy="51155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2761197"/>
            <a:ext cx="1810080" cy="270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4132798"/>
            <a:ext cx="1810080" cy="26999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261797"/>
            <a:ext cx="1992960" cy="37944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1261442"/>
            <a:ext cx="1992960" cy="511555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59" y="2761197"/>
            <a:ext cx="1810080" cy="2700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59" y="4132798"/>
            <a:ext cx="1810080" cy="26999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8424" y="158292"/>
            <a:ext cx="440854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Cast Iron — Choosing the Right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416" y="747779"/>
            <a:ext cx="785697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C2B3A"/>
                </a:solidFill>
                <a:latin typeface="Calibri"/>
              </a:rPr>
              <a:t>Cast iron is chosen when its specific characteristics are an advantage, not a limitation. Understanding which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416" y="961254"/>
            <a:ext cx="475672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C2B3A"/>
                </a:solidFill>
                <a:latin typeface="Calibri"/>
              </a:rPr>
              <a:t>property each type excels at is the key to correct grade selection.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059" y="1318497"/>
            <a:ext cx="70592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Gray Iron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059" y="1490585"/>
            <a:ext cx="50155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Graphite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059" y="1635314"/>
            <a:ext cx="37299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Flakes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059" y="1839384"/>
            <a:ext cx="115596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Strength: Low tensile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059" y="1992026"/>
            <a:ext cx="96357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high compressive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059" y="2171667"/>
            <a:ext cx="105760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Damping: Excellent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059" y="2354547"/>
            <a:ext cx="10132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Machin.: Excellent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059" y="2537427"/>
            <a:ext cx="91617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Toughness: Poor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059" y="2848463"/>
            <a:ext cx="81794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Choose when: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059" y="3067641"/>
            <a:ext cx="170587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Best vibration damping of any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059" y="3227483"/>
            <a:ext cx="161969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common engineering metal.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059" y="3387313"/>
            <a:ext cx="154217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Choose for machine bases,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059" y="3547155"/>
            <a:ext cx="181429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engine blocks, brake rotors, and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059" y="3706997"/>
            <a:ext cx="145093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anything where vibration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059" y="3866839"/>
            <a:ext cx="113352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absorption matters.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3059" y="4201711"/>
            <a:ext cx="73089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Avoid when: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3059" y="4375218"/>
            <a:ext cx="170010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Any application with significant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059" y="4527860"/>
            <a:ext cx="172170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impact or tensile loading. Avoid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059" y="4680501"/>
            <a:ext cx="153084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where fracture toughness is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059" y="4833142"/>
            <a:ext cx="49529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needed.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10460" y="1318497"/>
            <a:ext cx="80622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White Iron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10460" y="1490585"/>
            <a:ext cx="67642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Iron Carbide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10460" y="1635314"/>
            <a:ext cx="36563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(Fe₃C)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10460" y="1839384"/>
            <a:ext cx="140300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Strength: Very high comp.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10460" y="1992026"/>
            <a:ext cx="61983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 tension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10460" y="2171667"/>
            <a:ext cx="83967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Damping: Poor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10460" y="2354547"/>
            <a:ext cx="136894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Machin.: Not machinable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10460" y="2537427"/>
            <a:ext cx="117934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Toughness: Very poor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10460" y="2848463"/>
            <a:ext cx="81794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Choose when: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10460" y="3147562"/>
            <a:ext cx="184000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Maximum wear resistance is the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10460" y="3307392"/>
            <a:ext cx="171266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priority and brittleness can be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10460" y="3467234"/>
            <a:ext cx="168935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tolerated. Ideal for mill liners,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10460" y="3627076"/>
            <a:ext cx="159838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crusher plates, and grinding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10460" y="3786918"/>
            <a:ext cx="69836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equipment.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10460" y="4201711"/>
            <a:ext cx="73089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Avoid when: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10460" y="4451546"/>
            <a:ext cx="189046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Structural applications. Any impact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10460" y="4604187"/>
            <a:ext cx="161432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loading. Cannot be welded or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10460" y="4756828"/>
            <a:ext cx="138114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machined conventionally.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67859" y="1318497"/>
            <a:ext cx="87034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Ductile Iron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67859" y="1490585"/>
            <a:ext cx="50155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Graphite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67859" y="1635314"/>
            <a:ext cx="55871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Spheroids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67859" y="1839384"/>
            <a:ext cx="125089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Strength: High — up 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67859" y="1992026"/>
            <a:ext cx="52909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900 MPa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67859" y="2171667"/>
            <a:ext cx="110856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Damping: Moderate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67859" y="2354547"/>
            <a:ext cx="83319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Machin.: Good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67859" y="2537427"/>
            <a:ext cx="95505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Toughness: Good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67859" y="2848463"/>
            <a:ext cx="81794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Choose when: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67859" y="3067641"/>
            <a:ext cx="133052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Need good mechanical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67859" y="3227483"/>
            <a:ext cx="165965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properties at lower cost than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67859" y="3387313"/>
            <a:ext cx="188488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steel castings. Crankshafts, gears,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67859" y="3547155"/>
            <a:ext cx="149941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heavy pipe, and structural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67859" y="3706997"/>
            <a:ext cx="154017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castings where ductile iron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67859" y="3866839"/>
            <a:ext cx="129921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replaces steel forgings.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67859" y="4201711"/>
            <a:ext cx="73089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Avoid when: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67859" y="4451546"/>
            <a:ext cx="178232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Extreme impact or shock loading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67859" y="4604187"/>
            <a:ext cx="175932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— still less tough than steel. Not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67859" y="4756828"/>
            <a:ext cx="187077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suitable where welding is required.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25259" y="1318497"/>
            <a:ext cx="107143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Malleable Iron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25259" y="1490585"/>
            <a:ext cx="82427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Temper Carbon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25259" y="1635314"/>
            <a:ext cx="4902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Rosettes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25259" y="1915711"/>
            <a:ext cx="108569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Strength: Moderate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25259" y="2171667"/>
            <a:ext cx="110856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Damping: Moderate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25259" y="2354547"/>
            <a:ext cx="10132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Machin.: Excellent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25259" y="2537427"/>
            <a:ext cx="1184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Toughness: Moderate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25259" y="2848463"/>
            <a:ext cx="81794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Choose when: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25259" y="3147562"/>
            <a:ext cx="174063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Thin-section castings requiring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25259" y="3307392"/>
            <a:ext cx="189474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ductility and machinability where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25259" y="3467234"/>
            <a:ext cx="168229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ductile iron is difficult to cast.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25259" y="3627076"/>
            <a:ext cx="169987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Fittings, hand tools, and small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25259" y="3786918"/>
            <a:ext cx="62271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hardware.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25259" y="4201711"/>
            <a:ext cx="73089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Avoid when: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25259" y="4375218"/>
            <a:ext cx="138216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Thick sections — process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259" y="4527860"/>
            <a:ext cx="187115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economics make ductile iron more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25259" y="4680501"/>
            <a:ext cx="171573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attractive. Being phased out for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25259" y="4833142"/>
            <a:ext cx="125877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most new applications.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2"/>
            <a:ext cx="4251604" cy="16912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9684" y="1280162"/>
            <a:ext cx="548271" cy="169128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79" y="1280162"/>
            <a:ext cx="4251604" cy="16912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524" y="1280162"/>
            <a:ext cx="548271" cy="169128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3081606"/>
            <a:ext cx="4251604" cy="16912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684" y="3081606"/>
            <a:ext cx="548271" cy="1691271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79" y="3081606"/>
            <a:ext cx="4251604" cy="16912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524" y="3081606"/>
            <a:ext cx="548271" cy="1691271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424" y="158292"/>
            <a:ext cx="58799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Stainless &amp; Cast Iron — Fabrication Considerations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16" y="747779"/>
            <a:ext cx="736364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C2B3A"/>
                </a:solidFill>
                <a:latin typeface="Calibri"/>
              </a:rPr>
              <a:t>Stainless steels and cast irons each present specific challenges in the shop. Understanding why these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416" y="961254"/>
            <a:ext cx="486093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C2B3A"/>
                </a:solidFill>
                <a:latin typeface="Calibri"/>
              </a:rPr>
              <a:t>requirements exist is more valuable than just following a checklist.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299" y="1904002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784" y="1391573"/>
            <a:ext cx="246490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1E6C52"/>
                </a:solidFill>
                <a:latin typeface="Calibri"/>
              </a:rPr>
              <a:t>Sensitization in Austenitic Stainless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784" y="1680147"/>
            <a:ext cx="31799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When austenitic stainless is held at 425–815°C (during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784" y="1847914"/>
            <a:ext cx="353119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welding), chromium carbides precipitate at grain boundaries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784" y="2015668"/>
            <a:ext cx="294246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— depleting nearby zones of Cr below 10.5%. This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784" y="2183435"/>
            <a:ext cx="339221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'sensitized' zone is no longer corrosion-resistant. Solution: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784" y="2351190"/>
            <a:ext cx="356066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use low-carbon grades (304L, 316L) or stabilized grades (321,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784" y="2518956"/>
            <a:ext cx="298254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347 with Ti/Nb). Always specify L-grade for welded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784" y="2686711"/>
            <a:ext cx="184029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fabrication in corrosive service.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6139" y="1904002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624" y="1391573"/>
            <a:ext cx="286346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6B5219"/>
                </a:solidFill>
                <a:latin typeface="Calibri"/>
              </a:rPr>
              <a:t>Martensitic Stainless — Preheat &amp; PWHT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624" y="1680147"/>
            <a:ext cx="320630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Martensitic stainless must be preheated (typically 200–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624" y="1847914"/>
            <a:ext cx="296760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300°C) before welding to slow cooling and prevent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624" y="2015668"/>
            <a:ext cx="317446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martensite formation in the heat-affected zone before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624" y="2183435"/>
            <a:ext cx="353705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hydrogen can escape. PWHT (temper at 650–750°C) restores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624" y="2351190"/>
            <a:ext cx="355591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toughness. Welding in the hardened condition without these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624" y="2518956"/>
            <a:ext cx="345870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steps causes cracking — the HAZ becomes a brittle fracture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624" y="2686711"/>
            <a:ext cx="85111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initiation site.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299" y="3705433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5784" y="3193017"/>
            <a:ext cx="262981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5B6B7C"/>
                </a:solidFill>
                <a:latin typeface="Calibri"/>
              </a:rPr>
              <a:t>Cast Iron Welding — Why It's Difficult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784" y="3481235"/>
            <a:ext cx="316245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High carbon content means high carbon equivalent —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784" y="3648990"/>
            <a:ext cx="317250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virtually all cast irons have CE &gt; 1.0, requiring extreme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784" y="3816757"/>
            <a:ext cx="319541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preheat (400–600°C for gray iron) or cold welding with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784" y="3984511"/>
            <a:ext cx="35387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nickel-based filler. The primary risk is white iron formation in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784" y="4152265"/>
            <a:ext cx="327810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the HAZ as carbon migrates and cementite forms during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784" y="4320032"/>
            <a:ext cx="310769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rapid cooling. Pre-heat slow-cool and stress relief are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5784" y="4487787"/>
            <a:ext cx="319750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mandatory for structural welds in gray and ductile iron.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6139" y="3705433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0624" y="3193017"/>
            <a:ext cx="226744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2E4A6B"/>
                </a:solidFill>
                <a:latin typeface="Calibri"/>
              </a:rPr>
              <a:t>Stainless Contamination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624" y="3481235"/>
            <a:ext cx="343020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Stainless steel passive layers are destroyed by contact with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0624" y="3648990"/>
            <a:ext cx="32986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steel particles (rust transfer), chloride-containing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00624" y="3816757"/>
            <a:ext cx="33067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cleaners, and abrasive contamination. In fabrication: use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0624" y="3984511"/>
            <a:ext cx="351275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dedicated stainless tools, discs, and wire brushes. Never use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0624" y="4152265"/>
            <a:ext cx="345492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steel wire brushes on stainless. Pickle and passivate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00624" y="4320032"/>
            <a:ext cx="340269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welds and heat-affected zones on austenitic stainless after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00624" y="4487787"/>
            <a:ext cx="269300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fabrication to restore full corrosion resistance.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57247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26728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296244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65724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35203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806275"/>
            <a:ext cx="4625866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 —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17" y="1622134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695" y="1598067"/>
            <a:ext cx="398904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threshold makes stainless 'stainless,' and why that exact value?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695" y="1821462"/>
            <a:ext cx="745899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≥ 10.5% Cr. Below this, not enough Cr₂O₃ forms to maintain a complete passive layer. Above this, the layer forms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695" y="2011898"/>
            <a:ext cx="319572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spontaneously and self-repairs when scratched.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17" y="231693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695" y="2292871"/>
            <a:ext cx="281829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304 or 316 for a chloride-brine tank — and why?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95" y="2516253"/>
            <a:ext cx="766410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316. The 2–3% Mo addition dramatically improves resistance to chloride pitting and crevice corrosion — exactly the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95" y="2706702"/>
            <a:ext cx="249796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failure mode seawater causes in 304.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17" y="3012098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695" y="2987675"/>
            <a:ext cx="46513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Same melt, two castings: one gray iron, one white iron. What determined which?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695" y="3211426"/>
            <a:ext cx="786256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Cooling rate and silicon content. Slow cooling + higher Si → graphite flakes form (gray iron). Rapid cooling + lower Si →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695" y="3401862"/>
            <a:ext cx="297473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carbon stays as cementite/Fe₃C (white iron).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17" y="3706890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695" y="3682835"/>
            <a:ext cx="377562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Why gray cast iron for engine blocks despite low tensile strength?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695" y="3906218"/>
            <a:ext cx="711399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Graphite flakes provide outstanding vibration damping and excellent compressive strength — the loads are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695" y="4096654"/>
            <a:ext cx="414274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compressive. Graphite also self-lubricates and aids machining.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17" y="440169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95" y="4377627"/>
            <a:ext cx="38267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Martensitic stainless HAZ cracks after welding. What went wrong?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695" y="4601378"/>
            <a:ext cx="745564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Missing preheat (200–300°C) and/or PWHT. Without preheat, hydrogen is trapped in brittle martensite. Without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695" y="4791814"/>
            <a:ext cx="428499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PWHT (temper 650–750°C), the HAZ remains hard and fractures.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987477"/>
            <a:ext cx="832067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1700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191988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266975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41964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169157"/>
            <a:ext cx="402120" cy="40212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394796"/>
            <a:ext cx="2578639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17" y="121965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695" y="1183377"/>
            <a:ext cx="5143517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Stainless steel is a family — the grade determines the microstructure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695" y="1462947"/>
            <a:ext cx="71906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Specifying 'stainless' without a grade is insufficient. The microstructure (FCC austenite, BCC ferrite, BCT martensite)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695" y="1645827"/>
            <a:ext cx="727032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determines magnetic behavior, hardness response, toughness, and corrosion resistance in each service environment.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17" y="1969530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695" y="1933261"/>
            <a:ext cx="554347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10.5% chromium creates the passive layer — everything else is fine-tuning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95" y="2212831"/>
            <a:ext cx="758449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Ni stabilizes austenite. Mo improves chloride resistance. C enables hardening. Si and Cr content determine which phase is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95" y="2395711"/>
            <a:ext cx="696956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stable. Every grade decision traces back to what the passive layer needs to survive in the intended environment.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17" y="2719414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695" y="2683145"/>
            <a:ext cx="543766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Cast iron's properties are determined by the form its excess carbon takes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695" y="2962703"/>
            <a:ext cx="745627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Graphite flakes (gray) → damping and machinability but brittle. Spheroids (ductile) → strength and toughness. Carbides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695" y="3145583"/>
            <a:ext cx="684880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(white) → extreme hardness but very brittle. Temper carbon (malleable) → improved ductility after annealing.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17" y="346929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695" y="3432661"/>
            <a:ext cx="4871959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Cast iron is not failed steel — it is a deliberate engineering choice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695" y="3712587"/>
            <a:ext cx="773419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When damping, castability, or wear resistance is the priority, cast iron outperforms steel. The engineer chooses the material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695" y="3895467"/>
            <a:ext cx="60159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based on service requirements — a technician who understands why helps avoid misapplication.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17" y="421881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95" y="4182545"/>
            <a:ext cx="169950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B83232"/>
                </a:solidFill>
                <a:latin typeface="Calibri"/>
              </a:rPr>
              <a:t>Safety is not optional!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695" y="4462103"/>
            <a:ext cx="772368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PPE is mandatory in the shop — no exceptions. We work with heat, sharp edges, and hazardous materials every lab session.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695" y="4644983"/>
            <a:ext cx="237662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Protect yourself and your classmates.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79" y="1481406"/>
            <a:ext cx="4068724" cy="3401276"/>
          </a:xfrm>
          <a:prstGeom prst="rect">
            <a:avLst/>
          </a:prstGeom>
          <a:solidFill>
            <a:srgbClr val="24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19040" y="2303997"/>
            <a:ext cx="3565804" cy="36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696" y="806275"/>
            <a:ext cx="4314942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144" y="1563313"/>
            <a:ext cx="159327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5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136" y="2192908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214" y="2215968"/>
            <a:ext cx="337934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Moniz Ch. 16 &amp; 17 — Cast Irons &amp; Stainless Steels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136" y="2391269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214" y="2414329"/>
            <a:ext cx="307232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Kalpakjian Ch. 6 — Ferrous Metals and Alloys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144" y="3063069"/>
            <a:ext cx="961838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136" y="3509784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214" y="3532856"/>
            <a:ext cx="275688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Iron-Carbon Phase Diagram (Interactive)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136" y="3708145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214" y="3731217"/>
            <a:ext cx="309000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AISI/SAE Steel Designation Codes (Reference)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6340" y="1635677"/>
            <a:ext cx="1897017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Coming Up — Week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6340" y="1784639"/>
            <a:ext cx="3031376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Nonferrous Metals &amp; Phase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6340" y="2089553"/>
            <a:ext cx="1062869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Diagrams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6345" y="281402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9422" y="2834547"/>
            <a:ext cx="330328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Aluminum, copper, and titanium — why each family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9422" y="3017427"/>
            <a:ext cx="136940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exists alongside steel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6345" y="317978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9422" y="3200307"/>
            <a:ext cx="321359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Reading the iron-carbon phase diagram — phases,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9422" y="3383187"/>
            <a:ext cx="24541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regions, and key transformation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6345" y="354554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9422" y="3566067"/>
            <a:ext cx="323566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From equilibrium to real-world cooling — how CCT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9422" y="3748947"/>
            <a:ext cx="225205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diagrams show what actually 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6345" y="391130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9422" y="3931827"/>
            <a:ext cx="288099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Unit 2 Quiz covers Weeks 4–6 — review steel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9422" y="4114707"/>
            <a:ext cx="296353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grades, heat treatment, and nonferrous metals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2186" y="4791503"/>
            <a:ext cx="599859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Unit 2 covers Weeks 4 – 6  ·  Review cast irons, stainless steels, and ferrous metals before Week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