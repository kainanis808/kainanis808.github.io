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428084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21164"/>
            <a:ext cx="3823106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600">
                <a:solidFill>
                  <a:srgbClr val="CADCFC"/>
                </a:solidFill>
                <a:latin typeface="Calibri"/>
              </a:rPr>
              <a:t>Atomic Structure &amp;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22219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August 24,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822606"/>
            <a:ext cx="5074564" cy="411443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59" y="822606"/>
            <a:ext cx="3245764" cy="411443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06084" y="3181682"/>
            <a:ext cx="274283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8424" y="158292"/>
            <a:ext cx="26259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1 —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940" y="957540"/>
            <a:ext cx="560480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2E4A6B"/>
                </a:solidFill>
                <a:latin typeface="Calibri"/>
              </a:rPr>
              <a:t>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44" y="1329367"/>
            <a:ext cx="137033" cy="262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022" y="1353348"/>
            <a:ext cx="3282023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What is metallurgy — and why does it matter?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44" y="1534917"/>
            <a:ext cx="137033" cy="262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022" y="1558909"/>
            <a:ext cx="3815814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atom: protons, neutrons, electrons, valence shells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944" y="1740479"/>
            <a:ext cx="137033" cy="262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022" y="1764472"/>
            <a:ext cx="3480289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Periodic Table — groups, periods, and metals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944" y="1946041"/>
            <a:ext cx="137033" cy="262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022" y="1970021"/>
            <a:ext cx="3023611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Atomic bonding — metallic, ionic, covalent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44" y="2151603"/>
            <a:ext cx="137033" cy="262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022" y="2175583"/>
            <a:ext cx="1811744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Alloys and solid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44" y="2357166"/>
            <a:ext cx="137033" cy="262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022" y="2381146"/>
            <a:ext cx="2739837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Crystal structures — SC, BCC, FCC, HCP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44" y="2562715"/>
            <a:ext cx="137033" cy="262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022" y="2586708"/>
            <a:ext cx="2018921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Grains and grain boundaries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3740" y="957540"/>
            <a:ext cx="872224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2E4A6B"/>
                </a:solidFill>
                <a:latin typeface="Calibri"/>
              </a:rPr>
              <a:t>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3384" y="1398863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3744" y="1833381"/>
            <a:ext cx="123585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A2433"/>
                </a:solidFill>
                <a:latin typeface="Calibri"/>
              </a:rPr>
              <a:t>Moniz 5th — Ch.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3744" y="2016261"/>
            <a:ext cx="126722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Structure of Metals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3744" y="2382021"/>
            <a:ext cx="149763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A2433"/>
                </a:solidFill>
                <a:latin typeface="Calibri"/>
              </a:rPr>
              <a:t>Kalpakjian 6th — Ch.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3744" y="2564901"/>
            <a:ext cx="186631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Structure and 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3744" y="2747781"/>
            <a:ext cx="132996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Properties of Metals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3384" y="3319103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3744" y="38655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6822" y="3886107"/>
            <a:ext cx="197398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Crystal Structures Visualization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3744" y="40484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6822" y="4068987"/>
            <a:ext cx="170032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Periodic Table of Elements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3744" y="423134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6822" y="4251867"/>
            <a:ext cx="179474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Grain Boundaries and 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39788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327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1  ·  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242226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Atomic Structure &amp; Bonding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551592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Research 1018 low-carbon steel (normalized): composition, mechanical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1828814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properties, and how normalizing produces its grain structure.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2137163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A — 1018 low-carbon steel (normalized)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4637234"/>
            <a:ext cx="17650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124" y="1481406"/>
            <a:ext cx="8320672" cy="141695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3063242"/>
            <a:ext cx="2788564" cy="18741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37559" y="3063242"/>
            <a:ext cx="2788564" cy="18741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3063242"/>
            <a:ext cx="2788563" cy="18741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240440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What is Metallurgy?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416" y="837559"/>
            <a:ext cx="8134250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600">
                <a:solidFill>
                  <a:srgbClr val="1C2B3A"/>
                </a:solidFill>
                <a:latin typeface="Calibri"/>
              </a:rPr>
              <a:t>The science of metals — understanding structure, properties, and behavior so we can choose, test,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16" y="1081272"/>
            <a:ext cx="314466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600">
                <a:solidFill>
                  <a:srgbClr val="1C2B3A"/>
                </a:solidFill>
                <a:latin typeface="Calibri"/>
              </a:rPr>
              <a:t>treat, and work with them effectively.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024" y="1609258"/>
            <a:ext cx="28538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E07B39"/>
                </a:solidFill>
                <a:latin typeface="Calibri"/>
              </a:rPr>
              <a:t>The Bronze Example — The First Alloy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024" y="2017500"/>
            <a:ext cx="770936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A2433"/>
                </a:solidFill>
                <a:latin typeface="Calibri"/>
              </a:rPr>
              <a:t>Copper: abundant, conductive — but weak. Adding ~10–20% Tin disrupts copper's crystal lattice, creating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024" y="2230974"/>
            <a:ext cx="767362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A2433"/>
                </a:solidFill>
                <a:latin typeface="Calibri"/>
              </a:rPr>
              <a:t>Bronze: significantly harder and stronger than either metal alone, while keeping copper's workability and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024" y="2444461"/>
            <a:ext cx="387410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1A2433"/>
                </a:solidFill>
                <a:latin typeface="Calibri"/>
              </a:rPr>
              <a:t>corrosion resistance. The first alloy in human history.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40" y="3198059"/>
            <a:ext cx="116793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2E4A6B"/>
                </a:solidFill>
                <a:latin typeface="Calibri"/>
              </a:rPr>
              <a:t>Why use alloys?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940" y="3810815"/>
            <a:ext cx="205200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Pure metals rarely provide the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40" y="4001264"/>
            <a:ext cx="220187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properties we need. Alloys let us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940" y="4191701"/>
            <a:ext cx="221536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engineer the material for the job.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2020" y="3198059"/>
            <a:ext cx="149362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2E4A6B"/>
                </a:solidFill>
                <a:latin typeface="Calibri"/>
              </a:rPr>
              <a:t>How do alloys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2020" y="3810815"/>
            <a:ext cx="253924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Adding a second element disrupts the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2020" y="4001264"/>
            <a:ext cx="259655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crystal structure, blocking deformation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2020" y="4191701"/>
            <a:ext cx="167112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and changing properties.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8100" y="3198059"/>
            <a:ext cx="134177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2E4A6B"/>
                </a:solidFill>
                <a:latin typeface="Calibri"/>
              </a:rPr>
              <a:t>What comes next?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8100" y="3810815"/>
            <a:ext cx="245002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Carbon in iron → steel. Chromium in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100" y="4001264"/>
            <a:ext cx="231872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steel → stainless. Every unit in this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8100" y="4191701"/>
            <a:ext cx="174257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course builds on this idea.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124" y="1234086"/>
            <a:ext cx="54355" cy="42011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124" y="1919886"/>
            <a:ext cx="54355" cy="42011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124" y="2605686"/>
            <a:ext cx="54355" cy="42011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3309837"/>
            <a:ext cx="5074564" cy="1581480"/>
          </a:xfrm>
          <a:prstGeom prst="rect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7435" y="2441157"/>
            <a:ext cx="694804" cy="694804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91795" y="2679117"/>
            <a:ext cx="201244" cy="20124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28355" y="2679117"/>
            <a:ext cx="201244" cy="20124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14755" y="1865517"/>
            <a:ext cx="201244" cy="20124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96035" y="1572478"/>
            <a:ext cx="237604" cy="23760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424" y="158292"/>
            <a:ext cx="119755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The Atom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424" y="866101"/>
            <a:ext cx="1917720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1C2B3A"/>
                </a:solidFill>
                <a:latin typeface="Calibri"/>
              </a:rPr>
              <a:t>Three key components: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659" y="1238825"/>
            <a:ext cx="64954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E07B39"/>
                </a:solidFill>
                <a:latin typeface="Calibri"/>
              </a:rPr>
              <a:t>Protons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304" y="1448087"/>
            <a:ext cx="464953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Positive charge — inside the nucleus — defines the element (atomic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304" y="1646449"/>
            <a:ext cx="65536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number)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659" y="1924625"/>
            <a:ext cx="76372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E07B39"/>
                </a:solidFill>
                <a:latin typeface="Calibri"/>
              </a:rPr>
              <a:t>Neutrons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304" y="2133888"/>
            <a:ext cx="443340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No charge — inside the nucleus — defines mass. Isotopes vary in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304" y="2332249"/>
            <a:ext cx="107342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neutron count.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659" y="2610425"/>
            <a:ext cx="75554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E07B39"/>
                </a:solidFill>
                <a:latin typeface="Calibri"/>
              </a:rPr>
              <a:t>Electrons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304" y="2918697"/>
            <a:ext cx="454990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Negative charge — orbit in energy bands/shells around the nucleus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304" y="3438059"/>
            <a:ext cx="293548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3B6FBA"/>
                </a:solidFill>
                <a:latin typeface="Calibri"/>
              </a:rPr>
              <a:t>Valence Electrons — The Bonding Shell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304" y="3855779"/>
            <a:ext cx="426717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outermost electrons — the only ones involved in bonding.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304" y="4054128"/>
            <a:ext cx="378946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Carbon has 4 valence electrons, bonding in 4 directions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304" y="4252489"/>
            <a:ext cx="444365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simultaneously. This is why adding carbon to iron creates steel —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304" y="4450850"/>
            <a:ext cx="4155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carbon atoms sit between iron atoms and block deformation.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7382" y="2688621"/>
            <a:ext cx="2842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p⁺ 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6660" y="1405827"/>
            <a:ext cx="66883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valence e⁻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804242"/>
            <a:ext cx="2788564" cy="13712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804597"/>
            <a:ext cx="2788564" cy="41112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804242"/>
            <a:ext cx="2788564" cy="13712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804597"/>
            <a:ext cx="2788564" cy="41112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804242"/>
            <a:ext cx="2788564" cy="13712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804597"/>
            <a:ext cx="2788564" cy="4111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59" y="2697126"/>
            <a:ext cx="2788564" cy="228563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" y="2697482"/>
            <a:ext cx="2788564" cy="41112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697126"/>
            <a:ext cx="2788564" cy="228563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697482"/>
            <a:ext cx="2788564" cy="41112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697126"/>
            <a:ext cx="2788564" cy="228563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697482"/>
            <a:ext cx="2788564" cy="411124"/>
          </a:xfrm>
          <a:prstGeom prst="rect">
            <a:avLst/>
          </a:prstGeom>
          <a:solidFill>
            <a:srgbClr val="7C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217839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The Periodic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864" y="896103"/>
            <a:ext cx="117328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Periods (Rows)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864" y="1299098"/>
            <a:ext cx="246970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Organized by electron shells. Moving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864" y="1489534"/>
            <a:ext cx="242858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down adds shells — each period is a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864" y="1679984"/>
            <a:ext cx="105703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new shell level.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8944" y="896103"/>
            <a:ext cx="139984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Groups (Columns)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8944" y="1299098"/>
            <a:ext cx="253241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Organized by valence electrons. Same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8944" y="1489534"/>
            <a:ext cx="250701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group = similar bonding behavior and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8944" y="1679984"/>
            <a:ext cx="138614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chemical properties.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5024" y="896103"/>
            <a:ext cx="183253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Our Focus: Groups 3–12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024" y="1299098"/>
            <a:ext cx="245843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Transition metals — Fe, Cu, Ni, Cr, Ti,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024" y="1489534"/>
            <a:ext cx="235000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Mo, and all engineering metals live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024" y="1679984"/>
            <a:ext cx="41007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here.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704" y="2340779"/>
            <a:ext cx="259438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1C2B3A"/>
                </a:solidFill>
                <a:latin typeface="Calibri"/>
              </a:rPr>
              <a:t>Classification by the staircase line: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864" y="2788619"/>
            <a:ext cx="58250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Metals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864" y="3225635"/>
            <a:ext cx="120854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100">
                <a:solidFill>
                  <a:srgbClr val="2E4A6B"/>
                </a:solidFill>
                <a:latin typeface="Calibri"/>
              </a:rPr>
              <a:t>Left of the staircase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856" y="369170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934" y="3712231"/>
            <a:ext cx="153692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Electrically &amp; thermally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934" y="3895111"/>
            <a:ext cx="75006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conductive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2856" y="405746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934" y="4077991"/>
            <a:ext cx="140793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Malleable and ductile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2856" y="424034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934" y="4260872"/>
            <a:ext cx="152809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Lustrous (shiny surface)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856" y="442322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934" y="4443752"/>
            <a:ext cx="199347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Solid at room temp (except Hg)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8944" y="2788619"/>
            <a:ext cx="86064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Metalloids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8944" y="3225635"/>
            <a:ext cx="114764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100">
                <a:solidFill>
                  <a:srgbClr val="5B6B7C"/>
                </a:solidFill>
                <a:latin typeface="Calibri"/>
              </a:rPr>
              <a:t>The staircase itself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8936" y="360026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2014" y="3620791"/>
            <a:ext cx="209033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Properties depend on conditions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8936" y="378314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2014" y="3803672"/>
            <a:ext cx="192068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Semiconducting — critical for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22014" y="3986552"/>
            <a:ext cx="7468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electronics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8936" y="414890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22014" y="4169431"/>
            <a:ext cx="199043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Behavior: part metal, part non-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22014" y="4352311"/>
            <a:ext cx="42919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8936" y="451466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22014" y="4535191"/>
            <a:ext cx="150753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Si, Ge, As, Sb, Te, Po, 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5024" y="2788619"/>
            <a:ext cx="93426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Non-metals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15024" y="3225635"/>
            <a:ext cx="12997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100">
                <a:solidFill>
                  <a:srgbClr val="64748B"/>
                </a:solidFill>
                <a:latin typeface="Calibri"/>
              </a:rPr>
              <a:t>Right of the staircase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5016" y="378314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48094" y="3803672"/>
            <a:ext cx="16809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Poor electrical conductors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5016" y="396602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094" y="3986552"/>
            <a:ext cx="16840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Brittle (if solid) or gaseous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5016" y="414890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48094" y="4169431"/>
            <a:ext cx="87372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Non-lustrous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5016" y="433178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8094" y="4352311"/>
            <a:ext cx="143291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Tend to gain electrons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785877"/>
            <a:ext cx="8412111" cy="575640"/>
          </a:xfrm>
          <a:prstGeom prst="rect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462686"/>
            <a:ext cx="2788564" cy="3474351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1463042"/>
            <a:ext cx="278856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564" y="3456002"/>
            <a:ext cx="2568955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462686"/>
            <a:ext cx="2788564" cy="347435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463042"/>
            <a:ext cx="2788564" cy="43848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644" y="3456002"/>
            <a:ext cx="2568955" cy="270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2686"/>
            <a:ext cx="2788564" cy="347435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2"/>
            <a:ext cx="2788564" cy="438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724" y="3456002"/>
            <a:ext cx="2568955" cy="27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190937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Atomic Bonding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576" y="848224"/>
            <a:ext cx="781162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400">
                <a:solidFill>
                  <a:srgbClr val="2E4A6B"/>
                </a:solidFill>
                <a:latin typeface="Calibri"/>
              </a:rPr>
              <a:t>The Octet Rule: Atoms are most stable with 8 valence electrons — they bond (lose, gain, or share electrons)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061698"/>
            <a:ext cx="192873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400">
                <a:solidFill>
                  <a:srgbClr val="2E4A6B"/>
                </a:solidFill>
                <a:latin typeface="Calibri"/>
              </a:rPr>
              <a:t>to reach that stable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864" y="1563538"/>
            <a:ext cx="110001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Metallic Bond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864" y="2020591"/>
            <a:ext cx="96402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Metal + Metal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864" y="2524133"/>
            <a:ext cx="254355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Electrons leave individual atoms and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864" y="2722495"/>
            <a:ext cx="215359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form a shared 'electron sea' —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864" y="2920856"/>
            <a:ext cx="250671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flowing freely through the structure.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864" y="3573031"/>
            <a:ext cx="113786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Effect on material: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864" y="4030779"/>
            <a:ext cx="235253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Conducts heat &amp; electricity · Bends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864" y="4221215"/>
            <a:ext cx="244382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without fracturing · Atoms slide past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864" y="4411665"/>
            <a:ext cx="76935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each other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3656" y="4642955"/>
            <a:ext cx="128244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← Our primary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8944" y="1563538"/>
            <a:ext cx="85939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Ionic Bond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8944" y="2020591"/>
            <a:ext cx="126539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3B6FBA"/>
                </a:solidFill>
                <a:latin typeface="Calibri"/>
              </a:rPr>
              <a:t>Metal + Non-metal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8944" y="2524133"/>
            <a:ext cx="248886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One atom gives away electrons; the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8944" y="2722495"/>
            <a:ext cx="257099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other takes them. Creates oppositely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8944" y="2920856"/>
            <a:ext cx="23132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charged ions that attract strongly.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8944" y="3573031"/>
            <a:ext cx="113786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Effect on material: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8944" y="4030779"/>
            <a:ext cx="247906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High melting point · Hard but brittle ·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8944" y="4221215"/>
            <a:ext cx="208454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Conducts only when molten or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8944" y="4411665"/>
            <a:ext cx="67076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dissolved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024" y="1563538"/>
            <a:ext cx="115087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Covalent Bond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024" y="2020591"/>
            <a:ext cx="156616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Non-metal + Non-metal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024" y="2524133"/>
            <a:ext cx="242970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Neither atom gives up electrons —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024" y="2722495"/>
            <a:ext cx="233271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they share them instead, forming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5024" y="2920856"/>
            <a:ext cx="173784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strong directional bonds.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5024" y="3573031"/>
            <a:ext cx="113786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Effect on material: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5024" y="4030779"/>
            <a:ext cx="243875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Extremely strong · Poor conductors ·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5024" y="4221215"/>
            <a:ext cx="254449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Can be very hard (diamond = covalent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5024" y="4411665"/>
            <a:ext cx="66044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network)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44677"/>
            <a:ext cx="4160164" cy="35200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44677"/>
            <a:ext cx="416016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638882"/>
            <a:ext cx="3885844" cy="27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600" y="1444677"/>
            <a:ext cx="4160164" cy="35200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00600" y="1444677"/>
            <a:ext cx="4160164" cy="438480"/>
          </a:xfrm>
          <a:prstGeom prst="rect">
            <a:avLst/>
          </a:prstGeom>
          <a:solidFill>
            <a:srgbClr val="B0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59" y="3638882"/>
            <a:ext cx="3885844" cy="27000"/>
          </a:xfrm>
          <a:prstGeom prst="rect">
            <a:avLst/>
          </a:prstGeom>
          <a:solidFill>
            <a:srgbClr val="B0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303855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Alloys and Solid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416" y="829385"/>
            <a:ext cx="7822587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500">
                <a:solidFill>
                  <a:srgbClr val="1C2B3A"/>
                </a:solidFill>
                <a:latin typeface="Calibri"/>
              </a:rPr>
              <a:t>An alloy is an intentional mixture of two or more elements engineered for desired properties — most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16" y="1057985"/>
            <a:ext cx="2378386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500">
                <a:solidFill>
                  <a:srgbClr val="1C2B3A"/>
                </a:solidFill>
                <a:latin typeface="Calibri"/>
              </a:rPr>
              <a:t>engineering metals are alloys.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40" y="1545174"/>
            <a:ext cx="216633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Substitutional Solid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940" y="2011587"/>
            <a:ext cx="362491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200">
                <a:solidFill>
                  <a:srgbClr val="2E4A6B"/>
                </a:solidFill>
                <a:latin typeface="Calibri"/>
              </a:rPr>
              <a:t>Works when atoms are within ~15% of each other in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40" y="2624933"/>
            <a:ext cx="398263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Added atoms swap into lattice positions of the host — like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940" y="2823294"/>
            <a:ext cx="355763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replacing similarly sized bricks. The crystal structure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40" y="3021656"/>
            <a:ext cx="163837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remains but is strained.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940" y="3748947"/>
            <a:ext cx="6538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4A6B"/>
                </a:solidFill>
                <a:latin typeface="Calibri"/>
              </a:rPr>
              <a:t>Example: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940" y="4210731"/>
            <a:ext cx="151576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Copper-Nickel (Cu-Ni)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940" y="4409092"/>
            <a:ext cx="105706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Brass (Cu + Zn)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940" y="4607454"/>
            <a:ext cx="262072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Many stainless steel alloying additions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5059" y="1545174"/>
            <a:ext cx="189512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Interstitial Solid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5059" y="2011587"/>
            <a:ext cx="333769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1200">
                <a:solidFill>
                  <a:srgbClr val="E07B39"/>
                </a:solidFill>
                <a:latin typeface="Calibri"/>
              </a:rPr>
              <a:t>Added atoms are much smaller than the host atoms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5059" y="2624933"/>
            <a:ext cx="387506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Small atoms fit into gaps between host atoms — no host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5059" y="2823294"/>
            <a:ext cx="394776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atom is displaced. Even tiny amounts dramatically change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5059" y="3021656"/>
            <a:ext cx="80821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properties.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5059" y="3748947"/>
            <a:ext cx="65382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Example: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5059" y="4210731"/>
            <a:ext cx="158136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Carbon in Iron → Steel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5059" y="4409092"/>
            <a:ext cx="396726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Carbon atoms sit in gaps between Fe atoms, stiffening the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5059" y="4607454"/>
            <a:ext cx="163011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lattice and blocking slip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3964" y="1417322"/>
            <a:ext cx="2102751" cy="35200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964" y="1417322"/>
            <a:ext cx="2102751" cy="475195"/>
          </a:xfrm>
          <a:prstGeom prst="rect">
            <a:avLst/>
          </a:prstGeom>
          <a:solidFill>
            <a:srgbClr val="888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3755" y="3135962"/>
            <a:ext cx="1883168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86875" y="1417322"/>
            <a:ext cx="2102764" cy="35200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86875" y="1417322"/>
            <a:ext cx="2102764" cy="47519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96680" y="3135962"/>
            <a:ext cx="1883156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99799" y="1417322"/>
            <a:ext cx="2102764" cy="35200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9799" y="1417322"/>
            <a:ext cx="2102764" cy="47519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9235" y="3135962"/>
            <a:ext cx="1883168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12356" y="1417322"/>
            <a:ext cx="2102763" cy="352008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12356" y="1417322"/>
            <a:ext cx="2102763" cy="475195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22160" y="3135962"/>
            <a:ext cx="1883155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358554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Crystal Structures — Unit Cells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16" y="811021"/>
            <a:ext cx="7951890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When metals solidify, atoms arrange into repeating 3D patterns. The unit cell is the smallest repeating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416" y="1039621"/>
            <a:ext cx="3238398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building block — like a tile in a tiled floor.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055" y="1498076"/>
            <a:ext cx="329602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055" y="2106696"/>
            <a:ext cx="85145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4748B"/>
                </a:solidFill>
                <a:latin typeface="Calibri"/>
              </a:rPr>
              <a:t>Simple Cubic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055" y="2497857"/>
            <a:ext cx="96601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1A2433"/>
                </a:solidFill>
                <a:latin typeface="Calibri"/>
              </a:rPr>
              <a:t>Packing: 52%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55" y="2808893"/>
            <a:ext cx="85943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Ductility: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055" y="3643829"/>
            <a:ext cx="159540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Atoms at 8 corners only.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055" y="3826709"/>
            <a:ext cx="162281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Teaching example — not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055" y="4009589"/>
            <a:ext cx="165905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found in real engineering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055" y="4192469"/>
            <a:ext cx="5269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metals.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3980" y="1498076"/>
            <a:ext cx="487693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BCC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3980" y="2018850"/>
            <a:ext cx="97905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4A6B"/>
                </a:solidFill>
                <a:latin typeface="Calibri"/>
              </a:rPr>
              <a:t>Body-Centered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83980" y="2194173"/>
            <a:ext cx="40682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4A6B"/>
                </a:solidFill>
                <a:latin typeface="Calibri"/>
              </a:rPr>
              <a:t>Cubic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3980" y="2497857"/>
            <a:ext cx="96601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1A2433"/>
                </a:solidFill>
                <a:latin typeface="Calibri"/>
              </a:rPr>
              <a:t>Packing: 68%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3980" y="2808893"/>
            <a:ext cx="98336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Ductility: 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3980" y="3735269"/>
            <a:ext cx="16371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Corners + 1 center atom.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83980" y="3918149"/>
            <a:ext cx="1387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Stronger, less ductile.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83980" y="4101029"/>
            <a:ext cx="186174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Fe (room temp), W, Cr, Mo,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6535" y="1498076"/>
            <a:ext cx="459226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FCC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6535" y="2018850"/>
            <a:ext cx="94397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Face-Centered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6535" y="2194173"/>
            <a:ext cx="40682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Cubic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96535" y="2497857"/>
            <a:ext cx="96601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1A2433"/>
                </a:solidFill>
                <a:latin typeface="Calibri"/>
              </a:rPr>
              <a:t>Packing: 74%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6535" y="2808893"/>
            <a:ext cx="101426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Ductility: 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6535" y="3643829"/>
            <a:ext cx="198571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Corners + center + face atoms.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96535" y="3826709"/>
            <a:ext cx="164367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Most ductile — most slip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6535" y="4009589"/>
            <a:ext cx="51645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planes.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96535" y="4192469"/>
            <a:ext cx="189007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Al, Cu, Ni, Fe (&gt;912°C), Au, 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09460" y="1498076"/>
            <a:ext cx="505484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HCP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09460" y="2018850"/>
            <a:ext cx="70953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3A2E"/>
                </a:solidFill>
                <a:latin typeface="Calibri"/>
              </a:rPr>
              <a:t>Hexagonal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09460" y="2194173"/>
            <a:ext cx="87118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3A2E"/>
                </a:solidFill>
                <a:latin typeface="Calibri"/>
              </a:rPr>
              <a:t>Close-Packed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9460" y="2497857"/>
            <a:ext cx="9660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1A2433"/>
                </a:solidFill>
                <a:latin typeface="Calibri"/>
              </a:rPr>
              <a:t>Packing: 74%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09460" y="2808893"/>
            <a:ext cx="102054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Ductility: Med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09460" y="3735269"/>
            <a:ext cx="18139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Same packing as FCC, fewer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09460" y="3918149"/>
            <a:ext cx="165098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slip planes → less ductile.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09460" y="4101029"/>
            <a:ext cx="91651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Ti, Mg, Zn, 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124" y="1207086"/>
            <a:ext cx="54355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124" y="1956957"/>
            <a:ext cx="54355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124" y="2706486"/>
            <a:ext cx="54355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124" y="3337562"/>
            <a:ext cx="5028831" cy="1599844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959766"/>
            <a:ext cx="1325524" cy="1005471"/>
          </a:xfrm>
          <a:prstGeom prst="rect">
            <a:avLst/>
          </a:prstGeom>
          <a:solidFill>
            <a:srgbClr val="1E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1924" y="914046"/>
            <a:ext cx="1371231" cy="1188351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19" y="1005486"/>
            <a:ext cx="776884" cy="1005471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8924" y="2011326"/>
            <a:ext cx="1645551" cy="1005471"/>
          </a:xfrm>
          <a:prstGeom prst="rect">
            <a:avLst/>
          </a:prstGeom>
          <a:solidFill>
            <a:srgbClr val="4A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7684" y="2057046"/>
            <a:ext cx="1462671" cy="914031"/>
          </a:xfrm>
          <a:prstGeom prst="rect">
            <a:avLst/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044" y="2971446"/>
            <a:ext cx="1279791" cy="1188351"/>
          </a:xfrm>
          <a:prstGeom prst="rect">
            <a:avLst/>
          </a:prstGeom>
          <a:solidFill>
            <a:srgbClr val="6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4764" y="3017166"/>
            <a:ext cx="1554111" cy="1096911"/>
          </a:xfrm>
          <a:prstGeom prst="rect">
            <a:avLst/>
          </a:prstGeom>
          <a:solidFill>
            <a:srgbClr val="1E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2057046"/>
            <a:ext cx="776884" cy="2011311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8924" y="4069081"/>
            <a:ext cx="2377071" cy="658076"/>
          </a:xfrm>
          <a:prstGeom prst="rect">
            <a:avLst/>
          </a:prstGeom>
          <a:solidFill>
            <a:srgbClr val="2E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204" y="4069081"/>
            <a:ext cx="914031" cy="658076"/>
          </a:xfrm>
          <a:prstGeom prst="rect">
            <a:avLst/>
          </a:prstGeom>
          <a:solidFill>
            <a:srgbClr val="6B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8424" y="158292"/>
            <a:ext cx="337658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Grains and Grain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424" y="847749"/>
            <a:ext cx="2300117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1C2B3A"/>
                </a:solidFill>
                <a:latin typeface="Calibri"/>
              </a:rPr>
              <a:t>From unit cell to bulk metal: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304" y="1238457"/>
            <a:ext cx="70432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1C2B3A"/>
                </a:solidFill>
                <a:latin typeface="Calibri"/>
              </a:rPr>
              <a:t>Unit Cell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304" y="1565093"/>
            <a:ext cx="468886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Single repeating building block (~0.3 nm). All atoms perfectly aligned.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304" y="1987985"/>
            <a:ext cx="113558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1C2B3A"/>
                </a:solidFill>
                <a:latin typeface="Calibri"/>
              </a:rPr>
              <a:t>Crystal / Grain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304" y="2215968"/>
            <a:ext cx="441985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Millions of unit cells — all with the same orientation. One crystal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304" y="2414329"/>
            <a:ext cx="62562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domain.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304" y="2737857"/>
            <a:ext cx="162107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1C2B3A"/>
                </a:solidFill>
                <a:latin typeface="Calibri"/>
              </a:rPr>
              <a:t>Polycrystalline Metal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304" y="3064848"/>
            <a:ext cx="465829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Countless grains packed together, each pointing a different direction.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304" y="3465414"/>
            <a:ext cx="179802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E07B39"/>
                </a:solidFill>
                <a:latin typeface="Calibri"/>
              </a:rPr>
              <a:t>Why Grain Size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304" y="3767933"/>
            <a:ext cx="463053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Grain boundaries block dislocation movement — the mechanism by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304" y="3966295"/>
            <a:ext cx="427692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which deformation spreads through metal. More boundaries =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304" y="4164656"/>
            <a:ext cx="228016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stronger barriers to deformation.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1304" y="4465901"/>
            <a:ext cx="4598590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1C2B3A"/>
                </a:solidFill>
                <a:latin typeface="Calibri"/>
              </a:rPr>
              <a:t>Smaller grains → more boundaries → stronger, tougher material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5140" y="4832787"/>
            <a:ext cx="250259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Grain boundaries = white lines between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097281"/>
            <a:ext cx="832067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280162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212926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14567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59" y="4078086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696" y="477231"/>
            <a:ext cx="2578639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215" y="1333916"/>
            <a:ext cx="204807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64" y="1286229"/>
            <a:ext cx="2667659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Metallic bonding explains metals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064" y="1640328"/>
            <a:ext cx="727668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Shared electron sea → electrical and thermal conductivity. Non-directional bonding → ductility. This is what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7064" y="1838689"/>
            <a:ext cx="124427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separates metals.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215" y="2266680"/>
            <a:ext cx="204807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064" y="2218981"/>
            <a:ext cx="2205851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Navigate the periodic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064" y="2573092"/>
            <a:ext cx="778793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Transition metals (Groups 3–12) are the focus. Elements in the same column share behavior — useful for predicting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64" y="2771453"/>
            <a:ext cx="91214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alloy effects.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215" y="3199432"/>
            <a:ext cx="204807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064" y="3151745"/>
            <a:ext cx="2411713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Structure exists at every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64" y="3604852"/>
            <a:ext cx="78441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Atoms arrange into unit cells → unit cells form grains → grains make bulk metal. Each level determines performance.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215" y="4131840"/>
            <a:ext cx="204807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064" y="4084141"/>
            <a:ext cx="2007988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Know BCC, FCC, and HCP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064" y="4438252"/>
            <a:ext cx="753098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FCC is most ductile (74%, many slip planes). BCC is stronger but less ductile. HCP has 74% packing but fewer slip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064" y="4636613"/>
            <a:ext cx="214599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planes — less ductile than FCC.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79" y="1481406"/>
            <a:ext cx="4068724" cy="3401276"/>
          </a:xfrm>
          <a:prstGeom prst="rect">
            <a:avLst/>
          </a:prstGeom>
          <a:solidFill>
            <a:srgbClr val="24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19040" y="2303997"/>
            <a:ext cx="3565804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696" y="806275"/>
            <a:ext cx="4314942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144" y="1563313"/>
            <a:ext cx="159327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1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136" y="2093543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214" y="2116616"/>
            <a:ext cx="237864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Moniz Ch. 4 — Structure of Metals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136" y="2291905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214" y="2314977"/>
            <a:ext cx="332811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Kalpakjian Ch. 3 — Structure and Manufacturing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214" y="2513338"/>
            <a:ext cx="143298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Properties of Metals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44" y="3063069"/>
            <a:ext cx="96183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136" y="3509784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214" y="3532856"/>
            <a:ext cx="212864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Crystal Structures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136" y="3708145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214" y="3731217"/>
            <a:ext cx="183319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Periodic Table of Elements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6340" y="1635677"/>
            <a:ext cx="1897017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Coming Up — Week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6340" y="1936912"/>
            <a:ext cx="3669843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Mechanical Properties &amp; Behavior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6345" y="29054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9422" y="2925987"/>
            <a:ext cx="302536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Stress and strain — the language of mechanical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9422" y="3108867"/>
            <a:ext cx="6178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6345" y="32712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9422" y="3291747"/>
            <a:ext cx="309099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Elastic vs. plastic deformation and the yield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6345" y="34541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9422" y="3474627"/>
            <a:ext cx="30888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Crystal defects — point, line, planar, and volume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9422" y="3657507"/>
            <a:ext cx="41092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6345" y="38198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9422" y="3840387"/>
            <a:ext cx="327846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Grain boundaries, Hall-Petch, and diffusion through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9422" y="4023267"/>
            <a:ext cx="75295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solid metal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0664" y="4791503"/>
            <a:ext cx="56614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Unit 1 covers Weeks 1 – 2  ·  Review atomic bonding and crystal structures before Week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