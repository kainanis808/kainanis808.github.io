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67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3063242"/>
            <a:ext cx="4571631" cy="453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2696" y="1003499"/>
            <a:ext cx="2505719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E07B39"/>
                </a:solidFill>
                <a:latin typeface="Calibri"/>
              </a:rPr>
              <a:t>M E C H 1 9 1 — M e t a l l u r g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2696" y="1382427"/>
            <a:ext cx="2428084" cy="9805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6000">
                <a:solidFill>
                  <a:srgbClr val="FFFFFF"/>
                </a:solidFill>
                <a:latin typeface="Calibri"/>
              </a:rPr>
              <a:t>Week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696" y="2449334"/>
            <a:ext cx="3573252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2200">
                <a:solidFill>
                  <a:srgbClr val="CADCFC"/>
                </a:solidFill>
                <a:latin typeface="Calibri"/>
              </a:rPr>
              <a:t>Quality Standards &amp; Inspection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696" y="3311813"/>
            <a:ext cx="330432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CADCFC"/>
                </a:solidFill>
                <a:latin typeface="Calibri"/>
              </a:rPr>
              <a:t>October 19, 2026  ·  5:00 – 7:30 PM  ·  Kai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1435686"/>
            <a:ext cx="5303151" cy="45351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404" y="1627202"/>
            <a:ext cx="639711" cy="63972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404" y="2724482"/>
            <a:ext cx="639711" cy="63972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404" y="3821762"/>
            <a:ext cx="639711" cy="63972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696" y="782571"/>
            <a:ext cx="2696648" cy="6397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800">
                <a:solidFill>
                  <a:srgbClr val="FFFFFF"/>
                </a:solidFill>
                <a:latin typeface="Calibri"/>
              </a:rPr>
              <a:t>Class Agenda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1622" y="1767484"/>
            <a:ext cx="35751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5664" y="1657693"/>
            <a:ext cx="457280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Standards, Codes &amp; Defect Recognition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5664" y="1927495"/>
            <a:ext cx="7268148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CADCFC"/>
                </a:solidFill>
                <a:latin typeface="Calibri"/>
              </a:rPr>
              <a:t>ASTM, AWS, ASME, ISO, and API — what each governs; manufacturing and service defects and how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5664" y="2140982"/>
            <a:ext cx="1299192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CADCFC"/>
                </a:solidFill>
                <a:latin typeface="Calibri"/>
              </a:rPr>
              <a:t>each is identified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622" y="2864764"/>
            <a:ext cx="35751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5664" y="2754973"/>
            <a:ext cx="3455081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Indication → Defect → Reject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5664" y="3131696"/>
            <a:ext cx="6012965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CADCFC"/>
                </a:solidFill>
                <a:latin typeface="Calibri"/>
              </a:rPr>
              <a:t>Precise definitions and the evaluation sequence from detection to final disposition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622" y="3962044"/>
            <a:ext cx="35751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5664" y="3852253"/>
            <a:ext cx="3140520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Inspection Documentation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5664" y="4122055"/>
            <a:ext cx="7117875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CADCFC"/>
                </a:solidFill>
                <a:latin typeface="Calibri"/>
              </a:rPr>
              <a:t>What a valid inspection report must contain, traceability, record retention, and non-conformance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5664" y="4335542"/>
            <a:ext cx="602245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CADCFC"/>
                </a:solidFill>
                <a:latin typeface="Calibri"/>
              </a:rPr>
              <a:t>reports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9143631" cy="621360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749886"/>
            <a:ext cx="4151160" cy="4187519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600" y="749517"/>
            <a:ext cx="4151160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475" y="1791718"/>
            <a:ext cx="3858488" cy="3635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749886"/>
            <a:ext cx="4315676" cy="4187519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749517"/>
            <a:ext cx="4315676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17796" y="2559966"/>
            <a:ext cx="4023004" cy="3636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4534918"/>
            <a:ext cx="4315676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704" y="144840"/>
            <a:ext cx="3397884" cy="36088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1" i="0" sz="2000">
                <a:solidFill>
                  <a:srgbClr val="E07B39"/>
                </a:solidFill>
                <a:latin typeface="Calibri"/>
              </a:rPr>
              <a:t>Alloy Research Portfolio — Module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6344" y="193848"/>
            <a:ext cx="2224316" cy="2523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300">
                <a:solidFill>
                  <a:srgbClr val="64748B"/>
                </a:solidFill>
                <a:latin typeface="Calibri"/>
              </a:rPr>
              <a:t>No Microscope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775" y="831872"/>
            <a:ext cx="132707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Module 8  ·  Week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9775" y="1352353"/>
            <a:ext cx="1572973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FFFFFF"/>
                </a:solidFill>
                <a:latin typeface="Calibri"/>
              </a:rPr>
              <a:t>Quality Standards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9775" y="1963827"/>
            <a:ext cx="135659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What to do this week: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9775" y="2582361"/>
            <a:ext cx="3949852" cy="2133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Research published ASTM E112 grain size and E45 inclusion ratings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775" y="2742204"/>
            <a:ext cx="1467981" cy="2133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typical for normalized 1018 steel.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9775" y="3435871"/>
            <a:ext cx="42845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Steps: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775" y="3838821"/>
            <a:ext cx="1965187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1  Research — record data &amp; sources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9775" y="3991462"/>
            <a:ext cx="2314392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2  Answer — short-answer questions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9775" y="4144104"/>
            <a:ext cx="1640508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3  Apply — critical-thinking &amp; equations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5096" y="831872"/>
            <a:ext cx="1597840" cy="2365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Alloys of Record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5096" y="1309034"/>
            <a:ext cx="2212153" cy="2133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· Alloy A — 1018 steel (normalized)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5096" y="2731707"/>
            <a:ext cx="1535518" cy="22120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How to Complete This Module: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5096" y="3219620"/>
            <a:ext cx="1771904" cy="2058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1  Research the alloy(s) using credible sources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5096" y="3372261"/>
            <a:ext cx="1562482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2  Record data with a source citation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5096" y="3524903"/>
            <a:ext cx="2208537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3  Answer the short-answer questions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5096" y="3677544"/>
            <a:ext cx="1728317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4  Answer the critical-thinking questions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5096" y="3830185"/>
            <a:ext cx="2548850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5  Keep the module with your portfolio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5096" y="4637234"/>
            <a:ext cx="176501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Portfolio Handout — Module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79" y="731522"/>
            <a:ext cx="1691284" cy="502564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79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79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97557" y="731522"/>
            <a:ext cx="1691284" cy="502564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97557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97557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97557" y="288000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879" y="731522"/>
            <a:ext cx="1691284" cy="502564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1879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79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11879" y="2880006"/>
            <a:ext cx="1691284" cy="785876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26557" y="731522"/>
            <a:ext cx="1691284" cy="502564"/>
          </a:xfrm>
          <a:prstGeom prst="rect">
            <a:avLst/>
          </a:prstGeom>
          <a:solidFill>
            <a:srgbClr val="6B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26557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26557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26557" y="288000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26557" y="370296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731522"/>
            <a:ext cx="1691284" cy="502564"/>
          </a:xfrm>
          <a:prstGeom prst="rect">
            <a:avLst/>
          </a:prstGeom>
          <a:solidFill>
            <a:srgbClr val="5B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40880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40880" y="288000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2879" y="4580638"/>
            <a:ext cx="8549284" cy="484199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8424" y="158292"/>
            <a:ext cx="4418042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MECH 191 — Course &amp; Unit Roadmap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3255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3255" y="1010671"/>
            <a:ext cx="131468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Materials Fundamentals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5900" y="129398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2E4A6B"/>
                </a:solidFill>
                <a:latin typeface="Calibri"/>
              </a:rPr>
              <a:t>Wk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3255" y="1476863"/>
            <a:ext cx="4318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Aug 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3255" y="1651356"/>
            <a:ext cx="103716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Atomic Structure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3255" y="1819110"/>
            <a:ext cx="67107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&amp; Bonding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5900" y="211694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2E4A6B"/>
                </a:solidFill>
                <a:latin typeface="Calibri"/>
              </a:rPr>
              <a:t>Wk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3255" y="2299823"/>
            <a:ext cx="4318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Aug 31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3255" y="2474316"/>
            <a:ext cx="72764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Mechanical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3255" y="2642070"/>
            <a:ext cx="66199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Properties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57946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57946" y="1010671"/>
            <a:ext cx="77651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Steel &amp; Alloys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30577" y="1293983"/>
            <a:ext cx="3431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Wk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57946" y="1476863"/>
            <a:ext cx="41943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Sep 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57946" y="1651356"/>
            <a:ext cx="61436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Carbon &amp;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57946" y="1819110"/>
            <a:ext cx="72456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Alloy Steels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30577" y="2116943"/>
            <a:ext cx="3431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Wk 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57946" y="2299823"/>
            <a:ext cx="41943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Sep 21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57946" y="2474316"/>
            <a:ext cx="69663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Stainless &amp;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57946" y="2642070"/>
            <a:ext cx="63308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Cast Irons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30577" y="2939903"/>
            <a:ext cx="3431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Wk 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57946" y="3122783"/>
            <a:ext cx="41943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Sep 28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57946" y="3297276"/>
            <a:ext cx="84566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Nonferrous &amp;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57946" y="3465030"/>
            <a:ext cx="97584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Phase Diagrams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72255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72255" y="1010671"/>
            <a:ext cx="94730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Testing &amp; Quality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44900" y="129398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5219"/>
                </a:solidFill>
                <a:latin typeface="Calibri"/>
              </a:rPr>
              <a:t>Wk 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72255" y="1476863"/>
            <a:ext cx="34776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Oct 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72255" y="1651356"/>
            <a:ext cx="72764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Mechanical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72255" y="1819110"/>
            <a:ext cx="47078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Testing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44900" y="211694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5219"/>
                </a:solidFill>
                <a:latin typeface="Calibri"/>
              </a:rPr>
              <a:t>Wk 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72255" y="2299823"/>
            <a:ext cx="41193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Oct 12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72255" y="2558187"/>
            <a:ext cx="86145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NDT Methods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44900" y="2939903"/>
            <a:ext cx="78312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Wk 9  ← here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72255" y="3122783"/>
            <a:ext cx="41193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Oct 19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72255" y="3297276"/>
            <a:ext cx="48488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Quality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72255" y="3465030"/>
            <a:ext cx="64104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Standards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86946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86946" y="1010671"/>
            <a:ext cx="83522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Manufacturing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59577" y="129398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3A2E"/>
                </a:solidFill>
                <a:latin typeface="Calibri"/>
              </a:rPr>
              <a:t>Wk 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86946" y="1476863"/>
            <a:ext cx="41193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Oct 26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86946" y="1735227"/>
            <a:ext cx="48754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Casting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59577" y="211694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3A2E"/>
                </a:solidFill>
                <a:latin typeface="Calibri"/>
              </a:rPr>
              <a:t>Wk 11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86946" y="2299823"/>
            <a:ext cx="37368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86946" y="2558187"/>
            <a:ext cx="54397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Forming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59577" y="293990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3A2E"/>
                </a:solidFill>
                <a:latin typeface="Calibri"/>
              </a:rPr>
              <a:t>Wk 12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86946" y="3122783"/>
            <a:ext cx="37368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86946" y="3381147"/>
            <a:ext cx="67163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Machining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59577" y="3762862"/>
            <a:ext cx="407360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3A2E"/>
                </a:solidFill>
                <a:latin typeface="Calibri"/>
              </a:rPr>
              <a:t>Wk 13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86946" y="3945743"/>
            <a:ext cx="43785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16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86946" y="4120236"/>
            <a:ext cx="50863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Powder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86946" y="4287990"/>
            <a:ext cx="69034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Metallurgy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01255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01255" y="1010671"/>
            <a:ext cx="92125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Joining &amp; Failure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73900" y="129398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2E6B"/>
                </a:solidFill>
                <a:latin typeface="Calibri"/>
              </a:rPr>
              <a:t>Wk 14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01255" y="1476863"/>
            <a:ext cx="43785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23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101255" y="1651356"/>
            <a:ext cx="54201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Welding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01255" y="1819110"/>
            <a:ext cx="63168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Processes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073900" y="211694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2E6B"/>
                </a:solidFill>
                <a:latin typeface="Calibri"/>
              </a:rPr>
              <a:t>Wk 15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101255" y="2299823"/>
            <a:ext cx="43785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30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101255" y="2474316"/>
            <a:ext cx="101621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Weld Metallurgy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01255" y="2642070"/>
            <a:ext cx="58405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&amp; Failure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073900" y="293990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2E6B"/>
                </a:solidFill>
                <a:latin typeface="Calibri"/>
              </a:rPr>
              <a:t>Wk 16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01255" y="3122783"/>
            <a:ext cx="36288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Dec 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101255" y="3297276"/>
            <a:ext cx="627636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Corrosion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101255" y="3465030"/>
            <a:ext cx="69900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&amp; Wrap-up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559936" y="4699854"/>
            <a:ext cx="1843553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Week 17  ·  FINAL EXAM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804242"/>
            <a:ext cx="5120271" cy="411444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404" y="804597"/>
            <a:ext cx="5120271" cy="43848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23204" y="804242"/>
            <a:ext cx="3291471" cy="411444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23204" y="804597"/>
            <a:ext cx="3291471" cy="4384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06084" y="2267282"/>
            <a:ext cx="2834271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06084" y="3346198"/>
            <a:ext cx="2834271" cy="26999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06084" y="4205886"/>
            <a:ext cx="2834271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8424" y="158292"/>
            <a:ext cx="2625936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Week 9 — At a Glance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584" y="905094"/>
            <a:ext cx="529153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Topics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576" y="1359630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8654" y="1380143"/>
            <a:ext cx="408816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Quality standards — ASTM, AWS, ASME, ISO, and API: what each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8654" y="1563023"/>
            <a:ext cx="426542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organization governs and why using the wrong standard is a serious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8654" y="1745903"/>
            <a:ext cx="38777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error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576" y="1908270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8654" y="1928783"/>
            <a:ext cx="396679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Manufacturing weld defects — porosity, slag inclusions, lack of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8654" y="2111663"/>
            <a:ext cx="357953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fusion, lack of penetration, cracks, undercut, and overlap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576" y="2274030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8654" y="2294543"/>
            <a:ext cx="397273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Service defects — fatigue cracks, stress corrosion cracking, and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8654" y="2477423"/>
            <a:ext cx="94879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creep damage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576" y="2639790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654" y="2660303"/>
            <a:ext cx="422492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Precise terminology: indication vs. discontinuity vs. defect vs. reject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576" y="2822670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8654" y="2843183"/>
            <a:ext cx="367790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The evaluation sequence: detection → characterization →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8654" y="3026063"/>
            <a:ext cx="160134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evaluation → disposition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576" y="3188430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8654" y="3208943"/>
            <a:ext cx="425796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Inspection documentation — minimum report content, traceability,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8654" y="3391823"/>
            <a:ext cx="300846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record retention, and non-conformance reports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93384" y="905094"/>
            <a:ext cx="821342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Resources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93384" y="1389871"/>
            <a:ext cx="127956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Reference Material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93384" y="1737267"/>
            <a:ext cx="88316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Moniz Ch. 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93384" y="1920147"/>
            <a:ext cx="130727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Materials Standards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93384" y="2358983"/>
            <a:ext cx="110336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Reference Pages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93384" y="2670031"/>
            <a:ext cx="171951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Quality Standards &amp; Codes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93384" y="2852911"/>
            <a:ext cx="224048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Reading Inspection Documentation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93384" y="3035791"/>
            <a:ext cx="124240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Defect Recognition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93384" y="3438267"/>
            <a:ext cx="77549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Unit 3 Quiz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93384" y="3730583"/>
            <a:ext cx="119534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Covers Weeks 7–9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93384" y="3913463"/>
            <a:ext cx="145834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Scheduled this session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93384" y="4279223"/>
            <a:ext cx="197383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Next: Unit 4 — Manufacturing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1243446"/>
            <a:ext cx="8320671" cy="45351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404" y="1773721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404" y="2541602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404" y="3309837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404" y="4077718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2696" y="660111"/>
            <a:ext cx="2642450" cy="5466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200">
                <a:solidFill>
                  <a:srgbClr val="FFFFFF"/>
                </a:solidFill>
                <a:latin typeface="Calibri"/>
              </a:rPr>
              <a:t>Core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696" y="1400577"/>
            <a:ext cx="614694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CADCFC"/>
                </a:solidFill>
                <a:latin typeface="Calibri"/>
              </a:rPr>
              <a:t>Try to answer these before we dive in — we'll revisit them with answers at the end of class.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17" y="1823379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700" y="1967568"/>
            <a:ext cx="7174236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What is a quality standard and why does it exist — what problem does it solve for a technician in the field?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17" y="2591259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9700" y="2636808"/>
            <a:ext cx="6980740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What are the most common defects a technician will encounter and how is each one recognized during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9700" y="2835169"/>
            <a:ext cx="843077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inspection?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617" y="3359494"/>
            <a:ext cx="191871" cy="3296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9700" y="3404688"/>
            <a:ext cx="704171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What is the difference between an indication, a discontinuity, a defect, and a reject — and why does the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9700" y="3603049"/>
            <a:ext cx="133995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distinction matter?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17" y="4127375"/>
            <a:ext cx="191871" cy="3296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700" y="4172936"/>
            <a:ext cx="7177708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What does good inspection documentation look like, and why is an incomplete inspection report a serious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9700" y="4371297"/>
            <a:ext cx="718156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problem?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597"/>
            <a:ext cx="8631720" cy="33645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804242"/>
            <a:ext cx="8631720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1035" y="1243446"/>
            <a:ext cx="1023848" cy="255600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1243446"/>
            <a:ext cx="2212556" cy="255600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20515" y="1243446"/>
            <a:ext cx="2596680" cy="255600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54280" y="1243446"/>
            <a:ext cx="2559963" cy="255600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0680" y="1517766"/>
            <a:ext cx="8503564" cy="4751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0680" y="2011682"/>
            <a:ext cx="8503564" cy="475195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0680" y="2505597"/>
            <a:ext cx="8503564" cy="4752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0680" y="2999157"/>
            <a:ext cx="8503564" cy="4752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0680" y="3493086"/>
            <a:ext cx="8503564" cy="4751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5600" y="4278962"/>
            <a:ext cx="8631720" cy="76788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5600" y="4278962"/>
            <a:ext cx="182524" cy="7678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8424" y="158292"/>
            <a:ext cx="6765801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Quality Standards &amp; Codes — Knowing Which Rules Apply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780" y="881701"/>
            <a:ext cx="1838398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Major Standards Bodies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704" y="1268667"/>
            <a:ext cx="37063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Body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3255" y="1268667"/>
            <a:ext cx="55528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Governs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62895" y="1268667"/>
            <a:ext cx="98464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Key Standard(s)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6659" y="1268667"/>
            <a:ext cx="130519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Technician Relevance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704" y="1656442"/>
            <a:ext cx="39960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A2433"/>
                </a:solidFill>
                <a:latin typeface="Calibri"/>
              </a:rPr>
              <a:t>ASTM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3255" y="1656442"/>
            <a:ext cx="171333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Material specs &amp; test methods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62895" y="1656442"/>
            <a:ext cx="95596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A36, A370, E165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6659" y="1576521"/>
            <a:ext cx="225864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Acceptance criteria for base metals; test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6659" y="1736363"/>
            <a:ext cx="199704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procedures for mechanical and NDT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704" y="2150358"/>
            <a:ext cx="33260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A2433"/>
                </a:solidFill>
                <a:latin typeface="Calibri"/>
              </a:rPr>
              <a:t>AWS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3255" y="2150358"/>
            <a:ext cx="156321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Welding codes &amp; inspection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62895" y="2150358"/>
            <a:ext cx="117747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D1.1 Structural Steel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6659" y="2070437"/>
            <a:ext cx="205152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Weld acceptance criteria, inspection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96659" y="2230279"/>
            <a:ext cx="192870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requirements, welder qualification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704" y="2643918"/>
            <a:ext cx="39827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A2433"/>
                </a:solidFill>
                <a:latin typeface="Calibri"/>
              </a:rPr>
              <a:t>ASME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3255" y="2643918"/>
            <a:ext cx="185025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Pressure vessels, boilers &amp; piping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62895" y="2643918"/>
            <a:ext cx="146238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BPVC Sec. V (NDT), Sec. IX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6659" y="2563997"/>
            <a:ext cx="219657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NDT methods and procedures; welding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6659" y="2723839"/>
            <a:ext cx="203420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qualification for pressure equipment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704" y="3137834"/>
            <a:ext cx="26374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A2433"/>
                </a:solidFill>
                <a:latin typeface="Calibri"/>
              </a:rPr>
              <a:t>ISO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3255" y="3137834"/>
            <a:ext cx="197826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International standards (global use)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62895" y="3137834"/>
            <a:ext cx="114017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9606, 17636, 17640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6659" y="3057913"/>
            <a:ext cx="242807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Welder qualification, RT and UT of welds —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96659" y="3217755"/>
            <a:ext cx="168589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used on international projects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2704" y="3631394"/>
            <a:ext cx="26214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A2433"/>
                </a:solidFill>
                <a:latin typeface="Calibri"/>
              </a:rPr>
              <a:t>API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13255" y="3631394"/>
            <a:ext cx="101830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Oil &amp; gas industry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62895" y="3631394"/>
            <a:ext cx="87245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1104, 570, 650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96659" y="3551473"/>
            <a:ext cx="242806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Pipeline welding, piping inspection, storage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96659" y="3711315"/>
            <a:ext cx="150074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tank fabrication and repair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5584" y="4354368"/>
            <a:ext cx="4637311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E07B39"/>
                </a:solidFill>
                <a:latin typeface="Calibri"/>
              </a:rPr>
              <a:t>Using the wrong standard is as serious an error as missing a defect.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5584" y="4597534"/>
            <a:ext cx="810003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Acceptance criteria differ between codes — a weld accepted under AWS D1.1 may be rejectable under ASME Section VIII, or vice versa.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5584" y="4772857"/>
            <a:ext cx="314404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Know your governing document before you inspect.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955" y="804242"/>
            <a:ext cx="4187520" cy="1956599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955" y="804597"/>
            <a:ext cx="4187520" cy="347040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00155" y="804242"/>
            <a:ext cx="4187520" cy="1956599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00155" y="804597"/>
            <a:ext cx="4187520" cy="347040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5955" y="2871002"/>
            <a:ext cx="4187520" cy="19566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5955" y="2871357"/>
            <a:ext cx="4187520" cy="347040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0155" y="2871002"/>
            <a:ext cx="4187520" cy="19566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00155" y="2871357"/>
            <a:ext cx="4187520" cy="34704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8424" y="158292"/>
            <a:ext cx="6581702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Common Weld Defects — Manufacturing Discontinuities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704" y="854345"/>
            <a:ext cx="681027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Porosity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704" y="1187724"/>
            <a:ext cx="339383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Cause: 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Gas trapped in weld pool — moisture in consumables,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704" y="1347553"/>
            <a:ext cx="389444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contaminated base metal, inadequate shielding gas, or excessive travel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704" y="1507395"/>
            <a:ext cx="43223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speed.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704" y="1667237"/>
            <a:ext cx="401721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Appears: 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Rounded voids — dark circular spots on RT; round bleed-out on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04" y="1827080"/>
            <a:ext cx="231152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PT; discrete point reflectors on UT A-scan.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704" y="1986922"/>
            <a:ext cx="344103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Risk: 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Reduces cross-sectional area; acts as stress concentrator.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704" y="2146751"/>
            <a:ext cx="281380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Acceptance criteria limit size, number, and spacing.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96535" y="854345"/>
            <a:ext cx="1150341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Slag Inclusions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96535" y="1187724"/>
            <a:ext cx="405516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Cause: 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Flux or slag from SMAW/FCAW not fully removed between passes,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6535" y="1347553"/>
            <a:ext cx="196201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or trapped by poor bead geometry.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96535" y="1507395"/>
            <a:ext cx="371980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Appears: 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Irregular elongated dark indications on RT; irregular linear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96535" y="1667237"/>
            <a:ext cx="331263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bleed-out on PT if surface-breaking; elongated UT reflectors.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96535" y="1827080"/>
            <a:ext cx="363418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Risk: 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Reduces cross-section; can initiate fatigue cracks. Planar slag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96535" y="1986922"/>
            <a:ext cx="262360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inclusions are more serious than rounded ones.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704" y="2920737"/>
            <a:ext cx="1539985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Lack of Fusion (LOF)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704" y="3254115"/>
            <a:ext cx="394060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Cause: 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Insufficient heat input, incorrect travel speed, or poor technique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704" y="3413957"/>
            <a:ext cx="340081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— weld metal does not fuse with base metal or previous pass.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704" y="3573800"/>
            <a:ext cx="400056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Appears: 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Linear indication parallel to fusion face on RT (may be missed if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704" y="3733642"/>
            <a:ext cx="375711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beam isn't parallel); strong planar reflector on UT. Not detectable by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704" y="3893471"/>
            <a:ext cx="175875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PT/MT unless surface-breaking.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704" y="4053313"/>
            <a:ext cx="385767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Risk: 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Pre-existing planar crack with a sharp tip — most standards have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704" y="4213156"/>
            <a:ext cx="127617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zero tolerance for LOF.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96535" y="2920737"/>
            <a:ext cx="1938696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Lack of Penetration (LOP)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96535" y="3254115"/>
            <a:ext cx="374067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Cause: 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Insufficient heat or incorrect joint preparation — incomplete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96535" y="3413957"/>
            <a:ext cx="133278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fusion at the weld root.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96535" y="3573800"/>
            <a:ext cx="364254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Appears: 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Continuous or intermittent linear indication at weld root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96535" y="3733642"/>
            <a:ext cx="400433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centerline on RT; detectable by UT; visible to VT on root side if accessible.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96535" y="3893471"/>
            <a:ext cx="406001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Risk: 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Reduces effective throat and creates a sharp root notch — serious in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96535" y="4053313"/>
            <a:ext cx="154843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cyclically loaded structures.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955" y="804597"/>
            <a:ext cx="4251604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955" y="804597"/>
            <a:ext cx="4251604" cy="438480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99799" y="804597"/>
            <a:ext cx="4205884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99799" y="804597"/>
            <a:ext cx="4205884" cy="438480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8424" y="158292"/>
            <a:ext cx="7560584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Weld Defects — Cracks, Undercut &amp; Overlap; and Service Defects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7416" y="881701"/>
            <a:ext cx="2013390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Fabrication Defects (cont.)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7416" y="1343783"/>
            <a:ext cx="181895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B83232"/>
                </a:solidFill>
                <a:latin typeface="Calibri"/>
              </a:rPr>
              <a:t>Cracks — always rejectable: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416" y="1554449"/>
            <a:ext cx="380689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Hot cracks (solidification), cold/hydrogen-induced cracks (HAZ,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7416" y="1729772"/>
            <a:ext cx="369069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&lt;300°C), lamellar tearing, crater cracks. Appear as fine linear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7416" y="1905096"/>
            <a:ext cx="357917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indications on RT, linear bleed-out on PT/MT, strong planar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416" y="2080419"/>
            <a:ext cx="372533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reflectors on UT. A crack is rejectable in virtually all standards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7416" y="2255730"/>
            <a:ext cx="253409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regardless of size — no minimum applies.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416" y="2532503"/>
            <a:ext cx="70711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B83232"/>
                </a:solidFill>
                <a:latin typeface="Calibri"/>
              </a:rPr>
              <a:t>Undercut: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416" y="2831015"/>
            <a:ext cx="387369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Groove at the weld toe caused by excessive current or incorrect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416" y="3006338"/>
            <a:ext cx="353737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technique. Visible to VT; detectable by PT. Creates a stress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7416" y="3181649"/>
            <a:ext cx="390994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concentration especially dangerous in fatigue-loaded structures.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7416" y="3356973"/>
            <a:ext cx="260162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Acceptance criteria limit depth and length.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7416" y="3721223"/>
            <a:ext cx="61559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B83232"/>
                </a:solidFill>
                <a:latin typeface="Calibri"/>
              </a:rPr>
              <a:t>Overlap: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7416" y="4019735"/>
            <a:ext cx="391769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Weld metal rolled over base metal without fusing — low current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7416" y="4195058"/>
            <a:ext cx="384811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or slow travel. Visible to VT as a lip at the toe; detectable by PT.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7416" y="4370369"/>
            <a:ext cx="395408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Creates a sharp notch similar to undercut. No acceptance criteria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7416" y="4545693"/>
            <a:ext cx="171002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— no overlap is acceptable.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51615" y="881701"/>
            <a:ext cx="1845334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Service-Induced Defects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51615" y="1343783"/>
            <a:ext cx="99631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6B5219"/>
                </a:solidFill>
                <a:latin typeface="Calibri"/>
              </a:rPr>
              <a:t>Fatigue cracks: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51615" y="1505135"/>
            <a:ext cx="358078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Initiate at stress concentrations (notches, weld toes, holes,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51615" y="1680458"/>
            <a:ext cx="378965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surface scratches) and propagate perpendicular to the applied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51615" y="1855769"/>
            <a:ext cx="366628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cyclic stress. Often invisible to VT until large — PT, MT, or UT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51615" y="2031093"/>
            <a:ext cx="174978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required for early detection.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51615" y="2221823"/>
            <a:ext cx="203429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6B5219"/>
                </a:solidFill>
                <a:latin typeface="Calibri"/>
              </a:rPr>
              <a:t>Stress corrosion cracking (SCC):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51615" y="2382819"/>
            <a:ext cx="395554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Branching crack networks forming in susceptible alloys under the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51615" y="2558130"/>
            <a:ext cx="377474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simultaneous presence of stress and a corrosive environment.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51615" y="2733453"/>
            <a:ext cx="368967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Common in austenitic stainless (chlorides) and high-strength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51615" y="2908777"/>
            <a:ext cx="301687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steels. Appears as branching linear PT indications.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51615" y="3099507"/>
            <a:ext cx="102219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6B5219"/>
                </a:solidFill>
                <a:latin typeface="Calibri"/>
              </a:rPr>
              <a:t>Creep damage: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51615" y="3260859"/>
            <a:ext cx="384387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Occurs at elevated temperature under sustained stress — grain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51615" y="3436170"/>
            <a:ext cx="370443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boundary cavitation progresses to cracking over time. Visible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51615" y="3611493"/>
            <a:ext cx="382078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metallographically in cross-section; later-stage damage may be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51615" y="3786817"/>
            <a:ext cx="144634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detectable by UT or RT.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51615" y="3977547"/>
            <a:ext cx="117235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6B5219"/>
                </a:solidFill>
                <a:latin typeface="Calibri"/>
              </a:rPr>
              <a:t>Corrosion pitting: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51615" y="4138531"/>
            <a:ext cx="377298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Localised material loss — pits act as stress concentrations and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51615" y="4313854"/>
            <a:ext cx="359130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can initiate fatigue or SCC cracks. VT reveals visible pits; UT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51615" y="4489177"/>
            <a:ext cx="380865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thickness surveys map remaining wall. Severity assessed by pit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51615" y="4664488"/>
            <a:ext cx="117681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depth and density.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7236" y="804597"/>
            <a:ext cx="2066048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37236" y="804597"/>
            <a:ext cx="2066048" cy="475208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395" y="2907362"/>
            <a:ext cx="1846808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31795" y="804597"/>
            <a:ext cx="2066048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31795" y="804597"/>
            <a:ext cx="2066048" cy="475208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41955" y="2907362"/>
            <a:ext cx="1846808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26355" y="804597"/>
            <a:ext cx="2066048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26355" y="804597"/>
            <a:ext cx="2066048" cy="475208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36515" y="2907362"/>
            <a:ext cx="1846808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20916" y="804597"/>
            <a:ext cx="2066048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20916" y="804597"/>
            <a:ext cx="2066048" cy="475208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31076" y="2907362"/>
            <a:ext cx="1846808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94560" y="1636917"/>
            <a:ext cx="347395" cy="347408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1636917"/>
            <a:ext cx="347395" cy="347408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1636917"/>
            <a:ext cx="347395" cy="347408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8424" y="158292"/>
            <a:ext cx="7882689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Indication → Discontinuity → Defect → Reject — Precise Definitions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8139" y="873065"/>
            <a:ext cx="166186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375" y="934373"/>
            <a:ext cx="757978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Indication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95" y="1396835"/>
            <a:ext cx="69160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5B6B7C"/>
                </a:solidFill>
                <a:latin typeface="Calibri"/>
              </a:rPr>
              <a:t>Definition: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4695" y="1792834"/>
            <a:ext cx="181347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Any response or evidence of a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4695" y="1960588"/>
            <a:ext cx="171653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discontinuity detected by an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4695" y="2128355"/>
            <a:ext cx="168329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NDT method. Simply means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4695" y="2296110"/>
            <a:ext cx="166290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something was found — no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4695" y="2463877"/>
            <a:ext cx="171556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judgment about significance.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4695" y="3006027"/>
            <a:ext cx="66269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5B6B7C"/>
                </a:solidFill>
                <a:latin typeface="Calibri"/>
              </a:rPr>
              <a:t>Key point: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4695" y="3585274"/>
            <a:ext cx="150088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Non-relevant indications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4695" y="3753028"/>
            <a:ext cx="175913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(caused by geometry — weld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4695" y="3920795"/>
            <a:ext cx="1792521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caps, threads, edges) must be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4695" y="4088550"/>
            <a:ext cx="141498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distinguished from real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4695" y="4256316"/>
            <a:ext cx="93491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discontinuities.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02699" y="873065"/>
            <a:ext cx="166186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9935" y="934373"/>
            <a:ext cx="977582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Discontinuity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29255" y="1396835"/>
            <a:ext cx="69160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3B6FBA"/>
                </a:solidFill>
                <a:latin typeface="Calibri"/>
              </a:rPr>
              <a:t>Definition: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29255" y="1876718"/>
            <a:ext cx="175006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 physical interruption in the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29255" y="2044472"/>
            <a:ext cx="150604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material — a void, crack,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29255" y="2212226"/>
            <a:ext cx="180411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inclusion, or boundary — that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29255" y="2379993"/>
            <a:ext cx="165745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may or may not be harmful.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29255" y="3006027"/>
            <a:ext cx="66269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3B6FBA"/>
                </a:solidFill>
                <a:latin typeface="Calibri"/>
              </a:rPr>
              <a:t>Key point: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29255" y="3669157"/>
            <a:ext cx="181026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Every defect is a discontinuity,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29255" y="3836912"/>
            <a:ext cx="185314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but not every discontinuity is a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29255" y="4004666"/>
            <a:ext cx="155675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defect. Evaluation against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29255" y="4172433"/>
            <a:ext cx="115071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criteria is required.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97259" y="873065"/>
            <a:ext cx="166185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34495" y="934373"/>
            <a:ext cx="519041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Defect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23815" y="1396835"/>
            <a:ext cx="69160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6B5219"/>
                </a:solidFill>
                <a:latin typeface="Calibri"/>
              </a:rPr>
              <a:t>Definition: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23815" y="1792834"/>
            <a:ext cx="176193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 discontinuity that has been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23815" y="1960588"/>
            <a:ext cx="132070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evaluated against the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23815" y="2128355"/>
            <a:ext cx="155451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acceptance criteria of the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23815" y="2296110"/>
            <a:ext cx="182925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applicable standard and found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23815" y="2463877"/>
            <a:ext cx="179880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to exceed the allowable limits.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23815" y="3006027"/>
            <a:ext cx="66269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6B5219"/>
                </a:solidFill>
                <a:latin typeface="Calibri"/>
              </a:rPr>
              <a:t>Key point: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23815" y="3585274"/>
            <a:ext cx="171430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The word 'defect' has a legal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23815" y="3753028"/>
            <a:ext cx="183037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meaning — it implies a finding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23815" y="3920795"/>
            <a:ext cx="195049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of non-conformance. Do not use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23815" y="4088550"/>
            <a:ext cx="181403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it casually before evaluation is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23815" y="4256316"/>
            <a:ext cx="644535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complete.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91819" y="873065"/>
            <a:ext cx="166185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29055" y="934373"/>
            <a:ext cx="1411337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Reject / Disposition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18376" y="1396835"/>
            <a:ext cx="69160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B83232"/>
                </a:solidFill>
                <a:latin typeface="Calibri"/>
              </a:rPr>
              <a:t>Definition: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18376" y="1708951"/>
            <a:ext cx="167323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The disposition applied to a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18376" y="1876718"/>
            <a:ext cx="178944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component containing one or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18376" y="2044472"/>
            <a:ext cx="187129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more defects — repair, rework,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18376" y="2212226"/>
            <a:ext cx="140520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scrap, or use-as-is with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18376" y="2379993"/>
            <a:ext cx="194923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engineering approval (fitness for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18376" y="2547747"/>
            <a:ext cx="55095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service).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18376" y="3006027"/>
            <a:ext cx="66269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B83232"/>
                </a:solidFill>
                <a:latin typeface="Calibri"/>
              </a:rPr>
              <a:t>Key point: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18376" y="3585274"/>
            <a:ext cx="181682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Finding an indication does not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18376" y="3753028"/>
            <a:ext cx="1928006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equal rejection. Every indication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918376" y="3920795"/>
            <a:ext cx="159180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must be evaluated against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18376" y="4088550"/>
            <a:ext cx="168706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acceptance criteria before a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18376" y="4256316"/>
            <a:ext cx="120239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disposition is made.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308225" y="1631048"/>
            <a:ext cx="172300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›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02784" y="1631048"/>
            <a:ext cx="172300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›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97344" y="1631048"/>
            <a:ext cx="172300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597"/>
            <a:ext cx="4937404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804597"/>
            <a:ext cx="4937404" cy="43848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40235" y="804597"/>
            <a:ext cx="3547440" cy="193824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40235" y="804597"/>
            <a:ext cx="3547440" cy="4384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40235" y="2853006"/>
            <a:ext cx="3547440" cy="20844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40235" y="2853006"/>
            <a:ext cx="3547440" cy="438480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8424" y="158292"/>
            <a:ext cx="7727643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Inspection Documentation — The Legal Record of Every Inspection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784" y="881701"/>
            <a:ext cx="1972131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Minimum Report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7420" y="1342148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498" y="1360831"/>
            <a:ext cx="406167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Component ID: drawing number, heat/lot number, weld ID or location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498" y="1528585"/>
            <a:ext cx="61911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reference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7420" y="1677657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98" y="1696352"/>
            <a:ext cx="192283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Applicable standard and revision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7420" y="1845424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498" y="1864106"/>
            <a:ext cx="316426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NDT method and written procedure reference number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7420" y="2013178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498" y="2031873"/>
            <a:ext cx="384545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Equipment used: make, model, serial number, calibration due 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7420" y="2180945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498" y="2199628"/>
            <a:ext cx="346652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Inspector name, certification level, and certification scheme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7420" y="2348700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498" y="2367395"/>
            <a:ext cx="220386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Date, time, and location of inspection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7420" y="2516467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498" y="2535149"/>
            <a:ext cx="367463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Environmental conditions (temperature, lighting for VT, surface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0498" y="2702916"/>
            <a:ext cx="65445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condition)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7420" y="2851988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0498" y="2870670"/>
            <a:ext cx="373316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Description of any indications: location, orientation, size/length,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0498" y="3038437"/>
            <a:ext cx="109764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detection method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7420" y="3187509"/>
            <a:ext cx="125784" cy="2237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0498" y="3206191"/>
            <a:ext cx="393485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Acceptance criteria applied and evaluation result for each indication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7420" y="3355264"/>
            <a:ext cx="125784" cy="2237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0498" y="3373946"/>
            <a:ext cx="360549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Final disposition: accept or reject, with repair or re-inspection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0498" y="3541713"/>
            <a:ext cx="84315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requirements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7420" y="3690785"/>
            <a:ext cx="125784" cy="2237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0498" y="3709467"/>
            <a:ext cx="170271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Inspector signature and date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92064" y="881701"/>
            <a:ext cx="1858848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Traceability &amp; Retention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92064" y="1273296"/>
            <a:ext cx="303558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Every record must link to the physical component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92064" y="1448607"/>
            <a:ext cx="325308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through unique identifiers — without traceability the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92064" y="1623931"/>
            <a:ext cx="310238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record is useless in an audit or failure investigation.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92064" y="1974578"/>
            <a:ext cx="329064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In most regulated industries records must be retained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92064" y="2149888"/>
            <a:ext cx="286925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for the design life of the equipment. Electronic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92064" y="2325212"/>
            <a:ext cx="303149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records must be backed up and protected against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92064" y="2500535"/>
            <a:ext cx="68892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alteration.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92064" y="2937048"/>
            <a:ext cx="2322634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Non-Conformance Reports (NCR)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92064" y="3298299"/>
            <a:ext cx="329108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When a component is rejected, a formal NCR is raised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92064" y="3473610"/>
            <a:ext cx="89998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documenting: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92064" y="3648933"/>
            <a:ext cx="206873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 Nature of the non-conformance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92064" y="3824256"/>
            <a:ext cx="320048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 Disposition: repair, rework, scrap, or use-as-is with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92064" y="3999567"/>
            <a:ext cx="132985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engineering approval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92064" y="4174891"/>
            <a:ext cx="252491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 Re-inspection requirements after repair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92064" y="4525538"/>
            <a:ext cx="330657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Verbal assurances are worthless in a quality audit — if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92064" y="4700849"/>
            <a:ext cx="227684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it isn't documented, it didn't happen.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3964" y="822606"/>
            <a:ext cx="8594991" cy="1371231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822606"/>
            <a:ext cx="200875" cy="1371231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3964" y="2267282"/>
            <a:ext cx="8594991" cy="137124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2267282"/>
            <a:ext cx="200875" cy="1371244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3964" y="3711957"/>
            <a:ext cx="8594991" cy="137124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711957"/>
            <a:ext cx="200875" cy="1371244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8424" y="158292"/>
            <a:ext cx="814193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Technician's Perspective — Documentation and Disposition in Practice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664" y="919660"/>
            <a:ext cx="4810503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B83232"/>
                </a:solidFill>
                <a:latin typeface="Calibri"/>
              </a:rPr>
              <a:t>Red Flag: Report missing procedure reference and inspector certification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664" y="1289427"/>
            <a:ext cx="808307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An inspection report arrives describing a linear PT indication within acceptance limits — but no procedure number, no equipment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664" y="1472307"/>
            <a:ext cx="821343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calibration record, and no inspector certification level are listed. Do not accept the component. Return the report, require complete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664" y="1655187"/>
            <a:ext cx="788282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documentation, and arrange re-inspection if procedural compliance cannot be demonstrated. The finding is meaningless if the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664" y="1838067"/>
            <a:ext cx="394608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inspection cannot be shown to have been performed correctly.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664" y="2364336"/>
            <a:ext cx="3833161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6B5219"/>
                </a:solidFill>
                <a:latin typeface="Calibri"/>
              </a:rPr>
              <a:t>Caution: Indication evaluated against the wrong standard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664" y="2825543"/>
            <a:ext cx="783850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 weld in a pressure vessel is evaluated against AWS D1.1 (structural steel) acceptance criteria. The applicable code is actually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664" y="3008423"/>
            <a:ext cx="804545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ASME Section VIII. Acceptance criteria differ between codes — a finding that passes AWS D1.1 may exceed ASME limits. This is as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664" y="3191303"/>
            <a:ext cx="577442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serious as missing a defect: confirm the governing standard before evaluating any indication.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0664" y="3809380"/>
            <a:ext cx="3801885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1E6C52"/>
                </a:solidFill>
                <a:latin typeface="Calibri"/>
              </a:rPr>
              <a:t>Good Practice: Complete NCR triggers correct disposition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0664" y="4270231"/>
            <a:ext cx="781353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 root crack is found in a pipeline girth weld by UT. A Non-Conformance Report is raised immediately, the weld is marked and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0664" y="4453111"/>
            <a:ext cx="816698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quarantined, and re-inspection after repair is scheduled with the same qualified procedure and inspector level. The NCR provides a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664" y="4635991"/>
            <a:ext cx="719037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traceable record of the finding, the repair, and the re-test — essential documentation if the line ever fails in service.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914046"/>
            <a:ext cx="8320671" cy="36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2696" y="362398"/>
            <a:ext cx="4625866" cy="5466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200">
                <a:solidFill>
                  <a:srgbClr val="FFFFFF"/>
                </a:solidFill>
                <a:latin typeface="Calibri"/>
              </a:rPr>
              <a:t>Core Questions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704" y="1040067"/>
            <a:ext cx="284385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CADCFC"/>
                </a:solidFill>
                <a:latin typeface="Calibri"/>
              </a:rPr>
              <a:t>What is a quality standard and why does it exist?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704" y="1325787"/>
            <a:ext cx="840988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A standard is a document published by a recognized body (ASTM, AWS, ASME, ISO, API) defining minimum acceptable requirements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704" y="1508667"/>
            <a:ext cx="839115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for materials, processes, and inspection. Standards exist to ensure consistent quality, prevent disputes, and provide legal protection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704" y="1691547"/>
            <a:ext cx="689326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— the governing standard is the technician's rulebook for acceptance criteria, methods, and documentation.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704" y="2045907"/>
            <a:ext cx="371584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CADCFC"/>
                </a:solidFill>
                <a:latin typeface="Calibri"/>
              </a:rPr>
              <a:t>What are the most common defects a technician will encounter?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704" y="2331627"/>
            <a:ext cx="771759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Manufacturing: porosity (rounded voids), slag inclusions (elongated voids), lack of fusion (planar — most serious), lack of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04" y="2514507"/>
            <a:ext cx="790749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penetration (root), cracks (always rejectable), undercut, and overlap. Service: fatigue cracks, stress corrosion cracking, creep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704" y="2697387"/>
            <a:ext cx="601899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damage, and corrosion pitting. Each defect has characteristic appearance in each NDT method.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704" y="3051747"/>
            <a:ext cx="274021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CADCFC"/>
                </a:solidFill>
                <a:latin typeface="Calibri"/>
              </a:rPr>
              <a:t>Indication vs. discontinuity vs. defect vs. reject?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704" y="3337467"/>
            <a:ext cx="838049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Indication: something was found — no judgment yet. Discontinuity: a physical interruption — may or may not be harmful. Defect: a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704" y="3520347"/>
            <a:ext cx="793262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discontinuity that exceeds the acceptance criteria of the applicable standard. Reject: the disposition applied to a component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704" y="3703227"/>
            <a:ext cx="523213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containing a defect. Finding an indication does NOT automatically mean rejection.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04" y="4057587"/>
            <a:ext cx="566933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CADCFC"/>
                </a:solidFill>
                <a:latin typeface="Calibri"/>
              </a:rPr>
              <a:t>What does good inspection documentation look like — and why does an incomplete report matter?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704" y="4343307"/>
            <a:ext cx="837698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A valid report records: component ID, applicable standard, NDT procedure, equipment &amp; calibration, inspector name &amp; certification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704" y="4526187"/>
            <a:ext cx="806708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level, date/location, all indications with evaluation, final disposition, and signature. Missing any of these means the inspection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704" y="4709067"/>
            <a:ext cx="451060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cannot be verified — an uncertifiable inspection is no inspection at all.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3964" y="859321"/>
            <a:ext cx="8594991" cy="1243076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3964" y="859321"/>
            <a:ext cx="511556" cy="1243076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3964" y="2212557"/>
            <a:ext cx="8594991" cy="124308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3964" y="2212557"/>
            <a:ext cx="511556" cy="1243088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3964" y="3565806"/>
            <a:ext cx="8594991" cy="1243076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3964" y="3565806"/>
            <a:ext cx="511556" cy="1243076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8424" y="158292"/>
            <a:ext cx="1791761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1294" y="1203263"/>
            <a:ext cx="307543" cy="6085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6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0064" y="1157220"/>
            <a:ext cx="7693586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Standards define the rules — a technician must know which standard governs their work and apply its acceptance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064" y="1355568"/>
            <a:ext cx="7770088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criteria consistently. Using the wrong standard or misapplying acceptance criteria is as serious an error as missing a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0064" y="1553929"/>
            <a:ext cx="536722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defect.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1294" y="2556511"/>
            <a:ext cx="307543" cy="6085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6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064" y="2609452"/>
            <a:ext cx="7583202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Indication, discontinuity, defect, and reject are precise technical terms with distinct meanings — confusing them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064" y="2807813"/>
            <a:ext cx="5604625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leads to incorrect dispositions and potentially unsafe components entering service.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1294" y="3909747"/>
            <a:ext cx="307543" cy="608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6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064" y="3962687"/>
            <a:ext cx="7601546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Inspection documentation is not paperwork — it is the legal and technical record that proves the work was done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064" y="4161049"/>
            <a:ext cx="7460597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correctly. Incomplete, inaccurate, or untraceable records undermine the entire value of the inspection process.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1188366"/>
            <a:ext cx="8320671" cy="3635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59" y="1334518"/>
            <a:ext cx="4160164" cy="3529088"/>
          </a:xfrm>
          <a:prstGeom prst="rect">
            <a:avLst/>
          </a:prstGeom>
          <a:solidFill>
            <a:srgbClr val="25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1555" y="1956957"/>
            <a:ext cx="91084" cy="2556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1555" y="2505597"/>
            <a:ext cx="91084" cy="2556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1555" y="3054237"/>
            <a:ext cx="91084" cy="2556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1555" y="3602877"/>
            <a:ext cx="91084" cy="2556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1555" y="4151517"/>
            <a:ext cx="91084" cy="25559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18164" y="1334518"/>
            <a:ext cx="4160151" cy="3529088"/>
          </a:xfrm>
          <a:prstGeom prst="rect">
            <a:avLst/>
          </a:prstGeom>
          <a:solidFill>
            <a:srgbClr val="25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00676" y="2139482"/>
            <a:ext cx="3657244" cy="27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696" y="669562"/>
            <a:ext cx="3778077" cy="4847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800">
                <a:solidFill>
                  <a:srgbClr val="FFFFFF"/>
                </a:solidFill>
                <a:latin typeface="Calibri"/>
              </a:rPr>
              <a:t>Resources &amp; What's 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5584" y="1480509"/>
            <a:ext cx="1593276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E07B39"/>
                </a:solidFill>
                <a:latin typeface="Calibri"/>
              </a:rPr>
              <a:t>Week 9 Resources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455" y="1943864"/>
            <a:ext cx="928120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Moniz Ch.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0455" y="2201431"/>
            <a:ext cx="230512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Materials Standards — primary reading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55" y="2492504"/>
            <a:ext cx="1827670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Quality Standards &amp; Codes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55" y="2750071"/>
            <a:ext cx="278714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ASTM, AWS, ASME, ISO, API reference 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0455" y="3041144"/>
            <a:ext cx="2381117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Reading Inspection Documentation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455" y="3298711"/>
            <a:ext cx="258182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Sample MTR, inspection report walkthrough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455" y="3589784"/>
            <a:ext cx="1742573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Defect Recognition Guide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455" y="3847351"/>
            <a:ext cx="278979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Visual identification of all common weld defects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0455" y="4138424"/>
            <a:ext cx="804127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3 Quiz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0455" y="4395991"/>
            <a:ext cx="3307991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Covers Weeks 7–9 — Mechanical Testing, NDT, Standards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87976" y="1480509"/>
            <a:ext cx="1686063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E07B39"/>
                </a:solidFill>
                <a:latin typeface="Calibri"/>
              </a:rPr>
              <a:t>Week 10 — Casting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87976" y="1847071"/>
            <a:ext cx="312282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October 26, 2026  ·  Unit 4: Manufacturing begins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77981" y="223730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21058" y="2257827"/>
            <a:ext cx="327420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FFFFFF"/>
                </a:solidFill>
                <a:latin typeface="Calibri"/>
              </a:rPr>
              <a:t>Sand casting, investment casting, and die casting —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21058" y="2440707"/>
            <a:ext cx="291465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FFFFFF"/>
                </a:solidFill>
                <a:latin typeface="Calibri"/>
              </a:rPr>
              <a:t>how each process works and what it produces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77981" y="260306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21058" y="2623587"/>
            <a:ext cx="291465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FFFFFF"/>
                </a:solidFill>
                <a:latin typeface="Calibri"/>
              </a:rPr>
              <a:t>How solidification microstructure differs from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21058" y="2806467"/>
            <a:ext cx="314719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FFFFFF"/>
                </a:solidFill>
                <a:latin typeface="Calibri"/>
              </a:rPr>
              <a:t>wrought microstructure — and why it matters for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21058" y="2989347"/>
            <a:ext cx="71534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FFFFFF"/>
                </a:solidFill>
                <a:latin typeface="Calibri"/>
              </a:rPr>
              <a:t>properties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77981" y="315170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21058" y="3172227"/>
            <a:ext cx="327008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FFFFFF"/>
                </a:solidFill>
                <a:latin typeface="Calibri"/>
              </a:rPr>
              <a:t>Common casting defects — porosity, shrinkage, hot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21058" y="3355107"/>
            <a:ext cx="215551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FFFFFF"/>
                </a:solidFill>
                <a:latin typeface="Calibri"/>
              </a:rPr>
              <a:t>tears — and how to identify them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77981" y="351746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21058" y="3537987"/>
            <a:ext cx="314125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FFFFFF"/>
                </a:solidFill>
                <a:latin typeface="Calibri"/>
              </a:rPr>
              <a:t>Why castings require Brinell hardness testing and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21058" y="3720867"/>
            <a:ext cx="283592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FFFFFF"/>
                </a:solidFill>
                <a:latin typeface="Calibri"/>
              </a:rPr>
              <a:t>often need heat treatment before machining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