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222588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Powder Metallurgy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6295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November 16,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88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39580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456358"/>
            <a:ext cx="475195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530564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38" y="142089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784" y="1327042"/>
            <a:ext cx="3129167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Powder Production &amp; Compaction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784" y="1703852"/>
            <a:ext cx="626684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Atomisation methods, particle characteristics, die compaction, density gradients, and the green compact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738" y="248181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784" y="2387962"/>
            <a:ext cx="3282312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Sintering &amp; Advanced PM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84" y="2764772"/>
            <a:ext cx="590318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Sintering stages, atmosphere control, liquid phase sintering, MIM, HIP, and additive 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738" y="3542375"/>
            <a:ext cx="307543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784" y="3448526"/>
            <a:ext cx="2897180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PM Defects &amp; Process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84" y="3825336"/>
            <a:ext cx="56079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Density gradients, lamination cracks, blistering — and the Unit 4 process selection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12  ·  Week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23268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Copper Alloys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02440"/>
            <a:ext cx="387486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110 copper vs. 182 chromium copper: composition, conductivity,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662283"/>
            <a:ext cx="344916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and published HV for your Hardness Log. Powder metallurgy is 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2822112"/>
            <a:ext cx="220869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in today's lecture, not in this research module.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309034"/>
            <a:ext cx="251438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Alloys N, O — 110 copper &amp; 182 chromium copper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00" y="658078"/>
            <a:ext cx="1682280" cy="51156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324" y="658078"/>
            <a:ext cx="1682280" cy="51156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67035" y="658078"/>
            <a:ext cx="1682279" cy="51156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2760" y="658078"/>
            <a:ext cx="1682279" cy="511568"/>
          </a:xfrm>
          <a:prstGeom prst="rect">
            <a:avLst/>
          </a:prstGeom>
          <a:solidFill>
            <a:srgbClr val="6B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78116" y="658078"/>
            <a:ext cx="1682280" cy="511568"/>
          </a:xfrm>
          <a:prstGeom prst="rect">
            <a:avLst/>
          </a:prstGeom>
          <a:solidFill>
            <a:srgbClr val="4B2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324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7035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2760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78116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324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035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760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78116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324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035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760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116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760" y="3291842"/>
            <a:ext cx="1682279" cy="62136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5600" y="3986277"/>
            <a:ext cx="863172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900" y="18637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1C2B3A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4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44" y="926183"/>
            <a:ext cx="11964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205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055" y="926183"/>
            <a:ext cx="70834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7779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779" y="926183"/>
            <a:ext cx="8628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50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3504" y="926183"/>
            <a:ext cx="76341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921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9215" y="926183"/>
            <a:ext cx="8406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344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344" y="1438095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44" y="1545310"/>
            <a:ext cx="901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44" y="1690026"/>
            <a:ext cx="5879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2055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2055" y="1438095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2055" y="1545310"/>
            <a:ext cx="5385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2055" y="1690026"/>
            <a:ext cx="6331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7779" y="1288630"/>
            <a:ext cx="330663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7779" y="1438095"/>
            <a:ext cx="32175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7779" y="1545310"/>
            <a:ext cx="634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7779" y="1690026"/>
            <a:ext cx="415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3504" y="1288630"/>
            <a:ext cx="391445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3504" y="1438095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3504" y="1617674"/>
            <a:ext cx="4297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9215" y="1288630"/>
            <a:ext cx="391447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9215" y="1438095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9215" y="1545310"/>
            <a:ext cx="4756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9215" y="1690026"/>
            <a:ext cx="5526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44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44" y="2114903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44" y="2221750"/>
            <a:ext cx="6348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6344" y="2366466"/>
            <a:ext cx="5799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2055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2055" y="211490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2055" y="2221750"/>
            <a:ext cx="6088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2055" y="2366466"/>
            <a:ext cx="5538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27779" y="196542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7779" y="211490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27779" y="2294114"/>
            <a:ext cx="7503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3504" y="19654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83504" y="211490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3504" y="2294114"/>
            <a:ext cx="4785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9215" y="196542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9215" y="21149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9215" y="2221750"/>
            <a:ext cx="8843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9215" y="2366466"/>
            <a:ext cx="513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72055" y="264186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72055" y="279134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72055" y="2898545"/>
            <a:ext cx="7367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2055" y="3043275"/>
            <a:ext cx="8477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7779" y="264186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27779" y="279134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27779" y="2898545"/>
            <a:ext cx="4276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27779" y="3043275"/>
            <a:ext cx="5613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83504" y="264186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3504" y="279134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83504" y="2970910"/>
            <a:ext cx="5880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39215" y="264186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9215" y="2791343"/>
            <a:ext cx="3353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9215" y="2898545"/>
            <a:ext cx="5490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39215" y="3043275"/>
            <a:ext cx="6111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83504" y="3337026"/>
            <a:ext cx="7821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E07B39"/>
                </a:solidFill>
                <a:latin typeface="Calibri"/>
              </a:rPr>
              <a:t>Wk 13 ← here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3504" y="34865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3504" y="3593350"/>
            <a:ext cx="4486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83504" y="3738066"/>
            <a:ext cx="6040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41737" y="4070688"/>
            <a:ext cx="170909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501048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501048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2956" y="804597"/>
            <a:ext cx="347436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2956" y="804242"/>
            <a:ext cx="3474364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484" y="2157477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484" y="3108606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484" y="3949917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13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80" y="888653"/>
            <a:ext cx="4942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79551"/>
            <a:ext cx="43983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Powder production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water atomisation, gas atomisation, oxide reduction,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76" y="1547317"/>
            <a:ext cx="353663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electrolytic, and carbonyl processes; particle characterization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1715072"/>
            <a:ext cx="43813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Compaction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blending with lubricants, die compaction, density gradients,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882826"/>
            <a:ext cx="324751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green compact strength, and isostatic pressing (CIP/HIP)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2050593"/>
            <a:ext cx="41934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Sintering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atmosphere control, three stages (burn-off, neck formation,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2218347"/>
            <a:ext cx="23711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densification), and liquid phase sintering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386115"/>
            <a:ext cx="43742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Advanced PM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metal injection molding (MIM), hot isostatic pressing,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553869"/>
            <a:ext cx="30860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additive manufacturing with metal powder feedstock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721636"/>
            <a:ext cx="38485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PM defects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density gradients, lamination cracks, blistering,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889390"/>
            <a:ext cx="27115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dimensional variation from sintering shrinkage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3057157"/>
            <a:ext cx="435019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Process selection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— matching alloy, geometry, tolerance, volume, and cost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3224911"/>
            <a:ext cx="235792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requirements across all Unit 4 processes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5140" y="888653"/>
            <a:ext cx="7652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5140" y="1325787"/>
            <a:ext cx="12795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5140" y="1576477"/>
            <a:ext cx="10448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Kalpakjian Ch.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5140" y="1744231"/>
            <a:ext cx="27737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 Metallurgy — production, compaction,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5140" y="1911985"/>
            <a:ext cx="15662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sintering, and applications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5140" y="2258183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5140" y="2518233"/>
            <a:ext cx="26874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MPIF Process Overview  ·  Sintering Animation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140" y="2685987"/>
            <a:ext cx="20111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Atomisation &amp; Powder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5140" y="2853754"/>
            <a:ext cx="19316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Manufacturing Process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5140" y="3209311"/>
            <a:ext cx="5945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Key Fact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5140" y="3498152"/>
            <a:ext cx="28060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1A2433"/>
                </a:solidFill>
                <a:latin typeface="Calibri"/>
              </a:rPr>
              <a:t>Conventional PM: 85–95% theoretical density  ·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140" y="3665906"/>
            <a:ext cx="153831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1A2433"/>
                </a:solidFill>
                <a:latin typeface="Calibri"/>
              </a:rPr>
              <a:t>Sintering shrinkage: 1–3%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5140" y="4057587"/>
            <a:ext cx="21869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Next: Week 14 — Welding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597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408317"/>
            <a:ext cx="475195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286001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16368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404172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381118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1069831"/>
            <a:ext cx="56879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701" y="149433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784" y="1528733"/>
            <a:ext cx="611289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powder metallurgy and what advantages does it offer over casting and machining?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701" y="237201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84" y="2406417"/>
            <a:ext cx="41548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are metal powders produced, compacted, and sintered?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701" y="324969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784" y="3284457"/>
            <a:ext cx="631168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limitations of powder metallurgy and what defects should a technician look for?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701" y="412773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784" y="4162128"/>
            <a:ext cx="506346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you select the right manufacturing process for a given application?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1279806"/>
            <a:ext cx="127800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194206"/>
            <a:ext cx="127800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108606"/>
            <a:ext cx="127800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4023006"/>
            <a:ext cx="127800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1846798"/>
            <a:ext cx="91084" cy="6030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2596682"/>
            <a:ext cx="91084" cy="60299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3346198"/>
            <a:ext cx="91084" cy="60300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7796" y="4096082"/>
            <a:ext cx="91084" cy="602996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621629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Powder Production — How Metal Powders Are Made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88653"/>
            <a:ext cx="147693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Production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860" y="1323747"/>
            <a:ext cx="117124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Water Atomisation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860" y="1564385"/>
            <a:ext cx="38751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Molten metal stream broken by high-pressure water jets — irregular, oxidized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860" y="1709114"/>
            <a:ext cx="382563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particles, 50–200 μm. Most widely used for iron and steel; low cost; requires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860" y="1853831"/>
            <a:ext cx="284720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reducing atmosphere sintering to remove surface oxides.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860" y="2238147"/>
            <a:ext cx="10276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Gas Atomisation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860" y="2478785"/>
            <a:ext cx="37139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Inert gas (argon or nitrogen) jets produce spherical, clean particles. Higher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860" y="2623514"/>
            <a:ext cx="37690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cost; preferred for stainless steel, nickel superalloy, titanium, and tool steel.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860" y="2768231"/>
            <a:ext cx="33691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Better flowability and packing density than water atomised powder.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860" y="3152547"/>
            <a:ext cx="10340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Oxide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860" y="3393185"/>
            <a:ext cx="390015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Iron oxide reduced by hydrogen or CO at elevated temperature — sponge iron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860" y="3537914"/>
            <a:ext cx="384034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with irregular, porous morphology. Excellent green strength from mechanical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860" y="3682631"/>
            <a:ext cx="308599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particle interlocking. Widely used for structural iron PM parts.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860" y="4066947"/>
            <a:ext cx="139919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Electrolytic &amp; Carbonyl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860" y="4235233"/>
            <a:ext cx="352533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Electrolytic deposition produces high-purity dendritic copper and iron.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860" y="4379950"/>
            <a:ext cx="37984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Carbonyl process decomposes metal carbonyls to yield extremely fine (1–10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860" y="4524666"/>
            <a:ext cx="33001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μm) spherical iron or nickel powder — used in MIM and speciality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860" y="4669395"/>
            <a:ext cx="6925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applications.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2179" y="888653"/>
            <a:ext cx="175140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Powder Characterization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5464" y="1258996"/>
            <a:ext cx="412394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Powder characteristics directly control compaction behavior, green density,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5464" y="1418838"/>
            <a:ext cx="41202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sintered properties — they are controlled specifications, not incidental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5464" y="1578680"/>
            <a:ext cx="9114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measurements.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6695" y="1885043"/>
            <a:ext cx="13912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Particle size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695" y="2112314"/>
            <a:ext cx="387049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Controls green density and flow — finer particles pack better but flow poorly;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695" y="2257030"/>
            <a:ext cx="23423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measured by sieve analysis or laser diffraction.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2634914"/>
            <a:ext cx="84408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Particle shape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2862185"/>
            <a:ext cx="38436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Irregular particles interlock for higher green strength; spherical particles flow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3006915"/>
            <a:ext cx="233598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better. Shape is set by the production method.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3384798"/>
            <a:ext cx="13571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Apparent &amp; tap density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3612070"/>
            <a:ext cx="381900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Apparent density: freely poured; tap density: after vibration. Hausner ratio =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3756786"/>
            <a:ext cx="25548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tap/apparent — indicates flow and compressibility.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4134682"/>
            <a:ext cx="5871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Flow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4361586"/>
            <a:ext cx="36654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Measured by Hall flowmeter — critical for automatic die filling; poor flow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4506315"/>
            <a:ext cx="22885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causes density variations across the compact.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044" y="1280162"/>
            <a:ext cx="347040" cy="3470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044" y="2139837"/>
            <a:ext cx="347040" cy="3470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044" y="2999157"/>
            <a:ext cx="347040" cy="3470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044" y="3858846"/>
            <a:ext cx="347040" cy="3470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1279806"/>
            <a:ext cx="4023004" cy="27395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2486877"/>
            <a:ext cx="4023004" cy="2739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3291842"/>
            <a:ext cx="109435" cy="65807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4096437"/>
            <a:ext cx="109435" cy="65808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663366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Compaction — Die Filling, Pressing &amp; the Green Compact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88653"/>
            <a:ext cx="171372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Die Compaction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855" y="1330265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176" y="1314755"/>
            <a:ext cx="5854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Blending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176" y="1555025"/>
            <a:ext cx="32149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 blended with lubricant (zinc stearate) to reduce die wall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176" y="1699754"/>
            <a:ext cx="317825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friction and aid ejection; alloying additions (graphite for carbon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176" y="1844471"/>
            <a:ext cx="290473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content, copper for strengthening) are mixed in uniformly.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" y="2189941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176" y="2174075"/>
            <a:ext cx="64313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Die Filling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176" y="2414714"/>
            <a:ext cx="34907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 gravity- or force-fed into a closed die. Uniform filling is critical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176" y="2559430"/>
            <a:ext cx="330500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— inconsistent fill causes green density variation and dimensional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176" y="2704147"/>
            <a:ext cx="12571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scatter in sintered parts.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" y="3049261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176" y="3033751"/>
            <a:ext cx="16535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Pressing — 150 to 700 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176" y="3274034"/>
            <a:ext cx="34967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Upper and lower punches press simultaneously — pressing from both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176" y="3418750"/>
            <a:ext cx="34046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ends reduces the density gradient through the part height. Pressure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176" y="3563467"/>
            <a:ext cx="14617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proportional to final density.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855" y="3908936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176" y="3893071"/>
            <a:ext cx="16313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Ejection — Green Compact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176" y="4133710"/>
            <a:ext cx="312880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Compact ejected from the die. Green strength 5–15 MPa from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176" y="4278426"/>
            <a:ext cx="33679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 particle interlocking — fragile; handled carefully before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176" y="4423155"/>
            <a:ext cx="25348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sintering. Predictable 1–3% shrinkage on sintering.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2179" y="895943"/>
            <a:ext cx="23907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Density Gradient &amp; Isostatic Pressing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8895" y="1314755"/>
            <a:ext cx="18225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The Density Gradient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5464" y="1610429"/>
            <a:ext cx="39596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Compaction pressure attenuates with distance from the punch faces due to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5464" y="1763070"/>
            <a:ext cx="41409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inter-particle and die-wall friction — tall parts have lower density in the center.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5464" y="1915711"/>
            <a:ext cx="42312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Controlled by using multiple independently moving punch segments and limiting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5464" y="2068340"/>
            <a:ext cx="38175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 height-to-diameter ratio. Low-density zones have lower strength and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5464" y="2220981"/>
            <a:ext cx="21345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become failure initiation sites in service.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8895" y="2521471"/>
            <a:ext cx="250374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Isostatic Pressing — Eliminating Gradients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5464" y="2845224"/>
            <a:ext cx="40130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Powder sealed in a flexible membrane compressed by fluid pressure from all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5464" y="2997866"/>
            <a:ext cx="30955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directions simultaneously — no density gradient by design.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3330074"/>
            <a:ext cx="164193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CIP — Cold Isostatic Pressing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3584345"/>
            <a:ext cx="38103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Room temperature; used for large or complex shapes where die compaction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3729075"/>
            <a:ext cx="15337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cannot reach uniform density.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6695" y="4134682"/>
            <a:ext cx="16118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HIP — Hot Isostatic Pressing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6695" y="4316590"/>
            <a:ext cx="373663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Simultaneous heat and pressure (100–200 MPa argon) — 99%+ theoretical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6695" y="4461306"/>
            <a:ext cx="37673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density; properties approach wrought. Used for aerospace superalloy discs,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6695" y="4606035"/>
            <a:ext cx="21002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titanium components, and tool steel dies.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044" y="1280162"/>
            <a:ext cx="347040" cy="3470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044" y="2304366"/>
            <a:ext cx="347040" cy="3470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044" y="3328557"/>
            <a:ext cx="347040" cy="3470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7796" y="1280162"/>
            <a:ext cx="4023004" cy="255599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1919886"/>
            <a:ext cx="91084" cy="456831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2505242"/>
            <a:ext cx="91084" cy="45684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3090242"/>
            <a:ext cx="91084" cy="45684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7796" y="3694317"/>
            <a:ext cx="402300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498347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Sintering — Densification Without Melting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88653"/>
            <a:ext cx="176693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Three Stages of Sintering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855" y="1330265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176" y="1314755"/>
            <a:ext cx="14800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Burn-off — 300 to 500°C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176" y="1616906"/>
            <a:ext cx="34596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Lubricant is volatilised and removed from the compact before the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176" y="1769547"/>
            <a:ext cx="34153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sintering temperature is reached. This stage cannot be rushed —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176" y="1922188"/>
            <a:ext cx="333875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trapped lubricant vapour expands and causes surface blistering.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" y="2354456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176" y="2338591"/>
            <a:ext cx="21178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Neck Formation — 70 to 90% of 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176" y="2641110"/>
            <a:ext cx="33002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 sintering temperature, atoms diffuse across particle contact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176" y="2793751"/>
            <a:ext cx="326314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points forming necks. Porosity is reduced rapidly and strength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176" y="2946380"/>
            <a:ext cx="2758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increases. For iron PM: approximately 1100–1150°C.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" y="3378661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176" y="3362795"/>
            <a:ext cx="178428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Densification &amp; Grain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176" y="3588987"/>
            <a:ext cx="340445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Continued sintering reduces porosity further and grains coarsen.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176" y="3741628"/>
            <a:ext cx="313403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Densification is desirable; grain growth reduces mechanical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176" y="3894270"/>
            <a:ext cx="330164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properties — time and temperature must be optimised for the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176" y="4046911"/>
            <a:ext cx="34166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alloy.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2179" y="895943"/>
            <a:ext cx="24160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Atmosphere &amp; Liquid Phase Sintering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8895" y="1305395"/>
            <a:ext cx="13384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Sintering Atmosphere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5464" y="1623383"/>
            <a:ext cx="34756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Atmosphere must prevent oxidation throughout the furnace cycle.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8344" y="1952427"/>
            <a:ext cx="18186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Hydrogen / Dissociated ammonia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8344" y="2102954"/>
            <a:ext cx="386217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Iron, copper, and their alloys — reducing atmosphere removes surface oxides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8344" y="2247670"/>
            <a:ext cx="13772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from the powder particles.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8344" y="2537427"/>
            <a:ext cx="15571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Nitrogen-hydrogen mixtures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8344" y="2688310"/>
            <a:ext cx="370974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Most structural PM steels — good reducing power at lower cost than pure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8344" y="2833026"/>
            <a:ext cx="5646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hydrogen.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8344" y="3122783"/>
            <a:ext cx="4979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Vacuum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8344" y="3273665"/>
            <a:ext cx="365945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steel, titanium, and reactive metals — prevents any oxidation at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8344" y="3418395"/>
            <a:ext cx="11749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sintering temperature.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8895" y="3719195"/>
            <a:ext cx="13539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Liquid Phase Sintering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5464" y="4064183"/>
            <a:ext cx="421964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 small amount of a lower-melting additive (cobalt in WC-Co; copper in iron PM)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5464" y="4216824"/>
            <a:ext cx="372227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melts during sintering and fills pores by capillary action — dramatically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5464" y="4369465"/>
            <a:ext cx="414124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accelerates densification. This is the key to tungsten carbide-cobalt cutting tool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5464" y="4522107"/>
            <a:ext cx="412993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manufacture: WC particles bonded by liquid cobalt that re-solidifies on cooling.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280162"/>
            <a:ext cx="109448" cy="56663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1993317"/>
            <a:ext cx="109448" cy="56664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706486"/>
            <a:ext cx="109448" cy="56663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3419997"/>
            <a:ext cx="109448" cy="56664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4133166"/>
            <a:ext cx="109448" cy="56663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1280162"/>
            <a:ext cx="109435" cy="56663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1993317"/>
            <a:ext cx="109435" cy="56664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2706486"/>
            <a:ext cx="109435" cy="56663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164" y="3419997"/>
            <a:ext cx="109435" cy="56664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18164" y="4133166"/>
            <a:ext cx="109435" cy="56663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424" y="158292"/>
            <a:ext cx="483149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Secondary Operations &amp; PM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780" y="888653"/>
            <a:ext cx="158087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Secondary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" y="1314755"/>
            <a:ext cx="130100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Coining (Re-pressing)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" y="1526945"/>
            <a:ext cx="35664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Sintered parts re-pressed in a die to close surface porosity and improve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" y="1671675"/>
            <a:ext cx="34016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dimensional accuracy — increases density by 2–5% in surface layers.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500" y="2027911"/>
            <a:ext cx="4073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Sizing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2240114"/>
            <a:ext cx="35974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Re-pressing to correct dimensional variation from sintering shrinkage —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500" y="2384830"/>
            <a:ext cx="28550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achieves tolerances of ±0.025 mm on critical dimensions.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2741067"/>
            <a:ext cx="6946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Infiltration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500" y="2953625"/>
            <a:ext cx="380114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Liquid copper or bronze drawn into pores by capillary action — fills porosity,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3098355"/>
            <a:ext cx="27697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increases density and strength, improves machinability.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" y="3454235"/>
            <a:ext cx="105671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Oil Impregnation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" y="3666794"/>
            <a:ext cx="342210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Vacuum-impregnated porous bronze or iron bearings — oil stored in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" y="3811510"/>
            <a:ext cx="37443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interconnected pores and released to the bearing surface during operation.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0" y="4167391"/>
            <a:ext cx="9860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Heat Treatment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500" y="4379950"/>
            <a:ext cx="35747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PM parts through-hardened, case-carburised, or induction hardened —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500" y="4524666"/>
            <a:ext cx="36156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porosity slightly reduces hardenability; thin sections monitored carefully.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2179" y="888653"/>
            <a:ext cx="163854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Major PM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695" y="1314755"/>
            <a:ext cx="7645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Automotive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6695" y="1526945"/>
            <a:ext cx="34090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Connecting rod bearings, valve seat inserts, cam lobes, transmission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95" y="1671675"/>
            <a:ext cx="25780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synchroniser hubs — largest PM market by volume.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6695" y="2027911"/>
            <a:ext cx="82122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Cutting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695" y="2240114"/>
            <a:ext cx="393755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Tungsten carbide-cobalt (WC-Co) inserts and drill blanks — PM via liquid phase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695" y="2384830"/>
            <a:ext cx="22822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sintering is the only practical route to WC-Co.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2741067"/>
            <a:ext cx="15047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Self-Lubricating Bearings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2953625"/>
            <a:ext cx="34943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Oil-impregnated porous bronze and iron bearings in appliances, office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3098355"/>
            <a:ext cx="205137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equipment, and automotive accessories.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3454235"/>
            <a:ext cx="13878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Magnetic Components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3666794"/>
            <a:ext cx="39323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Soft magnetic cores for motors and transformers; permanent magnets (NdFeB,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3811510"/>
            <a:ext cx="195561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SmCo) for electric motors and sensors.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4167391"/>
            <a:ext cx="10846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Medical &amp; Dental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4379950"/>
            <a:ext cx="39567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Implant components and dental crowns produced by MIM or DMLS — complex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4524666"/>
            <a:ext cx="23743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geometry, high dimensional precision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276120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2761208" cy="804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81604" y="804597"/>
            <a:ext cx="276119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81604" y="804597"/>
            <a:ext cx="2761195" cy="8042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6884" y="804597"/>
            <a:ext cx="276119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6884" y="804597"/>
            <a:ext cx="2761195" cy="804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740051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Advanced PM Processes — MIM, HIP &amp; Additive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886951"/>
            <a:ext cx="10357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Metal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1069831"/>
            <a:ext cx="10365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Molding (MIM)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1346655"/>
            <a:ext cx="194505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3B6FBA"/>
                </a:solidFill>
                <a:latin typeface="Calibri"/>
              </a:rPr>
              <a:t>Complex small parts  ·  Near full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1626621"/>
            <a:ext cx="222848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Very fine powder (1–20 μm) mixed with a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1779262"/>
            <a:ext cx="226635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polymer binder to form a feedstock that is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1931904"/>
            <a:ext cx="22594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injection molded like a plastic part. Binder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2084545"/>
            <a:ext cx="25881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removed by solvent and thermal debinding; part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2237186"/>
            <a:ext cx="22931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then sintered to 96–99% density. Produces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2389828"/>
            <a:ext cx="231274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complex small parts under 100 g with good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2542469"/>
            <a:ext cx="24267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finish and tight tolerances — used for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2695110"/>
            <a:ext cx="23389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firearms components, medical instruments,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2847739"/>
            <a:ext cx="251212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orthodontic brackets, and electronic hardware.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3000380"/>
            <a:ext cx="191804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 die-compaction geometry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8340" y="886951"/>
            <a:ext cx="85925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Hot Isostatic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8340" y="1069831"/>
            <a:ext cx="9448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Pressing (HIP)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8340" y="1346655"/>
            <a:ext cx="193634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E07B39"/>
                </a:solidFill>
                <a:latin typeface="Calibri"/>
              </a:rPr>
              <a:t>Highest density  ·  Aerospace &amp; medical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8340" y="1626621"/>
            <a:ext cx="263920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Powder or pre-sintered part sealed in a metal can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8340" y="1779262"/>
            <a:ext cx="26070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subjected to simultaneous high temperature and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8340" y="1931904"/>
            <a:ext cx="260743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isostatic gas pressure (100–200 MPa argon).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8340" y="2084545"/>
            <a:ext cx="25945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Eliminates virtually all porosity — achieves 99%+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8340" y="2237186"/>
            <a:ext cx="24860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theoretical density with isotropic properties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8340" y="2389828"/>
            <a:ext cx="21547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approaching wrought material. Used for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8340" y="2542469"/>
            <a:ext cx="23640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aerospace superalloy turbine discs, titanium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8340" y="2695110"/>
            <a:ext cx="26161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structural components, and tool steel dies where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78340" y="2847739"/>
            <a:ext cx="20237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100% density is a design requirement.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3620" y="886951"/>
            <a:ext cx="6044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Additive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3620" y="1069831"/>
            <a:ext cx="10107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3620" y="1346655"/>
            <a:ext cx="181328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1E6C52"/>
                </a:solidFill>
                <a:latin typeface="Calibri"/>
              </a:rPr>
              <a:t>Layer-by-layer  ·  No tooling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3620" y="1626621"/>
            <a:ext cx="236026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SLM (selective laser melting), EBM (electron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03620" y="1779262"/>
            <a:ext cx="22225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beam melting), and DED (directed energy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3620" y="1931904"/>
            <a:ext cx="24804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deposition) use gas atomised metal powder as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3620" y="2084545"/>
            <a:ext cx="245353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feedstock — fused layer by layer to build near-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3620" y="2237186"/>
            <a:ext cx="24644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net-shape parts. No tooling required; complex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3620" y="2389828"/>
            <a:ext cx="209620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internal channels and lattice structures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3620" y="2542469"/>
            <a:ext cx="23971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impossible by conventional methods. Fastest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3620" y="2695110"/>
            <a:ext cx="22990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growing area of PM technology — used for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3620" y="2847739"/>
            <a:ext cx="26634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aerospace brackets, medical implants with porous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3620" y="3000380"/>
            <a:ext cx="22875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ingrowth surfaces, and tooling inserts with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3620" y="3153022"/>
            <a:ext cx="10286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conformal cooling.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8631720" cy="32867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51637"/>
            <a:ext cx="8631720" cy="8773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151637"/>
            <a:ext cx="72720" cy="87732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066038"/>
            <a:ext cx="8631720" cy="877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066038"/>
            <a:ext cx="72720" cy="87732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980438"/>
            <a:ext cx="8631720" cy="8773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2980438"/>
            <a:ext cx="72720" cy="87732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3894838"/>
            <a:ext cx="8631720" cy="87732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3894838"/>
            <a:ext cx="72720" cy="87732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483289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PM Defects — Recognition and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615" y="873511"/>
            <a:ext cx="4158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5455" y="873511"/>
            <a:ext cx="3871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2815" y="873511"/>
            <a:ext cx="7038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Appearance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8735" y="873511"/>
            <a:ext cx="5190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7456" y="873511"/>
            <a:ext cx="5876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6544" y="873511"/>
            <a:ext cx="41562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24" y="1408150"/>
            <a:ext cx="452831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B5219"/>
                </a:solidFill>
                <a:latin typeface="Calibri"/>
              </a:rPr>
              <a:t>Density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24" y="1552866"/>
            <a:ext cx="5595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B5219"/>
                </a:solidFill>
                <a:latin typeface="Calibri"/>
              </a:rPr>
              <a:t>Gradients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24" y="1277541"/>
            <a:ext cx="158581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Uneven compaction — pressure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824" y="1415057"/>
            <a:ext cx="175032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attenuates from punch faces due to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5824" y="1552572"/>
            <a:ext cx="168518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inter-particle and die-wall friction;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5824" y="1690101"/>
            <a:ext cx="172651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most severe in tall or complex parts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3184" y="1208783"/>
            <a:ext cx="140322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 surface indication; lower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3184" y="1346299"/>
            <a:ext cx="142268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hardness on Vickers traverse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3184" y="1483815"/>
            <a:ext cx="139029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across the compact section;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3184" y="1621343"/>
            <a:ext cx="148347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lower density zones visible on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3184" y="1758858"/>
            <a:ext cx="68052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cross-section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9104" y="1277541"/>
            <a:ext cx="10257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Interior of compact,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9104" y="1415057"/>
            <a:ext cx="90570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away from punch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9104" y="1552572"/>
            <a:ext cx="114988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contact faces; typically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9104" y="1690101"/>
            <a:ext cx="113844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mid-height of tall parts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7824" y="1346299"/>
            <a:ext cx="98332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Hardness traverse;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7824" y="1483815"/>
            <a:ext cx="116763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density measurement;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7824" y="1621343"/>
            <a:ext cx="10438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UT velocity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6544" y="1357863"/>
            <a:ext cx="1771270" cy="182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Multiple punch segments; limit height-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6544" y="1487466"/>
            <a:ext cx="1701505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to-diameter ratio; optimise lubricant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6544" y="1617070"/>
            <a:ext cx="414026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1424" y="2322550"/>
            <a:ext cx="6357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3B6FBA"/>
                </a:solidFill>
                <a:latin typeface="Calibri"/>
              </a:rPr>
              <a:t>Lamination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424" y="2467266"/>
            <a:ext cx="3936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3B6FBA"/>
                </a:solidFill>
                <a:latin typeface="Calibri"/>
              </a:rPr>
              <a:t>Cracks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24" y="2123183"/>
            <a:ext cx="150648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Spring-back of compact on die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5824" y="2260699"/>
            <a:ext cx="16542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ejection — elastic recovery of the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5824" y="2398215"/>
            <a:ext cx="154781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 mass causes horizontal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5824" y="2535743"/>
            <a:ext cx="159841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fracture planes perpendicular to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5824" y="2673258"/>
            <a:ext cx="10818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pressing direction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3184" y="2123183"/>
            <a:ext cx="118812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Thin planar separations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3184" y="2260699"/>
            <a:ext cx="128542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perpendicular to pressing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23184" y="2398215"/>
            <a:ext cx="165736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direction — may not be visible on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23184" y="2535743"/>
            <a:ext cx="157116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surface; crack plane parallel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23184" y="2673258"/>
            <a:ext cx="102350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 the compact 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9104" y="2123183"/>
            <a:ext cx="118812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Through compact cross-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9104" y="2260699"/>
            <a:ext cx="11387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section, perpendicular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9104" y="2398215"/>
            <a:ext cx="111291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 pressing axis; often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9104" y="2535743"/>
            <a:ext cx="104422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near the ends of the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9104" y="2673258"/>
            <a:ext cx="47584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compact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7824" y="2123183"/>
            <a:ext cx="96306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UT — planar crack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7824" y="2260699"/>
            <a:ext cx="111565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reflects beam clearly;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7824" y="2398215"/>
            <a:ext cx="92505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visual on fracture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7824" y="2535743"/>
            <a:ext cx="111909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surface if crack opens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7824" y="2673258"/>
            <a:ext cx="82099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during handling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6544" y="2272263"/>
            <a:ext cx="1870630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Reduce ejection speed; increase die wall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6544" y="2401866"/>
            <a:ext cx="1602465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taper; optimise lubricant level and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6544" y="2531470"/>
            <a:ext cx="995288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compaction pressure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1424" y="3236950"/>
            <a:ext cx="4458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B83232"/>
                </a:solidFill>
                <a:latin typeface="Calibri"/>
              </a:rPr>
              <a:t>Surface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1424" y="3381666"/>
            <a:ext cx="5430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B83232"/>
                </a:solidFill>
                <a:latin typeface="Calibri"/>
              </a:rPr>
              <a:t>Blistering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5824" y="2968813"/>
            <a:ext cx="167923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Trapped lubricant vapour expands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5824" y="3106341"/>
            <a:ext cx="144867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during sintering — caused by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5824" y="3243857"/>
            <a:ext cx="157093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rushing the burn-off stage (300–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5824" y="3381373"/>
            <a:ext cx="160550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500°C) or by contamination with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5824" y="3518901"/>
            <a:ext cx="176314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low-vapour-pressure material in the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85824" y="3656416"/>
            <a:ext cx="72219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 blend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23184" y="3106341"/>
            <a:ext cx="161146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Raised blisters or bubbles on the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23184" y="3243857"/>
            <a:ext cx="133992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sintered surface; 1–10 mm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23184" y="3381373"/>
            <a:ext cx="119109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diameter depending on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23184" y="3518901"/>
            <a:ext cx="114084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contamination severity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69104" y="2968813"/>
            <a:ext cx="97279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 of sintered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9104" y="3106341"/>
            <a:ext cx="79122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compact; most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9104" y="3243857"/>
            <a:ext cx="83266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common where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9104" y="3381373"/>
            <a:ext cx="101892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lubricant burn-off is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9104" y="3518901"/>
            <a:ext cx="112561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slowest in the furnace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9104" y="3656416"/>
            <a:ext cx="27665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load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57824" y="3037583"/>
            <a:ext cx="62225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VT; surface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57824" y="3175099"/>
            <a:ext cx="10075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profilometry; cross-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7824" y="3312615"/>
            <a:ext cx="115400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section metallography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7824" y="3450143"/>
            <a:ext cx="105624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to reveal subsurface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57824" y="3587658"/>
            <a:ext cx="27951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void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6544" y="3186663"/>
            <a:ext cx="1754966" cy="182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Extend burn-off stage; reduce heating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6544" y="3316266"/>
            <a:ext cx="186534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rate through 300–500°C; verify lubricant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46544" y="3445870"/>
            <a:ext cx="1362273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content and blend uniformity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1424" y="4151350"/>
            <a:ext cx="6994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5B6B7C"/>
                </a:solidFill>
                <a:latin typeface="Calibri"/>
              </a:rPr>
              <a:t>Dimensional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1424" y="4296066"/>
            <a:ext cx="5294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5B6B7C"/>
                </a:solidFill>
                <a:latin typeface="Calibri"/>
              </a:rPr>
              <a:t>Variation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85824" y="3883213"/>
            <a:ext cx="168839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Batch-to-batch changes in powder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5824" y="4020741"/>
            <a:ext cx="140139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characteristics (particle size,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5824" y="4158257"/>
            <a:ext cx="144100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apparent density) shift green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5824" y="4295773"/>
            <a:ext cx="169171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density and sintering shrinkage (1–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85824" y="4433301"/>
            <a:ext cx="176726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3%) — final part dimensions change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85824" y="4570816"/>
            <a:ext cx="87170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between batches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23184" y="4020741"/>
            <a:ext cx="130065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Parts outside dimensional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23184" y="4158257"/>
            <a:ext cx="150946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tolerance — not detectable by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23184" y="4295773"/>
            <a:ext cx="156292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visual inspection; found only by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3184" y="4433301"/>
            <a:ext cx="7244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measurement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9104" y="3951983"/>
            <a:ext cx="95607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 PM parts; most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69104" y="4089499"/>
            <a:ext cx="100186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critical on precision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69104" y="4227015"/>
            <a:ext cx="103048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bores, mating faces,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69104" y="4364543"/>
            <a:ext cx="106151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any feature with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69104" y="4502058"/>
            <a:ext cx="75390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tight tolerance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57824" y="3951983"/>
            <a:ext cx="79580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CMM or gauge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7824" y="4089499"/>
            <a:ext cx="107753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measurement; 100%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57824" y="4227015"/>
            <a:ext cx="120117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dimensional inspection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57824" y="4364543"/>
            <a:ext cx="112298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is standard for critical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57824" y="4502058"/>
            <a:ext cx="85121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PM components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46544" y="4101063"/>
            <a:ext cx="1522113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Tighten powder characterization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46544" y="4230666"/>
            <a:ext cx="163875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specification; coining or sizing after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46544" y="4360270"/>
            <a:ext cx="1750532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sintering to correct critical dimensions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044" y="1280162"/>
            <a:ext cx="292315" cy="29231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044" y="1974966"/>
            <a:ext cx="292315" cy="29231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044" y="2670126"/>
            <a:ext cx="292315" cy="29231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044" y="3364917"/>
            <a:ext cx="292315" cy="2923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044" y="4060077"/>
            <a:ext cx="292315" cy="29232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164" y="1279806"/>
            <a:ext cx="109435" cy="7678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164" y="2194206"/>
            <a:ext cx="109435" cy="7678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3108606"/>
            <a:ext cx="109435" cy="7678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164" y="4023006"/>
            <a:ext cx="109435" cy="7678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424" y="158292"/>
            <a:ext cx="609477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Manufacturing Process Selection — Unit 4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780" y="888653"/>
            <a:ext cx="194159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5-Step Decision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345" y="1316783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00" y="1300042"/>
            <a:ext cx="11067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Alloy compatibility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100" y="1492463"/>
            <a:ext cx="354075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Does the alloy constrain the process? Die casting cannot process steel; PM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100" y="1629979"/>
            <a:ext cx="355998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cannot easily process reactive alloys without vacuum sintering; investment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100" y="1767495"/>
            <a:ext cx="158444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 handles almost any alloy.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345" y="2011587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100" y="1994834"/>
            <a:ext cx="86033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Part geometry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100" y="2187623"/>
            <a:ext cx="34982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Very large parts eliminate die casting and PM; complex internal geometry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100" y="2325139"/>
            <a:ext cx="34998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favours casting with cores; parts with tight bores and flat surfaces require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100" y="2462654"/>
            <a:ext cx="58562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345" y="2706747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100" y="2689994"/>
            <a:ext cx="14843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Tolerance &amp; surface 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100" y="2951172"/>
            <a:ext cx="359181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Sand casting for loose tolerances; grinding for very tight (Ra 0.025–0.8 μm);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100" y="3088701"/>
            <a:ext cx="356914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PM for moderate; machining bridges the gap between casting and grinding.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345" y="340155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100" y="3384798"/>
            <a:ext cx="112006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Production 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100" y="3646332"/>
            <a:ext cx="342833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 volume favours die casting, PM, and cold forming with high tooling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100" y="3783861"/>
            <a:ext cx="358471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investment; low volume favours sand casting and machining from bar stock.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345" y="409671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100" y="4079602"/>
            <a:ext cx="6729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Cost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100" y="4341137"/>
            <a:ext cx="361013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PM and die casting amortise high tooling cost over many parts; sand casting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100" y="4478652"/>
            <a:ext cx="29225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machining have low tooling cost but higher per-part cost.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42179" y="888653"/>
            <a:ext cx="190044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 Process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6695" y="1323747"/>
            <a:ext cx="4968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Casting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6695" y="1564385"/>
            <a:ext cx="37533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Alloy: excellent flexibility. Geometry: complex external and internal (cores).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6695" y="1709114"/>
            <a:ext cx="3508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Volume: sand = low; die = high. Finish: rough to moderate. Key defect: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6695" y="1853831"/>
            <a:ext cx="4976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porosity.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6695" y="2238147"/>
            <a:ext cx="16584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Forming (Forging &amp; Rolling)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6695" y="2478785"/>
            <a:ext cx="39320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Alloy: wrought metals only. Geometry: limited — no internal features. Volume: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6695" y="2623514"/>
            <a:ext cx="370708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medium to high. Finish: moderate. Key advantage: superior grain flow and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6695" y="2768231"/>
            <a:ext cx="6194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fatigue life.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6695" y="3152547"/>
            <a:ext cx="6858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Machining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6695" y="3393185"/>
            <a:ext cx="38650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Alloy: almost any. Geometry: any external and internal features. Volume: any.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6695" y="3537914"/>
            <a:ext cx="374797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Finish: finest (Ra 0.025–0.8 μm). Limitation: material waste 50–90%; cost is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6695" y="3682631"/>
            <a:ext cx="73792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 per part.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6695" y="4066947"/>
            <a:ext cx="118647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Powder Metallurgy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6695" y="4307585"/>
            <a:ext cx="38138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Alloy: limited (no reactive without vacuum). Geometry: moderate — vertical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06695" y="4452314"/>
            <a:ext cx="39496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ejection only. Volume: medium to high. Key niche: WC-Co tools, self-lubricating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06695" y="4597031"/>
            <a:ext cx="13217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bearings, near-net-shape.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9603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390556"/>
            <a:ext cx="3505274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058431"/>
            <a:ext cx="52346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E07B39"/>
                </a:solidFill>
                <a:latin typeface="Calibri"/>
              </a:rPr>
              <a:t>What is powder metallurgy and what advantages does it offer over casting and machining?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297883"/>
            <a:ext cx="80728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PM starts with metal powder pressed into a die at 150–700 MPa then sintered at 70–90% of the melting point — solid-state diffusion bonds particles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457713"/>
            <a:ext cx="79516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without melting. Advantages: near-net-shape with minimal material waste; enables materials impossible by other routes (WC-Co cutting tools, self-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617555"/>
            <a:ext cx="83701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lubricating porous bearings, controlled-porosity filters); eliminates many secondary operations. Limitation: 85–95% theoretical density; economical only at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1777397"/>
            <a:ext cx="255127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moderate to high volumes due to tooling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045907"/>
            <a:ext cx="35180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E07B39"/>
                </a:solidFill>
                <a:latin typeface="Calibri"/>
              </a:rPr>
              <a:t>How are metal powders produced, compacted, and sintered?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285359"/>
            <a:ext cx="83387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Production: water atomisation (irregular, iron/steel), gas atomisation (spherical, stainless/superalloys), reduction (sponge iron), electrolytic/carbonyl (high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445201"/>
            <a:ext cx="83521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purity). Compaction: blended with lubricant, die-filled, pressed from both ends at 150–700 MPa — green compact has 5–15 MPa strength. Sintering: burn-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2605044"/>
            <a:ext cx="80632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off lubricant at 300–500°C, neck formation at 70–90% Tm (~1100–1150°C for iron), densification with controlled atmosphere (H₂, N₂, or vacuum) 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2764873"/>
            <a:ext cx="15869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predictable 1–3% shrinkage.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033395"/>
            <a:ext cx="448698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E07B39"/>
                </a:solidFill>
                <a:latin typeface="Calibri"/>
              </a:rPr>
              <a:t>What are the limitations of PM and what defects should a technician look for?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352756"/>
            <a:ext cx="83716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Limitations: density 85–95% theoretical; geometry limited to vertical die ejection; tooling cost high; part size limited by press capacity. Key defects: density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512598"/>
            <a:ext cx="83110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gradients (uneven compaction — detect by hardness traverse or UT); lamination cracks (spring-back on ejection — planar crack perpendicular to pressing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3672440"/>
            <a:ext cx="76330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axis, detect by UT); blistering (rushed burn-off stage — VT); dimensional variation (powder batch changes — 100% measurement inspection).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4020871"/>
            <a:ext cx="431448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E07B39"/>
                </a:solidFill>
                <a:latin typeface="Calibri"/>
              </a:rPr>
              <a:t>How do you select the right manufacturing process for a given application?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4260324"/>
            <a:ext cx="83850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Work through five factors in sequence: (1) alloy compatibility — does it constrain the process? (2) geometry — does part complexity eliminate options? (3)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4420153"/>
            <a:ext cx="824614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tolerance and surface finish required; (4) production volume — high volume justifies high tooling investment; (5) cost target. Most finished parts involve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4579995"/>
            <a:ext cx="844380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multiple processes in sequence — a casting that is then machined, or a forging that is then ground. Understanding the full manufacturing chain, not just the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04" y="4739837"/>
            <a:ext cx="30579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individual operation, is the mark of a quality technician.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914401"/>
            <a:ext cx="863172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914401"/>
            <a:ext cx="529920" cy="1170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176197"/>
            <a:ext cx="8631720" cy="11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176197"/>
            <a:ext cx="529920" cy="1170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438006"/>
            <a:ext cx="8631720" cy="1169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3438006"/>
            <a:ext cx="529920" cy="1169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552291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13: Powder Metallurgy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6" y="1291842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4" y="1235857"/>
            <a:ext cx="78787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Powder metallurgy occupies a unique manufacturing niche — it is the only practical route to certain materials (WC-Co cutting tools,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344" y="1411168"/>
            <a:ext cx="73449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self-lubricating bearings, controlled-porosity filters) and offers exceptional material efficiency; its limitations in density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344" y="1586491"/>
            <a:ext cx="652351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geometry constrain where it can be used but do not diminish its importance in the manufacturing landscape.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56" y="2553638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344" y="2497652"/>
            <a:ext cx="77752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Sintering is a thermally activated diffusion process, not melting — controlling atmosphere, temperature, and time determines the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344" y="2672976"/>
            <a:ext cx="774617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final density, microstructure, and mechanical properties of the PM part; deviations from the qualified sintering cycle are a quality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344" y="2848287"/>
            <a:ext cx="35429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concern just as critical as incorrect heat treatment in steel.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56" y="3815446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44" y="3672339"/>
            <a:ext cx="73904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Process selection across all Unit 4 processes requires simultaneously satisfying alloy, geometry, tolerance, volume, and cost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344" y="3847650"/>
            <a:ext cx="75839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requirements — no single process is universally best, and most finished components involve multiple processes in sequence; a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44" y="4022973"/>
            <a:ext cx="77849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technician who understands the capabilities and limitations of each process can reason about the entire manufacturing chain, not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344" y="4198297"/>
            <a:ext cx="261726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just the individual step they are inspecting.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827600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6844" y="1316521"/>
            <a:ext cx="429731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037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2766"/>
            <a:ext cx="72720" cy="45683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24482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46198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68282"/>
            <a:ext cx="72720" cy="45684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0075" y="804597"/>
            <a:ext cx="3657244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12956" y="1590842"/>
            <a:ext cx="3108604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44" y="959237"/>
            <a:ext cx="169662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13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44" y="1481311"/>
            <a:ext cx="11568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Kalpakjian Ch.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44" y="1649597"/>
            <a:ext cx="42142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Powder Metallurgy — production, compaction, sintering, and applications —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44" y="1809439"/>
            <a:ext cx="9330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primary 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44" y="2103027"/>
            <a:ext cx="15495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MPIF Process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44" y="2351234"/>
            <a:ext cx="37749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Metal Powder Industries Federation interactive PM process visualizer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44" y="2724743"/>
            <a:ext cx="18466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Sintering — Neck 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44" y="2973318"/>
            <a:ext cx="382038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Animated sintering stages: burn-off, neck formation, and densification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44" y="3346472"/>
            <a:ext cx="22333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Atomisation &amp; Powder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744" y="3595034"/>
            <a:ext cx="397795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Water vs. gas vs. reduction methods — particle shape and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44" y="3968543"/>
            <a:ext cx="21351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Manufacturing Process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44" y="4216762"/>
            <a:ext cx="35024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4 summary tool — casting vs. forming vs. machining vs.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256" y="966189"/>
            <a:ext cx="2478174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E07B39"/>
                </a:solidFill>
                <a:latin typeface="Calibri"/>
              </a:rPr>
              <a:t>Week 14 — Welding Processes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256" y="1314387"/>
            <a:ext cx="311118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November 23, 2026  ·  Unit 5: Joining &amp; Failure begins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1904" y="174954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982" y="1768393"/>
            <a:ext cx="30815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Fusion welding processes — SMAW, MIG, TIG, and their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982" y="1928235"/>
            <a:ext cx="7215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81904" y="227981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4982" y="2298681"/>
            <a:ext cx="30506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Heat input and the weld thermal cycle — heat-affected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24982" y="2458524"/>
            <a:ext cx="8945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zone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1904" y="2890383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4982" y="2909234"/>
            <a:ext cx="29890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Weld joint design — groove, fillet, plug, and slot welds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1904" y="334073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982" y="3359601"/>
            <a:ext cx="269260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Solidification of the weld pool — columnar grain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982" y="3519444"/>
            <a:ext cx="11634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growth and cracking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1904" y="387102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4982" y="3889877"/>
            <a:ext cx="307594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Weld inspection and qualification — VT, RT, UT, MT, and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4982" y="4049719"/>
            <a:ext cx="2079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