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67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3063242"/>
            <a:ext cx="4571631" cy="4536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4144" y="1003131"/>
            <a:ext cx="250571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E07B39"/>
                </a:solidFill>
                <a:latin typeface="Calibri"/>
              </a:rPr>
              <a:t>M E C H 1 9 1 — M e t a l l u r g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4144" y="1424484"/>
            <a:ext cx="5726506" cy="8874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5400">
                <a:solidFill>
                  <a:srgbClr val="FFFFFF"/>
                </a:solidFill>
                <a:latin typeface="Calibri"/>
              </a:rPr>
              <a:t>Course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144" y="2435080"/>
            <a:ext cx="3824206" cy="422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2400">
                <a:solidFill>
                  <a:srgbClr val="CADCFC"/>
                </a:solidFill>
                <a:latin typeface="Calibri"/>
              </a:rPr>
              <a:t>Welcome &amp; Syllabus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144" y="3311813"/>
            <a:ext cx="343205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Fall 2026  ·  Mondays, 5:00 – 7:30 PM  ·  Kai Santos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822606"/>
            <a:ext cx="4571631" cy="411443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284" y="822606"/>
            <a:ext cx="3657231" cy="411443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9864" y="162610"/>
            <a:ext cx="2714493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Welcome to MECH 191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024" y="956829"/>
            <a:ext cx="1563318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500">
                <a:solidFill>
                  <a:srgbClr val="2E4A6B"/>
                </a:solidFill>
                <a:latin typeface="Calibri"/>
              </a:rPr>
              <a:t>Course 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024" y="1402368"/>
            <a:ext cx="342610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A comprehensive introduction to the principles of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024" y="1650056"/>
            <a:ext cx="402939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metallurgy and material science, focusing on the structure,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024" y="1897731"/>
            <a:ext cx="388795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properties, and performance of metals and alloys. Topics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024" y="2145419"/>
            <a:ext cx="407830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include mechanical testing, metallography, phase diagrams,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024" y="2393095"/>
            <a:ext cx="373097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heat treatment, mechanical properties, corrosion, and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024" y="2640770"/>
            <a:ext cx="110052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failure analysis.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024" y="3048288"/>
            <a:ext cx="384812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300">
                <a:solidFill>
                  <a:srgbClr val="64748B"/>
                </a:solidFill>
                <a:latin typeface="Calibri"/>
              </a:rPr>
              <a:t>You'll gain hands-on experience in material testing, alloy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024" y="3295976"/>
            <a:ext cx="409582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300">
                <a:solidFill>
                  <a:srgbClr val="64748B"/>
                </a:solidFill>
                <a:latin typeface="Calibri"/>
              </a:rPr>
              <a:t>composition, and microstructural analysis, and learn how to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024" y="3543651"/>
            <a:ext cx="368007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300">
                <a:solidFill>
                  <a:srgbClr val="64748B"/>
                </a:solidFill>
                <a:latin typeface="Calibri"/>
              </a:rPr>
              <a:t>select and apply materials for real industrial purposes.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1904" y="956829"/>
            <a:ext cx="1623878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500">
                <a:solidFill>
                  <a:srgbClr val="2E4A6B"/>
                </a:solidFill>
                <a:latin typeface="Calibri"/>
              </a:rPr>
              <a:t>Learning Objectives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81904" y="1358341"/>
            <a:ext cx="187101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24982" y="1377036"/>
            <a:ext cx="255919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Explain the relationship between structure,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24982" y="1569632"/>
            <a:ext cx="254858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properties, and performance of metals and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24982" y="1762227"/>
            <a:ext cx="39731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alloys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81904" y="2037664"/>
            <a:ext cx="187101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24982" y="2056346"/>
            <a:ext cx="256520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Describe the phases in a metal alloy system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24982" y="2248954"/>
            <a:ext cx="133969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using a phase diagram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81904" y="2524379"/>
            <a:ext cx="187101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24982" y="2543074"/>
            <a:ext cx="285321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Apply heat treatment processes to modify metal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24982" y="2735669"/>
            <a:ext cx="227789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properties for engineering applications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81904" y="3011106"/>
            <a:ext cx="187101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24982" y="3029789"/>
            <a:ext cx="275404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Conduct lab tests to measure hardness, tensile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24982" y="3222397"/>
            <a:ext cx="132042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strength, and ductility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81904" y="3497821"/>
            <a:ext cx="187101" cy="2237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24982" y="3516516"/>
            <a:ext cx="271940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Interpret failure mechanisms — corrosion and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24982" y="3709111"/>
            <a:ext cx="278351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fatigue — from properties and usage conditions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81904" y="3984549"/>
            <a:ext cx="187101" cy="2237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24982" y="4003231"/>
            <a:ext cx="263685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Assess metal/alloy suitability for engineering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24982" y="4195826"/>
            <a:ext cx="230862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scenarios: performance, durability, cost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59" y="914046"/>
            <a:ext cx="2724480" cy="173699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55124" y="914046"/>
            <a:ext cx="2724480" cy="173699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44844" y="914046"/>
            <a:ext cx="2724480" cy="173699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59" y="2815922"/>
            <a:ext cx="2724480" cy="173700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55124" y="2815922"/>
            <a:ext cx="2724480" cy="173700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44844" y="2815922"/>
            <a:ext cx="2724480" cy="173700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864" y="162610"/>
            <a:ext cx="1896801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Course Logistics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015" y="1108248"/>
            <a:ext cx="163688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2E4A6B"/>
                </a:solidFill>
                <a:latin typeface="Calibri"/>
              </a:rPr>
              <a:t>Credits &amp; Prerequisites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015" y="1480587"/>
            <a:ext cx="179824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3 credits  ·  No prerequisites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8735" y="1108248"/>
            <a:ext cx="462200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2E4A6B"/>
                </a:solidFill>
                <a:latin typeface="Calibri"/>
              </a:rPr>
              <a:t>Dates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8735" y="1480232"/>
            <a:ext cx="204449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August 24 – December 16,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8735" y="1699459"/>
            <a:ext cx="129966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(17-week semester)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8100" y="1108248"/>
            <a:ext cx="1023520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2E4A6B"/>
                </a:solidFill>
                <a:latin typeface="Calibri"/>
              </a:rPr>
              <a:t>Meeting 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8100" y="1480587"/>
            <a:ext cx="188946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Mondays, 5:00 PM – 7:30 PM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015" y="3010137"/>
            <a:ext cx="78375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2E4A6B"/>
                </a:solidFill>
                <a:latin typeface="Calibri"/>
              </a:rPr>
              <a:t>Classroom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015" y="3382463"/>
            <a:ext cx="53747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PS101B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98735" y="3010137"/>
            <a:ext cx="91660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2E4A6B"/>
                </a:solidFill>
                <a:latin typeface="Calibri"/>
              </a:rPr>
              <a:t>Office Hours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8735" y="3382463"/>
            <a:ext cx="136194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By appointment only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8100" y="3010137"/>
            <a:ext cx="7474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2E4A6B"/>
                </a:solidFill>
                <a:latin typeface="Calibri"/>
              </a:rPr>
              <a:t>Instructor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8100" y="3382107"/>
            <a:ext cx="131930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Kainani “Kai” Santos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100" y="3601348"/>
            <a:ext cx="138844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kainanis@hawaii.edu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144" y="4704987"/>
            <a:ext cx="8213526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Content drawn from Moniz, Metallurgy (5th ed.) and Kalpakjian, Manufacturing Processes for Engineering Materials (6th ed.) — all materials provided digitally.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59" y="914401"/>
            <a:ext cx="2651760" cy="457200"/>
          </a:xfrm>
          <a:prstGeom prst="rect">
            <a:avLst/>
          </a:prstGeom>
          <a:solidFill>
            <a:srgbClr val="2A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017520" y="914401"/>
            <a:ext cx="914400" cy="457200"/>
          </a:xfrm>
          <a:prstGeom prst="rect">
            <a:avLst/>
          </a:prstGeom>
          <a:solidFill>
            <a:srgbClr val="2A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931920" y="914401"/>
            <a:ext cx="1005484" cy="457200"/>
          </a:xfrm>
          <a:prstGeom prst="rect">
            <a:avLst/>
          </a:prstGeom>
          <a:solidFill>
            <a:srgbClr val="2A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937404" y="914401"/>
            <a:ext cx="1005471" cy="457200"/>
          </a:xfrm>
          <a:prstGeom prst="rect">
            <a:avLst/>
          </a:prstGeom>
          <a:solidFill>
            <a:srgbClr val="2A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59" y="3200401"/>
            <a:ext cx="2651760" cy="457200"/>
          </a:xfrm>
          <a:prstGeom prst="rect">
            <a:avLst/>
          </a:prstGeom>
          <a:solidFill>
            <a:srgbClr val="F5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17520" y="3200401"/>
            <a:ext cx="914400" cy="457200"/>
          </a:xfrm>
          <a:prstGeom prst="rect">
            <a:avLst/>
          </a:prstGeom>
          <a:solidFill>
            <a:srgbClr val="F5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31920" y="3200401"/>
            <a:ext cx="1005484" cy="457200"/>
          </a:xfrm>
          <a:prstGeom prst="rect">
            <a:avLst/>
          </a:prstGeom>
          <a:solidFill>
            <a:srgbClr val="F5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37404" y="3200401"/>
            <a:ext cx="1005471" cy="457200"/>
          </a:xfrm>
          <a:prstGeom prst="rect">
            <a:avLst/>
          </a:prstGeom>
          <a:solidFill>
            <a:srgbClr val="F5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124" y="914046"/>
            <a:ext cx="2651391" cy="274283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864" y="162610"/>
            <a:ext cx="1951556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Grading Scheme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8780" y="1024467"/>
            <a:ext cx="81371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Assignment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73742" y="1024467"/>
            <a:ext cx="45310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Count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82300" y="1024467"/>
            <a:ext cx="75402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Value Each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60416" y="1024467"/>
            <a:ext cx="80930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Total Points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8780" y="1481667"/>
            <a:ext cx="78341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Attendance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4981" y="1481667"/>
            <a:ext cx="22955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3976" y="1481667"/>
            <a:ext cx="15325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0586" y="1481667"/>
            <a:ext cx="22955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8780" y="1938867"/>
            <a:ext cx="153646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Metallography Portfolio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3856" y="1938867"/>
            <a:ext cx="15325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5101" y="1938867"/>
            <a:ext cx="22955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0586" y="1938867"/>
            <a:ext cx="22955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8780" y="2396067"/>
            <a:ext cx="84341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Unit Quizzes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3856" y="2396067"/>
            <a:ext cx="15325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976" y="2396067"/>
            <a:ext cx="15325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50586" y="2396067"/>
            <a:ext cx="22955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8780" y="2853267"/>
            <a:ext cx="73437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Final Exam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3856" y="2853267"/>
            <a:ext cx="15325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5101" y="2853267"/>
            <a:ext cx="22955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50586" y="2853267"/>
            <a:ext cx="22955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8780" y="3310467"/>
            <a:ext cx="38275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1A2433"/>
                </a:solidFill>
                <a:latin typeface="Calibri"/>
              </a:rPr>
              <a:t>Total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11698" y="3310467"/>
            <a:ext cx="30706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1A2433"/>
                </a:solidFill>
                <a:latin typeface="Calibri"/>
              </a:rPr>
              <a:t>100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7744" y="1067215"/>
            <a:ext cx="80788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2E4A6B"/>
                </a:solidFill>
                <a:latin typeface="Calibri"/>
              </a:rPr>
              <a:t>Final Exam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7744" y="1439317"/>
            <a:ext cx="177506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PS101B  ·  December 16,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87744" y="1648829"/>
            <a:ext cx="93212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5:00 – 7:00 PM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7744" y="2067865"/>
            <a:ext cx="215930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Must be returned by 7:00 PM or the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7744" y="2277390"/>
            <a:ext cx="160605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score is automatically zero.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4144" y="3966515"/>
            <a:ext cx="282834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64748B"/>
                </a:solidFill>
                <a:latin typeface="Calibri"/>
              </a:rPr>
              <a:t>Final letter grades follow the standard A–F scale.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4144" y="4294112"/>
            <a:ext cx="769181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64748B"/>
                </a:solidFill>
                <a:latin typeface="Calibri"/>
              </a:rPr>
              <a:t>The Metallography Portfolio (50 pts) is graded internally across all 15 weekly modules plus a holistic end-of-semester review — see the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4144" y="4461866"/>
            <a:ext cx="206726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64748B"/>
                </a:solidFill>
                <a:latin typeface="Calibri"/>
              </a:rPr>
              <a:t>Metallography Lab slide for details.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2A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896037"/>
            <a:ext cx="8412111" cy="749528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59" y="896037"/>
            <a:ext cx="72720" cy="749528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404" y="1737362"/>
            <a:ext cx="8412111" cy="749515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59" y="1737362"/>
            <a:ext cx="72720" cy="749515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404" y="2578686"/>
            <a:ext cx="8412111" cy="749516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59" y="2578686"/>
            <a:ext cx="72720" cy="749516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404" y="3419997"/>
            <a:ext cx="8412111" cy="749528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59" y="3419997"/>
            <a:ext cx="72720" cy="749528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404" y="4260966"/>
            <a:ext cx="8412111" cy="749515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59" y="4260966"/>
            <a:ext cx="72720" cy="749515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864" y="162610"/>
            <a:ext cx="3550065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Course Roadmap — Five Units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744" y="1133113"/>
            <a:ext cx="584802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Unit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78584" y="1161627"/>
            <a:ext cx="74808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Weeks 1–2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41624" y="1153968"/>
            <a:ext cx="3619270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Foundations: What Metals Are and How They're Built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744" y="1974437"/>
            <a:ext cx="584802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Unit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78584" y="2002951"/>
            <a:ext cx="74808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Weeks 4–6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1624" y="1995292"/>
            <a:ext cx="3516160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Metal Families: Knowing What You're Working With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744" y="2815749"/>
            <a:ext cx="584802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Unit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78584" y="2843907"/>
            <a:ext cx="74808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Weeks 7–9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41624" y="2836617"/>
            <a:ext cx="3865310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Testing, Inspection &amp; Quality: The Technician's Core Skills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744" y="3657073"/>
            <a:ext cx="584802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Unit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78584" y="3685231"/>
            <a:ext cx="90189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Weeks 10–13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41624" y="3677573"/>
            <a:ext cx="451619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Manufacturing Processes: How Parts Are Made and What to Check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744" y="4498029"/>
            <a:ext cx="584802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Unit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78584" y="4526543"/>
            <a:ext cx="90189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Weeks 14–16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41624" y="4518897"/>
            <a:ext cx="46692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Keeping Metal in Service: Welding, Failure, Corrosion &amp; Modern Tech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841326"/>
            <a:ext cx="502564" cy="383756"/>
          </a:xfrm>
          <a:prstGeom prst="rect">
            <a:avLst/>
          </a:prstGeom>
          <a:solidFill>
            <a:srgbClr val="2A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604" y="841326"/>
            <a:ext cx="914400" cy="383756"/>
          </a:xfrm>
          <a:prstGeom prst="rect">
            <a:avLst/>
          </a:prstGeom>
          <a:solidFill>
            <a:srgbClr val="2A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737004" y="841326"/>
            <a:ext cx="2788920" cy="383756"/>
          </a:xfrm>
          <a:prstGeom prst="rect">
            <a:avLst/>
          </a:prstGeom>
          <a:solidFill>
            <a:srgbClr val="2A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17720" y="841326"/>
            <a:ext cx="502564" cy="383756"/>
          </a:xfrm>
          <a:prstGeom prst="rect">
            <a:avLst/>
          </a:prstGeom>
          <a:solidFill>
            <a:srgbClr val="2A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284" y="841326"/>
            <a:ext cx="914400" cy="383756"/>
          </a:xfrm>
          <a:prstGeom prst="rect">
            <a:avLst/>
          </a:prstGeom>
          <a:solidFill>
            <a:srgbClr val="2A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4684" y="841326"/>
            <a:ext cx="2788919" cy="383756"/>
          </a:xfrm>
          <a:prstGeom prst="rect">
            <a:avLst/>
          </a:prstGeom>
          <a:solidFill>
            <a:srgbClr val="2A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864" y="162610"/>
            <a:ext cx="1932838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Course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1144" y="930026"/>
            <a:ext cx="25156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Wk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5624" y="930026"/>
            <a:ext cx="32310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0024" y="930026"/>
            <a:ext cx="34699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Topic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6580" y="1313782"/>
            <a:ext cx="14050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5624" y="1313782"/>
            <a:ext cx="4318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Aug 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70024" y="1313782"/>
            <a:ext cx="152296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Syllabus, PPE / Unit 1 begins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6580" y="1697551"/>
            <a:ext cx="14050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5624" y="1697551"/>
            <a:ext cx="4318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Aug 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70024" y="1697551"/>
            <a:ext cx="149335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Unit 1 (cont.) — Unit 1 Quiz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6580" y="2081307"/>
            <a:ext cx="14050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5624" y="2081307"/>
            <a:ext cx="35525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Sep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0024" y="2081307"/>
            <a:ext cx="57548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NO CLASS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580" y="2465062"/>
            <a:ext cx="14050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5624" y="2465062"/>
            <a:ext cx="4194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Sep 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70024" y="2465062"/>
            <a:ext cx="74919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Unit 2 begins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6580" y="2848831"/>
            <a:ext cx="14050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5624" y="2848831"/>
            <a:ext cx="4194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Sep 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70024" y="2848831"/>
            <a:ext cx="75173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Unit 2 (cont.)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6580" y="3232587"/>
            <a:ext cx="14050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5624" y="3232587"/>
            <a:ext cx="41943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Sep 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70024" y="3232587"/>
            <a:ext cx="149335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Unit 2 (cont.) — Unit 2 Quiz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6580" y="3616343"/>
            <a:ext cx="14050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5624" y="3616343"/>
            <a:ext cx="347761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Oct 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70024" y="3616343"/>
            <a:ext cx="749194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Unit 3 begins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6580" y="4000099"/>
            <a:ext cx="14050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5624" y="4000099"/>
            <a:ext cx="411935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Oct 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70024" y="4000099"/>
            <a:ext cx="751736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Unit 3 (cont.)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6580" y="4383867"/>
            <a:ext cx="14050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5624" y="4383867"/>
            <a:ext cx="411935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Oct 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70024" y="4383867"/>
            <a:ext cx="149335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Unit 3 (cont.) — Unit 3 Quiz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68824" y="930026"/>
            <a:ext cx="25156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Wk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53304" y="930026"/>
            <a:ext cx="32310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Date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67704" y="930026"/>
            <a:ext cx="34699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Topic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92217" y="1313782"/>
            <a:ext cx="20467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53304" y="1313782"/>
            <a:ext cx="41193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Oct 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67704" y="1313782"/>
            <a:ext cx="74919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Unit 4 begins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92217" y="1697551"/>
            <a:ext cx="20467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53304" y="1697551"/>
            <a:ext cx="37368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Nov 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67704" y="1697551"/>
            <a:ext cx="75173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Unit 4 (cont.)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92217" y="2081307"/>
            <a:ext cx="20467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12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53304" y="2081307"/>
            <a:ext cx="37368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Nov 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67704" y="2081307"/>
            <a:ext cx="75173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Unit 4 (cont.)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92217" y="2465062"/>
            <a:ext cx="20467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153304" y="2465062"/>
            <a:ext cx="43785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Nov 16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67704" y="2465062"/>
            <a:ext cx="149335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Unit 4 (cont.) — Unit 4 Quiz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92217" y="2848831"/>
            <a:ext cx="20467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14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53304" y="2848831"/>
            <a:ext cx="43785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Nov 23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67704" y="2848831"/>
            <a:ext cx="74919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Unit 5 begins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92217" y="3232587"/>
            <a:ext cx="204674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15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53304" y="3232587"/>
            <a:ext cx="43785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Nov 30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67704" y="3232587"/>
            <a:ext cx="751736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Unit 5 (cont.)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92217" y="3616343"/>
            <a:ext cx="204674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153304" y="3616343"/>
            <a:ext cx="362884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Dec 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67704" y="3616343"/>
            <a:ext cx="1493354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Unit 5 (cont.) — Unit 5 Quiz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792217" y="4000099"/>
            <a:ext cx="204674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17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53304" y="4000099"/>
            <a:ext cx="42705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Dec 16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67704" y="4000099"/>
            <a:ext cx="710436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FINAL EXAM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44144" y="4727669"/>
            <a:ext cx="4423604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Tentative schedule — subject to change. Updates will be announced by the instructor.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868681"/>
            <a:ext cx="8412111" cy="14169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2514601"/>
            <a:ext cx="2688120" cy="214848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27400" y="2514601"/>
            <a:ext cx="2688120" cy="214848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9396" y="2514601"/>
            <a:ext cx="2688120" cy="214848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864" y="162610"/>
            <a:ext cx="2723154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The Metallography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744" y="1092412"/>
            <a:ext cx="760385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Every instructional week, you'll complete one metallography module using the shared class specimen kit and the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744" y="1350171"/>
            <a:ext cx="775307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EXAMET-5-R-600-HD microscope — examine a specimen, complete an observation table, sketch or photograph the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744" y="1607930"/>
            <a:ext cx="331605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key feature, and answer short-answer questions.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024" y="2737857"/>
            <a:ext cx="833434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E07B39"/>
                </a:solidFill>
                <a:latin typeface="Calibri"/>
              </a:rPr>
              <a:t>Check 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024" y="3153863"/>
            <a:ext cx="212931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See the instructor after class and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024" y="3382463"/>
            <a:ext cx="173641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sign out the specimen tray.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9020" y="2737857"/>
            <a:ext cx="702901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E07B39"/>
                </a:solidFill>
                <a:latin typeface="Calibri"/>
              </a:rPr>
              <a:t>Examine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89020" y="3154231"/>
            <a:ext cx="180951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Work through the module's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9020" y="3382831"/>
            <a:ext cx="214880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magnifications on the EXAMET-5,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89020" y="3611431"/>
            <a:ext cx="165875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following the setup steps.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015" y="2737857"/>
            <a:ext cx="600821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E07B39"/>
                </a:solidFill>
                <a:latin typeface="Calibri"/>
              </a:rPr>
              <a:t>Submit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1015" y="3153863"/>
            <a:ext cx="223286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Return the kit before leaving class.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1015" y="3382463"/>
            <a:ext cx="213769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All 15 modules are compiled into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1015" y="3611063"/>
            <a:ext cx="204647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one portfolio, due at the end of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015" y="3839663"/>
            <a:ext cx="9073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the semester.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2A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914401"/>
            <a:ext cx="8412111" cy="1416964"/>
          </a:xfrm>
          <a:prstGeom prst="rect">
            <a:avLst/>
          </a:prstGeom>
          <a:solidFill>
            <a:srgbClr val="3A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2514601"/>
            <a:ext cx="2688120" cy="2331364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27400" y="2514601"/>
            <a:ext cx="2688120" cy="2331364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9396" y="2514601"/>
            <a:ext cx="2688120" cy="2331364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864" y="162610"/>
            <a:ext cx="179986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Course Policies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744" y="1059895"/>
            <a:ext cx="1556168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5A3A3"/>
                </a:solidFill>
                <a:latin typeface="Calibri"/>
              </a:rPr>
              <a:t>Generative AI Policy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744" y="1452863"/>
            <a:ext cx="760809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No form of generative AI (ChatGPT, Claude, Microsoft Copilot, Apple Intelligence, etc.) may be used, in whole or in part, to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744" y="1690468"/>
            <a:ext cx="782160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generate course materials or assignments. Grammar/spell-check tools (e.g., Grammarly, Word, Google Docs) are permitted to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744" y="1928059"/>
            <a:ext cx="155961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refine your own writing.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015" y="2772533"/>
            <a:ext cx="135680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E07B39"/>
                </a:solidFill>
                <a:latin typeface="Calibri"/>
              </a:rPr>
              <a:t>Academic Integrity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015" y="3172465"/>
            <a:ext cx="191079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Cheating and plagiarism violate the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015" y="3363270"/>
            <a:ext cx="2132291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Student Conduct Code and can result in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015" y="3554062"/>
            <a:ext cx="218159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expulsion. See the Leeward CC academic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015" y="3744867"/>
            <a:ext cx="193125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dishonesty policy for full definitions.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1024" y="2772533"/>
            <a:ext cx="176676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E07B39"/>
                </a:solidFill>
                <a:latin typeface="Calibri"/>
              </a:rPr>
              <a:t>Participation Verification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1024" y="3172465"/>
            <a:ext cx="222671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Students who don't participate in Week 1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1024" y="3363270"/>
            <a:ext cx="150529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are marked “No Show” and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1024" y="3554062"/>
            <a:ext cx="2059223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administratively disenrolled with a full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1024" y="3744867"/>
            <a:ext cx="449295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refund.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3375" y="2772533"/>
            <a:ext cx="54944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E07B39"/>
                </a:solidFill>
                <a:latin typeface="Calibri"/>
              </a:rPr>
              <a:t>Title 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3375" y="3172465"/>
            <a:ext cx="203749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Leeward CC prohibits sex- and gender-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3375" y="3363270"/>
            <a:ext cx="220599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based discrimination. Contact the Title IX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3375" y="3554062"/>
            <a:ext cx="2009791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Coordinator at leetix@hawaii.edu for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3375" y="3744867"/>
            <a:ext cx="1255595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resources and support.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868326"/>
            <a:ext cx="4022991" cy="356579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524" y="868326"/>
            <a:ext cx="4022991" cy="356579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9864" y="162610"/>
            <a:ext cx="2796626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Technology &amp; Materials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024" y="1064581"/>
            <a:ext cx="2276946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2E4A6B"/>
                </a:solidFill>
                <a:latin typeface="Calibri"/>
              </a:rPr>
              <a:t>Textbooks (Provided Digitally)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024" y="1544303"/>
            <a:ext cx="127286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1A2433"/>
                </a:solidFill>
                <a:latin typeface="Calibri"/>
              </a:rPr>
              <a:t>Metallurgy, 5th 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024" y="1959746"/>
            <a:ext cx="70346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64748B"/>
                </a:solidFill>
                <a:latin typeface="Calibri"/>
              </a:rPr>
              <a:t>B.J. Moniz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024" y="2197350"/>
            <a:ext cx="336130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1A2433"/>
                </a:solidFill>
                <a:latin typeface="Calibri"/>
              </a:rPr>
              <a:t>Manufacturing Processes for Engineering Materials,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024" y="2434942"/>
            <a:ext cx="52011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1A2433"/>
                </a:solidFill>
                <a:latin typeface="Calibri"/>
              </a:rPr>
              <a:t>6th 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024" y="2672546"/>
            <a:ext cx="84828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64748B"/>
                </a:solidFill>
                <a:latin typeface="Calibri"/>
              </a:rPr>
              <a:t>S. Kalpakjian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024" y="3446785"/>
            <a:ext cx="3331764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All content is provided as PDFs / video links. Students needing a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024" y="3637590"/>
            <a:ext cx="333939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different format (e.g., printed hardcopy) should make their own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024" y="3828382"/>
            <a:ext cx="984794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accommodations.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16144" y="1064581"/>
            <a:ext cx="1351299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2E4A6B"/>
                </a:solidFill>
                <a:latin typeface="Calibri"/>
              </a:rPr>
              <a:t>What You'll Need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6144" y="1515141"/>
            <a:ext cx="197114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59222" y="1535667"/>
            <a:ext cx="220682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University-provided Gmail account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16144" y="1870830"/>
            <a:ext cx="197114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9222" y="1891344"/>
            <a:ext cx="278018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Access to the learning management system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9222" y="2119944"/>
            <a:ext cx="64574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(Lamaku)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16144" y="2455106"/>
            <a:ext cx="197114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59222" y="2475620"/>
            <a:ext cx="292455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Reliable internet access outside class meeting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59222" y="2704220"/>
            <a:ext cx="41701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times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16144" y="3039382"/>
            <a:ext cx="197114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59222" y="3059909"/>
            <a:ext cx="260292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 laptop for in-class and take-home work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841326"/>
            <a:ext cx="379806" cy="383756"/>
          </a:xfrm>
          <a:prstGeom prst="rect">
            <a:avLst/>
          </a:prstGeom>
          <a:solidFill>
            <a:srgbClr val="2A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9846" y="841326"/>
            <a:ext cx="1499755" cy="383756"/>
          </a:xfrm>
          <a:prstGeom prst="rect">
            <a:avLst/>
          </a:prstGeom>
          <a:solidFill>
            <a:srgbClr val="2A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99601" y="841326"/>
            <a:ext cx="2325953" cy="383756"/>
          </a:xfrm>
          <a:prstGeom prst="rect">
            <a:avLst/>
          </a:prstGeom>
          <a:solidFill>
            <a:srgbClr val="2A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17720" y="841326"/>
            <a:ext cx="379806" cy="383756"/>
          </a:xfrm>
          <a:prstGeom prst="rect">
            <a:avLst/>
          </a:prstGeom>
          <a:solidFill>
            <a:srgbClr val="2A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997526" y="841326"/>
            <a:ext cx="1499755" cy="383756"/>
          </a:xfrm>
          <a:prstGeom prst="rect">
            <a:avLst/>
          </a:prstGeom>
          <a:solidFill>
            <a:srgbClr val="2A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97281" y="841326"/>
            <a:ext cx="2325954" cy="383756"/>
          </a:xfrm>
          <a:prstGeom prst="rect">
            <a:avLst/>
          </a:prstGeom>
          <a:solidFill>
            <a:srgbClr val="2A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864" y="162610"/>
            <a:ext cx="6370781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Specimen Schedule — What You'll Examine Each Week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575" y="930026"/>
            <a:ext cx="25156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Wk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2866" y="930026"/>
            <a:ext cx="34699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Topic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32621" y="930026"/>
            <a:ext cx="93345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Alloys Examined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378" y="1313782"/>
            <a:ext cx="14050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2866" y="1313782"/>
            <a:ext cx="94374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Atomic Structure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32621" y="1321458"/>
            <a:ext cx="847322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1018 steel (new)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5378" y="1697551"/>
            <a:ext cx="14050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2866" y="1697551"/>
            <a:ext cx="95772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Mech. Properties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32621" y="1705214"/>
            <a:ext cx="1421773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1018, 1045 steel (new: 1045)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5378" y="2081307"/>
            <a:ext cx="14050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2866" y="2081307"/>
            <a:ext cx="57954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NO CLASS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32621" y="2088982"/>
            <a:ext cx="179802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90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5378" y="2465062"/>
            <a:ext cx="14050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866" y="2465062"/>
            <a:ext cx="117680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Carbon &amp; Alloy Steels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32621" y="2472738"/>
            <a:ext cx="1706479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1018, 1045, 1075 steel (new: 1075)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5378" y="2848831"/>
            <a:ext cx="14050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2866" y="2848831"/>
            <a:ext cx="80472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Stainless Steel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32621" y="2856494"/>
            <a:ext cx="129493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304, 316, 17-4PH SS (new)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378" y="3232587"/>
            <a:ext cx="14050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2866" y="3232587"/>
            <a:ext cx="1035625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Nonferrous Metals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32621" y="3240263"/>
            <a:ext cx="1214567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6061 Al, 260 brass (new)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5378" y="3616343"/>
            <a:ext cx="14050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2866" y="3616343"/>
            <a:ext cx="785031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Mech. Testing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32621" y="3624019"/>
            <a:ext cx="121617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1018, 1045 steel (revisit)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5378" y="4000099"/>
            <a:ext cx="14050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2866" y="4000099"/>
            <a:ext cx="785539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NDT Methods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32621" y="4007775"/>
            <a:ext cx="2188429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1018 steel, 360 brass, Ti-6Al-4V (new: 360, Ti)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5378" y="4383867"/>
            <a:ext cx="14050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2866" y="4383867"/>
            <a:ext cx="97157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Quality &amp; Defects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32621" y="4391543"/>
            <a:ext cx="931235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1018 steel (revisit)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07254" y="930026"/>
            <a:ext cx="25156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Wk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30546" y="930026"/>
            <a:ext cx="34699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Topic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30302" y="930026"/>
            <a:ext cx="93345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Alloys Examined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31016" y="1313782"/>
            <a:ext cx="20467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30546" y="1313782"/>
            <a:ext cx="108874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Wrought Aluminum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30302" y="1321458"/>
            <a:ext cx="1913254" cy="1904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6061-T6, 2024-T3 Al (new: 2024-T3)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31016" y="1697551"/>
            <a:ext cx="20467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30546" y="1697551"/>
            <a:ext cx="105938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Aluminum Forming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30302" y="1705214"/>
            <a:ext cx="1571497" cy="1904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6061-T6, 5086 Al (new: 5086)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31016" y="2081307"/>
            <a:ext cx="20467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12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30546" y="2081307"/>
            <a:ext cx="114529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Machining Processes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30302" y="2088982"/>
            <a:ext cx="1621197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1018, 1045 steel, 6061-T6 Al (revisit)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31016" y="2465062"/>
            <a:ext cx="20467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30546" y="2465062"/>
            <a:ext cx="78083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Copper Alloys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30302" y="2472738"/>
            <a:ext cx="916813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110, 182 Cu (new)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31016" y="2848831"/>
            <a:ext cx="20467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14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30546" y="2848831"/>
            <a:ext cx="67739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Brass Alloys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30302" y="2856494"/>
            <a:ext cx="149618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260, 360, 464 brass (new: 464)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31016" y="3232587"/>
            <a:ext cx="204674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15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30546" y="3232587"/>
            <a:ext cx="987589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Precip. Hardening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30302" y="3240263"/>
            <a:ext cx="1702017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17-4PH SS, 2024-T3 Al, 182 Cu (revisit)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31016" y="3616343"/>
            <a:ext cx="204674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30546" y="3616343"/>
            <a:ext cx="1177061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Capstone &amp; Synthesis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30302" y="3624019"/>
            <a:ext cx="698214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— (synthesis)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4144" y="4727669"/>
            <a:ext cx="821162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Each week's metallography module draws from the shared 15-specimen kit. “Revisit” means an alloy you've already examined, now viewed through a new lens.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2605686"/>
            <a:ext cx="4571631" cy="27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4144" y="728810"/>
            <a:ext cx="220498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E07B39"/>
                </a:solidFill>
                <a:latin typeface="Calibri"/>
              </a:rPr>
              <a:t>C o m i n g U p — W e e 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4144" y="1156741"/>
            <a:ext cx="5955859" cy="6705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4000">
                <a:solidFill>
                  <a:srgbClr val="FFFFFF"/>
                </a:solidFill>
                <a:latin typeface="Calibri"/>
              </a:rPr>
              <a:t>Atomic Structure &amp; Bonding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144" y="1903627"/>
            <a:ext cx="7832489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CADCFC"/>
                </a:solidFill>
                <a:latin typeface="Calibri"/>
              </a:rPr>
              <a:t>The atom, the periodic table, atomic bonding, alloys and solid solutions, crystal structures, and grain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144" y="2132227"/>
            <a:ext cx="992961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CADCFC"/>
                </a:solidFill>
                <a:latin typeface="Calibri"/>
              </a:rPr>
              <a:t>boundaries.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144" y="2932149"/>
            <a:ext cx="2529593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500">
                <a:solidFill>
                  <a:srgbClr val="FFFFFF"/>
                </a:solidFill>
                <a:latin typeface="Calibri"/>
              </a:rPr>
              <a:t>Questions? Reach out anytime.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144" y="3357533"/>
            <a:ext cx="596600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Kainani “Kai” Santos   ·   kainanis@hawaii.edu   ·   CE401   ·   Office hours by appointment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144" y="4720718"/>
            <a:ext cx="480432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64748B"/>
                </a:solidFill>
                <a:latin typeface="Calibri"/>
              </a:rPr>
              <a:t>Leeward Community College  ·  Math and Science Division  ·  Mechatronics Program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