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3133F5-ED48-4F41-8EC3-B03C0D00E3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4E408C-C755-4B44-80DD-AE04957779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C3EA10-BBF4-4A90-AA1B-85D892E2FB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C5AEF2-148E-4C4C-A094-B34BC17BCA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682E8F-1E83-4382-80C9-15AF039CC1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82F1F9-B438-4E2B-A85A-4BC124EA58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03476A-A1A4-4733-A530-925A035D78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92B49D-092B-47AC-BE76-8A021830BD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D4A276-9CF2-40C6-B7C8-80F80D2261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CBC946-DE26-4E93-BBF1-442FC8F078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608312-1776-4B8B-AF2B-F739D5C428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365400" y="3063240"/>
            <a:ext cx="4571280" cy="4500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60" rIns="90000" bIns="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444240" y="1002960"/>
            <a:ext cx="25052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M E C H 1 9 1 — M e t a l l u r g 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444240" y="1424520"/>
            <a:ext cx="5726160" cy="8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Course Introduction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444240" y="2435040"/>
            <a:ext cx="382392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Welcome &amp; Syllabus Overview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44240" y="3311640"/>
            <a:ext cx="343152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Fall 2026  ·  Mondays, 5:00 – 7:30 PM  ·  Kai Santos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365400" y="822600"/>
            <a:ext cx="4571280" cy="411408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5"/>
          <p:cNvSpPr/>
          <p:nvPr/>
        </p:nvSpPr>
        <p:spPr>
          <a:xfrm>
            <a:off x="5120280" y="822600"/>
            <a:ext cx="3656880" cy="411408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489960" y="162720"/>
            <a:ext cx="271404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Welcome to MECH 191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627120" y="956880"/>
            <a:ext cx="15631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Course Description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627120" y="1402200"/>
            <a:ext cx="34257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 comprehensive introduction to the principles of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627120" y="1649880"/>
            <a:ext cx="402912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metallurgy and material science, focusing on the structure,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627120" y="1897560"/>
            <a:ext cx="38876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properties, and performance of metals and alloys. Topics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1"/>
          <p:cNvSpPr/>
          <p:nvPr/>
        </p:nvSpPr>
        <p:spPr>
          <a:xfrm>
            <a:off x="627120" y="2145240"/>
            <a:ext cx="40780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include mechanical testing, metallography, phase diagrams,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627120" y="2392920"/>
            <a:ext cx="37306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heat treatment, mechanical properties, corrosion, and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3"/>
          <p:cNvSpPr/>
          <p:nvPr/>
        </p:nvSpPr>
        <p:spPr>
          <a:xfrm>
            <a:off x="627120" y="2640600"/>
            <a:ext cx="11001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failure analysis.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4"/>
          <p:cNvSpPr/>
          <p:nvPr/>
        </p:nvSpPr>
        <p:spPr>
          <a:xfrm>
            <a:off x="627120" y="3048120"/>
            <a:ext cx="38476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You'll gain hands-on experience in material testing, alloy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5"/>
          <p:cNvSpPr/>
          <p:nvPr/>
        </p:nvSpPr>
        <p:spPr>
          <a:xfrm>
            <a:off x="627120" y="3295800"/>
            <a:ext cx="40953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composition, and microstructural analysis, and learn how to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6"/>
          <p:cNvSpPr/>
          <p:nvPr/>
        </p:nvSpPr>
        <p:spPr>
          <a:xfrm>
            <a:off x="627120" y="3543480"/>
            <a:ext cx="36795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select and apply materials for real industrial purposes.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7"/>
          <p:cNvSpPr/>
          <p:nvPr/>
        </p:nvSpPr>
        <p:spPr>
          <a:xfrm>
            <a:off x="5382000" y="956880"/>
            <a:ext cx="162360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Learning Objectives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8"/>
          <p:cNvSpPr/>
          <p:nvPr/>
        </p:nvSpPr>
        <p:spPr>
          <a:xfrm>
            <a:off x="5382000" y="1358280"/>
            <a:ext cx="1868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9"/>
          <p:cNvSpPr/>
          <p:nvPr/>
        </p:nvSpPr>
        <p:spPr>
          <a:xfrm>
            <a:off x="5725080" y="1377000"/>
            <a:ext cx="25588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Explain the relationship between structure,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5725080" y="1569600"/>
            <a:ext cx="25480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properties, and performance of metals and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1"/>
          <p:cNvSpPr/>
          <p:nvPr/>
        </p:nvSpPr>
        <p:spPr>
          <a:xfrm>
            <a:off x="5725080" y="1762200"/>
            <a:ext cx="3970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alloys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2"/>
          <p:cNvSpPr/>
          <p:nvPr/>
        </p:nvSpPr>
        <p:spPr>
          <a:xfrm>
            <a:off x="5382000" y="2037600"/>
            <a:ext cx="1868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3"/>
          <p:cNvSpPr/>
          <p:nvPr/>
        </p:nvSpPr>
        <p:spPr>
          <a:xfrm>
            <a:off x="5725080" y="2056320"/>
            <a:ext cx="25650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Describe the phases in a metal alloy system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4"/>
          <p:cNvSpPr/>
          <p:nvPr/>
        </p:nvSpPr>
        <p:spPr>
          <a:xfrm>
            <a:off x="5725080" y="2248920"/>
            <a:ext cx="13392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using a phase diagram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5"/>
          <p:cNvSpPr/>
          <p:nvPr/>
        </p:nvSpPr>
        <p:spPr>
          <a:xfrm>
            <a:off x="5382000" y="2524320"/>
            <a:ext cx="1868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6"/>
          <p:cNvSpPr/>
          <p:nvPr/>
        </p:nvSpPr>
        <p:spPr>
          <a:xfrm>
            <a:off x="5725080" y="2543040"/>
            <a:ext cx="28530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Apply heat treatment processes to modify metal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7"/>
          <p:cNvSpPr/>
          <p:nvPr/>
        </p:nvSpPr>
        <p:spPr>
          <a:xfrm>
            <a:off x="5725080" y="2735640"/>
            <a:ext cx="22773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properties for engineering applications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8"/>
          <p:cNvSpPr/>
          <p:nvPr/>
        </p:nvSpPr>
        <p:spPr>
          <a:xfrm>
            <a:off x="5382000" y="3011040"/>
            <a:ext cx="1868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9"/>
          <p:cNvSpPr/>
          <p:nvPr/>
        </p:nvSpPr>
        <p:spPr>
          <a:xfrm>
            <a:off x="5725080" y="3029760"/>
            <a:ext cx="2753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Conduct lab tests to measure hardness, tensile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0"/>
          <p:cNvSpPr/>
          <p:nvPr/>
        </p:nvSpPr>
        <p:spPr>
          <a:xfrm>
            <a:off x="5725080" y="3222360"/>
            <a:ext cx="13201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strength, and ductility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1"/>
          <p:cNvSpPr/>
          <p:nvPr/>
        </p:nvSpPr>
        <p:spPr>
          <a:xfrm>
            <a:off x="5382000" y="3497760"/>
            <a:ext cx="1868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2"/>
          <p:cNvSpPr/>
          <p:nvPr/>
        </p:nvSpPr>
        <p:spPr>
          <a:xfrm>
            <a:off x="5725080" y="3516480"/>
            <a:ext cx="27190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Interpret failure mechanisms — corrosion and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3"/>
          <p:cNvSpPr/>
          <p:nvPr/>
        </p:nvSpPr>
        <p:spPr>
          <a:xfrm>
            <a:off x="5725080" y="3709080"/>
            <a:ext cx="27831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fatigue — from properties and usage conditions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4"/>
          <p:cNvSpPr/>
          <p:nvPr/>
        </p:nvSpPr>
        <p:spPr>
          <a:xfrm>
            <a:off x="5382000" y="3984480"/>
            <a:ext cx="1868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5"/>
          <p:cNvSpPr/>
          <p:nvPr/>
        </p:nvSpPr>
        <p:spPr>
          <a:xfrm>
            <a:off x="5725080" y="4003200"/>
            <a:ext cx="2636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Assess metal/alloy suitability for engineering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6"/>
          <p:cNvSpPr/>
          <p:nvPr/>
        </p:nvSpPr>
        <p:spPr>
          <a:xfrm>
            <a:off x="5725080" y="4195800"/>
            <a:ext cx="23083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scenarios: performance, durability, cost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4"/>
          <p:cNvSpPr/>
          <p:nvPr/>
        </p:nvSpPr>
        <p:spPr>
          <a:xfrm>
            <a:off x="365760" y="914040"/>
            <a:ext cx="2724120" cy="173664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5"/>
          <p:cNvSpPr/>
          <p:nvPr/>
        </p:nvSpPr>
        <p:spPr>
          <a:xfrm>
            <a:off x="3255120" y="914040"/>
            <a:ext cx="2724120" cy="173664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6"/>
          <p:cNvSpPr/>
          <p:nvPr/>
        </p:nvSpPr>
        <p:spPr>
          <a:xfrm>
            <a:off x="6144840" y="914040"/>
            <a:ext cx="2724120" cy="173664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365760" y="2815920"/>
            <a:ext cx="2724120" cy="173664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8"/>
          <p:cNvSpPr/>
          <p:nvPr/>
        </p:nvSpPr>
        <p:spPr>
          <a:xfrm>
            <a:off x="3255120" y="2815920"/>
            <a:ext cx="2724120" cy="173664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9"/>
          <p:cNvSpPr/>
          <p:nvPr/>
        </p:nvSpPr>
        <p:spPr>
          <a:xfrm>
            <a:off x="6144840" y="2815920"/>
            <a:ext cx="2724120" cy="173664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489960" y="162720"/>
            <a:ext cx="18964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Course Logistics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609120" y="1108080"/>
            <a:ext cx="16365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Credits &amp; Prerequisites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609120" y="1480680"/>
            <a:ext cx="17978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3 credits  ·  No prerequisites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3498840" y="1108080"/>
            <a:ext cx="4618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Dates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3498840" y="1480320"/>
            <a:ext cx="20440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August 24 – December 16,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5"/>
          <p:cNvSpPr/>
          <p:nvPr/>
        </p:nvSpPr>
        <p:spPr>
          <a:xfrm>
            <a:off x="3498840" y="1699560"/>
            <a:ext cx="12992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(17-week semester)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6"/>
          <p:cNvSpPr/>
          <p:nvPr/>
        </p:nvSpPr>
        <p:spPr>
          <a:xfrm>
            <a:off x="6388200" y="1108080"/>
            <a:ext cx="102312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Meeting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7"/>
          <p:cNvSpPr/>
          <p:nvPr/>
        </p:nvSpPr>
        <p:spPr>
          <a:xfrm>
            <a:off x="6388200" y="1480680"/>
            <a:ext cx="1889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Mondays, 5:00 PM – 7:30 PM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8"/>
          <p:cNvSpPr/>
          <p:nvPr/>
        </p:nvSpPr>
        <p:spPr>
          <a:xfrm>
            <a:off x="609120" y="3009960"/>
            <a:ext cx="7833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Classroom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9"/>
          <p:cNvSpPr/>
          <p:nvPr/>
        </p:nvSpPr>
        <p:spPr>
          <a:xfrm>
            <a:off x="609120" y="3382560"/>
            <a:ext cx="5371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PS101B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0"/>
          <p:cNvSpPr/>
          <p:nvPr/>
        </p:nvSpPr>
        <p:spPr>
          <a:xfrm>
            <a:off x="3498840" y="3009960"/>
            <a:ext cx="9162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Office Hours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1"/>
          <p:cNvSpPr/>
          <p:nvPr/>
        </p:nvSpPr>
        <p:spPr>
          <a:xfrm>
            <a:off x="3498840" y="3382560"/>
            <a:ext cx="13615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By appointment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2"/>
          <p:cNvSpPr/>
          <p:nvPr/>
        </p:nvSpPr>
        <p:spPr>
          <a:xfrm>
            <a:off x="6388200" y="3009960"/>
            <a:ext cx="7470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Instructor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3"/>
          <p:cNvSpPr/>
          <p:nvPr/>
        </p:nvSpPr>
        <p:spPr>
          <a:xfrm>
            <a:off x="6388200" y="3382200"/>
            <a:ext cx="13190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Kainani “Kai” Santos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4"/>
          <p:cNvSpPr/>
          <p:nvPr/>
        </p:nvSpPr>
        <p:spPr>
          <a:xfrm>
            <a:off x="6388200" y="3601440"/>
            <a:ext cx="13881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kainanis@hawaii.edu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5"/>
          <p:cNvSpPr/>
          <p:nvPr/>
        </p:nvSpPr>
        <p:spPr>
          <a:xfrm>
            <a:off x="444240" y="4704840"/>
            <a:ext cx="8213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Content drawn from Moniz, Metallurgy (5th ed.) and Kalpakjian, Manufacturing Processes for Engineering Materials (6th ed.) — all materials provided digitally.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4"/>
          <p:cNvSpPr/>
          <p:nvPr/>
        </p:nvSpPr>
        <p:spPr>
          <a:xfrm>
            <a:off x="365760" y="914400"/>
            <a:ext cx="2651400" cy="45684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5"/>
          <p:cNvSpPr/>
          <p:nvPr/>
        </p:nvSpPr>
        <p:spPr>
          <a:xfrm>
            <a:off x="3017520" y="914400"/>
            <a:ext cx="914040" cy="45684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6"/>
          <p:cNvSpPr/>
          <p:nvPr/>
        </p:nvSpPr>
        <p:spPr>
          <a:xfrm>
            <a:off x="3931920" y="914400"/>
            <a:ext cx="1005120" cy="45684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7"/>
          <p:cNvSpPr/>
          <p:nvPr/>
        </p:nvSpPr>
        <p:spPr>
          <a:xfrm>
            <a:off x="4937400" y="914400"/>
            <a:ext cx="1005120" cy="45684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8"/>
          <p:cNvSpPr/>
          <p:nvPr/>
        </p:nvSpPr>
        <p:spPr>
          <a:xfrm>
            <a:off x="365760" y="3200400"/>
            <a:ext cx="2651400" cy="456840"/>
          </a:xfrm>
          <a:prstGeom prst="rect">
            <a:avLst/>
          </a:prstGeom>
          <a:solidFill>
            <a:srgbClr val="F5F0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9"/>
          <p:cNvSpPr/>
          <p:nvPr/>
        </p:nvSpPr>
        <p:spPr>
          <a:xfrm>
            <a:off x="3017520" y="3200400"/>
            <a:ext cx="914040" cy="456840"/>
          </a:xfrm>
          <a:prstGeom prst="rect">
            <a:avLst/>
          </a:prstGeom>
          <a:solidFill>
            <a:srgbClr val="F5F0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10"/>
          <p:cNvSpPr/>
          <p:nvPr/>
        </p:nvSpPr>
        <p:spPr>
          <a:xfrm>
            <a:off x="3931920" y="3200400"/>
            <a:ext cx="1005120" cy="456840"/>
          </a:xfrm>
          <a:prstGeom prst="rect">
            <a:avLst/>
          </a:prstGeom>
          <a:solidFill>
            <a:srgbClr val="F5F0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11"/>
          <p:cNvSpPr/>
          <p:nvPr/>
        </p:nvSpPr>
        <p:spPr>
          <a:xfrm>
            <a:off x="4937400" y="3200400"/>
            <a:ext cx="1005120" cy="456840"/>
          </a:xfrm>
          <a:prstGeom prst="rect">
            <a:avLst/>
          </a:prstGeom>
          <a:solidFill>
            <a:srgbClr val="F5F0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12"/>
          <p:cNvSpPr/>
          <p:nvPr/>
        </p:nvSpPr>
        <p:spPr>
          <a:xfrm>
            <a:off x="6126120" y="914040"/>
            <a:ext cx="2651040" cy="274248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489960" y="162720"/>
            <a:ext cx="195120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Grading Scheme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4"/>
          <p:cNvSpPr/>
          <p:nvPr/>
        </p:nvSpPr>
        <p:spPr>
          <a:xfrm>
            <a:off x="398880" y="1024560"/>
            <a:ext cx="8132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Assignment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3273840" y="1024560"/>
            <a:ext cx="452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6"/>
          <p:cNvSpPr/>
          <p:nvPr/>
        </p:nvSpPr>
        <p:spPr>
          <a:xfrm>
            <a:off x="4082400" y="1024560"/>
            <a:ext cx="7538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Value Each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7"/>
          <p:cNvSpPr/>
          <p:nvPr/>
        </p:nvSpPr>
        <p:spPr>
          <a:xfrm>
            <a:off x="5060520" y="1024560"/>
            <a:ext cx="8089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Total Points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8"/>
          <p:cNvSpPr/>
          <p:nvPr/>
        </p:nvSpPr>
        <p:spPr>
          <a:xfrm>
            <a:off x="398880" y="1481760"/>
            <a:ext cx="78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Attendance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3385080" y="1481760"/>
            <a:ext cx="229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0"/>
          <p:cNvSpPr/>
          <p:nvPr/>
        </p:nvSpPr>
        <p:spPr>
          <a:xfrm>
            <a:off x="4384080" y="1481760"/>
            <a:ext cx="1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5350680" y="1481760"/>
            <a:ext cx="229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2"/>
          <p:cNvSpPr/>
          <p:nvPr/>
        </p:nvSpPr>
        <p:spPr>
          <a:xfrm>
            <a:off x="398880" y="1938960"/>
            <a:ext cx="15361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Metallography Portfolio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3"/>
          <p:cNvSpPr/>
          <p:nvPr/>
        </p:nvSpPr>
        <p:spPr>
          <a:xfrm>
            <a:off x="3423960" y="1938960"/>
            <a:ext cx="1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4"/>
          <p:cNvSpPr/>
          <p:nvPr/>
        </p:nvSpPr>
        <p:spPr>
          <a:xfrm>
            <a:off x="4345200" y="1938960"/>
            <a:ext cx="229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5"/>
          <p:cNvSpPr/>
          <p:nvPr/>
        </p:nvSpPr>
        <p:spPr>
          <a:xfrm>
            <a:off x="5350680" y="1938960"/>
            <a:ext cx="229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6"/>
          <p:cNvSpPr/>
          <p:nvPr/>
        </p:nvSpPr>
        <p:spPr>
          <a:xfrm>
            <a:off x="398880" y="2396160"/>
            <a:ext cx="8431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Quizzes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7"/>
          <p:cNvSpPr/>
          <p:nvPr/>
        </p:nvSpPr>
        <p:spPr>
          <a:xfrm>
            <a:off x="3423960" y="2396160"/>
            <a:ext cx="1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8"/>
          <p:cNvSpPr/>
          <p:nvPr/>
        </p:nvSpPr>
        <p:spPr>
          <a:xfrm>
            <a:off x="4384080" y="2396160"/>
            <a:ext cx="1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9"/>
          <p:cNvSpPr/>
          <p:nvPr/>
        </p:nvSpPr>
        <p:spPr>
          <a:xfrm>
            <a:off x="5350680" y="2396160"/>
            <a:ext cx="229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0"/>
          <p:cNvSpPr/>
          <p:nvPr/>
        </p:nvSpPr>
        <p:spPr>
          <a:xfrm>
            <a:off x="398880" y="2853360"/>
            <a:ext cx="7340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Final Exam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1"/>
          <p:cNvSpPr/>
          <p:nvPr/>
        </p:nvSpPr>
        <p:spPr>
          <a:xfrm>
            <a:off x="3423960" y="2853360"/>
            <a:ext cx="153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2"/>
          <p:cNvSpPr/>
          <p:nvPr/>
        </p:nvSpPr>
        <p:spPr>
          <a:xfrm>
            <a:off x="4345200" y="2853360"/>
            <a:ext cx="229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3"/>
          <p:cNvSpPr/>
          <p:nvPr/>
        </p:nvSpPr>
        <p:spPr>
          <a:xfrm>
            <a:off x="5350680" y="2853360"/>
            <a:ext cx="229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4"/>
          <p:cNvSpPr/>
          <p:nvPr/>
        </p:nvSpPr>
        <p:spPr>
          <a:xfrm>
            <a:off x="398880" y="3310560"/>
            <a:ext cx="382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Total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5"/>
          <p:cNvSpPr/>
          <p:nvPr/>
        </p:nvSpPr>
        <p:spPr>
          <a:xfrm>
            <a:off x="5311800" y="3310560"/>
            <a:ext cx="306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6"/>
          <p:cNvSpPr/>
          <p:nvPr/>
        </p:nvSpPr>
        <p:spPr>
          <a:xfrm>
            <a:off x="6387840" y="1067040"/>
            <a:ext cx="8074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Final Exam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7"/>
          <p:cNvSpPr/>
          <p:nvPr/>
        </p:nvSpPr>
        <p:spPr>
          <a:xfrm>
            <a:off x="6387840" y="1439280"/>
            <a:ext cx="17748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PS101B  ·  December 16, 2026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8"/>
          <p:cNvSpPr/>
          <p:nvPr/>
        </p:nvSpPr>
        <p:spPr>
          <a:xfrm>
            <a:off x="6387840" y="1648800"/>
            <a:ext cx="9316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5:00 – 7:00 PM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9"/>
          <p:cNvSpPr/>
          <p:nvPr/>
        </p:nvSpPr>
        <p:spPr>
          <a:xfrm>
            <a:off x="6387840" y="2067840"/>
            <a:ext cx="21589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Must be returned by 7:00 PM or the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0"/>
          <p:cNvSpPr/>
          <p:nvPr/>
        </p:nvSpPr>
        <p:spPr>
          <a:xfrm>
            <a:off x="6387840" y="2277360"/>
            <a:ext cx="16056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score is automatically zero.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41"/>
          <p:cNvSpPr/>
          <p:nvPr/>
        </p:nvSpPr>
        <p:spPr>
          <a:xfrm>
            <a:off x="444240" y="3966480"/>
            <a:ext cx="28281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Final letter grades follow the standard A–F scale.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2"/>
          <p:cNvSpPr/>
          <p:nvPr/>
        </p:nvSpPr>
        <p:spPr>
          <a:xfrm>
            <a:off x="444240" y="4294080"/>
            <a:ext cx="76914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The Metallography Portfolio (50 pts) is graded internally across all 15 weekly modules plus a holistic end-of-semester review — see the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43"/>
          <p:cNvSpPr/>
          <p:nvPr/>
        </p:nvSpPr>
        <p:spPr>
          <a:xfrm>
            <a:off x="444240" y="4461840"/>
            <a:ext cx="20667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Metallography Lab slide for details.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4"/>
          <p:cNvSpPr/>
          <p:nvPr/>
        </p:nvSpPr>
        <p:spPr>
          <a:xfrm>
            <a:off x="365400" y="896040"/>
            <a:ext cx="8411760" cy="749160"/>
          </a:xfrm>
          <a:prstGeom prst="rect">
            <a:avLst/>
          </a:prstGeom>
          <a:solidFill>
            <a:srgbClr val="1A2E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5"/>
          <p:cNvSpPr/>
          <p:nvPr/>
        </p:nvSpPr>
        <p:spPr>
          <a:xfrm>
            <a:off x="365760" y="896040"/>
            <a:ext cx="72360" cy="74916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6"/>
          <p:cNvSpPr/>
          <p:nvPr/>
        </p:nvSpPr>
        <p:spPr>
          <a:xfrm>
            <a:off x="365400" y="1737360"/>
            <a:ext cx="8411760" cy="749160"/>
          </a:xfrm>
          <a:prstGeom prst="rect">
            <a:avLst/>
          </a:prstGeom>
          <a:solidFill>
            <a:srgbClr val="1A2E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7"/>
          <p:cNvSpPr/>
          <p:nvPr/>
        </p:nvSpPr>
        <p:spPr>
          <a:xfrm>
            <a:off x="365760" y="1737360"/>
            <a:ext cx="72360" cy="74916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8"/>
          <p:cNvSpPr/>
          <p:nvPr/>
        </p:nvSpPr>
        <p:spPr>
          <a:xfrm>
            <a:off x="365400" y="2578680"/>
            <a:ext cx="8411760" cy="749160"/>
          </a:xfrm>
          <a:prstGeom prst="rect">
            <a:avLst/>
          </a:prstGeom>
          <a:solidFill>
            <a:srgbClr val="1A2E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9"/>
          <p:cNvSpPr/>
          <p:nvPr/>
        </p:nvSpPr>
        <p:spPr>
          <a:xfrm>
            <a:off x="365760" y="2578680"/>
            <a:ext cx="72360" cy="74916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10"/>
          <p:cNvSpPr/>
          <p:nvPr/>
        </p:nvSpPr>
        <p:spPr>
          <a:xfrm>
            <a:off x="365400" y="3420000"/>
            <a:ext cx="8411760" cy="749160"/>
          </a:xfrm>
          <a:prstGeom prst="rect">
            <a:avLst/>
          </a:prstGeom>
          <a:solidFill>
            <a:srgbClr val="1A2E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11"/>
          <p:cNvSpPr/>
          <p:nvPr/>
        </p:nvSpPr>
        <p:spPr>
          <a:xfrm>
            <a:off x="365760" y="3420000"/>
            <a:ext cx="72360" cy="74916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12"/>
          <p:cNvSpPr/>
          <p:nvPr/>
        </p:nvSpPr>
        <p:spPr>
          <a:xfrm>
            <a:off x="365400" y="4260960"/>
            <a:ext cx="8411760" cy="749160"/>
          </a:xfrm>
          <a:prstGeom prst="rect">
            <a:avLst/>
          </a:prstGeom>
          <a:solidFill>
            <a:srgbClr val="1A2E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13"/>
          <p:cNvSpPr/>
          <p:nvPr/>
        </p:nvSpPr>
        <p:spPr>
          <a:xfrm>
            <a:off x="365760" y="4260960"/>
            <a:ext cx="72360" cy="74916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4"/>
          <p:cNvSpPr/>
          <p:nvPr/>
        </p:nvSpPr>
        <p:spPr>
          <a:xfrm>
            <a:off x="489960" y="162720"/>
            <a:ext cx="354960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Course Roadmap — Five Units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5"/>
          <p:cNvSpPr/>
          <p:nvPr/>
        </p:nvSpPr>
        <p:spPr>
          <a:xfrm>
            <a:off x="672840" y="1133280"/>
            <a:ext cx="584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Unit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1678680" y="1161720"/>
            <a:ext cx="747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Weeks 1–2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3141720" y="1153800"/>
            <a:ext cx="36190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Foundations: What Metals Are and How They're Built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8"/>
          <p:cNvSpPr/>
          <p:nvPr/>
        </p:nvSpPr>
        <p:spPr>
          <a:xfrm>
            <a:off x="672840" y="1974600"/>
            <a:ext cx="584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Unit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9"/>
          <p:cNvSpPr/>
          <p:nvPr/>
        </p:nvSpPr>
        <p:spPr>
          <a:xfrm>
            <a:off x="1678680" y="2003040"/>
            <a:ext cx="747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Weeks 4–6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0"/>
          <p:cNvSpPr/>
          <p:nvPr/>
        </p:nvSpPr>
        <p:spPr>
          <a:xfrm>
            <a:off x="3141720" y="1995120"/>
            <a:ext cx="35157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Metal Families: Knowing What You're Working With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1"/>
          <p:cNvSpPr/>
          <p:nvPr/>
        </p:nvSpPr>
        <p:spPr>
          <a:xfrm>
            <a:off x="672840" y="2815920"/>
            <a:ext cx="584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Unit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2"/>
          <p:cNvSpPr/>
          <p:nvPr/>
        </p:nvSpPr>
        <p:spPr>
          <a:xfrm>
            <a:off x="1678680" y="2844000"/>
            <a:ext cx="747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Weeks 7–9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3"/>
          <p:cNvSpPr/>
          <p:nvPr/>
        </p:nvSpPr>
        <p:spPr>
          <a:xfrm>
            <a:off x="3141720" y="2836440"/>
            <a:ext cx="38649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Testing, Inspection &amp; Quality: The Technician's Core Skills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4"/>
          <p:cNvSpPr/>
          <p:nvPr/>
        </p:nvSpPr>
        <p:spPr>
          <a:xfrm>
            <a:off x="672840" y="3657240"/>
            <a:ext cx="584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Unit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5"/>
          <p:cNvSpPr/>
          <p:nvPr/>
        </p:nvSpPr>
        <p:spPr>
          <a:xfrm>
            <a:off x="1678680" y="3685320"/>
            <a:ext cx="9014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Weeks 10–13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6"/>
          <p:cNvSpPr/>
          <p:nvPr/>
        </p:nvSpPr>
        <p:spPr>
          <a:xfrm>
            <a:off x="3141720" y="3677400"/>
            <a:ext cx="45158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Manufacturing Processes: How Parts Are Made and What to Check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7"/>
          <p:cNvSpPr/>
          <p:nvPr/>
        </p:nvSpPr>
        <p:spPr>
          <a:xfrm>
            <a:off x="672840" y="4498200"/>
            <a:ext cx="584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Unit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8"/>
          <p:cNvSpPr/>
          <p:nvPr/>
        </p:nvSpPr>
        <p:spPr>
          <a:xfrm>
            <a:off x="1678680" y="4526640"/>
            <a:ext cx="9014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Weeks 14–16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9"/>
          <p:cNvSpPr/>
          <p:nvPr/>
        </p:nvSpPr>
        <p:spPr>
          <a:xfrm>
            <a:off x="3141720" y="4518720"/>
            <a:ext cx="46688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Keeping Metal in Service: Welding, Failure, Corrosion &amp; Modern Tech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4"/>
          <p:cNvSpPr/>
          <p:nvPr/>
        </p:nvSpPr>
        <p:spPr>
          <a:xfrm>
            <a:off x="320040" y="841320"/>
            <a:ext cx="50220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5"/>
          <p:cNvSpPr/>
          <p:nvPr/>
        </p:nvSpPr>
        <p:spPr>
          <a:xfrm>
            <a:off x="822600" y="841320"/>
            <a:ext cx="91404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6"/>
          <p:cNvSpPr/>
          <p:nvPr/>
        </p:nvSpPr>
        <p:spPr>
          <a:xfrm>
            <a:off x="1737000" y="841320"/>
            <a:ext cx="278856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7"/>
          <p:cNvSpPr/>
          <p:nvPr/>
        </p:nvSpPr>
        <p:spPr>
          <a:xfrm>
            <a:off x="4617720" y="841320"/>
            <a:ext cx="50220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8"/>
          <p:cNvSpPr/>
          <p:nvPr/>
        </p:nvSpPr>
        <p:spPr>
          <a:xfrm>
            <a:off x="5120280" y="841320"/>
            <a:ext cx="91404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9"/>
          <p:cNvSpPr/>
          <p:nvPr/>
        </p:nvSpPr>
        <p:spPr>
          <a:xfrm>
            <a:off x="6034680" y="841320"/>
            <a:ext cx="278856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0"/>
          <p:cNvSpPr/>
          <p:nvPr/>
        </p:nvSpPr>
        <p:spPr>
          <a:xfrm>
            <a:off x="489960" y="162720"/>
            <a:ext cx="19324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Course Timeline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1"/>
          <p:cNvSpPr/>
          <p:nvPr/>
        </p:nvSpPr>
        <p:spPr>
          <a:xfrm>
            <a:off x="471240" y="929880"/>
            <a:ext cx="251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2"/>
          <p:cNvSpPr/>
          <p:nvPr/>
        </p:nvSpPr>
        <p:spPr>
          <a:xfrm>
            <a:off x="855720" y="929880"/>
            <a:ext cx="322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3"/>
          <p:cNvSpPr/>
          <p:nvPr/>
        </p:nvSpPr>
        <p:spPr>
          <a:xfrm>
            <a:off x="1770120" y="929880"/>
            <a:ext cx="3466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Topic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4"/>
          <p:cNvSpPr/>
          <p:nvPr/>
        </p:nvSpPr>
        <p:spPr>
          <a:xfrm>
            <a:off x="526680" y="131364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5"/>
          <p:cNvSpPr/>
          <p:nvPr/>
        </p:nvSpPr>
        <p:spPr>
          <a:xfrm>
            <a:off x="855720" y="1313640"/>
            <a:ext cx="4316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Aug 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6"/>
          <p:cNvSpPr/>
          <p:nvPr/>
        </p:nvSpPr>
        <p:spPr>
          <a:xfrm>
            <a:off x="1770120" y="1313640"/>
            <a:ext cx="1522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Syllabus, PPE / Unit 1 begins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7"/>
          <p:cNvSpPr/>
          <p:nvPr/>
        </p:nvSpPr>
        <p:spPr>
          <a:xfrm>
            <a:off x="526680" y="169740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8"/>
          <p:cNvSpPr/>
          <p:nvPr/>
        </p:nvSpPr>
        <p:spPr>
          <a:xfrm>
            <a:off x="855720" y="1697400"/>
            <a:ext cx="4316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Aug 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9"/>
          <p:cNvSpPr/>
          <p:nvPr/>
        </p:nvSpPr>
        <p:spPr>
          <a:xfrm>
            <a:off x="1770120" y="1697400"/>
            <a:ext cx="1492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1 (cont.) — Unit 1 Quiz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0"/>
          <p:cNvSpPr/>
          <p:nvPr/>
        </p:nvSpPr>
        <p:spPr>
          <a:xfrm>
            <a:off x="526680" y="208116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1"/>
          <p:cNvSpPr/>
          <p:nvPr/>
        </p:nvSpPr>
        <p:spPr>
          <a:xfrm>
            <a:off x="855720" y="2081160"/>
            <a:ext cx="3549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Sep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2"/>
          <p:cNvSpPr/>
          <p:nvPr/>
        </p:nvSpPr>
        <p:spPr>
          <a:xfrm>
            <a:off x="1770120" y="2081160"/>
            <a:ext cx="575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NO CLASS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3"/>
          <p:cNvSpPr/>
          <p:nvPr/>
        </p:nvSpPr>
        <p:spPr>
          <a:xfrm>
            <a:off x="526680" y="246492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4"/>
          <p:cNvSpPr/>
          <p:nvPr/>
        </p:nvSpPr>
        <p:spPr>
          <a:xfrm>
            <a:off x="855720" y="2464920"/>
            <a:ext cx="419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Sep 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5"/>
          <p:cNvSpPr/>
          <p:nvPr/>
        </p:nvSpPr>
        <p:spPr>
          <a:xfrm>
            <a:off x="1770120" y="2464920"/>
            <a:ext cx="7488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2 begins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6"/>
          <p:cNvSpPr/>
          <p:nvPr/>
        </p:nvSpPr>
        <p:spPr>
          <a:xfrm>
            <a:off x="526680" y="284868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7"/>
          <p:cNvSpPr/>
          <p:nvPr/>
        </p:nvSpPr>
        <p:spPr>
          <a:xfrm>
            <a:off x="855720" y="2848680"/>
            <a:ext cx="419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Sep 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8"/>
          <p:cNvSpPr/>
          <p:nvPr/>
        </p:nvSpPr>
        <p:spPr>
          <a:xfrm>
            <a:off x="1770120" y="2848680"/>
            <a:ext cx="751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2 (cont.)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9"/>
          <p:cNvSpPr/>
          <p:nvPr/>
        </p:nvSpPr>
        <p:spPr>
          <a:xfrm>
            <a:off x="526680" y="323244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0"/>
          <p:cNvSpPr/>
          <p:nvPr/>
        </p:nvSpPr>
        <p:spPr>
          <a:xfrm>
            <a:off x="855720" y="3232440"/>
            <a:ext cx="419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Sep 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1"/>
          <p:cNvSpPr/>
          <p:nvPr/>
        </p:nvSpPr>
        <p:spPr>
          <a:xfrm>
            <a:off x="1770120" y="3232440"/>
            <a:ext cx="1492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2 (cont.) — Unit 2 Quiz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2"/>
          <p:cNvSpPr/>
          <p:nvPr/>
        </p:nvSpPr>
        <p:spPr>
          <a:xfrm>
            <a:off x="526680" y="361620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3"/>
          <p:cNvSpPr/>
          <p:nvPr/>
        </p:nvSpPr>
        <p:spPr>
          <a:xfrm>
            <a:off x="855720" y="3616200"/>
            <a:ext cx="347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Oct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4"/>
          <p:cNvSpPr/>
          <p:nvPr/>
        </p:nvSpPr>
        <p:spPr>
          <a:xfrm>
            <a:off x="1770120" y="3616200"/>
            <a:ext cx="7488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3 begins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5"/>
          <p:cNvSpPr/>
          <p:nvPr/>
        </p:nvSpPr>
        <p:spPr>
          <a:xfrm>
            <a:off x="526680" y="399996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6"/>
          <p:cNvSpPr/>
          <p:nvPr/>
        </p:nvSpPr>
        <p:spPr>
          <a:xfrm>
            <a:off x="855720" y="3999960"/>
            <a:ext cx="411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Oct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37"/>
          <p:cNvSpPr/>
          <p:nvPr/>
        </p:nvSpPr>
        <p:spPr>
          <a:xfrm>
            <a:off x="1770120" y="3999960"/>
            <a:ext cx="751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3 (cont.)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38"/>
          <p:cNvSpPr/>
          <p:nvPr/>
        </p:nvSpPr>
        <p:spPr>
          <a:xfrm>
            <a:off x="526680" y="438372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39"/>
          <p:cNvSpPr/>
          <p:nvPr/>
        </p:nvSpPr>
        <p:spPr>
          <a:xfrm>
            <a:off x="855720" y="4383720"/>
            <a:ext cx="411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Oct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40"/>
          <p:cNvSpPr/>
          <p:nvPr/>
        </p:nvSpPr>
        <p:spPr>
          <a:xfrm>
            <a:off x="1770120" y="4383720"/>
            <a:ext cx="1492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3 (cont.) — Unit 3 Quiz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41"/>
          <p:cNvSpPr/>
          <p:nvPr/>
        </p:nvSpPr>
        <p:spPr>
          <a:xfrm>
            <a:off x="4768920" y="929880"/>
            <a:ext cx="251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42"/>
          <p:cNvSpPr/>
          <p:nvPr/>
        </p:nvSpPr>
        <p:spPr>
          <a:xfrm>
            <a:off x="5153400" y="929880"/>
            <a:ext cx="322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3"/>
          <p:cNvSpPr/>
          <p:nvPr/>
        </p:nvSpPr>
        <p:spPr>
          <a:xfrm>
            <a:off x="6067800" y="929880"/>
            <a:ext cx="3466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Topic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4"/>
          <p:cNvSpPr/>
          <p:nvPr/>
        </p:nvSpPr>
        <p:spPr>
          <a:xfrm>
            <a:off x="4792320" y="131364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45"/>
          <p:cNvSpPr/>
          <p:nvPr/>
        </p:nvSpPr>
        <p:spPr>
          <a:xfrm>
            <a:off x="5153400" y="1313640"/>
            <a:ext cx="411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Oct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6"/>
          <p:cNvSpPr/>
          <p:nvPr/>
        </p:nvSpPr>
        <p:spPr>
          <a:xfrm>
            <a:off x="6067800" y="1313640"/>
            <a:ext cx="7488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4 begins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47"/>
          <p:cNvSpPr/>
          <p:nvPr/>
        </p:nvSpPr>
        <p:spPr>
          <a:xfrm>
            <a:off x="4792320" y="169740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48"/>
          <p:cNvSpPr/>
          <p:nvPr/>
        </p:nvSpPr>
        <p:spPr>
          <a:xfrm>
            <a:off x="5153400" y="1697400"/>
            <a:ext cx="373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Nov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49"/>
          <p:cNvSpPr/>
          <p:nvPr/>
        </p:nvSpPr>
        <p:spPr>
          <a:xfrm>
            <a:off x="6067800" y="1697400"/>
            <a:ext cx="751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4 (cont.)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50"/>
          <p:cNvSpPr/>
          <p:nvPr/>
        </p:nvSpPr>
        <p:spPr>
          <a:xfrm>
            <a:off x="4792320" y="208116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51"/>
          <p:cNvSpPr/>
          <p:nvPr/>
        </p:nvSpPr>
        <p:spPr>
          <a:xfrm>
            <a:off x="5153400" y="2081160"/>
            <a:ext cx="373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Nov 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52"/>
          <p:cNvSpPr/>
          <p:nvPr/>
        </p:nvSpPr>
        <p:spPr>
          <a:xfrm>
            <a:off x="6067800" y="2081160"/>
            <a:ext cx="751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4 (cont.)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53"/>
          <p:cNvSpPr/>
          <p:nvPr/>
        </p:nvSpPr>
        <p:spPr>
          <a:xfrm>
            <a:off x="4792320" y="246492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54"/>
          <p:cNvSpPr/>
          <p:nvPr/>
        </p:nvSpPr>
        <p:spPr>
          <a:xfrm>
            <a:off x="5153400" y="2464920"/>
            <a:ext cx="437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Nov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5"/>
          <p:cNvSpPr/>
          <p:nvPr/>
        </p:nvSpPr>
        <p:spPr>
          <a:xfrm>
            <a:off x="6067800" y="2464920"/>
            <a:ext cx="1492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4 (cont.) — Unit 4 Quiz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56"/>
          <p:cNvSpPr/>
          <p:nvPr/>
        </p:nvSpPr>
        <p:spPr>
          <a:xfrm>
            <a:off x="4792320" y="284868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57"/>
          <p:cNvSpPr/>
          <p:nvPr/>
        </p:nvSpPr>
        <p:spPr>
          <a:xfrm>
            <a:off x="5153400" y="2848680"/>
            <a:ext cx="437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Nov 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58"/>
          <p:cNvSpPr/>
          <p:nvPr/>
        </p:nvSpPr>
        <p:spPr>
          <a:xfrm>
            <a:off x="6067800" y="2848680"/>
            <a:ext cx="7488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5 begins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59"/>
          <p:cNvSpPr/>
          <p:nvPr/>
        </p:nvSpPr>
        <p:spPr>
          <a:xfrm>
            <a:off x="4792320" y="323244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60"/>
          <p:cNvSpPr/>
          <p:nvPr/>
        </p:nvSpPr>
        <p:spPr>
          <a:xfrm>
            <a:off x="5153400" y="3232440"/>
            <a:ext cx="4374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Nov 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61"/>
          <p:cNvSpPr/>
          <p:nvPr/>
        </p:nvSpPr>
        <p:spPr>
          <a:xfrm>
            <a:off x="6067800" y="3232440"/>
            <a:ext cx="751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5 (cont.)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62"/>
          <p:cNvSpPr/>
          <p:nvPr/>
        </p:nvSpPr>
        <p:spPr>
          <a:xfrm>
            <a:off x="4792320" y="361620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63"/>
          <p:cNvSpPr/>
          <p:nvPr/>
        </p:nvSpPr>
        <p:spPr>
          <a:xfrm>
            <a:off x="5153400" y="3616200"/>
            <a:ext cx="3625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Dec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64"/>
          <p:cNvSpPr/>
          <p:nvPr/>
        </p:nvSpPr>
        <p:spPr>
          <a:xfrm>
            <a:off x="6067800" y="3616200"/>
            <a:ext cx="1492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Unit 5 (cont.) — Unit 5 Quiz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65"/>
          <p:cNvSpPr/>
          <p:nvPr/>
        </p:nvSpPr>
        <p:spPr>
          <a:xfrm>
            <a:off x="4792320" y="399996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66"/>
          <p:cNvSpPr/>
          <p:nvPr/>
        </p:nvSpPr>
        <p:spPr>
          <a:xfrm>
            <a:off x="5153400" y="3999960"/>
            <a:ext cx="4266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Dec 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67"/>
          <p:cNvSpPr/>
          <p:nvPr/>
        </p:nvSpPr>
        <p:spPr>
          <a:xfrm>
            <a:off x="6067800" y="3999960"/>
            <a:ext cx="709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FINAL EXAM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68"/>
          <p:cNvSpPr/>
          <p:nvPr/>
        </p:nvSpPr>
        <p:spPr>
          <a:xfrm>
            <a:off x="444240" y="4727520"/>
            <a:ext cx="4423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Tentative schedule — subject to change. Updates will be announced by the instructor.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4"/>
          <p:cNvSpPr/>
          <p:nvPr/>
        </p:nvSpPr>
        <p:spPr>
          <a:xfrm>
            <a:off x="365400" y="868680"/>
            <a:ext cx="8411760" cy="141660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ectangle 5"/>
          <p:cNvSpPr/>
          <p:nvPr/>
        </p:nvSpPr>
        <p:spPr>
          <a:xfrm>
            <a:off x="365400" y="2514600"/>
            <a:ext cx="2687760" cy="214812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Rectangle 6"/>
          <p:cNvSpPr/>
          <p:nvPr/>
        </p:nvSpPr>
        <p:spPr>
          <a:xfrm>
            <a:off x="3227400" y="2514600"/>
            <a:ext cx="2687760" cy="214812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7"/>
          <p:cNvSpPr/>
          <p:nvPr/>
        </p:nvSpPr>
        <p:spPr>
          <a:xfrm>
            <a:off x="6089400" y="2514600"/>
            <a:ext cx="2687760" cy="214812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489960" y="162720"/>
            <a:ext cx="272268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Metallography Lab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9"/>
          <p:cNvSpPr/>
          <p:nvPr/>
        </p:nvSpPr>
        <p:spPr>
          <a:xfrm>
            <a:off x="672840" y="1092240"/>
            <a:ext cx="76035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Every instructional week, you'll complete one metallography module using the shared class specimen kit and the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0"/>
          <p:cNvSpPr/>
          <p:nvPr/>
        </p:nvSpPr>
        <p:spPr>
          <a:xfrm>
            <a:off x="672840" y="1350000"/>
            <a:ext cx="77526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EXAMET-5-R-600-HD microscope — examine a specimen, complete an observation table, sketch or photograph the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672840" y="1607760"/>
            <a:ext cx="33156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key feature, and answer short-answer questions.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2"/>
          <p:cNvSpPr/>
          <p:nvPr/>
        </p:nvSpPr>
        <p:spPr>
          <a:xfrm>
            <a:off x="627120" y="2737800"/>
            <a:ext cx="83304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Check Out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3"/>
          <p:cNvSpPr/>
          <p:nvPr/>
        </p:nvSpPr>
        <p:spPr>
          <a:xfrm>
            <a:off x="627120" y="3153960"/>
            <a:ext cx="21290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See the instructor after class and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4"/>
          <p:cNvSpPr/>
          <p:nvPr/>
        </p:nvSpPr>
        <p:spPr>
          <a:xfrm>
            <a:off x="627120" y="3382560"/>
            <a:ext cx="17359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sign out the specimen tray.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5"/>
          <p:cNvSpPr/>
          <p:nvPr/>
        </p:nvSpPr>
        <p:spPr>
          <a:xfrm>
            <a:off x="3489120" y="2737800"/>
            <a:ext cx="7027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Examine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6"/>
          <p:cNvSpPr/>
          <p:nvPr/>
        </p:nvSpPr>
        <p:spPr>
          <a:xfrm>
            <a:off x="3489120" y="3154320"/>
            <a:ext cx="18090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Work through the module's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7"/>
          <p:cNvSpPr/>
          <p:nvPr/>
        </p:nvSpPr>
        <p:spPr>
          <a:xfrm>
            <a:off x="3489120" y="3382920"/>
            <a:ext cx="21484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magnifications on the EXAMET-5,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8"/>
          <p:cNvSpPr/>
          <p:nvPr/>
        </p:nvSpPr>
        <p:spPr>
          <a:xfrm>
            <a:off x="3489120" y="3611520"/>
            <a:ext cx="16585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following the setup steps.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9"/>
          <p:cNvSpPr/>
          <p:nvPr/>
        </p:nvSpPr>
        <p:spPr>
          <a:xfrm>
            <a:off x="6351120" y="2737800"/>
            <a:ext cx="6004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Submit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0"/>
          <p:cNvSpPr/>
          <p:nvPr/>
        </p:nvSpPr>
        <p:spPr>
          <a:xfrm>
            <a:off x="6351120" y="3153960"/>
            <a:ext cx="2232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Return the kit before leaving class.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1"/>
          <p:cNvSpPr/>
          <p:nvPr/>
        </p:nvSpPr>
        <p:spPr>
          <a:xfrm>
            <a:off x="6351120" y="3382560"/>
            <a:ext cx="21373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All 15 modules are compiled into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2"/>
          <p:cNvSpPr/>
          <p:nvPr/>
        </p:nvSpPr>
        <p:spPr>
          <a:xfrm>
            <a:off x="6351120" y="3611160"/>
            <a:ext cx="20462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one portfolio, due at the end of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23"/>
          <p:cNvSpPr/>
          <p:nvPr/>
        </p:nvSpPr>
        <p:spPr>
          <a:xfrm>
            <a:off x="6351120" y="3839760"/>
            <a:ext cx="9068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the semester.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Rectangle 4"/>
          <p:cNvSpPr/>
          <p:nvPr/>
        </p:nvSpPr>
        <p:spPr>
          <a:xfrm>
            <a:off x="365400" y="914400"/>
            <a:ext cx="8411760" cy="1416600"/>
          </a:xfrm>
          <a:prstGeom prst="rect">
            <a:avLst/>
          </a:prstGeom>
          <a:solidFill>
            <a:srgbClr val="3A1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5"/>
          <p:cNvSpPr/>
          <p:nvPr/>
        </p:nvSpPr>
        <p:spPr>
          <a:xfrm>
            <a:off x="365400" y="2514600"/>
            <a:ext cx="2687760" cy="2331000"/>
          </a:xfrm>
          <a:prstGeom prst="rect">
            <a:avLst/>
          </a:prstGeom>
          <a:solidFill>
            <a:srgbClr val="1A2E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6"/>
          <p:cNvSpPr/>
          <p:nvPr/>
        </p:nvSpPr>
        <p:spPr>
          <a:xfrm>
            <a:off x="3227400" y="2514600"/>
            <a:ext cx="2687760" cy="2331000"/>
          </a:xfrm>
          <a:prstGeom prst="rect">
            <a:avLst/>
          </a:prstGeom>
          <a:solidFill>
            <a:srgbClr val="1A2E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ectangle 7"/>
          <p:cNvSpPr/>
          <p:nvPr/>
        </p:nvSpPr>
        <p:spPr>
          <a:xfrm>
            <a:off x="6089400" y="2514600"/>
            <a:ext cx="2687760" cy="2331000"/>
          </a:xfrm>
          <a:prstGeom prst="rect">
            <a:avLst/>
          </a:prstGeom>
          <a:solidFill>
            <a:srgbClr val="1A2E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8"/>
          <p:cNvSpPr/>
          <p:nvPr/>
        </p:nvSpPr>
        <p:spPr>
          <a:xfrm>
            <a:off x="489960" y="162720"/>
            <a:ext cx="179964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Course Policies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9"/>
          <p:cNvSpPr/>
          <p:nvPr/>
        </p:nvSpPr>
        <p:spPr>
          <a:xfrm>
            <a:off x="672840" y="1059840"/>
            <a:ext cx="155592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A3A3"/>
                </a:solidFill>
                <a:effectLst/>
                <a:uFillTx/>
                <a:latin typeface="Calibri"/>
              </a:rPr>
              <a:t>Generative AI Policy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0"/>
          <p:cNvSpPr/>
          <p:nvPr/>
        </p:nvSpPr>
        <p:spPr>
          <a:xfrm>
            <a:off x="672840" y="1452960"/>
            <a:ext cx="76078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 form of generative AI (ChatGPT, Claude, Microsoft Copilot, Apple Intelligence, etc.) may be used, in whole or in part, 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672840" y="1690560"/>
            <a:ext cx="7821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generate course materials or assignments. Grammar/spell-check tools (e.g., Grammarly, Word, Google Docs) are permitted 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2"/>
          <p:cNvSpPr/>
          <p:nvPr/>
        </p:nvSpPr>
        <p:spPr>
          <a:xfrm>
            <a:off x="672840" y="1928160"/>
            <a:ext cx="15591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refine your own writing.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3"/>
          <p:cNvSpPr/>
          <p:nvPr/>
        </p:nvSpPr>
        <p:spPr>
          <a:xfrm>
            <a:off x="609120" y="2772360"/>
            <a:ext cx="13564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Academic Integrity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609120" y="3172320"/>
            <a:ext cx="19105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Cheating and plagiarism violate the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609120" y="3363120"/>
            <a:ext cx="2131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Student Conduct Code and can result in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6"/>
          <p:cNvSpPr/>
          <p:nvPr/>
        </p:nvSpPr>
        <p:spPr>
          <a:xfrm>
            <a:off x="609120" y="3553920"/>
            <a:ext cx="2181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expulsion. See the Leeward CC academic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7"/>
          <p:cNvSpPr/>
          <p:nvPr/>
        </p:nvSpPr>
        <p:spPr>
          <a:xfrm>
            <a:off x="609120" y="3744720"/>
            <a:ext cx="1931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dishonesty policy for full definitions.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3471120" y="2772360"/>
            <a:ext cx="176652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Participation Verification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19"/>
          <p:cNvSpPr/>
          <p:nvPr/>
        </p:nvSpPr>
        <p:spPr>
          <a:xfrm>
            <a:off x="3471120" y="3172320"/>
            <a:ext cx="2226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Students who don't participate in Week 1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20"/>
          <p:cNvSpPr/>
          <p:nvPr/>
        </p:nvSpPr>
        <p:spPr>
          <a:xfrm>
            <a:off x="3471120" y="3363120"/>
            <a:ext cx="15048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are marked “No Show” and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21"/>
          <p:cNvSpPr/>
          <p:nvPr/>
        </p:nvSpPr>
        <p:spPr>
          <a:xfrm>
            <a:off x="3471120" y="3553920"/>
            <a:ext cx="2058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administratively disenrolled with a full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2"/>
          <p:cNvSpPr/>
          <p:nvPr/>
        </p:nvSpPr>
        <p:spPr>
          <a:xfrm>
            <a:off x="3471120" y="3744720"/>
            <a:ext cx="448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refund.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3"/>
          <p:cNvSpPr/>
          <p:nvPr/>
        </p:nvSpPr>
        <p:spPr>
          <a:xfrm>
            <a:off x="6333480" y="2772360"/>
            <a:ext cx="5490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Title IX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4"/>
          <p:cNvSpPr/>
          <p:nvPr/>
        </p:nvSpPr>
        <p:spPr>
          <a:xfrm>
            <a:off x="6333480" y="3172320"/>
            <a:ext cx="2037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Leeward CC prohibits sex- and gender-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25"/>
          <p:cNvSpPr/>
          <p:nvPr/>
        </p:nvSpPr>
        <p:spPr>
          <a:xfrm>
            <a:off x="6333480" y="3363120"/>
            <a:ext cx="2205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based discrimination. Contact the Title IX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26"/>
          <p:cNvSpPr/>
          <p:nvPr/>
        </p:nvSpPr>
        <p:spPr>
          <a:xfrm>
            <a:off x="6333480" y="3553920"/>
            <a:ext cx="20095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Coordinator at leetix@hawaii.edu for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7"/>
          <p:cNvSpPr/>
          <p:nvPr/>
        </p:nvSpPr>
        <p:spPr>
          <a:xfrm>
            <a:off x="6333480" y="3744720"/>
            <a:ext cx="1255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resources and support.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ectangle 4"/>
          <p:cNvSpPr/>
          <p:nvPr/>
        </p:nvSpPr>
        <p:spPr>
          <a:xfrm>
            <a:off x="365400" y="868320"/>
            <a:ext cx="4022640" cy="356544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Rectangle 5"/>
          <p:cNvSpPr/>
          <p:nvPr/>
        </p:nvSpPr>
        <p:spPr>
          <a:xfrm>
            <a:off x="4754520" y="868320"/>
            <a:ext cx="4022640" cy="3565440"/>
          </a:xfrm>
          <a:prstGeom prst="rect">
            <a:avLst/>
          </a:prstGeom>
          <a:solidFill>
            <a:srgbClr val="EEF3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6"/>
          <p:cNvSpPr/>
          <p:nvPr/>
        </p:nvSpPr>
        <p:spPr>
          <a:xfrm>
            <a:off x="489960" y="162720"/>
            <a:ext cx="279612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Technology &amp; Materials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7"/>
          <p:cNvSpPr/>
          <p:nvPr/>
        </p:nvSpPr>
        <p:spPr>
          <a:xfrm>
            <a:off x="627120" y="1064520"/>
            <a:ext cx="227664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Textbooks (Provided Digitally)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8"/>
          <p:cNvSpPr/>
          <p:nvPr/>
        </p:nvSpPr>
        <p:spPr>
          <a:xfrm>
            <a:off x="627120" y="1544400"/>
            <a:ext cx="12726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Metallurgy, 5th 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9"/>
          <p:cNvSpPr/>
          <p:nvPr/>
        </p:nvSpPr>
        <p:spPr>
          <a:xfrm>
            <a:off x="627120" y="1959840"/>
            <a:ext cx="7030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B.J. Moniz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10"/>
          <p:cNvSpPr/>
          <p:nvPr/>
        </p:nvSpPr>
        <p:spPr>
          <a:xfrm>
            <a:off x="627120" y="2197440"/>
            <a:ext cx="3360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Manufacturing Processes for Engineering Materials,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1"/>
          <p:cNvSpPr/>
          <p:nvPr/>
        </p:nvSpPr>
        <p:spPr>
          <a:xfrm>
            <a:off x="627120" y="2435040"/>
            <a:ext cx="5198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6th 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12"/>
          <p:cNvSpPr/>
          <p:nvPr/>
        </p:nvSpPr>
        <p:spPr>
          <a:xfrm>
            <a:off x="627120" y="2672640"/>
            <a:ext cx="84780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S. Kalpakjian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13"/>
          <p:cNvSpPr/>
          <p:nvPr/>
        </p:nvSpPr>
        <p:spPr>
          <a:xfrm>
            <a:off x="627120" y="3446640"/>
            <a:ext cx="3331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All content is provided as PDFs / video links. Students needing a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4"/>
          <p:cNvSpPr/>
          <p:nvPr/>
        </p:nvSpPr>
        <p:spPr>
          <a:xfrm>
            <a:off x="627120" y="3637440"/>
            <a:ext cx="33390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different format (e.g., printed hardcopy) should make their own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5"/>
          <p:cNvSpPr/>
          <p:nvPr/>
        </p:nvSpPr>
        <p:spPr>
          <a:xfrm>
            <a:off x="627120" y="3828240"/>
            <a:ext cx="9846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accommodations.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16"/>
          <p:cNvSpPr/>
          <p:nvPr/>
        </p:nvSpPr>
        <p:spPr>
          <a:xfrm>
            <a:off x="5016240" y="1064520"/>
            <a:ext cx="135108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4A6B"/>
                </a:solidFill>
                <a:effectLst/>
                <a:uFillTx/>
                <a:latin typeface="Calibri"/>
              </a:rPr>
              <a:t>What You'll Need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7"/>
          <p:cNvSpPr/>
          <p:nvPr/>
        </p:nvSpPr>
        <p:spPr>
          <a:xfrm>
            <a:off x="5016240" y="1515240"/>
            <a:ext cx="19692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8"/>
          <p:cNvSpPr/>
          <p:nvPr/>
        </p:nvSpPr>
        <p:spPr>
          <a:xfrm>
            <a:off x="5359320" y="1535760"/>
            <a:ext cx="22064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University-provided Gmail account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9"/>
          <p:cNvSpPr/>
          <p:nvPr/>
        </p:nvSpPr>
        <p:spPr>
          <a:xfrm>
            <a:off x="5016240" y="1870920"/>
            <a:ext cx="19692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20"/>
          <p:cNvSpPr/>
          <p:nvPr/>
        </p:nvSpPr>
        <p:spPr>
          <a:xfrm>
            <a:off x="5359320" y="1891440"/>
            <a:ext cx="27799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Access to the learning management system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21"/>
          <p:cNvSpPr/>
          <p:nvPr/>
        </p:nvSpPr>
        <p:spPr>
          <a:xfrm>
            <a:off x="5359320" y="2120040"/>
            <a:ext cx="6454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(Lamaku)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2"/>
          <p:cNvSpPr/>
          <p:nvPr/>
        </p:nvSpPr>
        <p:spPr>
          <a:xfrm>
            <a:off x="5016240" y="2455200"/>
            <a:ext cx="19692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3"/>
          <p:cNvSpPr/>
          <p:nvPr/>
        </p:nvSpPr>
        <p:spPr>
          <a:xfrm>
            <a:off x="5359320" y="2475720"/>
            <a:ext cx="2924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Reliable internet access outside class meeting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4"/>
          <p:cNvSpPr/>
          <p:nvPr/>
        </p:nvSpPr>
        <p:spPr>
          <a:xfrm>
            <a:off x="5359320" y="2704320"/>
            <a:ext cx="4165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times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5"/>
          <p:cNvSpPr/>
          <p:nvPr/>
        </p:nvSpPr>
        <p:spPr>
          <a:xfrm>
            <a:off x="5016240" y="3039480"/>
            <a:ext cx="19692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26"/>
          <p:cNvSpPr/>
          <p:nvPr/>
        </p:nvSpPr>
        <p:spPr>
          <a:xfrm>
            <a:off x="5359320" y="3060000"/>
            <a:ext cx="260244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 laptop for in-class and take-home 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Rectangle 3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Rectangle 4"/>
          <p:cNvSpPr/>
          <p:nvPr/>
        </p:nvSpPr>
        <p:spPr>
          <a:xfrm>
            <a:off x="320040" y="841320"/>
            <a:ext cx="37944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Rectangle 5"/>
          <p:cNvSpPr/>
          <p:nvPr/>
        </p:nvSpPr>
        <p:spPr>
          <a:xfrm>
            <a:off x="699840" y="841320"/>
            <a:ext cx="149940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Rectangle 6"/>
          <p:cNvSpPr/>
          <p:nvPr/>
        </p:nvSpPr>
        <p:spPr>
          <a:xfrm>
            <a:off x="2199600" y="841320"/>
            <a:ext cx="232560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Rectangle 7"/>
          <p:cNvSpPr/>
          <p:nvPr/>
        </p:nvSpPr>
        <p:spPr>
          <a:xfrm>
            <a:off x="4617720" y="841320"/>
            <a:ext cx="37944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Rectangle 8"/>
          <p:cNvSpPr/>
          <p:nvPr/>
        </p:nvSpPr>
        <p:spPr>
          <a:xfrm>
            <a:off x="4997520" y="841320"/>
            <a:ext cx="149940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Rectangle 9"/>
          <p:cNvSpPr/>
          <p:nvPr/>
        </p:nvSpPr>
        <p:spPr>
          <a:xfrm>
            <a:off x="6497280" y="841320"/>
            <a:ext cx="2325600" cy="383400"/>
          </a:xfrm>
          <a:prstGeom prst="rect">
            <a:avLst/>
          </a:prstGeom>
          <a:solidFill>
            <a:srgbClr val="2A4A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10"/>
          <p:cNvSpPr/>
          <p:nvPr/>
        </p:nvSpPr>
        <p:spPr>
          <a:xfrm>
            <a:off x="489960" y="162720"/>
            <a:ext cx="6370560" cy="3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Specimen Schedule — What You'll Examine Each Week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1"/>
          <p:cNvSpPr/>
          <p:nvPr/>
        </p:nvSpPr>
        <p:spPr>
          <a:xfrm>
            <a:off x="409680" y="929880"/>
            <a:ext cx="251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2"/>
          <p:cNvSpPr/>
          <p:nvPr/>
        </p:nvSpPr>
        <p:spPr>
          <a:xfrm>
            <a:off x="732960" y="929880"/>
            <a:ext cx="3466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Topic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3"/>
          <p:cNvSpPr/>
          <p:nvPr/>
        </p:nvSpPr>
        <p:spPr>
          <a:xfrm>
            <a:off x="2232720" y="929880"/>
            <a:ext cx="9331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Alloys Examined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14"/>
          <p:cNvSpPr/>
          <p:nvPr/>
        </p:nvSpPr>
        <p:spPr>
          <a:xfrm>
            <a:off x="465480" y="131364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15"/>
          <p:cNvSpPr/>
          <p:nvPr/>
        </p:nvSpPr>
        <p:spPr>
          <a:xfrm>
            <a:off x="732960" y="1313640"/>
            <a:ext cx="9435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Atomic Structure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6"/>
          <p:cNvSpPr/>
          <p:nvPr/>
        </p:nvSpPr>
        <p:spPr>
          <a:xfrm>
            <a:off x="2232720" y="1321560"/>
            <a:ext cx="847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1018 steel (new)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7"/>
          <p:cNvSpPr/>
          <p:nvPr/>
        </p:nvSpPr>
        <p:spPr>
          <a:xfrm>
            <a:off x="465480" y="169740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18"/>
          <p:cNvSpPr/>
          <p:nvPr/>
        </p:nvSpPr>
        <p:spPr>
          <a:xfrm>
            <a:off x="732960" y="1697400"/>
            <a:ext cx="957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Mech. Properties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19"/>
          <p:cNvSpPr/>
          <p:nvPr/>
        </p:nvSpPr>
        <p:spPr>
          <a:xfrm>
            <a:off x="2232720" y="1705320"/>
            <a:ext cx="1421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1018, 1045 steel (new: 1045)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0"/>
          <p:cNvSpPr/>
          <p:nvPr/>
        </p:nvSpPr>
        <p:spPr>
          <a:xfrm>
            <a:off x="465480" y="208116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21"/>
          <p:cNvSpPr/>
          <p:nvPr/>
        </p:nvSpPr>
        <p:spPr>
          <a:xfrm>
            <a:off x="732960" y="2081160"/>
            <a:ext cx="579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NO CLASS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22"/>
          <p:cNvSpPr/>
          <p:nvPr/>
        </p:nvSpPr>
        <p:spPr>
          <a:xfrm>
            <a:off x="2232720" y="2089080"/>
            <a:ext cx="179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—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23"/>
          <p:cNvSpPr/>
          <p:nvPr/>
        </p:nvSpPr>
        <p:spPr>
          <a:xfrm>
            <a:off x="465480" y="246492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4"/>
          <p:cNvSpPr/>
          <p:nvPr/>
        </p:nvSpPr>
        <p:spPr>
          <a:xfrm>
            <a:off x="732960" y="2464920"/>
            <a:ext cx="1176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Carbon &amp; Alloy Steels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5"/>
          <p:cNvSpPr/>
          <p:nvPr/>
        </p:nvSpPr>
        <p:spPr>
          <a:xfrm>
            <a:off x="2232720" y="2472840"/>
            <a:ext cx="1706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1018, 1045, 1075 steel (new: 1075)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26"/>
          <p:cNvSpPr/>
          <p:nvPr/>
        </p:nvSpPr>
        <p:spPr>
          <a:xfrm>
            <a:off x="465480" y="284868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27"/>
          <p:cNvSpPr/>
          <p:nvPr/>
        </p:nvSpPr>
        <p:spPr>
          <a:xfrm>
            <a:off x="732960" y="2848680"/>
            <a:ext cx="804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Stainless Steel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8"/>
          <p:cNvSpPr/>
          <p:nvPr/>
        </p:nvSpPr>
        <p:spPr>
          <a:xfrm>
            <a:off x="2232720" y="2856600"/>
            <a:ext cx="1294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304, 316, 17-4PH SS (new)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9"/>
          <p:cNvSpPr/>
          <p:nvPr/>
        </p:nvSpPr>
        <p:spPr>
          <a:xfrm>
            <a:off x="465480" y="323244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30"/>
          <p:cNvSpPr/>
          <p:nvPr/>
        </p:nvSpPr>
        <p:spPr>
          <a:xfrm>
            <a:off x="732960" y="3232440"/>
            <a:ext cx="1035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Nonferrous Metals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1"/>
          <p:cNvSpPr/>
          <p:nvPr/>
        </p:nvSpPr>
        <p:spPr>
          <a:xfrm>
            <a:off x="2232720" y="3240360"/>
            <a:ext cx="1214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6061 Al, 260 brass (new)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2"/>
          <p:cNvSpPr/>
          <p:nvPr/>
        </p:nvSpPr>
        <p:spPr>
          <a:xfrm>
            <a:off x="465480" y="361620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33"/>
          <p:cNvSpPr/>
          <p:nvPr/>
        </p:nvSpPr>
        <p:spPr>
          <a:xfrm>
            <a:off x="732960" y="3616200"/>
            <a:ext cx="7848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Mech. Testing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34"/>
          <p:cNvSpPr/>
          <p:nvPr/>
        </p:nvSpPr>
        <p:spPr>
          <a:xfrm>
            <a:off x="2232720" y="3624120"/>
            <a:ext cx="1215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1018, 1045 steel (revisit)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35"/>
          <p:cNvSpPr/>
          <p:nvPr/>
        </p:nvSpPr>
        <p:spPr>
          <a:xfrm>
            <a:off x="465480" y="399996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36"/>
          <p:cNvSpPr/>
          <p:nvPr/>
        </p:nvSpPr>
        <p:spPr>
          <a:xfrm>
            <a:off x="732960" y="3999960"/>
            <a:ext cx="785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NDT Methods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37"/>
          <p:cNvSpPr/>
          <p:nvPr/>
        </p:nvSpPr>
        <p:spPr>
          <a:xfrm>
            <a:off x="2232720" y="4007880"/>
            <a:ext cx="2188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1018 steel, 360 brass, Ti-6Al-4V (new: 360, Ti)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38"/>
          <p:cNvSpPr/>
          <p:nvPr/>
        </p:nvSpPr>
        <p:spPr>
          <a:xfrm>
            <a:off x="465480" y="4383720"/>
            <a:ext cx="1400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39"/>
          <p:cNvSpPr/>
          <p:nvPr/>
        </p:nvSpPr>
        <p:spPr>
          <a:xfrm>
            <a:off x="732960" y="4383720"/>
            <a:ext cx="971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Quality &amp; Defects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40"/>
          <p:cNvSpPr/>
          <p:nvPr/>
        </p:nvSpPr>
        <p:spPr>
          <a:xfrm>
            <a:off x="2232720" y="4391640"/>
            <a:ext cx="9309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1018 steel (revisit)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41"/>
          <p:cNvSpPr/>
          <p:nvPr/>
        </p:nvSpPr>
        <p:spPr>
          <a:xfrm>
            <a:off x="4707360" y="929880"/>
            <a:ext cx="251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2"/>
          <p:cNvSpPr/>
          <p:nvPr/>
        </p:nvSpPr>
        <p:spPr>
          <a:xfrm>
            <a:off x="5030640" y="929880"/>
            <a:ext cx="3466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Topic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43"/>
          <p:cNvSpPr/>
          <p:nvPr/>
        </p:nvSpPr>
        <p:spPr>
          <a:xfrm>
            <a:off x="6530400" y="929880"/>
            <a:ext cx="9331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Alloys Examined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44"/>
          <p:cNvSpPr/>
          <p:nvPr/>
        </p:nvSpPr>
        <p:spPr>
          <a:xfrm>
            <a:off x="4731120" y="131364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45"/>
          <p:cNvSpPr/>
          <p:nvPr/>
        </p:nvSpPr>
        <p:spPr>
          <a:xfrm>
            <a:off x="5030640" y="1313640"/>
            <a:ext cx="10882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Wrought Aluminum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46"/>
          <p:cNvSpPr/>
          <p:nvPr/>
        </p:nvSpPr>
        <p:spPr>
          <a:xfrm>
            <a:off x="6530400" y="1321560"/>
            <a:ext cx="1913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6061-T6, 2024-T3 Al (new: 2024-T3)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47"/>
          <p:cNvSpPr/>
          <p:nvPr/>
        </p:nvSpPr>
        <p:spPr>
          <a:xfrm>
            <a:off x="4731120" y="169740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48"/>
          <p:cNvSpPr/>
          <p:nvPr/>
        </p:nvSpPr>
        <p:spPr>
          <a:xfrm>
            <a:off x="5030640" y="1697400"/>
            <a:ext cx="10591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Aluminum Forming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49"/>
          <p:cNvSpPr/>
          <p:nvPr/>
        </p:nvSpPr>
        <p:spPr>
          <a:xfrm>
            <a:off x="6530400" y="1705320"/>
            <a:ext cx="1571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6061-T6, 5086 Al (new: 5086)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50"/>
          <p:cNvSpPr/>
          <p:nvPr/>
        </p:nvSpPr>
        <p:spPr>
          <a:xfrm>
            <a:off x="4731120" y="208116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51"/>
          <p:cNvSpPr/>
          <p:nvPr/>
        </p:nvSpPr>
        <p:spPr>
          <a:xfrm>
            <a:off x="5030640" y="2081160"/>
            <a:ext cx="114480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Machining Processes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52"/>
          <p:cNvSpPr/>
          <p:nvPr/>
        </p:nvSpPr>
        <p:spPr>
          <a:xfrm>
            <a:off x="6530400" y="2089080"/>
            <a:ext cx="1620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1018, 1045 steel, 6061-T6 Al (revisit)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53"/>
          <p:cNvSpPr/>
          <p:nvPr/>
        </p:nvSpPr>
        <p:spPr>
          <a:xfrm>
            <a:off x="4731120" y="246492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54"/>
          <p:cNvSpPr/>
          <p:nvPr/>
        </p:nvSpPr>
        <p:spPr>
          <a:xfrm>
            <a:off x="5030640" y="2464920"/>
            <a:ext cx="780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Copper Alloys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55"/>
          <p:cNvSpPr/>
          <p:nvPr/>
        </p:nvSpPr>
        <p:spPr>
          <a:xfrm>
            <a:off x="6530400" y="2472840"/>
            <a:ext cx="91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110, 182 Cu (new)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56"/>
          <p:cNvSpPr/>
          <p:nvPr/>
        </p:nvSpPr>
        <p:spPr>
          <a:xfrm>
            <a:off x="4731120" y="284868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57"/>
          <p:cNvSpPr/>
          <p:nvPr/>
        </p:nvSpPr>
        <p:spPr>
          <a:xfrm>
            <a:off x="5030640" y="2848680"/>
            <a:ext cx="6771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Brass Alloys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58"/>
          <p:cNvSpPr/>
          <p:nvPr/>
        </p:nvSpPr>
        <p:spPr>
          <a:xfrm>
            <a:off x="6530400" y="2856600"/>
            <a:ext cx="1495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260, 360, 464 brass (new: 464)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59"/>
          <p:cNvSpPr/>
          <p:nvPr/>
        </p:nvSpPr>
        <p:spPr>
          <a:xfrm>
            <a:off x="4731120" y="323244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60"/>
          <p:cNvSpPr/>
          <p:nvPr/>
        </p:nvSpPr>
        <p:spPr>
          <a:xfrm>
            <a:off x="5030640" y="3232440"/>
            <a:ext cx="9871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Precip. Hardening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61"/>
          <p:cNvSpPr/>
          <p:nvPr/>
        </p:nvSpPr>
        <p:spPr>
          <a:xfrm>
            <a:off x="6530400" y="3240360"/>
            <a:ext cx="1701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17-4PH SS, 2024-T3 Al, 182 Cu (revisit)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62"/>
          <p:cNvSpPr/>
          <p:nvPr/>
        </p:nvSpPr>
        <p:spPr>
          <a:xfrm>
            <a:off x="4731120" y="3616200"/>
            <a:ext cx="204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63"/>
          <p:cNvSpPr/>
          <p:nvPr/>
        </p:nvSpPr>
        <p:spPr>
          <a:xfrm>
            <a:off x="5030640" y="3616200"/>
            <a:ext cx="1176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Capstone &amp; Synthesis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64"/>
          <p:cNvSpPr/>
          <p:nvPr/>
        </p:nvSpPr>
        <p:spPr>
          <a:xfrm>
            <a:off x="6530400" y="3624120"/>
            <a:ext cx="697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1A2433"/>
                </a:solidFill>
                <a:effectLst/>
                <a:uFillTx/>
                <a:latin typeface="Calibri"/>
              </a:rPr>
              <a:t>— (synthesis)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65"/>
          <p:cNvSpPr/>
          <p:nvPr/>
        </p:nvSpPr>
        <p:spPr>
          <a:xfrm>
            <a:off x="444240" y="4727520"/>
            <a:ext cx="82112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Each week's metallography module draws from the shared 15-specimen kit. “Revisit” means an alloy you've already examined, now viewed through a new lens.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C2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Rectangle 3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ectangle 4"/>
          <p:cNvSpPr/>
          <p:nvPr/>
        </p:nvSpPr>
        <p:spPr>
          <a:xfrm>
            <a:off x="365400" y="2605680"/>
            <a:ext cx="4571280" cy="26640"/>
          </a:xfrm>
          <a:prstGeom prst="rect">
            <a:avLst/>
          </a:prstGeom>
          <a:solidFill>
            <a:srgbClr val="E07B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8000" rIns="90000" bIns="-18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5"/>
          <p:cNvSpPr/>
          <p:nvPr/>
        </p:nvSpPr>
        <p:spPr>
          <a:xfrm>
            <a:off x="444240" y="728640"/>
            <a:ext cx="22046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07B39"/>
                </a:solidFill>
                <a:effectLst/>
                <a:uFillTx/>
                <a:latin typeface="Calibri"/>
              </a:rPr>
              <a:t>C o m i n g U p — W e e k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6"/>
          <p:cNvSpPr/>
          <p:nvPr/>
        </p:nvSpPr>
        <p:spPr>
          <a:xfrm>
            <a:off x="444240" y="1156680"/>
            <a:ext cx="595548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Atomic Structure &amp; Bonding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7"/>
          <p:cNvSpPr/>
          <p:nvPr/>
        </p:nvSpPr>
        <p:spPr>
          <a:xfrm>
            <a:off x="444240" y="1903680"/>
            <a:ext cx="783216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The atom, the periodic table, atomic bonding, alloys and solid solutions, crystal structures, and grain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8"/>
          <p:cNvSpPr/>
          <p:nvPr/>
        </p:nvSpPr>
        <p:spPr>
          <a:xfrm>
            <a:off x="444240" y="2132280"/>
            <a:ext cx="9925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boundaries.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9"/>
          <p:cNvSpPr/>
          <p:nvPr/>
        </p:nvSpPr>
        <p:spPr>
          <a:xfrm>
            <a:off x="444240" y="2932200"/>
            <a:ext cx="252936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Questions? Reach out anytime.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10"/>
          <p:cNvSpPr/>
          <p:nvPr/>
        </p:nvSpPr>
        <p:spPr>
          <a:xfrm>
            <a:off x="444240" y="3357360"/>
            <a:ext cx="59655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Kainani “Kai” Santos   ·   kainanis@hawaii.edu   ·   CE401   ·   Office hours by appointment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1"/>
          <p:cNvSpPr/>
          <p:nvPr/>
        </p:nvSpPr>
        <p:spPr>
          <a:xfrm>
            <a:off x="444240" y="4720680"/>
            <a:ext cx="48038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Leeward Community College  ·  Math and Science Division  ·  Mechatronics Program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