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9144000" cy="51435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presProps" Target="pres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43133F5-ED48-4F41-8EC3-B03C0D00E32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64E408C-C755-4B44-80DD-AE049577794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CC3EA10-BBF4-4A90-AA1B-85D892E2FBB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FC5AEF2-148E-4C4C-A094-B34BC17BCA6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0682E8F-1E83-4382-80C9-15AF039CC1D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C82F1F9-B438-4E2B-A85A-4BC124EA588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203476A-A1A4-4733-A530-925A035D785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792B49D-092B-47AC-BE76-8A021830BDF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8D4A276-9CF2-40C6-B7C8-80F80D22612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0CBC946-DE26-4E93-BBF1-442FC8F0782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1608312-1776-4B8B-AF2B-F739D5C428B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0" y="0"/>
            <a:ext cx="9143280" cy="51429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Rectangle 2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1C2B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" name="Rectangle 3"/>
          <p:cNvSpPr/>
          <p:nvPr/>
        </p:nvSpPr>
        <p:spPr>
          <a:xfrm>
            <a:off x="0" y="0"/>
            <a:ext cx="109080" cy="5142960"/>
          </a:xfrm>
          <a:prstGeom prst="rect">
            <a:avLst/>
          </a:prstGeom>
          <a:solidFill>
            <a:srgbClr val="E07B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4" name="Rectangle 4"/>
          <p:cNvSpPr/>
          <p:nvPr/>
        </p:nvSpPr>
        <p:spPr>
          <a:xfrm>
            <a:off x="365400" y="3063240"/>
            <a:ext cx="4571280" cy="45000"/>
          </a:xfrm>
          <a:prstGeom prst="rect">
            <a:avLst/>
          </a:prstGeom>
          <a:solidFill>
            <a:srgbClr val="E07B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360" rIns="90000" bIns="36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5" name="TextBox 5"/>
          <p:cNvSpPr/>
          <p:nvPr/>
        </p:nvSpPr>
        <p:spPr>
          <a:xfrm>
            <a:off x="444240" y="1002960"/>
            <a:ext cx="250524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E07B39"/>
                </a:solidFill>
                <a:effectLst/>
                <a:uFillTx/>
                <a:latin typeface="Calibri"/>
              </a:rPr>
              <a:t>M E C H 1 9 1 — M e t a l l u r g 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6"/>
          <p:cNvSpPr/>
          <p:nvPr/>
        </p:nvSpPr>
        <p:spPr>
          <a:xfrm>
            <a:off x="444240" y="1424520"/>
            <a:ext cx="572616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5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Course Introduction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7"/>
          <p:cNvSpPr/>
          <p:nvPr/>
        </p:nvSpPr>
        <p:spPr>
          <a:xfrm>
            <a:off x="444240" y="2435040"/>
            <a:ext cx="3823920" cy="4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0" u="none" strike="noStrike">
                <a:solidFill>
                  <a:srgbClr val="CADCFC"/>
                </a:solidFill>
                <a:effectLst/>
                <a:uFillTx/>
                <a:latin typeface="Calibri"/>
              </a:rPr>
              <a:t>Welcome &amp; Syllabus Overview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8"/>
          <p:cNvSpPr/>
          <p:nvPr/>
        </p:nvSpPr>
        <p:spPr>
          <a:xfrm>
            <a:off x="444240" y="3311640"/>
            <a:ext cx="3431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ADCFC"/>
                </a:solidFill>
                <a:effectLst/>
                <a:uFillTx/>
                <a:latin typeface="Calibri"/>
              </a:rPr>
              <a:t>Fall 2026  ·  Mondays, 5:00 – 7:30 PM  ·  Kai Santos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Rectangle 1"/>
          <p:cNvSpPr/>
          <p:nvPr/>
        </p:nvSpPr>
        <p:spPr>
          <a:xfrm>
            <a:off x="0" y="0"/>
            <a:ext cx="9143280" cy="51429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" name="Rectangle 2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" name="Rectangle 3"/>
          <p:cNvSpPr/>
          <p:nvPr/>
        </p:nvSpPr>
        <p:spPr>
          <a:xfrm>
            <a:off x="0" y="0"/>
            <a:ext cx="9143280" cy="685080"/>
          </a:xfrm>
          <a:prstGeom prst="rect">
            <a:avLst/>
          </a:prstGeom>
          <a:solidFill>
            <a:srgbClr val="1C2B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2" name="Rectangle 4"/>
          <p:cNvSpPr/>
          <p:nvPr/>
        </p:nvSpPr>
        <p:spPr>
          <a:xfrm>
            <a:off x="365400" y="822600"/>
            <a:ext cx="4571280" cy="4114080"/>
          </a:xfrm>
          <a:prstGeom prst="rect">
            <a:avLst/>
          </a:prstGeom>
          <a:solidFill>
            <a:srgbClr val="EEF3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Rectangle 5"/>
          <p:cNvSpPr/>
          <p:nvPr/>
        </p:nvSpPr>
        <p:spPr>
          <a:xfrm>
            <a:off x="5120280" y="822600"/>
            <a:ext cx="3656880" cy="4114080"/>
          </a:xfrm>
          <a:prstGeom prst="rect">
            <a:avLst/>
          </a:prstGeom>
          <a:solidFill>
            <a:srgbClr val="EEF3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" name="TextBox 6"/>
          <p:cNvSpPr/>
          <p:nvPr/>
        </p:nvSpPr>
        <p:spPr>
          <a:xfrm>
            <a:off x="489960" y="162720"/>
            <a:ext cx="2714040" cy="39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Welcome to MECH 191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7"/>
          <p:cNvSpPr/>
          <p:nvPr/>
        </p:nvSpPr>
        <p:spPr>
          <a:xfrm>
            <a:off x="627120" y="956880"/>
            <a:ext cx="156312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2E4A6B"/>
                </a:solidFill>
                <a:effectLst/>
                <a:uFillTx/>
                <a:latin typeface="Calibri"/>
              </a:rPr>
              <a:t>Course Description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8"/>
          <p:cNvSpPr/>
          <p:nvPr/>
        </p:nvSpPr>
        <p:spPr>
          <a:xfrm>
            <a:off x="627120" y="1402200"/>
            <a:ext cx="342576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A comprehensive introduction to the principles of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9"/>
          <p:cNvSpPr/>
          <p:nvPr/>
        </p:nvSpPr>
        <p:spPr>
          <a:xfrm>
            <a:off x="627120" y="1649880"/>
            <a:ext cx="40291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metallurgy and material science, focusing on the structure,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10"/>
          <p:cNvSpPr/>
          <p:nvPr/>
        </p:nvSpPr>
        <p:spPr>
          <a:xfrm>
            <a:off x="627120" y="1897560"/>
            <a:ext cx="388764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properties, and performance of metals and alloys. Topics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11"/>
          <p:cNvSpPr/>
          <p:nvPr/>
        </p:nvSpPr>
        <p:spPr>
          <a:xfrm>
            <a:off x="627120" y="2145240"/>
            <a:ext cx="40780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include mechanical testing, metallography, phase diagrams,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12"/>
          <p:cNvSpPr/>
          <p:nvPr/>
        </p:nvSpPr>
        <p:spPr>
          <a:xfrm>
            <a:off x="627120" y="2392920"/>
            <a:ext cx="3730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heat treatment, mechanical properties, corrosion, and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13"/>
          <p:cNvSpPr/>
          <p:nvPr/>
        </p:nvSpPr>
        <p:spPr>
          <a:xfrm>
            <a:off x="627120" y="2640600"/>
            <a:ext cx="110016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failure analysis.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14"/>
          <p:cNvSpPr/>
          <p:nvPr/>
        </p:nvSpPr>
        <p:spPr>
          <a:xfrm>
            <a:off x="627120" y="3048120"/>
            <a:ext cx="38476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i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You'll gain hands-on experience in material testing, alloy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15"/>
          <p:cNvSpPr/>
          <p:nvPr/>
        </p:nvSpPr>
        <p:spPr>
          <a:xfrm>
            <a:off x="627120" y="3295800"/>
            <a:ext cx="409536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i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composition, and microstructural analysis, and learn how to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16"/>
          <p:cNvSpPr/>
          <p:nvPr/>
        </p:nvSpPr>
        <p:spPr>
          <a:xfrm>
            <a:off x="627120" y="3543480"/>
            <a:ext cx="367956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i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select and apply materials for real industrial purposes.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17"/>
          <p:cNvSpPr/>
          <p:nvPr/>
        </p:nvSpPr>
        <p:spPr>
          <a:xfrm>
            <a:off x="5382000" y="956880"/>
            <a:ext cx="162360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2E4A6B"/>
                </a:solidFill>
                <a:effectLst/>
                <a:uFillTx/>
                <a:latin typeface="Calibri"/>
              </a:rPr>
              <a:t>Learning Objectives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18"/>
          <p:cNvSpPr/>
          <p:nvPr/>
        </p:nvSpPr>
        <p:spPr>
          <a:xfrm>
            <a:off x="5382000" y="1358280"/>
            <a:ext cx="18684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●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19"/>
          <p:cNvSpPr/>
          <p:nvPr/>
        </p:nvSpPr>
        <p:spPr>
          <a:xfrm>
            <a:off x="5725080" y="1377000"/>
            <a:ext cx="2558880" cy="2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Explain the relationship between structure, 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20"/>
          <p:cNvSpPr/>
          <p:nvPr/>
        </p:nvSpPr>
        <p:spPr>
          <a:xfrm>
            <a:off x="5725080" y="1569600"/>
            <a:ext cx="2548080" cy="2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properties, and performance of metals and 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21"/>
          <p:cNvSpPr/>
          <p:nvPr/>
        </p:nvSpPr>
        <p:spPr>
          <a:xfrm>
            <a:off x="5725080" y="1762200"/>
            <a:ext cx="397080" cy="2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alloys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22"/>
          <p:cNvSpPr/>
          <p:nvPr/>
        </p:nvSpPr>
        <p:spPr>
          <a:xfrm>
            <a:off x="5382000" y="2037600"/>
            <a:ext cx="18684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●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23"/>
          <p:cNvSpPr/>
          <p:nvPr/>
        </p:nvSpPr>
        <p:spPr>
          <a:xfrm>
            <a:off x="5725080" y="2056320"/>
            <a:ext cx="2565000" cy="2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Describe the phases in a metal alloy system 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24"/>
          <p:cNvSpPr/>
          <p:nvPr/>
        </p:nvSpPr>
        <p:spPr>
          <a:xfrm>
            <a:off x="5725080" y="2248920"/>
            <a:ext cx="1339200" cy="2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using a phase diagram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25"/>
          <p:cNvSpPr/>
          <p:nvPr/>
        </p:nvSpPr>
        <p:spPr>
          <a:xfrm>
            <a:off x="5382000" y="2524320"/>
            <a:ext cx="18684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●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26"/>
          <p:cNvSpPr/>
          <p:nvPr/>
        </p:nvSpPr>
        <p:spPr>
          <a:xfrm>
            <a:off x="5725080" y="2543040"/>
            <a:ext cx="2853000" cy="2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Apply heat treatment processes to modify metal 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27"/>
          <p:cNvSpPr/>
          <p:nvPr/>
        </p:nvSpPr>
        <p:spPr>
          <a:xfrm>
            <a:off x="5725080" y="2735640"/>
            <a:ext cx="2277360" cy="2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properties for engineering applications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28"/>
          <p:cNvSpPr/>
          <p:nvPr/>
        </p:nvSpPr>
        <p:spPr>
          <a:xfrm>
            <a:off x="5382000" y="3011040"/>
            <a:ext cx="18684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●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29"/>
          <p:cNvSpPr/>
          <p:nvPr/>
        </p:nvSpPr>
        <p:spPr>
          <a:xfrm>
            <a:off x="5725080" y="3029760"/>
            <a:ext cx="2753640" cy="2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Conduct lab tests to measure hardness, tensile 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30"/>
          <p:cNvSpPr/>
          <p:nvPr/>
        </p:nvSpPr>
        <p:spPr>
          <a:xfrm>
            <a:off x="5725080" y="3222360"/>
            <a:ext cx="1320120" cy="2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strength, and ductility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31"/>
          <p:cNvSpPr/>
          <p:nvPr/>
        </p:nvSpPr>
        <p:spPr>
          <a:xfrm>
            <a:off x="5382000" y="3497760"/>
            <a:ext cx="18684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●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32"/>
          <p:cNvSpPr/>
          <p:nvPr/>
        </p:nvSpPr>
        <p:spPr>
          <a:xfrm>
            <a:off x="5725080" y="3516480"/>
            <a:ext cx="2719080" cy="2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Interpret failure mechanisms — corrosion and 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33"/>
          <p:cNvSpPr/>
          <p:nvPr/>
        </p:nvSpPr>
        <p:spPr>
          <a:xfrm>
            <a:off x="5725080" y="3709080"/>
            <a:ext cx="2783160" cy="2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fatigue — from properties and usage conditions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34"/>
          <p:cNvSpPr/>
          <p:nvPr/>
        </p:nvSpPr>
        <p:spPr>
          <a:xfrm>
            <a:off x="5382000" y="3984480"/>
            <a:ext cx="186840" cy="22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●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35"/>
          <p:cNvSpPr/>
          <p:nvPr/>
        </p:nvSpPr>
        <p:spPr>
          <a:xfrm>
            <a:off x="5725080" y="4003200"/>
            <a:ext cx="2636640" cy="2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Assess metal/alloy suitability for engineering 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36"/>
          <p:cNvSpPr/>
          <p:nvPr/>
        </p:nvSpPr>
        <p:spPr>
          <a:xfrm>
            <a:off x="5725080" y="4195800"/>
            <a:ext cx="2308320" cy="2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scenarios: performance, durability, cost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1"/>
          <p:cNvSpPr/>
          <p:nvPr/>
        </p:nvSpPr>
        <p:spPr>
          <a:xfrm>
            <a:off x="0" y="0"/>
            <a:ext cx="9143280" cy="51429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" name="Rectangle 2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" name="Rectangle 3"/>
          <p:cNvSpPr/>
          <p:nvPr/>
        </p:nvSpPr>
        <p:spPr>
          <a:xfrm>
            <a:off x="0" y="0"/>
            <a:ext cx="9143280" cy="685080"/>
          </a:xfrm>
          <a:prstGeom prst="rect">
            <a:avLst/>
          </a:prstGeom>
          <a:solidFill>
            <a:srgbClr val="1C2B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" name="Rectangle 4"/>
          <p:cNvSpPr/>
          <p:nvPr/>
        </p:nvSpPr>
        <p:spPr>
          <a:xfrm>
            <a:off x="365760" y="914040"/>
            <a:ext cx="2724120" cy="1736640"/>
          </a:xfrm>
          <a:prstGeom prst="rect">
            <a:avLst/>
          </a:prstGeom>
          <a:solidFill>
            <a:srgbClr val="EEF3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" name="Rectangle 5"/>
          <p:cNvSpPr/>
          <p:nvPr/>
        </p:nvSpPr>
        <p:spPr>
          <a:xfrm>
            <a:off x="3255120" y="914040"/>
            <a:ext cx="2724120" cy="1736640"/>
          </a:xfrm>
          <a:prstGeom prst="rect">
            <a:avLst/>
          </a:prstGeom>
          <a:solidFill>
            <a:srgbClr val="EEF3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" name="Rectangle 6"/>
          <p:cNvSpPr/>
          <p:nvPr/>
        </p:nvSpPr>
        <p:spPr>
          <a:xfrm>
            <a:off x="6144840" y="914040"/>
            <a:ext cx="2724120" cy="1736640"/>
          </a:xfrm>
          <a:prstGeom prst="rect">
            <a:avLst/>
          </a:prstGeom>
          <a:solidFill>
            <a:srgbClr val="EEF3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Rectangle 7"/>
          <p:cNvSpPr/>
          <p:nvPr/>
        </p:nvSpPr>
        <p:spPr>
          <a:xfrm>
            <a:off x="365760" y="2815920"/>
            <a:ext cx="2724120" cy="1736640"/>
          </a:xfrm>
          <a:prstGeom prst="rect">
            <a:avLst/>
          </a:prstGeom>
          <a:solidFill>
            <a:srgbClr val="EEF3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" name="Rectangle 8"/>
          <p:cNvSpPr/>
          <p:nvPr/>
        </p:nvSpPr>
        <p:spPr>
          <a:xfrm>
            <a:off x="3255120" y="2815920"/>
            <a:ext cx="2724120" cy="1736640"/>
          </a:xfrm>
          <a:prstGeom prst="rect">
            <a:avLst/>
          </a:prstGeom>
          <a:solidFill>
            <a:srgbClr val="EEF3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" name="Rectangle 9"/>
          <p:cNvSpPr/>
          <p:nvPr/>
        </p:nvSpPr>
        <p:spPr>
          <a:xfrm>
            <a:off x="6144840" y="2815920"/>
            <a:ext cx="2724120" cy="1736640"/>
          </a:xfrm>
          <a:prstGeom prst="rect">
            <a:avLst/>
          </a:prstGeom>
          <a:solidFill>
            <a:srgbClr val="EEF3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" name="TextBox 10"/>
          <p:cNvSpPr/>
          <p:nvPr/>
        </p:nvSpPr>
        <p:spPr>
          <a:xfrm>
            <a:off x="489960" y="162720"/>
            <a:ext cx="1896480" cy="39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Course Logistics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Box 11"/>
          <p:cNvSpPr/>
          <p:nvPr/>
        </p:nvSpPr>
        <p:spPr>
          <a:xfrm>
            <a:off x="609120" y="1108080"/>
            <a:ext cx="163656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2E4A6B"/>
                </a:solidFill>
                <a:effectLst/>
                <a:uFillTx/>
                <a:latin typeface="Calibri"/>
              </a:rPr>
              <a:t>Credits &amp; Prerequisites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12"/>
          <p:cNvSpPr/>
          <p:nvPr/>
        </p:nvSpPr>
        <p:spPr>
          <a:xfrm>
            <a:off x="609120" y="1480680"/>
            <a:ext cx="179784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3 credits  ·  No prerequisites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Box 13"/>
          <p:cNvSpPr/>
          <p:nvPr/>
        </p:nvSpPr>
        <p:spPr>
          <a:xfrm>
            <a:off x="3498840" y="1108080"/>
            <a:ext cx="4618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2E4A6B"/>
                </a:solidFill>
                <a:effectLst/>
                <a:uFillTx/>
                <a:latin typeface="Calibri"/>
              </a:rPr>
              <a:t>Dates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Box 14"/>
          <p:cNvSpPr/>
          <p:nvPr/>
        </p:nvSpPr>
        <p:spPr>
          <a:xfrm>
            <a:off x="3498840" y="1480320"/>
            <a:ext cx="204408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August 24 – December 16, 2026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Box 15"/>
          <p:cNvSpPr/>
          <p:nvPr/>
        </p:nvSpPr>
        <p:spPr>
          <a:xfrm>
            <a:off x="3498840" y="1699560"/>
            <a:ext cx="129924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(17-week semester)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16"/>
          <p:cNvSpPr/>
          <p:nvPr/>
        </p:nvSpPr>
        <p:spPr>
          <a:xfrm>
            <a:off x="6388200" y="1108080"/>
            <a:ext cx="10231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2E4A6B"/>
                </a:solidFill>
                <a:effectLst/>
                <a:uFillTx/>
                <a:latin typeface="Calibri"/>
              </a:rPr>
              <a:t>Meeting Time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Box 17"/>
          <p:cNvSpPr/>
          <p:nvPr/>
        </p:nvSpPr>
        <p:spPr>
          <a:xfrm>
            <a:off x="6388200" y="1480680"/>
            <a:ext cx="188928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Mondays, 5:00 PM – 7:30 PM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Box 18"/>
          <p:cNvSpPr/>
          <p:nvPr/>
        </p:nvSpPr>
        <p:spPr>
          <a:xfrm>
            <a:off x="609120" y="3009960"/>
            <a:ext cx="78336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2E4A6B"/>
                </a:solidFill>
                <a:effectLst/>
                <a:uFillTx/>
                <a:latin typeface="Calibri"/>
              </a:rPr>
              <a:t>Classroom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Box 19"/>
          <p:cNvSpPr/>
          <p:nvPr/>
        </p:nvSpPr>
        <p:spPr>
          <a:xfrm>
            <a:off x="609120" y="3382560"/>
            <a:ext cx="53712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PS101B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Box 20"/>
          <p:cNvSpPr/>
          <p:nvPr/>
        </p:nvSpPr>
        <p:spPr>
          <a:xfrm>
            <a:off x="3498840" y="3009960"/>
            <a:ext cx="91620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2E4A6B"/>
                </a:solidFill>
                <a:effectLst/>
                <a:uFillTx/>
                <a:latin typeface="Calibri"/>
              </a:rPr>
              <a:t>Office Hours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Box 21"/>
          <p:cNvSpPr/>
          <p:nvPr/>
        </p:nvSpPr>
        <p:spPr>
          <a:xfrm>
            <a:off x="3498840" y="3382560"/>
            <a:ext cx="136152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By appointment only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Box 22"/>
          <p:cNvSpPr/>
          <p:nvPr/>
        </p:nvSpPr>
        <p:spPr>
          <a:xfrm>
            <a:off x="6388200" y="3009960"/>
            <a:ext cx="74700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2E4A6B"/>
                </a:solidFill>
                <a:effectLst/>
                <a:uFillTx/>
                <a:latin typeface="Calibri"/>
              </a:rPr>
              <a:t>Instructor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Box 23"/>
          <p:cNvSpPr/>
          <p:nvPr/>
        </p:nvSpPr>
        <p:spPr>
          <a:xfrm>
            <a:off x="6388200" y="3382200"/>
            <a:ext cx="131904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Kainani “Kai” Santos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Box 24"/>
          <p:cNvSpPr/>
          <p:nvPr/>
        </p:nvSpPr>
        <p:spPr>
          <a:xfrm>
            <a:off x="6388200" y="3601440"/>
            <a:ext cx="138816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kainanis@hawaii.edu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Box 25"/>
          <p:cNvSpPr/>
          <p:nvPr/>
        </p:nvSpPr>
        <p:spPr>
          <a:xfrm>
            <a:off x="444240" y="4704840"/>
            <a:ext cx="821304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Content drawn from Moniz, Metallurgy (5th ed.) and Kalpakjian, Manufacturing Processes for Engineering Materials (6th ed.) — all materials provided digitally.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Rectangle 1"/>
          <p:cNvSpPr/>
          <p:nvPr/>
        </p:nvSpPr>
        <p:spPr>
          <a:xfrm>
            <a:off x="0" y="0"/>
            <a:ext cx="9143280" cy="51429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" name="Rectangle 2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" name="Rectangle 3"/>
          <p:cNvSpPr/>
          <p:nvPr/>
        </p:nvSpPr>
        <p:spPr>
          <a:xfrm>
            <a:off x="0" y="0"/>
            <a:ext cx="9143280" cy="685080"/>
          </a:xfrm>
          <a:prstGeom prst="rect">
            <a:avLst/>
          </a:prstGeom>
          <a:solidFill>
            <a:srgbClr val="1C2B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" name="Rectangle 4"/>
          <p:cNvSpPr/>
          <p:nvPr/>
        </p:nvSpPr>
        <p:spPr>
          <a:xfrm>
            <a:off x="365760" y="914400"/>
            <a:ext cx="2651400" cy="456840"/>
          </a:xfrm>
          <a:prstGeom prst="rect">
            <a:avLst/>
          </a:prstGeom>
          <a:solidFill>
            <a:srgbClr val="2A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" name="Rectangle 5"/>
          <p:cNvSpPr/>
          <p:nvPr/>
        </p:nvSpPr>
        <p:spPr>
          <a:xfrm>
            <a:off x="3017520" y="914400"/>
            <a:ext cx="914040" cy="456840"/>
          </a:xfrm>
          <a:prstGeom prst="rect">
            <a:avLst/>
          </a:prstGeom>
          <a:solidFill>
            <a:srgbClr val="2A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" name="Rectangle 6"/>
          <p:cNvSpPr/>
          <p:nvPr/>
        </p:nvSpPr>
        <p:spPr>
          <a:xfrm>
            <a:off x="3931920" y="914400"/>
            <a:ext cx="1005120" cy="456840"/>
          </a:xfrm>
          <a:prstGeom prst="rect">
            <a:avLst/>
          </a:prstGeom>
          <a:solidFill>
            <a:srgbClr val="2A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" name="Rectangle 7"/>
          <p:cNvSpPr/>
          <p:nvPr/>
        </p:nvSpPr>
        <p:spPr>
          <a:xfrm>
            <a:off x="4937400" y="914400"/>
            <a:ext cx="1005120" cy="456840"/>
          </a:xfrm>
          <a:prstGeom prst="rect">
            <a:avLst/>
          </a:prstGeom>
          <a:solidFill>
            <a:srgbClr val="2A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" name="Rectangle 8"/>
          <p:cNvSpPr/>
          <p:nvPr/>
        </p:nvSpPr>
        <p:spPr>
          <a:xfrm>
            <a:off x="365760" y="3200400"/>
            <a:ext cx="2651400" cy="456840"/>
          </a:xfrm>
          <a:prstGeom prst="rect">
            <a:avLst/>
          </a:prstGeom>
          <a:solidFill>
            <a:srgbClr val="F5F0E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" name="Rectangle 9"/>
          <p:cNvSpPr/>
          <p:nvPr/>
        </p:nvSpPr>
        <p:spPr>
          <a:xfrm>
            <a:off x="3017520" y="3200400"/>
            <a:ext cx="914040" cy="456840"/>
          </a:xfrm>
          <a:prstGeom prst="rect">
            <a:avLst/>
          </a:prstGeom>
          <a:solidFill>
            <a:srgbClr val="F5F0E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" name="Rectangle 10"/>
          <p:cNvSpPr/>
          <p:nvPr/>
        </p:nvSpPr>
        <p:spPr>
          <a:xfrm>
            <a:off x="3931920" y="3200400"/>
            <a:ext cx="1005120" cy="456840"/>
          </a:xfrm>
          <a:prstGeom prst="rect">
            <a:avLst/>
          </a:prstGeom>
          <a:solidFill>
            <a:srgbClr val="F5F0E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" name="Rectangle 11"/>
          <p:cNvSpPr/>
          <p:nvPr/>
        </p:nvSpPr>
        <p:spPr>
          <a:xfrm>
            <a:off x="4937400" y="3200400"/>
            <a:ext cx="1005120" cy="456840"/>
          </a:xfrm>
          <a:prstGeom prst="rect">
            <a:avLst/>
          </a:prstGeom>
          <a:solidFill>
            <a:srgbClr val="F5F0E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" name="Rectangle 12"/>
          <p:cNvSpPr/>
          <p:nvPr/>
        </p:nvSpPr>
        <p:spPr>
          <a:xfrm>
            <a:off x="6126120" y="914040"/>
            <a:ext cx="2651040" cy="2742480"/>
          </a:xfrm>
          <a:prstGeom prst="rect">
            <a:avLst/>
          </a:prstGeom>
          <a:solidFill>
            <a:srgbClr val="EEF3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" name="TextBox 13"/>
          <p:cNvSpPr/>
          <p:nvPr/>
        </p:nvSpPr>
        <p:spPr>
          <a:xfrm>
            <a:off x="489960" y="162720"/>
            <a:ext cx="1951200" cy="39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Grading Scheme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Box 14"/>
          <p:cNvSpPr/>
          <p:nvPr/>
        </p:nvSpPr>
        <p:spPr>
          <a:xfrm>
            <a:off x="398880" y="1024560"/>
            <a:ext cx="81324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Assignment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Box 15"/>
          <p:cNvSpPr/>
          <p:nvPr/>
        </p:nvSpPr>
        <p:spPr>
          <a:xfrm>
            <a:off x="3273840" y="1024560"/>
            <a:ext cx="45288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Count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Box 16"/>
          <p:cNvSpPr/>
          <p:nvPr/>
        </p:nvSpPr>
        <p:spPr>
          <a:xfrm>
            <a:off x="4082400" y="1024560"/>
            <a:ext cx="75384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Value Each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Box 17"/>
          <p:cNvSpPr/>
          <p:nvPr/>
        </p:nvSpPr>
        <p:spPr>
          <a:xfrm>
            <a:off x="5060520" y="1024560"/>
            <a:ext cx="80892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Total Points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Box 18"/>
          <p:cNvSpPr/>
          <p:nvPr/>
        </p:nvSpPr>
        <p:spPr>
          <a:xfrm>
            <a:off x="398880" y="1481760"/>
            <a:ext cx="78300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Attendance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Box 19"/>
          <p:cNvSpPr/>
          <p:nvPr/>
        </p:nvSpPr>
        <p:spPr>
          <a:xfrm>
            <a:off x="3385080" y="1481760"/>
            <a:ext cx="22932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15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Box 20"/>
          <p:cNvSpPr/>
          <p:nvPr/>
        </p:nvSpPr>
        <p:spPr>
          <a:xfrm>
            <a:off x="4384080" y="1481760"/>
            <a:ext cx="15300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Box 21"/>
          <p:cNvSpPr/>
          <p:nvPr/>
        </p:nvSpPr>
        <p:spPr>
          <a:xfrm>
            <a:off x="5350680" y="1481760"/>
            <a:ext cx="22932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15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Box 22"/>
          <p:cNvSpPr/>
          <p:nvPr/>
        </p:nvSpPr>
        <p:spPr>
          <a:xfrm>
            <a:off x="398880" y="1938960"/>
            <a:ext cx="153612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Alloy Research Portfolio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Box 23"/>
          <p:cNvSpPr/>
          <p:nvPr/>
        </p:nvSpPr>
        <p:spPr>
          <a:xfrm>
            <a:off x="3423960" y="1938960"/>
            <a:ext cx="15300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Box 24"/>
          <p:cNvSpPr/>
          <p:nvPr/>
        </p:nvSpPr>
        <p:spPr>
          <a:xfrm>
            <a:off x="4345200" y="1938960"/>
            <a:ext cx="22932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50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Box 25"/>
          <p:cNvSpPr/>
          <p:nvPr/>
        </p:nvSpPr>
        <p:spPr>
          <a:xfrm>
            <a:off x="5350680" y="1938960"/>
            <a:ext cx="22932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50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Box 26"/>
          <p:cNvSpPr/>
          <p:nvPr/>
        </p:nvSpPr>
        <p:spPr>
          <a:xfrm>
            <a:off x="398880" y="2396160"/>
            <a:ext cx="84312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Unit Quizzes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Box 27"/>
          <p:cNvSpPr/>
          <p:nvPr/>
        </p:nvSpPr>
        <p:spPr>
          <a:xfrm>
            <a:off x="3423960" y="2396160"/>
            <a:ext cx="15300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Box 28"/>
          <p:cNvSpPr/>
          <p:nvPr/>
        </p:nvSpPr>
        <p:spPr>
          <a:xfrm>
            <a:off x="4384080" y="2396160"/>
            <a:ext cx="15300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Box 29"/>
          <p:cNvSpPr/>
          <p:nvPr/>
        </p:nvSpPr>
        <p:spPr>
          <a:xfrm>
            <a:off x="5350680" y="2396160"/>
            <a:ext cx="22932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25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Box 30"/>
          <p:cNvSpPr/>
          <p:nvPr/>
        </p:nvSpPr>
        <p:spPr>
          <a:xfrm>
            <a:off x="398880" y="2853360"/>
            <a:ext cx="73404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Final Exam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Box 31"/>
          <p:cNvSpPr/>
          <p:nvPr/>
        </p:nvSpPr>
        <p:spPr>
          <a:xfrm>
            <a:off x="3423960" y="2853360"/>
            <a:ext cx="15300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Box 32"/>
          <p:cNvSpPr/>
          <p:nvPr/>
        </p:nvSpPr>
        <p:spPr>
          <a:xfrm>
            <a:off x="4345200" y="2853360"/>
            <a:ext cx="22932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10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Box 33"/>
          <p:cNvSpPr/>
          <p:nvPr/>
        </p:nvSpPr>
        <p:spPr>
          <a:xfrm>
            <a:off x="5350680" y="2853360"/>
            <a:ext cx="22932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10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Box 34"/>
          <p:cNvSpPr/>
          <p:nvPr/>
        </p:nvSpPr>
        <p:spPr>
          <a:xfrm>
            <a:off x="398880" y="3310560"/>
            <a:ext cx="38232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Total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Box 35"/>
          <p:cNvSpPr/>
          <p:nvPr/>
        </p:nvSpPr>
        <p:spPr>
          <a:xfrm>
            <a:off x="5311800" y="3310560"/>
            <a:ext cx="30672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100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Box 36"/>
          <p:cNvSpPr/>
          <p:nvPr/>
        </p:nvSpPr>
        <p:spPr>
          <a:xfrm>
            <a:off x="6387840" y="1067040"/>
            <a:ext cx="8074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2E4A6B"/>
                </a:solidFill>
                <a:effectLst/>
                <a:uFillTx/>
                <a:latin typeface="Calibri"/>
              </a:rPr>
              <a:t>Final Exam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Box 37"/>
          <p:cNvSpPr/>
          <p:nvPr/>
        </p:nvSpPr>
        <p:spPr>
          <a:xfrm>
            <a:off x="6387840" y="1439280"/>
            <a:ext cx="1774800" cy="2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PS101B  ·  December 16, 2026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Box 38"/>
          <p:cNvSpPr/>
          <p:nvPr/>
        </p:nvSpPr>
        <p:spPr>
          <a:xfrm>
            <a:off x="6387840" y="1648800"/>
            <a:ext cx="931680" cy="2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5:00 – 7:00 PM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Box 39"/>
          <p:cNvSpPr/>
          <p:nvPr/>
        </p:nvSpPr>
        <p:spPr>
          <a:xfrm>
            <a:off x="6387840" y="2067840"/>
            <a:ext cx="2158920" cy="2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Must be returned by 7:00 PM or the 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Box 40"/>
          <p:cNvSpPr/>
          <p:nvPr/>
        </p:nvSpPr>
        <p:spPr>
          <a:xfrm>
            <a:off x="6387840" y="2277360"/>
            <a:ext cx="1605600" cy="2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score is automatically zero.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Box 41"/>
          <p:cNvSpPr/>
          <p:nvPr/>
        </p:nvSpPr>
        <p:spPr>
          <a:xfrm>
            <a:off x="444240" y="3966480"/>
            <a:ext cx="2828160" cy="2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Final letter grades follow the standard A–F scale.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Box 42"/>
          <p:cNvSpPr/>
          <p:nvPr/>
        </p:nvSpPr>
        <p:spPr>
          <a:xfrm>
            <a:off x="444240" y="4294080"/>
            <a:ext cx="7691400" cy="2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The Alloy Research Portfolio (50 pts) is graded internally across all 15 weekly modules plus a holistic end-of-semester review — see the 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Box 43"/>
          <p:cNvSpPr/>
          <p:nvPr/>
        </p:nvSpPr>
        <p:spPr>
          <a:xfrm>
            <a:off x="444240" y="4461840"/>
            <a:ext cx="2066760" cy="2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1100" b="0" i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Alloy Research Portfolio slide for details.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Rectangle 1"/>
          <p:cNvSpPr/>
          <p:nvPr/>
        </p:nvSpPr>
        <p:spPr>
          <a:xfrm>
            <a:off x="0" y="0"/>
            <a:ext cx="9143280" cy="51429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4" name="Rectangle 2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1C2B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5" name="Rectangle 3"/>
          <p:cNvSpPr/>
          <p:nvPr/>
        </p:nvSpPr>
        <p:spPr>
          <a:xfrm>
            <a:off x="0" y="0"/>
            <a:ext cx="9143280" cy="685080"/>
          </a:xfrm>
          <a:prstGeom prst="rect">
            <a:avLst/>
          </a:prstGeom>
          <a:solidFill>
            <a:srgbClr val="2A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" name="Rectangle 4"/>
          <p:cNvSpPr/>
          <p:nvPr/>
        </p:nvSpPr>
        <p:spPr>
          <a:xfrm>
            <a:off x="365400" y="896040"/>
            <a:ext cx="8411760" cy="749160"/>
          </a:xfrm>
          <a:prstGeom prst="rect">
            <a:avLst/>
          </a:prstGeom>
          <a:solidFill>
            <a:srgbClr val="1A2E4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7" name="Rectangle 5"/>
          <p:cNvSpPr/>
          <p:nvPr/>
        </p:nvSpPr>
        <p:spPr>
          <a:xfrm>
            <a:off x="365760" y="896040"/>
            <a:ext cx="72360" cy="749160"/>
          </a:xfrm>
          <a:prstGeom prst="rect">
            <a:avLst/>
          </a:prstGeom>
          <a:solidFill>
            <a:srgbClr val="E07B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8" name="Rectangle 6"/>
          <p:cNvSpPr/>
          <p:nvPr/>
        </p:nvSpPr>
        <p:spPr>
          <a:xfrm>
            <a:off x="365400" y="1737360"/>
            <a:ext cx="8411760" cy="749160"/>
          </a:xfrm>
          <a:prstGeom prst="rect">
            <a:avLst/>
          </a:prstGeom>
          <a:solidFill>
            <a:srgbClr val="1A2E4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9" name="Rectangle 7"/>
          <p:cNvSpPr/>
          <p:nvPr/>
        </p:nvSpPr>
        <p:spPr>
          <a:xfrm>
            <a:off x="365760" y="1737360"/>
            <a:ext cx="72360" cy="749160"/>
          </a:xfrm>
          <a:prstGeom prst="rect">
            <a:avLst/>
          </a:prstGeom>
          <a:solidFill>
            <a:srgbClr val="E07B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" name="Rectangle 8"/>
          <p:cNvSpPr/>
          <p:nvPr/>
        </p:nvSpPr>
        <p:spPr>
          <a:xfrm>
            <a:off x="365400" y="2578680"/>
            <a:ext cx="8411760" cy="749160"/>
          </a:xfrm>
          <a:prstGeom prst="rect">
            <a:avLst/>
          </a:prstGeom>
          <a:solidFill>
            <a:srgbClr val="1A2E4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" name="Rectangle 9"/>
          <p:cNvSpPr/>
          <p:nvPr/>
        </p:nvSpPr>
        <p:spPr>
          <a:xfrm>
            <a:off x="365760" y="2578680"/>
            <a:ext cx="72360" cy="749160"/>
          </a:xfrm>
          <a:prstGeom prst="rect">
            <a:avLst/>
          </a:prstGeom>
          <a:solidFill>
            <a:srgbClr val="E07B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" name="Rectangle 10"/>
          <p:cNvSpPr/>
          <p:nvPr/>
        </p:nvSpPr>
        <p:spPr>
          <a:xfrm>
            <a:off x="365400" y="3420000"/>
            <a:ext cx="8411760" cy="749160"/>
          </a:xfrm>
          <a:prstGeom prst="rect">
            <a:avLst/>
          </a:prstGeom>
          <a:solidFill>
            <a:srgbClr val="1A2E4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" name="Rectangle 11"/>
          <p:cNvSpPr/>
          <p:nvPr/>
        </p:nvSpPr>
        <p:spPr>
          <a:xfrm>
            <a:off x="365760" y="3420000"/>
            <a:ext cx="72360" cy="749160"/>
          </a:xfrm>
          <a:prstGeom prst="rect">
            <a:avLst/>
          </a:prstGeom>
          <a:solidFill>
            <a:srgbClr val="E07B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" name="Rectangle 12"/>
          <p:cNvSpPr/>
          <p:nvPr/>
        </p:nvSpPr>
        <p:spPr>
          <a:xfrm>
            <a:off x="365400" y="4260960"/>
            <a:ext cx="8411760" cy="749160"/>
          </a:xfrm>
          <a:prstGeom prst="rect">
            <a:avLst/>
          </a:prstGeom>
          <a:solidFill>
            <a:srgbClr val="1A2E4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5" name="Rectangle 13"/>
          <p:cNvSpPr/>
          <p:nvPr/>
        </p:nvSpPr>
        <p:spPr>
          <a:xfrm>
            <a:off x="365760" y="4260960"/>
            <a:ext cx="72360" cy="749160"/>
          </a:xfrm>
          <a:prstGeom prst="rect">
            <a:avLst/>
          </a:prstGeom>
          <a:solidFill>
            <a:srgbClr val="E07B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" name="TextBox 14"/>
          <p:cNvSpPr/>
          <p:nvPr/>
        </p:nvSpPr>
        <p:spPr>
          <a:xfrm>
            <a:off x="489960" y="162720"/>
            <a:ext cx="3549600" cy="39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Course Roadmap — Five Units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Box 15"/>
          <p:cNvSpPr/>
          <p:nvPr/>
        </p:nvSpPr>
        <p:spPr>
          <a:xfrm>
            <a:off x="672840" y="1133280"/>
            <a:ext cx="58428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E07B39"/>
                </a:solidFill>
                <a:effectLst/>
                <a:uFillTx/>
                <a:latin typeface="Calibri"/>
              </a:rPr>
              <a:t>Unit 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678680" y="1161720"/>
            <a:ext cx="74772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CADCFC"/>
                </a:solidFill>
                <a:effectLst/>
                <a:uFillTx/>
                <a:latin typeface="Calibri"/>
              </a:rPr>
              <a:t>Weeks 1–2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3141720" y="1153800"/>
            <a:ext cx="36190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Foundations: What Metals Are and How They're Built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18"/>
          <p:cNvSpPr/>
          <p:nvPr/>
        </p:nvSpPr>
        <p:spPr>
          <a:xfrm>
            <a:off x="672840" y="1974600"/>
            <a:ext cx="58428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E07B39"/>
                </a:solidFill>
                <a:effectLst/>
                <a:uFillTx/>
                <a:latin typeface="Calibri"/>
              </a:rPr>
              <a:t>Unit 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Box 19"/>
          <p:cNvSpPr/>
          <p:nvPr/>
        </p:nvSpPr>
        <p:spPr>
          <a:xfrm>
            <a:off x="1678680" y="2003040"/>
            <a:ext cx="74772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CADCFC"/>
                </a:solidFill>
                <a:effectLst/>
                <a:uFillTx/>
                <a:latin typeface="Calibri"/>
              </a:rPr>
              <a:t>Weeks 4–6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Box 20"/>
          <p:cNvSpPr/>
          <p:nvPr/>
        </p:nvSpPr>
        <p:spPr>
          <a:xfrm>
            <a:off x="3141720" y="1995120"/>
            <a:ext cx="351576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Metal Families: Knowing What You're Working With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Box 21"/>
          <p:cNvSpPr/>
          <p:nvPr/>
        </p:nvSpPr>
        <p:spPr>
          <a:xfrm>
            <a:off x="672840" y="2815920"/>
            <a:ext cx="58428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E07B39"/>
                </a:solidFill>
                <a:effectLst/>
                <a:uFillTx/>
                <a:latin typeface="Calibri"/>
              </a:rPr>
              <a:t>Unit 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Box 22"/>
          <p:cNvSpPr/>
          <p:nvPr/>
        </p:nvSpPr>
        <p:spPr>
          <a:xfrm>
            <a:off x="1678680" y="2844000"/>
            <a:ext cx="74772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CADCFC"/>
                </a:solidFill>
                <a:effectLst/>
                <a:uFillTx/>
                <a:latin typeface="Calibri"/>
              </a:rPr>
              <a:t>Weeks 7–9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Box 23"/>
          <p:cNvSpPr/>
          <p:nvPr/>
        </p:nvSpPr>
        <p:spPr>
          <a:xfrm>
            <a:off x="3141720" y="2836440"/>
            <a:ext cx="386496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Testing, Inspection &amp; Quality: The Technician's Core Skills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Box 24"/>
          <p:cNvSpPr/>
          <p:nvPr/>
        </p:nvSpPr>
        <p:spPr>
          <a:xfrm>
            <a:off x="672840" y="3657240"/>
            <a:ext cx="58428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E07B39"/>
                </a:solidFill>
                <a:effectLst/>
                <a:uFillTx/>
                <a:latin typeface="Calibri"/>
              </a:rPr>
              <a:t>Unit 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Box 25"/>
          <p:cNvSpPr/>
          <p:nvPr/>
        </p:nvSpPr>
        <p:spPr>
          <a:xfrm>
            <a:off x="1678680" y="3685320"/>
            <a:ext cx="90144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CADCFC"/>
                </a:solidFill>
                <a:effectLst/>
                <a:uFillTx/>
                <a:latin typeface="Calibri"/>
              </a:rPr>
              <a:t>Weeks 10–13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Box 26"/>
          <p:cNvSpPr/>
          <p:nvPr/>
        </p:nvSpPr>
        <p:spPr>
          <a:xfrm>
            <a:off x="3141720" y="3677400"/>
            <a:ext cx="451584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Manufacturing Processes: How Parts Are Made and What to Check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Box 27"/>
          <p:cNvSpPr/>
          <p:nvPr/>
        </p:nvSpPr>
        <p:spPr>
          <a:xfrm>
            <a:off x="672840" y="4498200"/>
            <a:ext cx="58428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E07B39"/>
                </a:solidFill>
                <a:effectLst/>
                <a:uFillTx/>
                <a:latin typeface="Calibri"/>
              </a:rPr>
              <a:t>Unit 5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Box 28"/>
          <p:cNvSpPr/>
          <p:nvPr/>
        </p:nvSpPr>
        <p:spPr>
          <a:xfrm>
            <a:off x="1678680" y="4526640"/>
            <a:ext cx="90144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CADCFC"/>
                </a:solidFill>
                <a:effectLst/>
                <a:uFillTx/>
                <a:latin typeface="Calibri"/>
              </a:rPr>
              <a:t>Weeks 14–16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Box 29"/>
          <p:cNvSpPr/>
          <p:nvPr/>
        </p:nvSpPr>
        <p:spPr>
          <a:xfrm>
            <a:off x="3141720" y="4518720"/>
            <a:ext cx="466884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Keeping Metal in Service: Welding, Failure, Corrosion &amp; Modern Tech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Rectangle 1"/>
          <p:cNvSpPr/>
          <p:nvPr/>
        </p:nvSpPr>
        <p:spPr>
          <a:xfrm>
            <a:off x="0" y="0"/>
            <a:ext cx="9143280" cy="51429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" name="Rectangle 2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" name="Rectangle 3"/>
          <p:cNvSpPr/>
          <p:nvPr/>
        </p:nvSpPr>
        <p:spPr>
          <a:xfrm>
            <a:off x="0" y="0"/>
            <a:ext cx="9143280" cy="685080"/>
          </a:xfrm>
          <a:prstGeom prst="rect">
            <a:avLst/>
          </a:prstGeom>
          <a:solidFill>
            <a:srgbClr val="1C2B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" name="Rectangle 4"/>
          <p:cNvSpPr/>
          <p:nvPr/>
        </p:nvSpPr>
        <p:spPr>
          <a:xfrm>
            <a:off x="320040" y="841320"/>
            <a:ext cx="502200" cy="383400"/>
          </a:xfrm>
          <a:prstGeom prst="rect">
            <a:avLst/>
          </a:prstGeom>
          <a:solidFill>
            <a:srgbClr val="2A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" name="Rectangle 5"/>
          <p:cNvSpPr/>
          <p:nvPr/>
        </p:nvSpPr>
        <p:spPr>
          <a:xfrm>
            <a:off x="822600" y="841320"/>
            <a:ext cx="914040" cy="383400"/>
          </a:xfrm>
          <a:prstGeom prst="rect">
            <a:avLst/>
          </a:prstGeom>
          <a:solidFill>
            <a:srgbClr val="2A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7" name="Rectangle 6"/>
          <p:cNvSpPr/>
          <p:nvPr/>
        </p:nvSpPr>
        <p:spPr>
          <a:xfrm>
            <a:off x="1737000" y="841320"/>
            <a:ext cx="2788560" cy="383400"/>
          </a:xfrm>
          <a:prstGeom prst="rect">
            <a:avLst/>
          </a:prstGeom>
          <a:solidFill>
            <a:srgbClr val="2A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" name="Rectangle 7"/>
          <p:cNvSpPr/>
          <p:nvPr/>
        </p:nvSpPr>
        <p:spPr>
          <a:xfrm>
            <a:off x="4617720" y="841320"/>
            <a:ext cx="502200" cy="383400"/>
          </a:xfrm>
          <a:prstGeom prst="rect">
            <a:avLst/>
          </a:prstGeom>
          <a:solidFill>
            <a:srgbClr val="2A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" name="Rectangle 8"/>
          <p:cNvSpPr/>
          <p:nvPr/>
        </p:nvSpPr>
        <p:spPr>
          <a:xfrm>
            <a:off x="5120280" y="841320"/>
            <a:ext cx="914040" cy="383400"/>
          </a:xfrm>
          <a:prstGeom prst="rect">
            <a:avLst/>
          </a:prstGeom>
          <a:solidFill>
            <a:srgbClr val="2A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" name="Rectangle 9"/>
          <p:cNvSpPr/>
          <p:nvPr/>
        </p:nvSpPr>
        <p:spPr>
          <a:xfrm>
            <a:off x="6034680" y="841320"/>
            <a:ext cx="2788560" cy="383400"/>
          </a:xfrm>
          <a:prstGeom prst="rect">
            <a:avLst/>
          </a:prstGeom>
          <a:solidFill>
            <a:srgbClr val="2A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" name="TextBox 10"/>
          <p:cNvSpPr/>
          <p:nvPr/>
        </p:nvSpPr>
        <p:spPr>
          <a:xfrm>
            <a:off x="489960" y="162720"/>
            <a:ext cx="1932480" cy="39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Course Timeline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Box 11"/>
          <p:cNvSpPr/>
          <p:nvPr/>
        </p:nvSpPr>
        <p:spPr>
          <a:xfrm>
            <a:off x="471240" y="929880"/>
            <a:ext cx="25128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Wk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Box 12"/>
          <p:cNvSpPr/>
          <p:nvPr/>
        </p:nvSpPr>
        <p:spPr>
          <a:xfrm>
            <a:off x="855720" y="929880"/>
            <a:ext cx="32292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Date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Box 13"/>
          <p:cNvSpPr/>
          <p:nvPr/>
        </p:nvSpPr>
        <p:spPr>
          <a:xfrm>
            <a:off x="1770120" y="929880"/>
            <a:ext cx="34668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Topic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Box 14"/>
          <p:cNvSpPr/>
          <p:nvPr/>
        </p:nvSpPr>
        <p:spPr>
          <a:xfrm>
            <a:off x="526680" y="1313640"/>
            <a:ext cx="14004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Box 15"/>
          <p:cNvSpPr/>
          <p:nvPr/>
        </p:nvSpPr>
        <p:spPr>
          <a:xfrm>
            <a:off x="855720" y="1313640"/>
            <a:ext cx="43164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Aug 24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Box 16"/>
          <p:cNvSpPr/>
          <p:nvPr/>
        </p:nvSpPr>
        <p:spPr>
          <a:xfrm>
            <a:off x="1770120" y="1313640"/>
            <a:ext cx="152244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Syllabus, PPE / Unit 1 begins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Box 17"/>
          <p:cNvSpPr/>
          <p:nvPr/>
        </p:nvSpPr>
        <p:spPr>
          <a:xfrm>
            <a:off x="526680" y="1697400"/>
            <a:ext cx="14004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Box 18"/>
          <p:cNvSpPr/>
          <p:nvPr/>
        </p:nvSpPr>
        <p:spPr>
          <a:xfrm>
            <a:off x="855720" y="1697400"/>
            <a:ext cx="43164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Aug 31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TextBox 19"/>
          <p:cNvSpPr/>
          <p:nvPr/>
        </p:nvSpPr>
        <p:spPr>
          <a:xfrm>
            <a:off x="1770120" y="1697400"/>
            <a:ext cx="149292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Unit 1 (cont.) — Unit 1 Quiz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Box 20"/>
          <p:cNvSpPr/>
          <p:nvPr/>
        </p:nvSpPr>
        <p:spPr>
          <a:xfrm>
            <a:off x="526680" y="2081160"/>
            <a:ext cx="14004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Box 21"/>
          <p:cNvSpPr/>
          <p:nvPr/>
        </p:nvSpPr>
        <p:spPr>
          <a:xfrm>
            <a:off x="855720" y="2081160"/>
            <a:ext cx="3549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Sep 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Box 22"/>
          <p:cNvSpPr/>
          <p:nvPr/>
        </p:nvSpPr>
        <p:spPr>
          <a:xfrm>
            <a:off x="1770120" y="2081160"/>
            <a:ext cx="57528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NO CLASS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Box 23"/>
          <p:cNvSpPr/>
          <p:nvPr/>
        </p:nvSpPr>
        <p:spPr>
          <a:xfrm>
            <a:off x="526680" y="2464920"/>
            <a:ext cx="14004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Box 24"/>
          <p:cNvSpPr/>
          <p:nvPr/>
        </p:nvSpPr>
        <p:spPr>
          <a:xfrm>
            <a:off x="855720" y="2464920"/>
            <a:ext cx="41904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Sep 14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Box 25"/>
          <p:cNvSpPr/>
          <p:nvPr/>
        </p:nvSpPr>
        <p:spPr>
          <a:xfrm>
            <a:off x="1770120" y="2464920"/>
            <a:ext cx="74880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Unit 2 begins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Box 26"/>
          <p:cNvSpPr/>
          <p:nvPr/>
        </p:nvSpPr>
        <p:spPr>
          <a:xfrm>
            <a:off x="526680" y="2848680"/>
            <a:ext cx="14004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Box 27"/>
          <p:cNvSpPr/>
          <p:nvPr/>
        </p:nvSpPr>
        <p:spPr>
          <a:xfrm>
            <a:off x="855720" y="2848680"/>
            <a:ext cx="41904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Sep 21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Box 28"/>
          <p:cNvSpPr/>
          <p:nvPr/>
        </p:nvSpPr>
        <p:spPr>
          <a:xfrm>
            <a:off x="1770120" y="2848680"/>
            <a:ext cx="75132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Unit 2 (cont.)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Box 29"/>
          <p:cNvSpPr/>
          <p:nvPr/>
        </p:nvSpPr>
        <p:spPr>
          <a:xfrm>
            <a:off x="526680" y="3232440"/>
            <a:ext cx="14004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Box 30"/>
          <p:cNvSpPr/>
          <p:nvPr/>
        </p:nvSpPr>
        <p:spPr>
          <a:xfrm>
            <a:off x="855720" y="3232440"/>
            <a:ext cx="41904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Sep 28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Box 31"/>
          <p:cNvSpPr/>
          <p:nvPr/>
        </p:nvSpPr>
        <p:spPr>
          <a:xfrm>
            <a:off x="1770120" y="3232440"/>
            <a:ext cx="149292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Unit 2 (cont.) — Unit 2 Quiz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Box 32"/>
          <p:cNvSpPr/>
          <p:nvPr/>
        </p:nvSpPr>
        <p:spPr>
          <a:xfrm>
            <a:off x="526680" y="3616200"/>
            <a:ext cx="14004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Box 33"/>
          <p:cNvSpPr/>
          <p:nvPr/>
        </p:nvSpPr>
        <p:spPr>
          <a:xfrm>
            <a:off x="855720" y="3616200"/>
            <a:ext cx="34740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Oct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Box 34"/>
          <p:cNvSpPr/>
          <p:nvPr/>
        </p:nvSpPr>
        <p:spPr>
          <a:xfrm>
            <a:off x="1770120" y="3616200"/>
            <a:ext cx="74880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Unit 3 begins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Box 35"/>
          <p:cNvSpPr/>
          <p:nvPr/>
        </p:nvSpPr>
        <p:spPr>
          <a:xfrm>
            <a:off x="526680" y="3999960"/>
            <a:ext cx="14004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Box 36"/>
          <p:cNvSpPr/>
          <p:nvPr/>
        </p:nvSpPr>
        <p:spPr>
          <a:xfrm>
            <a:off x="855720" y="3999960"/>
            <a:ext cx="41148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Oct 12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Box 37"/>
          <p:cNvSpPr/>
          <p:nvPr/>
        </p:nvSpPr>
        <p:spPr>
          <a:xfrm>
            <a:off x="1770120" y="3999960"/>
            <a:ext cx="75132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Unit 3 (cont.)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Box 38"/>
          <p:cNvSpPr/>
          <p:nvPr/>
        </p:nvSpPr>
        <p:spPr>
          <a:xfrm>
            <a:off x="526680" y="4383720"/>
            <a:ext cx="14004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Box 39"/>
          <p:cNvSpPr/>
          <p:nvPr/>
        </p:nvSpPr>
        <p:spPr>
          <a:xfrm>
            <a:off x="855720" y="4383720"/>
            <a:ext cx="41148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Oct 19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Box 40"/>
          <p:cNvSpPr/>
          <p:nvPr/>
        </p:nvSpPr>
        <p:spPr>
          <a:xfrm>
            <a:off x="1770120" y="4383720"/>
            <a:ext cx="149292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Unit 3 (cont.) — Unit 3 Quiz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Box 41"/>
          <p:cNvSpPr/>
          <p:nvPr/>
        </p:nvSpPr>
        <p:spPr>
          <a:xfrm>
            <a:off x="4768920" y="929880"/>
            <a:ext cx="25128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Wk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Box 42"/>
          <p:cNvSpPr/>
          <p:nvPr/>
        </p:nvSpPr>
        <p:spPr>
          <a:xfrm>
            <a:off x="5153400" y="929880"/>
            <a:ext cx="32292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Date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Box 43"/>
          <p:cNvSpPr/>
          <p:nvPr/>
        </p:nvSpPr>
        <p:spPr>
          <a:xfrm>
            <a:off x="6067800" y="929880"/>
            <a:ext cx="34668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Topic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Box 44"/>
          <p:cNvSpPr/>
          <p:nvPr/>
        </p:nvSpPr>
        <p:spPr>
          <a:xfrm>
            <a:off x="4792320" y="1313640"/>
            <a:ext cx="20448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10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Box 45"/>
          <p:cNvSpPr/>
          <p:nvPr/>
        </p:nvSpPr>
        <p:spPr>
          <a:xfrm>
            <a:off x="5153400" y="1313640"/>
            <a:ext cx="41148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Oct 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Box 46"/>
          <p:cNvSpPr/>
          <p:nvPr/>
        </p:nvSpPr>
        <p:spPr>
          <a:xfrm>
            <a:off x="6067800" y="1313640"/>
            <a:ext cx="74880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Unit 4 begins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Box 47"/>
          <p:cNvSpPr/>
          <p:nvPr/>
        </p:nvSpPr>
        <p:spPr>
          <a:xfrm>
            <a:off x="4792320" y="1697400"/>
            <a:ext cx="20448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11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48"/>
          <p:cNvSpPr/>
          <p:nvPr/>
        </p:nvSpPr>
        <p:spPr>
          <a:xfrm>
            <a:off x="5153400" y="1697400"/>
            <a:ext cx="37332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Nov 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Box 49"/>
          <p:cNvSpPr/>
          <p:nvPr/>
        </p:nvSpPr>
        <p:spPr>
          <a:xfrm>
            <a:off x="6067800" y="1697400"/>
            <a:ext cx="75132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Unit 4 (cont.)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Box 50"/>
          <p:cNvSpPr/>
          <p:nvPr/>
        </p:nvSpPr>
        <p:spPr>
          <a:xfrm>
            <a:off x="4792320" y="2081160"/>
            <a:ext cx="20448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12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Box 51"/>
          <p:cNvSpPr/>
          <p:nvPr/>
        </p:nvSpPr>
        <p:spPr>
          <a:xfrm>
            <a:off x="5153400" y="2081160"/>
            <a:ext cx="37332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Nov 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Box 52"/>
          <p:cNvSpPr/>
          <p:nvPr/>
        </p:nvSpPr>
        <p:spPr>
          <a:xfrm>
            <a:off x="6067800" y="2081160"/>
            <a:ext cx="75132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Unit 4 (cont.)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Box 53"/>
          <p:cNvSpPr/>
          <p:nvPr/>
        </p:nvSpPr>
        <p:spPr>
          <a:xfrm>
            <a:off x="4792320" y="2464920"/>
            <a:ext cx="20448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13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Box 54"/>
          <p:cNvSpPr/>
          <p:nvPr/>
        </p:nvSpPr>
        <p:spPr>
          <a:xfrm>
            <a:off x="5153400" y="2464920"/>
            <a:ext cx="43740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Nov 16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Box 55"/>
          <p:cNvSpPr/>
          <p:nvPr/>
        </p:nvSpPr>
        <p:spPr>
          <a:xfrm>
            <a:off x="6067800" y="2464920"/>
            <a:ext cx="149292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Unit 4 (cont.) — Unit 4 Quiz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Box 56"/>
          <p:cNvSpPr/>
          <p:nvPr/>
        </p:nvSpPr>
        <p:spPr>
          <a:xfrm>
            <a:off x="4792320" y="2848680"/>
            <a:ext cx="20448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14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Box 57"/>
          <p:cNvSpPr/>
          <p:nvPr/>
        </p:nvSpPr>
        <p:spPr>
          <a:xfrm>
            <a:off x="5153400" y="2848680"/>
            <a:ext cx="43740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Nov 23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Box 58"/>
          <p:cNvSpPr/>
          <p:nvPr/>
        </p:nvSpPr>
        <p:spPr>
          <a:xfrm>
            <a:off x="6067800" y="2848680"/>
            <a:ext cx="74880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Unit 5 begins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Box 59"/>
          <p:cNvSpPr/>
          <p:nvPr/>
        </p:nvSpPr>
        <p:spPr>
          <a:xfrm>
            <a:off x="4792320" y="3232440"/>
            <a:ext cx="20448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15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Box 60"/>
          <p:cNvSpPr/>
          <p:nvPr/>
        </p:nvSpPr>
        <p:spPr>
          <a:xfrm>
            <a:off x="5153400" y="3232440"/>
            <a:ext cx="43740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Nov 30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Box 61"/>
          <p:cNvSpPr/>
          <p:nvPr/>
        </p:nvSpPr>
        <p:spPr>
          <a:xfrm>
            <a:off x="6067800" y="3232440"/>
            <a:ext cx="75132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Unit 5 (cont.)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Box 62"/>
          <p:cNvSpPr/>
          <p:nvPr/>
        </p:nvSpPr>
        <p:spPr>
          <a:xfrm>
            <a:off x="4792320" y="3616200"/>
            <a:ext cx="20448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16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Box 63"/>
          <p:cNvSpPr/>
          <p:nvPr/>
        </p:nvSpPr>
        <p:spPr>
          <a:xfrm>
            <a:off x="5153400" y="3616200"/>
            <a:ext cx="36252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Dec 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Box 64"/>
          <p:cNvSpPr/>
          <p:nvPr/>
        </p:nvSpPr>
        <p:spPr>
          <a:xfrm>
            <a:off x="6067800" y="3616200"/>
            <a:ext cx="149292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Unit 5 (cont.) — Unit 5 Quiz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Box 65"/>
          <p:cNvSpPr/>
          <p:nvPr/>
        </p:nvSpPr>
        <p:spPr>
          <a:xfrm>
            <a:off x="4792320" y="3999960"/>
            <a:ext cx="20448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17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Box 66"/>
          <p:cNvSpPr/>
          <p:nvPr/>
        </p:nvSpPr>
        <p:spPr>
          <a:xfrm>
            <a:off x="5153400" y="3999960"/>
            <a:ext cx="42660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Dec 16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Box 67"/>
          <p:cNvSpPr/>
          <p:nvPr/>
        </p:nvSpPr>
        <p:spPr>
          <a:xfrm>
            <a:off x="6067800" y="3999960"/>
            <a:ext cx="70992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FINAL EXAM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Box 68"/>
          <p:cNvSpPr/>
          <p:nvPr/>
        </p:nvSpPr>
        <p:spPr>
          <a:xfrm>
            <a:off x="444240" y="4727520"/>
            <a:ext cx="442332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Tentative schedule — subject to change. Updates will be announced by the instructor.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Rectangle 1"/>
          <p:cNvSpPr/>
          <p:nvPr/>
        </p:nvSpPr>
        <p:spPr>
          <a:xfrm>
            <a:off x="0" y="0"/>
            <a:ext cx="9143280" cy="51429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1" name="Rectangle 2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2" name="Rectangle 3"/>
          <p:cNvSpPr/>
          <p:nvPr/>
        </p:nvSpPr>
        <p:spPr>
          <a:xfrm>
            <a:off x="0" y="0"/>
            <a:ext cx="9143280" cy="685080"/>
          </a:xfrm>
          <a:prstGeom prst="rect">
            <a:avLst/>
          </a:prstGeom>
          <a:solidFill>
            <a:srgbClr val="1C2B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3" name="Rectangle 4"/>
          <p:cNvSpPr/>
          <p:nvPr/>
        </p:nvSpPr>
        <p:spPr>
          <a:xfrm>
            <a:off x="365400" y="868680"/>
            <a:ext cx="8411760" cy="1416600"/>
          </a:xfrm>
          <a:prstGeom prst="rect">
            <a:avLst/>
          </a:prstGeom>
          <a:solidFill>
            <a:srgbClr val="EEF3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4" name="Rectangle 5"/>
          <p:cNvSpPr/>
          <p:nvPr/>
        </p:nvSpPr>
        <p:spPr>
          <a:xfrm>
            <a:off x="365400" y="2514600"/>
            <a:ext cx="2687760" cy="2148120"/>
          </a:xfrm>
          <a:prstGeom prst="rect">
            <a:avLst/>
          </a:prstGeom>
          <a:solidFill>
            <a:srgbClr val="EEF3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5" name="Rectangle 6"/>
          <p:cNvSpPr/>
          <p:nvPr/>
        </p:nvSpPr>
        <p:spPr>
          <a:xfrm>
            <a:off x="3227400" y="2514600"/>
            <a:ext cx="2687760" cy="2148120"/>
          </a:xfrm>
          <a:prstGeom prst="rect">
            <a:avLst/>
          </a:prstGeom>
          <a:solidFill>
            <a:srgbClr val="EEF3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6" name="Rectangle 7"/>
          <p:cNvSpPr/>
          <p:nvPr/>
        </p:nvSpPr>
        <p:spPr>
          <a:xfrm>
            <a:off x="6089400" y="2514600"/>
            <a:ext cx="2687760" cy="2148120"/>
          </a:xfrm>
          <a:prstGeom prst="rect">
            <a:avLst/>
          </a:prstGeom>
          <a:solidFill>
            <a:srgbClr val="EEF3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7" name="TextBox 8"/>
          <p:cNvSpPr/>
          <p:nvPr/>
        </p:nvSpPr>
        <p:spPr>
          <a:xfrm>
            <a:off x="489960" y="162720"/>
            <a:ext cx="2722680" cy="39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The Alloy Research Portfolio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Box 9"/>
          <p:cNvSpPr/>
          <p:nvPr/>
        </p:nvSpPr>
        <p:spPr>
          <a:xfrm>
            <a:off x="672840" y="1092240"/>
            <a:ext cx="760356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Every instructional week, you'll research one or more alloys from the class specimen set using real, published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Box 10"/>
          <p:cNvSpPr/>
          <p:nvPr/>
        </p:nvSpPr>
        <p:spPr>
          <a:xfrm>
            <a:off x="672840" y="1350000"/>
            <a:ext cx="775260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composition, properties, and applications data — no microscope work or lab session is required to 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Box 11"/>
          <p:cNvSpPr/>
          <p:nvPr/>
        </p:nvSpPr>
        <p:spPr>
          <a:xfrm>
            <a:off x="672840" y="1607760"/>
            <a:ext cx="331560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complete it. Record your sources as you go.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Box 12"/>
          <p:cNvSpPr/>
          <p:nvPr/>
        </p:nvSpPr>
        <p:spPr>
          <a:xfrm>
            <a:off x="627120" y="2737800"/>
            <a:ext cx="833040" cy="26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E07B39"/>
                </a:solidFill>
                <a:effectLst/>
                <a:uFillTx/>
                <a:latin typeface="Calibri"/>
              </a:rPr>
              <a:t>Research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Box 13"/>
          <p:cNvSpPr/>
          <p:nvPr/>
        </p:nvSpPr>
        <p:spPr>
          <a:xfrm>
            <a:off x="627120" y="3153960"/>
            <a:ext cx="212904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Look up the assigned alloy(s) using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Box 14"/>
          <p:cNvSpPr/>
          <p:nvPr/>
        </p:nvSpPr>
        <p:spPr>
          <a:xfrm>
            <a:off x="627120" y="3382560"/>
            <a:ext cx="173592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credible published sources.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15"/>
          <p:cNvSpPr/>
          <p:nvPr/>
        </p:nvSpPr>
        <p:spPr>
          <a:xfrm>
            <a:off x="3489120" y="2737800"/>
            <a:ext cx="702720" cy="26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E07B39"/>
                </a:solidFill>
                <a:effectLst/>
                <a:uFillTx/>
                <a:latin typeface="Calibri"/>
              </a:rPr>
              <a:t>Document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16"/>
          <p:cNvSpPr/>
          <p:nvPr/>
        </p:nvSpPr>
        <p:spPr>
          <a:xfrm>
            <a:off x="3489120" y="3154320"/>
            <a:ext cx="180900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Record composition, properties,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Box 17"/>
          <p:cNvSpPr/>
          <p:nvPr/>
        </p:nvSpPr>
        <p:spPr>
          <a:xfrm>
            <a:off x="3489120" y="3382920"/>
            <a:ext cx="214848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processing, and applications data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Box 18"/>
          <p:cNvSpPr/>
          <p:nvPr/>
        </p:nvSpPr>
        <p:spPr>
          <a:xfrm>
            <a:off x="3489120" y="3611520"/>
            <a:ext cx="165852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with a proper source citation.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19"/>
          <p:cNvSpPr/>
          <p:nvPr/>
        </p:nvSpPr>
        <p:spPr>
          <a:xfrm>
            <a:off x="6351120" y="2737800"/>
            <a:ext cx="600480" cy="26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E07B39"/>
                </a:solidFill>
                <a:effectLst/>
                <a:uFillTx/>
                <a:latin typeface="Calibri"/>
              </a:rPr>
              <a:t>Submit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Box 20"/>
          <p:cNvSpPr/>
          <p:nvPr/>
        </p:nvSpPr>
        <p:spPr>
          <a:xfrm>
            <a:off x="6351120" y="3153960"/>
            <a:ext cx="223236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Answer that week's short-answer and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Box 21"/>
          <p:cNvSpPr/>
          <p:nvPr/>
        </p:nvSpPr>
        <p:spPr>
          <a:xfrm>
            <a:off x="6351120" y="3382560"/>
            <a:ext cx="213732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critical-thinking questions. All 15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Box 22"/>
          <p:cNvSpPr/>
          <p:nvPr/>
        </p:nvSpPr>
        <p:spPr>
          <a:xfrm>
            <a:off x="6351120" y="3611160"/>
            <a:ext cx="204624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modules compile into one portfolio,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Box 23"/>
          <p:cNvSpPr/>
          <p:nvPr/>
        </p:nvSpPr>
        <p:spPr>
          <a:xfrm>
            <a:off x="6351120" y="3839760"/>
            <a:ext cx="90684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due at the end of the semester.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Rectangle 1"/>
          <p:cNvSpPr/>
          <p:nvPr/>
        </p:nvSpPr>
        <p:spPr>
          <a:xfrm>
            <a:off x="0" y="0"/>
            <a:ext cx="9143280" cy="51429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4" name="Rectangle 2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1C2B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5" name="Rectangle 3"/>
          <p:cNvSpPr/>
          <p:nvPr/>
        </p:nvSpPr>
        <p:spPr>
          <a:xfrm>
            <a:off x="0" y="0"/>
            <a:ext cx="9143280" cy="685080"/>
          </a:xfrm>
          <a:prstGeom prst="rect">
            <a:avLst/>
          </a:prstGeom>
          <a:solidFill>
            <a:srgbClr val="2A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6" name="Rectangle 4"/>
          <p:cNvSpPr/>
          <p:nvPr/>
        </p:nvSpPr>
        <p:spPr>
          <a:xfrm>
            <a:off x="365400" y="914400"/>
            <a:ext cx="8411760" cy="1416600"/>
          </a:xfrm>
          <a:prstGeom prst="rect">
            <a:avLst/>
          </a:prstGeom>
          <a:solidFill>
            <a:srgbClr val="3A1F1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7" name="Rectangle 5"/>
          <p:cNvSpPr/>
          <p:nvPr/>
        </p:nvSpPr>
        <p:spPr>
          <a:xfrm>
            <a:off x="365400" y="2514600"/>
            <a:ext cx="2687760" cy="2331000"/>
          </a:xfrm>
          <a:prstGeom prst="rect">
            <a:avLst/>
          </a:prstGeom>
          <a:solidFill>
            <a:srgbClr val="1A2E4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8" name="Rectangle 6"/>
          <p:cNvSpPr/>
          <p:nvPr/>
        </p:nvSpPr>
        <p:spPr>
          <a:xfrm>
            <a:off x="3227400" y="2514600"/>
            <a:ext cx="2687760" cy="2331000"/>
          </a:xfrm>
          <a:prstGeom prst="rect">
            <a:avLst/>
          </a:prstGeom>
          <a:solidFill>
            <a:srgbClr val="1A2E4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9" name="Rectangle 7"/>
          <p:cNvSpPr/>
          <p:nvPr/>
        </p:nvSpPr>
        <p:spPr>
          <a:xfrm>
            <a:off x="6089400" y="2514600"/>
            <a:ext cx="2687760" cy="2331000"/>
          </a:xfrm>
          <a:prstGeom prst="rect">
            <a:avLst/>
          </a:prstGeom>
          <a:solidFill>
            <a:srgbClr val="1A2E4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0" name="TextBox 8"/>
          <p:cNvSpPr/>
          <p:nvPr/>
        </p:nvSpPr>
        <p:spPr>
          <a:xfrm>
            <a:off x="489960" y="162720"/>
            <a:ext cx="1799640" cy="39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Course Policies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Box 9"/>
          <p:cNvSpPr/>
          <p:nvPr/>
        </p:nvSpPr>
        <p:spPr>
          <a:xfrm>
            <a:off x="672840" y="1059840"/>
            <a:ext cx="1555920" cy="26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5A3A3"/>
                </a:solidFill>
                <a:effectLst/>
                <a:uFillTx/>
                <a:latin typeface="Calibri"/>
              </a:rPr>
              <a:t>Generative AI Policy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Box 10"/>
          <p:cNvSpPr/>
          <p:nvPr/>
        </p:nvSpPr>
        <p:spPr>
          <a:xfrm>
            <a:off x="672840" y="1452960"/>
            <a:ext cx="760788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No form of generative AI (ChatGPT, Claude, Microsoft Copilot, Apple Intelligence, etc.) may be used, in whole or in part, to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Box 11"/>
          <p:cNvSpPr/>
          <p:nvPr/>
        </p:nvSpPr>
        <p:spPr>
          <a:xfrm>
            <a:off x="672840" y="1690560"/>
            <a:ext cx="782136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generate course materials or assignments. Grammar/spell-check tools (e.g., Grammarly, Word, Google Docs) are permitted to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Box 12"/>
          <p:cNvSpPr/>
          <p:nvPr/>
        </p:nvSpPr>
        <p:spPr>
          <a:xfrm>
            <a:off x="672840" y="1928160"/>
            <a:ext cx="155916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refine your own writing.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Box 13"/>
          <p:cNvSpPr/>
          <p:nvPr/>
        </p:nvSpPr>
        <p:spPr>
          <a:xfrm>
            <a:off x="609120" y="2772360"/>
            <a:ext cx="135648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E07B39"/>
                </a:solidFill>
                <a:effectLst/>
                <a:uFillTx/>
                <a:latin typeface="Calibri"/>
              </a:rPr>
              <a:t>Academic Integrity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Box 14"/>
          <p:cNvSpPr/>
          <p:nvPr/>
        </p:nvSpPr>
        <p:spPr>
          <a:xfrm>
            <a:off x="609120" y="3172320"/>
            <a:ext cx="191052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CADCFC"/>
                </a:solidFill>
                <a:effectLst/>
                <a:uFillTx/>
                <a:latin typeface="Calibri"/>
              </a:rPr>
              <a:t>Cheating and plagiarism violate the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Box 15"/>
          <p:cNvSpPr/>
          <p:nvPr/>
        </p:nvSpPr>
        <p:spPr>
          <a:xfrm>
            <a:off x="609120" y="3363120"/>
            <a:ext cx="213192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CADCFC"/>
                </a:solidFill>
                <a:effectLst/>
                <a:uFillTx/>
                <a:latin typeface="Calibri"/>
              </a:rPr>
              <a:t>Student Conduct Code and can result in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Box 16"/>
          <p:cNvSpPr/>
          <p:nvPr/>
        </p:nvSpPr>
        <p:spPr>
          <a:xfrm>
            <a:off x="609120" y="3553920"/>
            <a:ext cx="218124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CADCFC"/>
                </a:solidFill>
                <a:effectLst/>
                <a:uFillTx/>
                <a:latin typeface="Calibri"/>
              </a:rPr>
              <a:t>expulsion. See the Leeward CC academic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Box 17"/>
          <p:cNvSpPr/>
          <p:nvPr/>
        </p:nvSpPr>
        <p:spPr>
          <a:xfrm>
            <a:off x="609120" y="3744720"/>
            <a:ext cx="193104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CADCFC"/>
                </a:solidFill>
                <a:effectLst/>
                <a:uFillTx/>
                <a:latin typeface="Calibri"/>
              </a:rPr>
              <a:t>dishonesty policy for full definitions.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Box 18"/>
          <p:cNvSpPr/>
          <p:nvPr/>
        </p:nvSpPr>
        <p:spPr>
          <a:xfrm>
            <a:off x="3471120" y="2772360"/>
            <a:ext cx="176652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E07B39"/>
                </a:solidFill>
                <a:effectLst/>
                <a:uFillTx/>
                <a:latin typeface="Calibri"/>
              </a:rPr>
              <a:t>Participation Verification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Box 19"/>
          <p:cNvSpPr/>
          <p:nvPr/>
        </p:nvSpPr>
        <p:spPr>
          <a:xfrm>
            <a:off x="3471120" y="3172320"/>
            <a:ext cx="222624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CADCFC"/>
                </a:solidFill>
                <a:effectLst/>
                <a:uFillTx/>
                <a:latin typeface="Calibri"/>
              </a:rPr>
              <a:t>Students who don't participate in Week 1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Box 20"/>
          <p:cNvSpPr/>
          <p:nvPr/>
        </p:nvSpPr>
        <p:spPr>
          <a:xfrm>
            <a:off x="3471120" y="3363120"/>
            <a:ext cx="150480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CADCFC"/>
                </a:solidFill>
                <a:effectLst/>
                <a:uFillTx/>
                <a:latin typeface="Calibri"/>
              </a:rPr>
              <a:t>are marked “No Show” and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Box 21"/>
          <p:cNvSpPr/>
          <p:nvPr/>
        </p:nvSpPr>
        <p:spPr>
          <a:xfrm>
            <a:off x="3471120" y="3553920"/>
            <a:ext cx="205884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CADCFC"/>
                </a:solidFill>
                <a:effectLst/>
                <a:uFillTx/>
                <a:latin typeface="Calibri"/>
              </a:rPr>
              <a:t>administratively disenrolled with a full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Box 22"/>
          <p:cNvSpPr/>
          <p:nvPr/>
        </p:nvSpPr>
        <p:spPr>
          <a:xfrm>
            <a:off x="3471120" y="3744720"/>
            <a:ext cx="44892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CADCFC"/>
                </a:solidFill>
                <a:effectLst/>
                <a:uFillTx/>
                <a:latin typeface="Calibri"/>
              </a:rPr>
              <a:t>refund.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Box 23"/>
          <p:cNvSpPr/>
          <p:nvPr/>
        </p:nvSpPr>
        <p:spPr>
          <a:xfrm>
            <a:off x="6333480" y="2772360"/>
            <a:ext cx="54900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E07B39"/>
                </a:solidFill>
                <a:effectLst/>
                <a:uFillTx/>
                <a:latin typeface="Calibri"/>
              </a:rPr>
              <a:t>Title IX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Box 24"/>
          <p:cNvSpPr/>
          <p:nvPr/>
        </p:nvSpPr>
        <p:spPr>
          <a:xfrm>
            <a:off x="6333480" y="3172320"/>
            <a:ext cx="203724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CADCFC"/>
                </a:solidFill>
                <a:effectLst/>
                <a:uFillTx/>
                <a:latin typeface="Calibri"/>
              </a:rPr>
              <a:t>Leeward CC prohibits sex- and gender-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Box 25"/>
          <p:cNvSpPr/>
          <p:nvPr/>
        </p:nvSpPr>
        <p:spPr>
          <a:xfrm>
            <a:off x="6333480" y="3363120"/>
            <a:ext cx="220572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CADCFC"/>
                </a:solidFill>
                <a:effectLst/>
                <a:uFillTx/>
                <a:latin typeface="Calibri"/>
              </a:rPr>
              <a:t>based discrimination. Contact the Title IX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Box 26"/>
          <p:cNvSpPr/>
          <p:nvPr/>
        </p:nvSpPr>
        <p:spPr>
          <a:xfrm>
            <a:off x="6333480" y="3553920"/>
            <a:ext cx="200952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CADCFC"/>
                </a:solidFill>
                <a:effectLst/>
                <a:uFillTx/>
                <a:latin typeface="Calibri"/>
              </a:rPr>
              <a:t>Coordinator at leetix@hawaii.edu for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Box 27"/>
          <p:cNvSpPr/>
          <p:nvPr/>
        </p:nvSpPr>
        <p:spPr>
          <a:xfrm>
            <a:off x="6333480" y="3744720"/>
            <a:ext cx="125532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CADCFC"/>
                </a:solidFill>
                <a:effectLst/>
                <a:uFillTx/>
                <a:latin typeface="Calibri"/>
              </a:rPr>
              <a:t>resources and support.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Rectangle 1"/>
          <p:cNvSpPr/>
          <p:nvPr/>
        </p:nvSpPr>
        <p:spPr>
          <a:xfrm>
            <a:off x="0" y="0"/>
            <a:ext cx="9143280" cy="51429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1" name="Rectangle 2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2" name="Rectangle 3"/>
          <p:cNvSpPr/>
          <p:nvPr/>
        </p:nvSpPr>
        <p:spPr>
          <a:xfrm>
            <a:off x="0" y="0"/>
            <a:ext cx="9143280" cy="685080"/>
          </a:xfrm>
          <a:prstGeom prst="rect">
            <a:avLst/>
          </a:prstGeom>
          <a:solidFill>
            <a:srgbClr val="1C2B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3" name="Rectangle 4"/>
          <p:cNvSpPr/>
          <p:nvPr/>
        </p:nvSpPr>
        <p:spPr>
          <a:xfrm>
            <a:off x="365400" y="868320"/>
            <a:ext cx="4022640" cy="3565440"/>
          </a:xfrm>
          <a:prstGeom prst="rect">
            <a:avLst/>
          </a:prstGeom>
          <a:solidFill>
            <a:srgbClr val="EEF3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4" name="Rectangle 5"/>
          <p:cNvSpPr/>
          <p:nvPr/>
        </p:nvSpPr>
        <p:spPr>
          <a:xfrm>
            <a:off x="4754520" y="868320"/>
            <a:ext cx="4022640" cy="3565440"/>
          </a:xfrm>
          <a:prstGeom prst="rect">
            <a:avLst/>
          </a:prstGeom>
          <a:solidFill>
            <a:srgbClr val="EEF3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5" name="TextBox 6"/>
          <p:cNvSpPr/>
          <p:nvPr/>
        </p:nvSpPr>
        <p:spPr>
          <a:xfrm>
            <a:off x="489960" y="162720"/>
            <a:ext cx="2796120" cy="39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Technology &amp; Materials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Box 7"/>
          <p:cNvSpPr/>
          <p:nvPr/>
        </p:nvSpPr>
        <p:spPr>
          <a:xfrm>
            <a:off x="627120" y="1064520"/>
            <a:ext cx="2276640" cy="26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2E4A6B"/>
                </a:solidFill>
                <a:effectLst/>
                <a:uFillTx/>
                <a:latin typeface="Calibri"/>
              </a:rPr>
              <a:t>Textbooks (Provided Digitally)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Box 8"/>
          <p:cNvSpPr/>
          <p:nvPr/>
        </p:nvSpPr>
        <p:spPr>
          <a:xfrm>
            <a:off x="627120" y="1544400"/>
            <a:ext cx="127260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Metallurgy, 5th ed.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Box 9"/>
          <p:cNvSpPr/>
          <p:nvPr/>
        </p:nvSpPr>
        <p:spPr>
          <a:xfrm>
            <a:off x="627120" y="1959840"/>
            <a:ext cx="70308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B.J. Moniz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Box 10"/>
          <p:cNvSpPr/>
          <p:nvPr/>
        </p:nvSpPr>
        <p:spPr>
          <a:xfrm>
            <a:off x="627120" y="2197440"/>
            <a:ext cx="336096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Manufacturing Processes for Engineering Materials,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Box 11"/>
          <p:cNvSpPr/>
          <p:nvPr/>
        </p:nvSpPr>
        <p:spPr>
          <a:xfrm>
            <a:off x="627120" y="2435040"/>
            <a:ext cx="51984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6th ed.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Box 12"/>
          <p:cNvSpPr/>
          <p:nvPr/>
        </p:nvSpPr>
        <p:spPr>
          <a:xfrm>
            <a:off x="627120" y="2672640"/>
            <a:ext cx="84780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S. Kalpakjian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Box 13"/>
          <p:cNvSpPr/>
          <p:nvPr/>
        </p:nvSpPr>
        <p:spPr>
          <a:xfrm>
            <a:off x="627120" y="3446640"/>
            <a:ext cx="333144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All content is provided as PDFs / video links. Students needing a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Box 14"/>
          <p:cNvSpPr/>
          <p:nvPr/>
        </p:nvSpPr>
        <p:spPr>
          <a:xfrm>
            <a:off x="627120" y="3637440"/>
            <a:ext cx="333900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different format (e.g., printed hardcopy) should make their own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Box 15"/>
          <p:cNvSpPr/>
          <p:nvPr/>
        </p:nvSpPr>
        <p:spPr>
          <a:xfrm>
            <a:off x="627120" y="3828240"/>
            <a:ext cx="98460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accommodations.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Box 16"/>
          <p:cNvSpPr/>
          <p:nvPr/>
        </p:nvSpPr>
        <p:spPr>
          <a:xfrm>
            <a:off x="5016240" y="1064520"/>
            <a:ext cx="1351080" cy="26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2E4A6B"/>
                </a:solidFill>
                <a:effectLst/>
                <a:uFillTx/>
                <a:latin typeface="Calibri"/>
              </a:rPr>
              <a:t>What You'll Need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Box 17"/>
          <p:cNvSpPr/>
          <p:nvPr/>
        </p:nvSpPr>
        <p:spPr>
          <a:xfrm>
            <a:off x="5016240" y="1515240"/>
            <a:ext cx="196920" cy="23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●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Box 18"/>
          <p:cNvSpPr/>
          <p:nvPr/>
        </p:nvSpPr>
        <p:spPr>
          <a:xfrm>
            <a:off x="5359320" y="1535760"/>
            <a:ext cx="220644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University-provided Gmail account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Box 19"/>
          <p:cNvSpPr/>
          <p:nvPr/>
        </p:nvSpPr>
        <p:spPr>
          <a:xfrm>
            <a:off x="5016240" y="1870920"/>
            <a:ext cx="196920" cy="23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●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Box 20"/>
          <p:cNvSpPr/>
          <p:nvPr/>
        </p:nvSpPr>
        <p:spPr>
          <a:xfrm>
            <a:off x="5359320" y="1891440"/>
            <a:ext cx="277992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Access to the learning management system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Box 21"/>
          <p:cNvSpPr/>
          <p:nvPr/>
        </p:nvSpPr>
        <p:spPr>
          <a:xfrm>
            <a:off x="5359320" y="2120040"/>
            <a:ext cx="64548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(Lamaku)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Box 22"/>
          <p:cNvSpPr/>
          <p:nvPr/>
        </p:nvSpPr>
        <p:spPr>
          <a:xfrm>
            <a:off x="5016240" y="2455200"/>
            <a:ext cx="196920" cy="23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●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Box 23"/>
          <p:cNvSpPr/>
          <p:nvPr/>
        </p:nvSpPr>
        <p:spPr>
          <a:xfrm>
            <a:off x="5359320" y="2475720"/>
            <a:ext cx="292428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Reliable internet access outside class meeting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Box 24"/>
          <p:cNvSpPr/>
          <p:nvPr/>
        </p:nvSpPr>
        <p:spPr>
          <a:xfrm>
            <a:off x="5359320" y="2704320"/>
            <a:ext cx="41652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times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Box 25"/>
          <p:cNvSpPr/>
          <p:nvPr/>
        </p:nvSpPr>
        <p:spPr>
          <a:xfrm>
            <a:off x="5016240" y="3039480"/>
            <a:ext cx="196920" cy="23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●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Box 26"/>
          <p:cNvSpPr/>
          <p:nvPr/>
        </p:nvSpPr>
        <p:spPr>
          <a:xfrm>
            <a:off x="5359320" y="3060000"/>
            <a:ext cx="260244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A laptop for in-class and take-home work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Rectangle 1"/>
          <p:cNvSpPr/>
          <p:nvPr/>
        </p:nvSpPr>
        <p:spPr>
          <a:xfrm>
            <a:off x="0" y="0"/>
            <a:ext cx="9143280" cy="51429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7" name="Rectangle 2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8" name="Rectangle 3"/>
          <p:cNvSpPr/>
          <p:nvPr/>
        </p:nvSpPr>
        <p:spPr>
          <a:xfrm>
            <a:off x="0" y="0"/>
            <a:ext cx="9143280" cy="685080"/>
          </a:xfrm>
          <a:prstGeom prst="rect">
            <a:avLst/>
          </a:prstGeom>
          <a:solidFill>
            <a:srgbClr val="1C2B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49" name="Rectangle 4"/>
          <p:cNvSpPr/>
          <p:nvPr/>
        </p:nvSpPr>
        <p:spPr>
          <a:xfrm>
            <a:off x="320040" y="841320"/>
            <a:ext cx="379440" cy="383400"/>
          </a:xfrm>
          <a:prstGeom prst="rect">
            <a:avLst/>
          </a:prstGeom>
          <a:solidFill>
            <a:srgbClr val="2A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0" name="Rectangle 5"/>
          <p:cNvSpPr/>
          <p:nvPr/>
        </p:nvSpPr>
        <p:spPr>
          <a:xfrm>
            <a:off x="699840" y="841320"/>
            <a:ext cx="1499400" cy="383400"/>
          </a:xfrm>
          <a:prstGeom prst="rect">
            <a:avLst/>
          </a:prstGeom>
          <a:solidFill>
            <a:srgbClr val="2A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1" name="Rectangle 6"/>
          <p:cNvSpPr/>
          <p:nvPr/>
        </p:nvSpPr>
        <p:spPr>
          <a:xfrm>
            <a:off x="2199600" y="841320"/>
            <a:ext cx="2325600" cy="383400"/>
          </a:xfrm>
          <a:prstGeom prst="rect">
            <a:avLst/>
          </a:prstGeom>
          <a:solidFill>
            <a:srgbClr val="2A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2" name="Rectangle 7"/>
          <p:cNvSpPr/>
          <p:nvPr/>
        </p:nvSpPr>
        <p:spPr>
          <a:xfrm>
            <a:off x="4617720" y="841320"/>
            <a:ext cx="379440" cy="383400"/>
          </a:xfrm>
          <a:prstGeom prst="rect">
            <a:avLst/>
          </a:prstGeom>
          <a:solidFill>
            <a:srgbClr val="2A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3" name="Rectangle 8"/>
          <p:cNvSpPr/>
          <p:nvPr/>
        </p:nvSpPr>
        <p:spPr>
          <a:xfrm>
            <a:off x="4997520" y="841320"/>
            <a:ext cx="1499400" cy="383400"/>
          </a:xfrm>
          <a:prstGeom prst="rect">
            <a:avLst/>
          </a:prstGeom>
          <a:solidFill>
            <a:srgbClr val="2A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4" name="Rectangle 9"/>
          <p:cNvSpPr/>
          <p:nvPr/>
        </p:nvSpPr>
        <p:spPr>
          <a:xfrm>
            <a:off x="6497280" y="841320"/>
            <a:ext cx="2325600" cy="383400"/>
          </a:xfrm>
          <a:prstGeom prst="rect">
            <a:avLst/>
          </a:prstGeom>
          <a:solidFill>
            <a:srgbClr val="2A4A6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55" name="TextBox 10"/>
          <p:cNvSpPr/>
          <p:nvPr/>
        </p:nvSpPr>
        <p:spPr>
          <a:xfrm>
            <a:off x="489960" y="162720"/>
            <a:ext cx="6370560" cy="39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Alloy Research Schedule — What You'll Research Each Week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Box 11"/>
          <p:cNvSpPr/>
          <p:nvPr/>
        </p:nvSpPr>
        <p:spPr>
          <a:xfrm>
            <a:off x="409680" y="929880"/>
            <a:ext cx="25128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Wk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Box 12"/>
          <p:cNvSpPr/>
          <p:nvPr/>
        </p:nvSpPr>
        <p:spPr>
          <a:xfrm>
            <a:off x="732960" y="929880"/>
            <a:ext cx="34668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Topic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Box 13"/>
          <p:cNvSpPr/>
          <p:nvPr/>
        </p:nvSpPr>
        <p:spPr>
          <a:xfrm>
            <a:off x="2232720" y="929880"/>
            <a:ext cx="93312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Alloys Researched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Box 14"/>
          <p:cNvSpPr/>
          <p:nvPr/>
        </p:nvSpPr>
        <p:spPr>
          <a:xfrm>
            <a:off x="465480" y="1313640"/>
            <a:ext cx="14004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Box 15"/>
          <p:cNvSpPr/>
          <p:nvPr/>
        </p:nvSpPr>
        <p:spPr>
          <a:xfrm>
            <a:off x="732960" y="1313640"/>
            <a:ext cx="9435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Atomic Structure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Box 16"/>
          <p:cNvSpPr/>
          <p:nvPr/>
        </p:nvSpPr>
        <p:spPr>
          <a:xfrm>
            <a:off x="2232720" y="1321560"/>
            <a:ext cx="8470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1018 steel (new)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Box 17"/>
          <p:cNvSpPr/>
          <p:nvPr/>
        </p:nvSpPr>
        <p:spPr>
          <a:xfrm>
            <a:off x="465480" y="1697400"/>
            <a:ext cx="14004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Box 18"/>
          <p:cNvSpPr/>
          <p:nvPr/>
        </p:nvSpPr>
        <p:spPr>
          <a:xfrm>
            <a:off x="732960" y="1697400"/>
            <a:ext cx="95724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Mech. Properties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Box 19"/>
          <p:cNvSpPr/>
          <p:nvPr/>
        </p:nvSpPr>
        <p:spPr>
          <a:xfrm>
            <a:off x="2232720" y="1705320"/>
            <a:ext cx="14212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1018, 1045 steel (new: 1045)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Box 20"/>
          <p:cNvSpPr/>
          <p:nvPr/>
        </p:nvSpPr>
        <p:spPr>
          <a:xfrm>
            <a:off x="465480" y="2081160"/>
            <a:ext cx="14004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Box 21"/>
          <p:cNvSpPr/>
          <p:nvPr/>
        </p:nvSpPr>
        <p:spPr>
          <a:xfrm>
            <a:off x="732960" y="2081160"/>
            <a:ext cx="57924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NO CLASS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Box 22"/>
          <p:cNvSpPr/>
          <p:nvPr/>
        </p:nvSpPr>
        <p:spPr>
          <a:xfrm>
            <a:off x="2232720" y="2089080"/>
            <a:ext cx="1792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i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—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Box 23"/>
          <p:cNvSpPr/>
          <p:nvPr/>
        </p:nvSpPr>
        <p:spPr>
          <a:xfrm>
            <a:off x="465480" y="2464920"/>
            <a:ext cx="14004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Box 24"/>
          <p:cNvSpPr/>
          <p:nvPr/>
        </p:nvSpPr>
        <p:spPr>
          <a:xfrm>
            <a:off x="732960" y="2464920"/>
            <a:ext cx="117648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Carbon &amp; Alloy Steels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Box 25"/>
          <p:cNvSpPr/>
          <p:nvPr/>
        </p:nvSpPr>
        <p:spPr>
          <a:xfrm>
            <a:off x="2232720" y="2472840"/>
            <a:ext cx="17060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1018, 1045, 1075 steel (new: 1075)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Box 26"/>
          <p:cNvSpPr/>
          <p:nvPr/>
        </p:nvSpPr>
        <p:spPr>
          <a:xfrm>
            <a:off x="465480" y="2848680"/>
            <a:ext cx="14004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Box 27"/>
          <p:cNvSpPr/>
          <p:nvPr/>
        </p:nvSpPr>
        <p:spPr>
          <a:xfrm>
            <a:off x="732960" y="2848680"/>
            <a:ext cx="80424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Stainless Steel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Box 28"/>
          <p:cNvSpPr/>
          <p:nvPr/>
        </p:nvSpPr>
        <p:spPr>
          <a:xfrm>
            <a:off x="2232720" y="2856600"/>
            <a:ext cx="129456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304, 316, 17-4PH SS (new)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Box 29"/>
          <p:cNvSpPr/>
          <p:nvPr/>
        </p:nvSpPr>
        <p:spPr>
          <a:xfrm>
            <a:off x="465480" y="3232440"/>
            <a:ext cx="14004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Box 30"/>
          <p:cNvSpPr/>
          <p:nvPr/>
        </p:nvSpPr>
        <p:spPr>
          <a:xfrm>
            <a:off x="732960" y="3232440"/>
            <a:ext cx="10353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Nonferrous Metals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Box 31"/>
          <p:cNvSpPr/>
          <p:nvPr/>
        </p:nvSpPr>
        <p:spPr>
          <a:xfrm>
            <a:off x="2232720" y="3240360"/>
            <a:ext cx="12142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6061 Al, 260 brass (new)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Box 32"/>
          <p:cNvSpPr/>
          <p:nvPr/>
        </p:nvSpPr>
        <p:spPr>
          <a:xfrm>
            <a:off x="465480" y="3616200"/>
            <a:ext cx="14004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Box 33"/>
          <p:cNvSpPr/>
          <p:nvPr/>
        </p:nvSpPr>
        <p:spPr>
          <a:xfrm>
            <a:off x="732960" y="3616200"/>
            <a:ext cx="78480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Mech. Testing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Box 34"/>
          <p:cNvSpPr/>
          <p:nvPr/>
        </p:nvSpPr>
        <p:spPr>
          <a:xfrm>
            <a:off x="2232720" y="3624120"/>
            <a:ext cx="12157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1018, 1045 steel (revisit)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Box 35"/>
          <p:cNvSpPr/>
          <p:nvPr/>
        </p:nvSpPr>
        <p:spPr>
          <a:xfrm>
            <a:off x="465480" y="3999960"/>
            <a:ext cx="14004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Box 36"/>
          <p:cNvSpPr/>
          <p:nvPr/>
        </p:nvSpPr>
        <p:spPr>
          <a:xfrm>
            <a:off x="732960" y="3999960"/>
            <a:ext cx="7851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NDT Methods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Box 37"/>
          <p:cNvSpPr/>
          <p:nvPr/>
        </p:nvSpPr>
        <p:spPr>
          <a:xfrm>
            <a:off x="2232720" y="4007880"/>
            <a:ext cx="21880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1018 steel, 360 brass, Ti-6Al-4V (new: 360, Ti)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Box 38"/>
          <p:cNvSpPr/>
          <p:nvPr/>
        </p:nvSpPr>
        <p:spPr>
          <a:xfrm>
            <a:off x="465480" y="4383720"/>
            <a:ext cx="14004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9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TextBox 39"/>
          <p:cNvSpPr/>
          <p:nvPr/>
        </p:nvSpPr>
        <p:spPr>
          <a:xfrm>
            <a:off x="732960" y="4383720"/>
            <a:ext cx="97128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Quality &amp; Defects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Box 40"/>
          <p:cNvSpPr/>
          <p:nvPr/>
        </p:nvSpPr>
        <p:spPr>
          <a:xfrm>
            <a:off x="2232720" y="4391640"/>
            <a:ext cx="93096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1018 steel (revisit)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Box 41"/>
          <p:cNvSpPr/>
          <p:nvPr/>
        </p:nvSpPr>
        <p:spPr>
          <a:xfrm>
            <a:off x="4707360" y="929880"/>
            <a:ext cx="25128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Wk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Box 42"/>
          <p:cNvSpPr/>
          <p:nvPr/>
        </p:nvSpPr>
        <p:spPr>
          <a:xfrm>
            <a:off x="5030640" y="929880"/>
            <a:ext cx="34668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Topic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Box 43"/>
          <p:cNvSpPr/>
          <p:nvPr/>
        </p:nvSpPr>
        <p:spPr>
          <a:xfrm>
            <a:off x="6530400" y="929880"/>
            <a:ext cx="93312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Alloys Researched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TextBox 44"/>
          <p:cNvSpPr/>
          <p:nvPr/>
        </p:nvSpPr>
        <p:spPr>
          <a:xfrm>
            <a:off x="4731120" y="1313640"/>
            <a:ext cx="20448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10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Box 45"/>
          <p:cNvSpPr/>
          <p:nvPr/>
        </p:nvSpPr>
        <p:spPr>
          <a:xfrm>
            <a:off x="5030640" y="1313640"/>
            <a:ext cx="108828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Wrought Aluminum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Box 46"/>
          <p:cNvSpPr/>
          <p:nvPr/>
        </p:nvSpPr>
        <p:spPr>
          <a:xfrm>
            <a:off x="6530400" y="1321560"/>
            <a:ext cx="19130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6061-T6, 2024-T3 Al (new: 2024-T3)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Box 47"/>
          <p:cNvSpPr/>
          <p:nvPr/>
        </p:nvSpPr>
        <p:spPr>
          <a:xfrm>
            <a:off x="4731120" y="1697400"/>
            <a:ext cx="20448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11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TextBox 48"/>
          <p:cNvSpPr/>
          <p:nvPr/>
        </p:nvSpPr>
        <p:spPr>
          <a:xfrm>
            <a:off x="5030640" y="1697400"/>
            <a:ext cx="105912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Aluminum Forming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Box 49"/>
          <p:cNvSpPr/>
          <p:nvPr/>
        </p:nvSpPr>
        <p:spPr>
          <a:xfrm>
            <a:off x="6530400" y="1705320"/>
            <a:ext cx="15710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6061-T6, 5086 Al (new: 5086)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Box 50"/>
          <p:cNvSpPr/>
          <p:nvPr/>
        </p:nvSpPr>
        <p:spPr>
          <a:xfrm>
            <a:off x="4731120" y="2081160"/>
            <a:ext cx="20448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12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Box 51"/>
          <p:cNvSpPr/>
          <p:nvPr/>
        </p:nvSpPr>
        <p:spPr>
          <a:xfrm>
            <a:off x="5030640" y="2081160"/>
            <a:ext cx="114480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Machining Processes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TextBox 52"/>
          <p:cNvSpPr/>
          <p:nvPr/>
        </p:nvSpPr>
        <p:spPr>
          <a:xfrm>
            <a:off x="6530400" y="2089080"/>
            <a:ext cx="16207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1018, 1045 steel, 6061-T6 Al (revisit)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Box 53"/>
          <p:cNvSpPr/>
          <p:nvPr/>
        </p:nvSpPr>
        <p:spPr>
          <a:xfrm>
            <a:off x="4731120" y="2464920"/>
            <a:ext cx="20448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13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Box 54"/>
          <p:cNvSpPr/>
          <p:nvPr/>
        </p:nvSpPr>
        <p:spPr>
          <a:xfrm>
            <a:off x="5030640" y="2464920"/>
            <a:ext cx="78048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Copper Alloys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Box 55"/>
          <p:cNvSpPr/>
          <p:nvPr/>
        </p:nvSpPr>
        <p:spPr>
          <a:xfrm>
            <a:off x="6530400" y="2472840"/>
            <a:ext cx="91656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110, 182 Cu (new)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Box 56"/>
          <p:cNvSpPr/>
          <p:nvPr/>
        </p:nvSpPr>
        <p:spPr>
          <a:xfrm>
            <a:off x="4731120" y="2848680"/>
            <a:ext cx="20448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14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Box 57"/>
          <p:cNvSpPr/>
          <p:nvPr/>
        </p:nvSpPr>
        <p:spPr>
          <a:xfrm>
            <a:off x="5030640" y="2848680"/>
            <a:ext cx="67716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Brass Alloys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Box 58"/>
          <p:cNvSpPr/>
          <p:nvPr/>
        </p:nvSpPr>
        <p:spPr>
          <a:xfrm>
            <a:off x="6530400" y="2856600"/>
            <a:ext cx="14958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260, 360, 464 brass (new: 464)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Box 59"/>
          <p:cNvSpPr/>
          <p:nvPr/>
        </p:nvSpPr>
        <p:spPr>
          <a:xfrm>
            <a:off x="4731120" y="3232440"/>
            <a:ext cx="20448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15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Box 60"/>
          <p:cNvSpPr/>
          <p:nvPr/>
        </p:nvSpPr>
        <p:spPr>
          <a:xfrm>
            <a:off x="5030640" y="3232440"/>
            <a:ext cx="98712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Precip. Hardening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Box 61"/>
          <p:cNvSpPr/>
          <p:nvPr/>
        </p:nvSpPr>
        <p:spPr>
          <a:xfrm>
            <a:off x="6530400" y="3240360"/>
            <a:ext cx="17017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17-4PH SS, 2024-T3 Al, 182 Cu (revisit)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Box 62"/>
          <p:cNvSpPr/>
          <p:nvPr/>
        </p:nvSpPr>
        <p:spPr>
          <a:xfrm>
            <a:off x="4731120" y="3616200"/>
            <a:ext cx="20448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16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Box 63"/>
          <p:cNvSpPr/>
          <p:nvPr/>
        </p:nvSpPr>
        <p:spPr>
          <a:xfrm>
            <a:off x="5030640" y="3616200"/>
            <a:ext cx="117684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Capstone &amp; Synthesis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Box 64"/>
          <p:cNvSpPr/>
          <p:nvPr/>
        </p:nvSpPr>
        <p:spPr>
          <a:xfrm>
            <a:off x="6530400" y="3624120"/>
            <a:ext cx="6976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1A2433"/>
                </a:solidFill>
                <a:effectLst/>
                <a:uFillTx/>
                <a:latin typeface="Calibri"/>
              </a:rPr>
              <a:t>— (synthesis)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TextBox 65"/>
          <p:cNvSpPr/>
          <p:nvPr/>
        </p:nvSpPr>
        <p:spPr>
          <a:xfrm>
            <a:off x="444240" y="4727520"/>
            <a:ext cx="8211240" cy="20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1000" b="0" i="1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Each week's research module draws from the shared 15-alloy specimen set. “Revisit” means an alloy you've already researched, now viewed through a new lens.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Rectangle 1"/>
          <p:cNvSpPr/>
          <p:nvPr/>
        </p:nvSpPr>
        <p:spPr>
          <a:xfrm>
            <a:off x="0" y="0"/>
            <a:ext cx="9143280" cy="51429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2" name="Rectangle 2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1C2B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3" name="Rectangle 3"/>
          <p:cNvSpPr/>
          <p:nvPr/>
        </p:nvSpPr>
        <p:spPr>
          <a:xfrm>
            <a:off x="0" y="0"/>
            <a:ext cx="109080" cy="5142960"/>
          </a:xfrm>
          <a:prstGeom prst="rect">
            <a:avLst/>
          </a:prstGeom>
          <a:solidFill>
            <a:srgbClr val="E07B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4" name="Rectangle 4"/>
          <p:cNvSpPr/>
          <p:nvPr/>
        </p:nvSpPr>
        <p:spPr>
          <a:xfrm>
            <a:off x="365400" y="2605680"/>
            <a:ext cx="4571280" cy="26640"/>
          </a:xfrm>
          <a:prstGeom prst="rect">
            <a:avLst/>
          </a:prstGeom>
          <a:solidFill>
            <a:srgbClr val="E07B3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8000" rIns="90000" bIns="-18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15" name="TextBox 5"/>
          <p:cNvSpPr/>
          <p:nvPr/>
        </p:nvSpPr>
        <p:spPr>
          <a:xfrm>
            <a:off x="444240" y="728640"/>
            <a:ext cx="220464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E07B39"/>
                </a:solidFill>
                <a:effectLst/>
                <a:uFillTx/>
                <a:latin typeface="Calibri"/>
              </a:rPr>
              <a:t>C o m i n g U p — W e e k 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Box 6"/>
          <p:cNvSpPr/>
          <p:nvPr/>
        </p:nvSpPr>
        <p:spPr>
          <a:xfrm>
            <a:off x="444240" y="1156680"/>
            <a:ext cx="5955480" cy="67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Atomic Structure &amp; Bonding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7" name="TextBox 7"/>
          <p:cNvSpPr/>
          <p:nvPr/>
        </p:nvSpPr>
        <p:spPr>
          <a:xfrm>
            <a:off x="444240" y="1903680"/>
            <a:ext cx="783216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CADCFC"/>
                </a:solidFill>
                <a:effectLst/>
                <a:uFillTx/>
                <a:latin typeface="Calibri"/>
              </a:rPr>
              <a:t>The atom, the periodic table, atomic bonding, alloys and solid solutions, crystal structures, and grain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Box 8"/>
          <p:cNvSpPr/>
          <p:nvPr/>
        </p:nvSpPr>
        <p:spPr>
          <a:xfrm>
            <a:off x="444240" y="2132280"/>
            <a:ext cx="99252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CADCFC"/>
                </a:solidFill>
                <a:effectLst/>
                <a:uFillTx/>
                <a:latin typeface="Calibri"/>
              </a:rPr>
              <a:t>boundaries.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9" name="TextBox 9"/>
          <p:cNvSpPr/>
          <p:nvPr/>
        </p:nvSpPr>
        <p:spPr>
          <a:xfrm>
            <a:off x="444240" y="2932200"/>
            <a:ext cx="252936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Questions? Reach out anytime.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Box 10"/>
          <p:cNvSpPr/>
          <p:nvPr/>
        </p:nvSpPr>
        <p:spPr>
          <a:xfrm>
            <a:off x="444240" y="3357360"/>
            <a:ext cx="5965560" cy="25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CADCFC"/>
                </a:solidFill>
                <a:effectLst/>
                <a:uFillTx/>
                <a:latin typeface="Calibri"/>
              </a:rPr>
              <a:t>Kainani “Kai” Santos   ·   kainanis@hawaii.edu   ·   CE401   ·   Office hours by appointment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Box 11"/>
          <p:cNvSpPr/>
          <p:nvPr/>
        </p:nvSpPr>
        <p:spPr>
          <a:xfrm>
            <a:off x="444240" y="4720680"/>
            <a:ext cx="4803840" cy="2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64748B"/>
                </a:solidFill>
                <a:effectLst/>
                <a:uFillTx/>
                <a:latin typeface="Calibri"/>
              </a:rPr>
              <a:t>Leeward Community College  ·  Math and Science Division  ·  Mechatronics Program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LibreOffice/26.2.3.2$MacOSX_AARCH64 LibreOffice_project/70e089b17412e4cb7773e41413306b17a2328c34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>Steve Canny</cp:lastModifiedBy>
  <dcterms:modified xsi:type="dcterms:W3CDTF">2013-01-27T09:15:58Z</dcterms:modified>
  <cp:revision>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