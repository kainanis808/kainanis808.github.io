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6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3063242"/>
            <a:ext cx="4571631" cy="453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2696" y="1003499"/>
            <a:ext cx="250571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E07B39"/>
                </a:solidFill>
                <a:latin typeface="Calibri"/>
              </a:rPr>
              <a:t>M E C H 1 9 1 — M e t a l l u r g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696" y="1382427"/>
            <a:ext cx="2814476" cy="980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6000">
                <a:solidFill>
                  <a:srgbClr val="FFFFFF"/>
                </a:solidFill>
                <a:latin typeface="Calibri"/>
              </a:rPr>
              <a:t>Week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696" y="2449334"/>
            <a:ext cx="4518053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2200">
                <a:solidFill>
                  <a:srgbClr val="CADCFC"/>
                </a:solidFill>
                <a:latin typeface="Calibri"/>
              </a:rPr>
              <a:t>Casting Processes &amp; Defect Recognition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696" y="3311813"/>
            <a:ext cx="330432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October 26, 2026  ·  5:00 – 7:30 PM  ·  Kai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435686"/>
            <a:ext cx="530315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62720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272448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382176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696" y="782571"/>
            <a:ext cx="2696648" cy="6397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800">
                <a:solidFill>
                  <a:srgbClr val="FFFFFF"/>
                </a:solidFill>
                <a:latin typeface="Calibri"/>
              </a:rPr>
              <a:t>Class 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622" y="176748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5664" y="1657693"/>
            <a:ext cx="3370994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Solidification &amp; Sand Casting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664" y="1927495"/>
            <a:ext cx="7173185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How metal solidifies — shrinkage, gas, segregation, risers, chills, dendrites — and the sand casting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5664" y="2140982"/>
            <a:ext cx="2480215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process from pattern to shakeout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622" y="286476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5664" y="2754973"/>
            <a:ext cx="389032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Die Casting &amp; Investment Casting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5664" y="3024775"/>
            <a:ext cx="6924745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High-pressure die casting, hot vs. cold chamber, lost-wax investment casting, and other casting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5664" y="3238262"/>
            <a:ext cx="783640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processes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622" y="396204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5664" y="3852253"/>
            <a:ext cx="4156558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Casting Defects &amp; Process Selection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5664" y="4122055"/>
            <a:ext cx="7444384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Recognizing shrinkage porosity, gas porosity, hot tears, cold shuts, misruns, and inclusions — and how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5664" y="4335542"/>
            <a:ext cx="2033130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to choose the right process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9143631" cy="62136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749886"/>
            <a:ext cx="4151160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749517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475" y="1791718"/>
            <a:ext cx="3858488" cy="3635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749886"/>
            <a:ext cx="4315676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749517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17796" y="2559966"/>
            <a:ext cx="4023004" cy="363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4534918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04" y="144840"/>
            <a:ext cx="3397884" cy="360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000">
                <a:solidFill>
                  <a:srgbClr val="E07B39"/>
                </a:solidFill>
                <a:latin typeface="Calibri"/>
              </a:rPr>
              <a:t>Metallography Lab — Module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6344" y="193848"/>
            <a:ext cx="222431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64748B"/>
                </a:solidFill>
                <a:latin typeface="Calibri"/>
              </a:rPr>
              <a:t>EXAMET-5-R-600-HD  ·  50–500×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775" y="831872"/>
            <a:ext cx="140337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Module 9  ·  Week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775" y="1352353"/>
            <a:ext cx="2287046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Wrought Aluminum Alloys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775" y="1963827"/>
            <a:ext cx="135659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What to do this week: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775" y="2502440"/>
            <a:ext cx="380812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Compare constituent particle size/density between 6061-T6 and 2024-T3 at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775" y="2662283"/>
            <a:ext cx="348552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500×. This week's lab no longer uses a cast specimen — casting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775" y="2822112"/>
            <a:ext cx="220869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fundamentals remain in today's lecture.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775" y="3435871"/>
            <a:ext cx="42845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Steps: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775" y="3838821"/>
            <a:ext cx="196518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Observe — complete feature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775" y="3991462"/>
            <a:ext cx="231439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Sketch — label magnification &amp; specimen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9775" y="4144104"/>
            <a:ext cx="164050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Answer — 4 short questions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5096" y="831872"/>
            <a:ext cx="159784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Specimens to Check 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5096" y="1309034"/>
            <a:ext cx="237239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Specimens G, J — 6061-T6 &amp; 2024-T3 aluminum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5096" y="2731707"/>
            <a:ext cx="153551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How to check out the kit: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5096" y="3219620"/>
            <a:ext cx="177190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See instructor after class today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5096" y="3372261"/>
            <a:ext cx="156248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Sign out the specimen tray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5096" y="3524903"/>
            <a:ext cx="220853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Use the EXAMET-5 at your convenience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5096" y="3677544"/>
            <a:ext cx="172831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4  Return kit before leaving class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5096" y="3830185"/>
            <a:ext cx="254885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5  Submit completed module with your portfolio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5096" y="4637234"/>
            <a:ext cx="176501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Portfolio Handout — Module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79" y="731522"/>
            <a:ext cx="1691284" cy="50256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79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79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97557" y="731522"/>
            <a:ext cx="1691284" cy="502564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97557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97557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97557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79" y="731522"/>
            <a:ext cx="1691284" cy="502564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79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79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11879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26557" y="731522"/>
            <a:ext cx="1691284" cy="502564"/>
          </a:xfrm>
          <a:prstGeom prst="rect">
            <a:avLst/>
          </a:prstGeom>
          <a:solidFill>
            <a:srgbClr val="6B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26557" y="1234086"/>
            <a:ext cx="1691284" cy="785876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26557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26557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6557" y="370296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731522"/>
            <a:ext cx="1691284" cy="502564"/>
          </a:xfrm>
          <a:prstGeom prst="rect">
            <a:avLst/>
          </a:prstGeom>
          <a:solidFill>
            <a:srgbClr val="5B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0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0880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79" y="4580638"/>
            <a:ext cx="8549284" cy="484199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8424" y="158292"/>
            <a:ext cx="441804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MECH 191 — Course &amp; Unit Roadmap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3255" y="1010671"/>
            <a:ext cx="131468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Materials Fundamentals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5900" y="129398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Wk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255" y="1476863"/>
            <a:ext cx="4318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Aug 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3255" y="1651356"/>
            <a:ext cx="103716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Atomic 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255" y="1819110"/>
            <a:ext cx="67107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Bonding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5900" y="211694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Wk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3255" y="2299823"/>
            <a:ext cx="4318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Aug 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3255" y="2474316"/>
            <a:ext cx="72764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3255" y="2642070"/>
            <a:ext cx="66199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Properties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57946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7946" y="1010671"/>
            <a:ext cx="77651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Steel &amp; Alloys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30577" y="129398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57946" y="147686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57946" y="1651356"/>
            <a:ext cx="61436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Carbon &amp;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57946" y="1819110"/>
            <a:ext cx="72456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Alloy Steels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30577" y="211694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57946" y="229982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7946" y="2474316"/>
            <a:ext cx="69663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Stainless &amp;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57946" y="2642070"/>
            <a:ext cx="63308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Cast Irons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30577" y="293990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57946" y="312278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28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57946" y="3297276"/>
            <a:ext cx="84566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Nonferrous &amp;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57946" y="3465030"/>
            <a:ext cx="97584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Phase Diagrams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72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72255" y="1010671"/>
            <a:ext cx="94730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Testing &amp; Quality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44900" y="129398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72255" y="1476863"/>
            <a:ext cx="34776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72255" y="1651356"/>
            <a:ext cx="72764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72255" y="1819110"/>
            <a:ext cx="47078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Testing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44900" y="211694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72255" y="229982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72255" y="2558187"/>
            <a:ext cx="86145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NDT Methods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44900" y="293990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72255" y="312278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19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72255" y="3297276"/>
            <a:ext cx="48488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Quality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72255" y="3465030"/>
            <a:ext cx="64104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Standards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86946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86946" y="1010671"/>
            <a:ext cx="83522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Manufacturing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59577" y="1293983"/>
            <a:ext cx="84729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Wk 10  ← here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86946" y="147686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86946" y="1735227"/>
            <a:ext cx="48754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Casting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59577" y="211694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86946" y="2299823"/>
            <a:ext cx="37368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86946" y="2558187"/>
            <a:ext cx="54397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Forming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59577" y="293990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86946" y="3122783"/>
            <a:ext cx="37368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86946" y="3381147"/>
            <a:ext cx="67163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Machining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59577" y="3762862"/>
            <a:ext cx="40736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86946" y="3945743"/>
            <a:ext cx="43785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16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86946" y="4120236"/>
            <a:ext cx="50863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Powder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86946" y="4287990"/>
            <a:ext cx="69034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Metallurgy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01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01255" y="1010671"/>
            <a:ext cx="92125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Joining &amp; Failure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73900" y="129398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01255" y="1476863"/>
            <a:ext cx="43785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23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01255" y="1651356"/>
            <a:ext cx="54201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Welding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01255" y="1819110"/>
            <a:ext cx="63168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Processes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73900" y="211694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01255" y="2299823"/>
            <a:ext cx="43785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30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01255" y="2474316"/>
            <a:ext cx="101621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Weld Metallurgy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01255" y="2642070"/>
            <a:ext cx="58405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Failure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73900" y="293990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01255" y="3122783"/>
            <a:ext cx="36288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Dec 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01255" y="3297276"/>
            <a:ext cx="62763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Corrosion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01255" y="3465030"/>
            <a:ext cx="69900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Wrap-up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59936" y="4699854"/>
            <a:ext cx="184355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Week 17  ·  FINAL EXAM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804242"/>
            <a:ext cx="5120271" cy="41144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804597"/>
            <a:ext cx="5120271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23204" y="804242"/>
            <a:ext cx="3291471" cy="41144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23204" y="804597"/>
            <a:ext cx="3291471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06084" y="2285646"/>
            <a:ext cx="283427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084" y="3437638"/>
            <a:ext cx="2834271" cy="26999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06084" y="4151162"/>
            <a:ext cx="283427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8424" y="158292"/>
            <a:ext cx="2767293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Week 10 — 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584" y="905094"/>
            <a:ext cx="52915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576" y="1360256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654" y="1379849"/>
            <a:ext cx="387062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Solidification mechanics — shrinkage, gas porosity, segregation,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8654" y="1555173"/>
            <a:ext cx="402483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dendrite arm spacing, and how riser and chill design controls them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576" y="1710891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8654" y="1730496"/>
            <a:ext cx="403550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Sand casting — pattern, mold, gating system, cores, green sand vs.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8654" y="1905807"/>
            <a:ext cx="316289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chemically bonded sand, advantages and 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576" y="2061537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8654" y="2081131"/>
            <a:ext cx="419949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Die casting — hot chamber vs. cold chamber, high-pressure injection,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654" y="2256454"/>
            <a:ext cx="342482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surface finish and tolerance advantages, alloy limitations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576" y="2412172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654" y="2431778"/>
            <a:ext cx="407774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Investment (lost-wax) casting — ceramic shell process, best surface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654" y="2607088"/>
            <a:ext cx="331564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finish and accuracy of any casting process, applications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576" y="2762819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654" y="2782412"/>
            <a:ext cx="425021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Seven common casting defects — shrinkage porosity, gas porosity, hot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654" y="2957735"/>
            <a:ext cx="303778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tears, cold shuts, misruns, inclusions, and warping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576" y="3113453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654" y="3133059"/>
            <a:ext cx="393493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Process selection — alloy, part size, production volume, required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8654" y="3308370"/>
            <a:ext cx="281561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tolerance, and cost as the five deciding factors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93384" y="905094"/>
            <a:ext cx="821342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Resources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93384" y="1389871"/>
            <a:ext cx="127956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Reference Material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93384" y="1744530"/>
            <a:ext cx="140103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Kalpakjian Ch. 10 &amp; 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93384" y="1919853"/>
            <a:ext cx="266184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Fundamentals &amp; Processes of Metal Casting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3384" y="2377347"/>
            <a:ext cx="74275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Visualizers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93384" y="2662949"/>
            <a:ext cx="192563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Solidification &amp; Dendrite Growth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93384" y="2830716"/>
            <a:ext cx="200231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Sand Casting — Process &amp; Defects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93384" y="2998470"/>
            <a:ext cx="177310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Die Casting — NADCA Process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93384" y="3166237"/>
            <a:ext cx="195580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Investment Casting — ICI Process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93384" y="3529707"/>
            <a:ext cx="70711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Reference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93384" y="3844056"/>
            <a:ext cx="227933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Casting Defects — TWI Defect Library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93384" y="4227812"/>
            <a:ext cx="204839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Next: Week 11 — Metal Forming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243446"/>
            <a:ext cx="832067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773721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254160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3309837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404" y="4077718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696" y="660111"/>
            <a:ext cx="2642450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Core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696" y="1400577"/>
            <a:ext cx="614694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Try to answer these before we dive in — we'll revisit them with answers at the end of class.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17" y="1823379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700" y="1967568"/>
            <a:ext cx="528125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happens during solidification and why does it matter for casting quality?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17" y="2591259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700" y="2735817"/>
            <a:ext cx="5480530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are the main casting processes and what are the trade-offs between them?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17" y="3359494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9700" y="3503697"/>
            <a:ext cx="518392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defects are most common in castings and how is each one recognized?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17" y="4127375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700" y="4271933"/>
            <a:ext cx="463499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How do you choose the right casting process for a given application?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2475" y="1316521"/>
            <a:ext cx="3821760" cy="328676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475" y="2486877"/>
            <a:ext cx="3821760" cy="328688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2475" y="3657246"/>
            <a:ext cx="3821760" cy="328676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804597"/>
            <a:ext cx="431567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804242"/>
            <a:ext cx="4315676" cy="40212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18164" y="1316877"/>
            <a:ext cx="164160" cy="65808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18164" y="2212926"/>
            <a:ext cx="164160" cy="658075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18164" y="3108961"/>
            <a:ext cx="164160" cy="658075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18164" y="4004997"/>
            <a:ext cx="164160" cy="658088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8424" y="158292"/>
            <a:ext cx="7549133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Solidification &amp; Shrinkage — What Happens When Metal Freezes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780" y="888653"/>
            <a:ext cx="140274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Solidification Zones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855" y="1371507"/>
            <a:ext cx="69432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Chill Zone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855" y="1927111"/>
            <a:ext cx="348831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Fine equiaxed grains nucleate at mold wall — fastest cooling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855" y="2541863"/>
            <a:ext cx="103666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Columnar Zone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855" y="3013952"/>
            <a:ext cx="351233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Dendrites grow inward toward thermal center — directional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855" y="3181706"/>
            <a:ext cx="61003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heat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855" y="3712587"/>
            <a:ext cx="99143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Equiaxed Zone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855" y="4184308"/>
            <a:ext cx="351387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Last region to solidify — equiaxed grains; site of shrinkage &amp;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855" y="4352075"/>
            <a:ext cx="73714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segregation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42179" y="888653"/>
            <a:ext cx="121817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Key Mechanisms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1420" y="1342111"/>
            <a:ext cx="64607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Shrinkage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61420" y="1606392"/>
            <a:ext cx="347114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Metal contracts 2–8% vol. during solidification. Risers (feeders)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1420" y="1766234"/>
            <a:ext cx="384289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supply liquid metal to compensate — without a riser, internal voids or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1420" y="1926076"/>
            <a:ext cx="290651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surface sink marks form in the last section to solidify.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1420" y="2238147"/>
            <a:ext cx="79664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Gas Porosity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61420" y="2502440"/>
            <a:ext cx="368812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Dissolved gases (especially H₂) become insoluble as metal solidifies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61420" y="2662283"/>
            <a:ext cx="378721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and are expelled. If they cannot escape, smooth spherical voids form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61420" y="2822112"/>
            <a:ext cx="349365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— distributed through the casting or clustered near the surface.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61420" y="3134195"/>
            <a:ext cx="76186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E6C52"/>
                </a:solidFill>
                <a:latin typeface="Calibri"/>
              </a:rPr>
              <a:t>Segregation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61420" y="3398476"/>
            <a:ext cx="372301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Alloying elements partition between solid and liquid — low-melting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61420" y="3558318"/>
            <a:ext cx="344956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elements concentrate in the last liquid, creating compositional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61420" y="3718161"/>
            <a:ext cx="381199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gradients. Homogenization heat treatment reduces microsegregation.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61420" y="4030231"/>
            <a:ext cx="104037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Dendrites &amp; DAS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61420" y="4294512"/>
            <a:ext cx="360287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Solidification begins as tree-like dendrites growing from the mold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61420" y="4454354"/>
            <a:ext cx="359847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wall. Dendrite arm spacing (DAS) decreases with faster cooling —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61420" y="4614196"/>
            <a:ext cx="257658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finer DAS means better mechanical properties.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955" y="804597"/>
            <a:ext cx="2029688" cy="9324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804242"/>
            <a:ext cx="2029688" cy="27396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40724" y="804597"/>
            <a:ext cx="2029675" cy="9324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40724" y="804242"/>
            <a:ext cx="2029675" cy="27396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25835" y="804597"/>
            <a:ext cx="2029688" cy="9324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25835" y="804242"/>
            <a:ext cx="2029688" cy="27396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10604" y="804597"/>
            <a:ext cx="2029676" cy="9324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10604" y="804242"/>
            <a:ext cx="2029676" cy="27396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5955" y="1792086"/>
            <a:ext cx="2029688" cy="93239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5955" y="1791718"/>
            <a:ext cx="2029688" cy="27396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40724" y="1792086"/>
            <a:ext cx="2029675" cy="93239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0724" y="1791718"/>
            <a:ext cx="2029675" cy="27396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25835" y="1792086"/>
            <a:ext cx="2029688" cy="93239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25835" y="1791718"/>
            <a:ext cx="2029688" cy="27396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10604" y="1792086"/>
            <a:ext cx="2029676" cy="93239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10604" y="1791718"/>
            <a:ext cx="2029676" cy="27396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5600" y="2797926"/>
            <a:ext cx="4242600" cy="475195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44720" y="2797926"/>
            <a:ext cx="4242599" cy="475195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8424" y="158292"/>
            <a:ext cx="5799485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Sand Casting — The Most Flexible Casting Process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980" y="839191"/>
            <a:ext cx="14687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304" y="839191"/>
            <a:ext cx="96746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Pattern Making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704" y="1150702"/>
            <a:ext cx="184751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Replica of part in wood, plastic, or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704" y="1303343"/>
            <a:ext cx="154621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metal — includes shrinkage,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704" y="1455984"/>
            <a:ext cx="173212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machining, and draft allowances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82735" y="839191"/>
            <a:ext cx="14687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39060" y="839191"/>
            <a:ext cx="68210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Mold Prep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37460" y="1074387"/>
            <a:ext cx="188817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Sand (green or chemically bonded)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7460" y="1227028"/>
            <a:ext cx="178118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packed around pattern in a flask;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37460" y="1379670"/>
            <a:ext cx="165435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pattern withdrawn leaving the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37460" y="1532311"/>
            <a:ext cx="37279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cavity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7504" y="839191"/>
            <a:ext cx="14687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3815" y="839191"/>
            <a:ext cx="80921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Core Making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2215" y="1150702"/>
            <a:ext cx="179871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Separate sand shapes inserted to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2215" y="1303343"/>
            <a:ext cx="140224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create internal cavities or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2215" y="1455984"/>
            <a:ext cx="185971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undercuts the pattern cannot 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52260" y="839191"/>
            <a:ext cx="14687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08584" y="839191"/>
            <a:ext cx="97053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Mold Assembly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7340" y="1074387"/>
            <a:ext cx="161039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Cope (top) and drag (bottom)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7340" y="1227028"/>
            <a:ext cx="190940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halves assembled; gating system —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7340" y="1379670"/>
            <a:ext cx="175043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sprue, runner, gates — channels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7340" y="1532311"/>
            <a:ext cx="49351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metal 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7980" y="1826667"/>
            <a:ext cx="14687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4304" y="1826667"/>
            <a:ext cx="52287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Pouring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704" y="2138190"/>
            <a:ext cx="185857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Molten metal poured into pouring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704" y="2290831"/>
            <a:ext cx="185691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cup; controlled pour rate prevents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2704" y="2443460"/>
            <a:ext cx="180380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turbulence and oxide entrapment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82735" y="1826667"/>
            <a:ext cx="14687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39060" y="1826667"/>
            <a:ext cx="51058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Cooling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37460" y="2138190"/>
            <a:ext cx="147772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Metal solidifies; risers feed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37460" y="2290831"/>
            <a:ext cx="154647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shrinking sections; chills can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37460" y="2443460"/>
            <a:ext cx="185094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accelerate cooling in thick sections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67504" y="1826667"/>
            <a:ext cx="14687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23815" y="1826667"/>
            <a:ext cx="61925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Shakeout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22215" y="2214504"/>
            <a:ext cx="185412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Sand mold is broken away; casting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22215" y="2367146"/>
            <a:ext cx="186289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removed; sand reclaimed for reuse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52260" y="1826667"/>
            <a:ext cx="14687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08584" y="1826667"/>
            <a:ext cx="107487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Cleaning &amp; Finish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07340" y="2138190"/>
            <a:ext cx="184688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Gates and risers removed; surface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07340" y="2290831"/>
            <a:ext cx="137403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cleaned by shot blasting;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07340" y="2443460"/>
            <a:ext cx="180533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dimensional and visual inspection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7784" y="2925987"/>
            <a:ext cx="80808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Advantages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2900" y="3295517"/>
            <a:ext cx="381319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Low tooling cost  ·  Any metal and almost any size  ·  Complex internal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42900" y="3455359"/>
            <a:ext cx="294594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geometry with cores  ·  Short lead time at low volume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96904" y="2925987"/>
            <a:ext cx="77610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32020" y="3295517"/>
            <a:ext cx="413633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Rough surface finish (Ra 6–25 μm)  ·  Loose dimensional tolerances  ·  Labor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32020" y="3455359"/>
            <a:ext cx="263918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intensive  ·  Each mold destroyed after shakeout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28159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40212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36160" y="804597"/>
            <a:ext cx="4151160" cy="28159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36160" y="804242"/>
            <a:ext cx="4151160" cy="40212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600" y="3730322"/>
            <a:ext cx="2651404" cy="1243076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600" y="3730322"/>
            <a:ext cx="2651404" cy="310679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5764" y="3730322"/>
            <a:ext cx="2651391" cy="1243076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5764" y="3730322"/>
            <a:ext cx="2651391" cy="310679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5915" y="3730322"/>
            <a:ext cx="2651404" cy="1243076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5915" y="3730322"/>
            <a:ext cx="2651404" cy="31067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8424" y="158292"/>
            <a:ext cx="6933976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Die Casting — High Pressure, High Volume, Tight Tolerances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780" y="888653"/>
            <a:ext cx="177932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Hot Chamber Die Casting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780" y="1369148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858" y="1387831"/>
            <a:ext cx="315071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Injection mechanism submerged in molten metal bath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780" y="1687385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858" y="1706067"/>
            <a:ext cx="323368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Fast cycle times — mechanism always ready with liquid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858" y="1873835"/>
            <a:ext cx="40066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780" y="2173744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858" y="2192427"/>
            <a:ext cx="286955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Limited to low-melting-point alloys: zinc, tin, lead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780" y="2491981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858" y="2510676"/>
            <a:ext cx="323955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Cannot use for aluminum — molten Al attacks the steel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858" y="2678430"/>
            <a:ext cx="72945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mechanism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06340" y="888653"/>
            <a:ext cx="183401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Cold Chamber Die Casting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06340" y="1285265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49417" y="1303947"/>
            <a:ext cx="311929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Metal ladled into separate shot chamber before each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49417" y="1471714"/>
            <a:ext cx="56813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injection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06340" y="1687385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49417" y="1706067"/>
            <a:ext cx="342811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Slower cycle than hot chamber but handles higher-melting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49417" y="1873835"/>
            <a:ext cx="39731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alloys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06340" y="2089861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49417" y="2108556"/>
            <a:ext cx="337028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Used for aluminum, magnesium, copper — the important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49417" y="2276310"/>
            <a:ext cx="97528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structural alloys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06340" y="2491981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49417" y="2510676"/>
            <a:ext cx="356233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Injection pressure: 7–700 MPa; high velocity fills complex die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49417" y="2678430"/>
            <a:ext cx="49634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cavities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7416" y="3792627"/>
            <a:ext cx="75026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Advantages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7784" y="4231950"/>
            <a:ext cx="223522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Excellent surface finish (Ra 0.8–3.2 μm)  · 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7784" y="4384591"/>
            <a:ext cx="224246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Tight tolerances  ·  Fast cycle times  ·  Thin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7784" y="4537220"/>
            <a:ext cx="78071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walls possible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97580" y="3792627"/>
            <a:ext cx="72093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97935" y="4231950"/>
            <a:ext cx="237373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High tooling cost  ·  Limited to lower-melting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97935" y="4384591"/>
            <a:ext cx="221984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alloys  ·  No sand cores — limited internal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97935" y="4537220"/>
            <a:ext cx="57090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geometry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87744" y="3792627"/>
            <a:ext cx="122893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Die Casting Porosity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88100" y="4155623"/>
            <a:ext cx="2108149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High velocity traps air — gas porosity is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8100" y="4308264"/>
            <a:ext cx="240106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inherent in die castings. Limits pressure-tight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88100" y="4460906"/>
            <a:ext cx="2147035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and heat-treat applications. Vacuum die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88100" y="4613547"/>
            <a:ext cx="174915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casting significantly reduces this.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955" y="822606"/>
            <a:ext cx="4315688" cy="51155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22606"/>
            <a:ext cx="328676" cy="511555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955" y="1371246"/>
            <a:ext cx="4315688" cy="511555"/>
          </a:xfrm>
          <a:prstGeom prst="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600" y="1371246"/>
            <a:ext cx="328676" cy="511555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955" y="1919886"/>
            <a:ext cx="4315688" cy="51155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600" y="1919886"/>
            <a:ext cx="328676" cy="511555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5955" y="2468526"/>
            <a:ext cx="4315688" cy="511555"/>
          </a:xfrm>
          <a:prstGeom prst="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5600" y="2468526"/>
            <a:ext cx="328676" cy="511555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5955" y="3017166"/>
            <a:ext cx="4315688" cy="511556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5600" y="3017166"/>
            <a:ext cx="328676" cy="511556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5955" y="3565806"/>
            <a:ext cx="4315688" cy="511555"/>
          </a:xfrm>
          <a:prstGeom prst="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5600" y="3565806"/>
            <a:ext cx="328676" cy="511555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5955" y="4114446"/>
            <a:ext cx="4315688" cy="51155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5600" y="4114446"/>
            <a:ext cx="328676" cy="511555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36160" y="822962"/>
            <a:ext cx="4151160" cy="230399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6160" y="822606"/>
            <a:ext cx="4151160" cy="365391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36160" y="3237117"/>
            <a:ext cx="4151160" cy="17186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36160" y="3236762"/>
            <a:ext cx="4151160" cy="365404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8424" y="158292"/>
            <a:ext cx="542709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Investment Casting — Lost Wax, Best 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896" y="969031"/>
            <a:ext cx="15325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740" y="866547"/>
            <a:ext cx="78616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2E4A6B"/>
                </a:solidFill>
                <a:latin typeface="Calibri"/>
              </a:rPr>
              <a:t>Wax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740" y="1034788"/>
            <a:ext cx="348883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Inject wax into a metal die — produces an exact wax replica of the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740" y="1187430"/>
            <a:ext cx="72492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finished part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8896" y="1517672"/>
            <a:ext cx="15325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740" y="1415187"/>
            <a:ext cx="91578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2E4A6B"/>
                </a:solidFill>
                <a:latin typeface="Calibri"/>
              </a:rPr>
              <a:t>Tree Assembly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3740" y="1659743"/>
            <a:ext cx="36467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Multiple wax patterns attached to a central wax sprue forming a 'tree'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8896" y="2066311"/>
            <a:ext cx="15325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3740" y="1963827"/>
            <a:ext cx="86061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2E4A6B"/>
                </a:solidFill>
                <a:latin typeface="Calibri"/>
              </a:rPr>
              <a:t>Shell Building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3740" y="2132069"/>
            <a:ext cx="379851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Tree dipped in ceramic slurry, stuccoed with refractory sand — repeated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3740" y="2284710"/>
            <a:ext cx="64423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5–15 times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8896" y="2614951"/>
            <a:ext cx="15325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3740" y="2512467"/>
            <a:ext cx="64495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2E4A6B"/>
                </a:solidFill>
                <a:latin typeface="Calibri"/>
              </a:rPr>
              <a:t>Dewaxing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3740" y="2680709"/>
            <a:ext cx="381884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Steam autoclave melts and removes the wax — leaving a hollow ceramic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3740" y="2833350"/>
            <a:ext cx="31256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shell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8896" y="3163591"/>
            <a:ext cx="15325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3740" y="3061107"/>
            <a:ext cx="71130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2E4A6B"/>
                </a:solidFill>
                <a:latin typeface="Calibri"/>
              </a:rPr>
              <a:t>Shell Firing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3740" y="3229349"/>
            <a:ext cx="385163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Kiln burns residual wax, sinters ceramic — shell is now rigid and ready for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3740" y="3381990"/>
            <a:ext cx="47420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pouring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8896" y="3712231"/>
            <a:ext cx="15325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3740" y="3609747"/>
            <a:ext cx="52287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2E4A6B"/>
                </a:solidFill>
                <a:latin typeface="Calibri"/>
              </a:rPr>
              <a:t>Pouring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3740" y="3777988"/>
            <a:ext cx="3764839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Molten metal poured into pre-heated shell — ceramic conforms exactly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3740" y="3930630"/>
            <a:ext cx="817435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to wax surface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8896" y="4260872"/>
            <a:ext cx="15325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3740" y="4158387"/>
            <a:ext cx="89134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2E4A6B"/>
                </a:solidFill>
                <a:latin typeface="Calibri"/>
              </a:rPr>
              <a:t>Shell Removal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3740" y="4402943"/>
            <a:ext cx="349493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Ceramic shell broken away; parts cut from tree, finished, inspected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06340" y="888653"/>
            <a:ext cx="180510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Why Investment Casting?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87976" y="1280823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31053" y="1299674"/>
            <a:ext cx="320634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Best surface finish of any casting process — Ra 1.6–3.2 μm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87976" y="1646583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31053" y="1665434"/>
            <a:ext cx="297005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Tightest tolerances — ±0.1–0.25mm on small features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87976" y="2012343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31053" y="2031194"/>
            <a:ext cx="321007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Almost any alloy, including superalloys and reactive metals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87976" y="2378103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31053" y="2396954"/>
            <a:ext cx="349418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Complex geometry, thin walls, undercuts — often without cores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87976" y="2663942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31053" y="2682793"/>
            <a:ext cx="337857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Applications: turbine blades, medical implants, firearm parts,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31053" y="2842635"/>
            <a:ext cx="46939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jewelry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06340" y="3302453"/>
            <a:ext cx="170711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Other Casting Processes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88344" y="3652273"/>
            <a:ext cx="365201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6B7C"/>
                </a:solidFill>
                <a:latin typeface="Calibri"/>
              </a:rPr>
              <a:t>Permanent Mold: 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Gravity pour into reusable metal mold — better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88344" y="3812115"/>
            <a:ext cx="169908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finish than sand, limited alloys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8344" y="4054761"/>
            <a:ext cx="392257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6B7C"/>
                </a:solidFill>
                <a:latin typeface="Calibri"/>
              </a:rPr>
              <a:t>Centrifugal: 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Rotating mold distributes metal outward — used for pipes,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88344" y="4214603"/>
            <a:ext cx="183201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rings, tubes; dense outer surface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88344" y="4456881"/>
            <a:ext cx="373110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6B7C"/>
                </a:solidFill>
                <a:latin typeface="Calibri"/>
              </a:rPr>
              <a:t>Continuous Casting: 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Molten steel/aluminum solidified continuously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88344" y="4616724"/>
            <a:ext cx="332236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into slabs and billets — dominant process for structural steel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8631720" cy="34704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1170358"/>
            <a:ext cx="8631720" cy="4752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955" y="1170358"/>
            <a:ext cx="72720" cy="475208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600" y="1664286"/>
            <a:ext cx="8631720" cy="47519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955" y="1664286"/>
            <a:ext cx="72720" cy="475195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600" y="2157846"/>
            <a:ext cx="8631720" cy="47519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5955" y="2157846"/>
            <a:ext cx="72720" cy="475195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5600" y="2651761"/>
            <a:ext cx="8631720" cy="47519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5955" y="2651761"/>
            <a:ext cx="72720" cy="475195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5600" y="3145677"/>
            <a:ext cx="8631720" cy="4752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5955" y="3145677"/>
            <a:ext cx="72720" cy="475208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5600" y="3639237"/>
            <a:ext cx="8631720" cy="47520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5955" y="3639237"/>
            <a:ext cx="72720" cy="475208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5600" y="4133166"/>
            <a:ext cx="8631720" cy="47519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5955" y="4133166"/>
            <a:ext cx="72720" cy="475195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8424" y="158292"/>
            <a:ext cx="6392571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Common Casting Defects — Recognition and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980" y="866547"/>
            <a:ext cx="45220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Defect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1895" y="866547"/>
            <a:ext cx="42049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Cause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10304" y="866547"/>
            <a:ext cx="77066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Appearance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30900" y="866547"/>
            <a:ext cx="92612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Likely 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1336" y="866547"/>
            <a:ext cx="64146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7784" y="1303343"/>
            <a:ext cx="104884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B83232"/>
                </a:solidFill>
                <a:latin typeface="Calibri"/>
              </a:rPr>
              <a:t>Shrinkage Porosity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1895" y="1227028"/>
            <a:ext cx="181612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Insufficient feed metal; poor riser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1895" y="1379670"/>
            <a:ext cx="112152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design or placement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10304" y="1227028"/>
            <a:ext cx="176872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Irregular, rough-surfaced spongy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10304" y="1379670"/>
            <a:ext cx="34356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voids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30900" y="1303343"/>
            <a:ext cx="156388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Thick sections; last to solidify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1336" y="1303343"/>
            <a:ext cx="40253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RT, 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7784" y="1796903"/>
            <a:ext cx="72784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3B6FBA"/>
                </a:solidFill>
                <a:latin typeface="Calibri"/>
              </a:rPr>
              <a:t>Gas Porosity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1895" y="1720588"/>
            <a:ext cx="192452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Dissolved hydrogen expelled during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1895" y="1873230"/>
            <a:ext cx="166503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solidification; moisture in mold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10304" y="1720588"/>
            <a:ext cx="146526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Smooth, spherical voids —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10304" y="1873230"/>
            <a:ext cx="127834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distributed or clustered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30900" y="1720588"/>
            <a:ext cx="149742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Throughout casting or near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30900" y="1873230"/>
            <a:ext cx="4486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surface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41336" y="1796903"/>
            <a:ext cx="40253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RT, 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7784" y="2290831"/>
            <a:ext cx="56709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Hot Tears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61895" y="2214504"/>
            <a:ext cx="183874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Mold restrains contracting casting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1895" y="2367146"/>
            <a:ext cx="108759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during solidification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10304" y="2214504"/>
            <a:ext cx="168383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Irregular branching cracks with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10304" y="2367146"/>
            <a:ext cx="94756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oxidized surfaces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30900" y="2290831"/>
            <a:ext cx="166020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Section changes, sharp corners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41336" y="2290831"/>
            <a:ext cx="61462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VT, PT, MT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7784" y="2784391"/>
            <a:ext cx="62783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Cold Shuts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1895" y="2708064"/>
            <a:ext cx="177813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Two metal streams meet but too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61895" y="2860706"/>
            <a:ext cx="164813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cold to fuse; low pouring temp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10304" y="2708064"/>
            <a:ext cx="140160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Linear seam with smooth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10304" y="2860706"/>
            <a:ext cx="89698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oxidized surface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30900" y="2784391"/>
            <a:ext cx="15427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Mid-section; opposite ingate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41336" y="2784391"/>
            <a:ext cx="39223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VT, PT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7784" y="3278307"/>
            <a:ext cx="44916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6B7C"/>
                </a:solidFill>
                <a:latin typeface="Calibri"/>
              </a:rPr>
              <a:t>Misrun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61895" y="3201980"/>
            <a:ext cx="188157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Metal solidifies before filling mold;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61895" y="3354621"/>
            <a:ext cx="133145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thin section or low temp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10304" y="3201980"/>
            <a:ext cx="163466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Incomplete casting — smooth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10304" y="3354621"/>
            <a:ext cx="160873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rounded edges at termination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30900" y="3278307"/>
            <a:ext cx="1572014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Thin sections; far from ingate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41336" y="3278307"/>
            <a:ext cx="213696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VT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7784" y="3772222"/>
            <a:ext cx="595941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4748B"/>
                </a:solidFill>
                <a:latin typeface="Calibri"/>
              </a:rPr>
              <a:t>Inclusions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61895" y="3695908"/>
            <a:ext cx="161877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Sand, slag, or oxide entrained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61895" y="3848549"/>
            <a:ext cx="834971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during pouring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10304" y="3695908"/>
            <a:ext cx="140312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Irregular hard spots; dark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10304" y="3848549"/>
            <a:ext cx="125610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irregular RT indications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30900" y="3695908"/>
            <a:ext cx="131316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Near gates; upper mold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30900" y="3848549"/>
            <a:ext cx="49783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surfaces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41336" y="3772222"/>
            <a:ext cx="40253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RT, UT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7784" y="4265783"/>
            <a:ext cx="52045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Warping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61895" y="4189468"/>
            <a:ext cx="1634661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Non-uniform cooling; residual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61895" y="4342110"/>
            <a:ext cx="80536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thermal stress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10304" y="4189468"/>
            <a:ext cx="1617761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Dimensional distortion — not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10304" y="4342110"/>
            <a:ext cx="130706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visible as a crack or void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30900" y="4265783"/>
            <a:ext cx="966749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Long flat sections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41336" y="4265783"/>
            <a:ext cx="732294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Dimensional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242"/>
            <a:ext cx="8777884" cy="36540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1188366"/>
            <a:ext cx="8777884" cy="73115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1938237"/>
            <a:ext cx="8777884" cy="731164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600" y="2688122"/>
            <a:ext cx="8777884" cy="7311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600" y="3437638"/>
            <a:ext cx="8777884" cy="731164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600" y="4187522"/>
            <a:ext cx="8777884" cy="7311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424" y="158292"/>
            <a:ext cx="6919169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Casting Process Selection — Five Factors, One Right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344" y="863252"/>
            <a:ext cx="45111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Factor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5824" y="863252"/>
            <a:ext cx="84633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Sand Casting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7859" y="863252"/>
            <a:ext cx="75031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Die Casting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0820" y="863252"/>
            <a:ext cx="123382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Investment Casting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59" y="1433195"/>
            <a:ext cx="36923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2E4A6B"/>
                </a:solidFill>
                <a:latin typeface="Calibri"/>
              </a:rPr>
              <a:t>Alloy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5824" y="1372824"/>
            <a:ext cx="156477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Any metal — steel, cast iron,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5824" y="1525466"/>
            <a:ext cx="164025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aluminum, copper, superalloys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7859" y="1372824"/>
            <a:ext cx="181320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Lower-melting only — Al, Zn, Mg,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7859" y="1525466"/>
            <a:ext cx="137237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Cu; NOT steel or cast iron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820" y="1372824"/>
            <a:ext cx="257782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Almost any — including superalloys and reactive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0820" y="1525466"/>
            <a:ext cx="41866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metals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059" y="2183067"/>
            <a:ext cx="56953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2E4A6B"/>
                </a:solidFill>
                <a:latin typeface="Calibri"/>
              </a:rPr>
              <a:t>Part Size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5824" y="2122709"/>
            <a:ext cx="181447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Virtually unlimited — from grams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55824" y="2275350"/>
            <a:ext cx="121505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to hundreds of tonnes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7859" y="2122709"/>
            <a:ext cx="1700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Limited by machine capacity —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7859" y="2275350"/>
            <a:ext cx="113652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typically under 25 kg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0820" y="2122709"/>
            <a:ext cx="252584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Typically under 50 kg; best for small to medium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0820" y="2275350"/>
            <a:ext cx="8326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precision parts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3059" y="2932951"/>
            <a:ext cx="119192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2E4A6B"/>
                </a:solidFill>
                <a:latin typeface="Calibri"/>
              </a:rPr>
              <a:t>Production Volume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55824" y="2872580"/>
            <a:ext cx="167405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Low to medium — tooling cost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55824" y="3025221"/>
            <a:ext cx="150911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low; each mold is single-use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7859" y="2872580"/>
            <a:ext cx="185069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High volume only — die cost (tens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7859" y="3025221"/>
            <a:ext cx="136958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of $K) must be amortized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0820" y="2872580"/>
            <a:ext cx="259764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Low to medium — ceramic shell is single-use but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0820" y="3025221"/>
            <a:ext cx="116638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patterns are reusable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059" y="3682835"/>
            <a:ext cx="113451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2E4A6B"/>
                </a:solidFill>
                <a:latin typeface="Calibri"/>
              </a:rPr>
              <a:t>Tolerance &amp; Finish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55824" y="3622464"/>
            <a:ext cx="1810281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Rough — Ra 6–25 μm; tolerances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55824" y="3775106"/>
            <a:ext cx="129587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±1–3 mm on large parts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7859" y="3622464"/>
            <a:ext cx="133044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Good — Ra 0.8–3.2 μm;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67859" y="3775106"/>
            <a:ext cx="1316211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tolerances ±0.1–0.3 mm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60820" y="3622464"/>
            <a:ext cx="2604631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Best — Ra 1.6–3.2 μm; tolerances ±0.1–0.25 mm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0820" y="3775106"/>
            <a:ext cx="956329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on small features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3059" y="4432351"/>
            <a:ext cx="114666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2E4A6B"/>
                </a:solidFill>
                <a:latin typeface="Calibri"/>
              </a:rPr>
              <a:t>Internal Geometry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55824" y="4372349"/>
            <a:ext cx="163046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Excellent — sand cores create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55824" y="4524990"/>
            <a:ext cx="1419776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complex internal passages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67859" y="4372349"/>
            <a:ext cx="170735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Limited — no sand cores; some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67859" y="4524990"/>
            <a:ext cx="139487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complexity with die slides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60820" y="4372349"/>
            <a:ext cx="259866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Good — many undercuts possible without cores;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60820" y="4524990"/>
            <a:ext cx="99140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shell broken away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115646"/>
            <a:ext cx="832067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1590842"/>
            <a:ext cx="8631720" cy="1060196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955" y="1590842"/>
            <a:ext cx="200888" cy="1060196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600" y="2706117"/>
            <a:ext cx="8631720" cy="1060208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955" y="2706117"/>
            <a:ext cx="200888" cy="1060208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600" y="3821762"/>
            <a:ext cx="8631720" cy="1060196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5955" y="3821762"/>
            <a:ext cx="200888" cy="1060196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696" y="564194"/>
            <a:ext cx="3859157" cy="515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000">
                <a:solidFill>
                  <a:srgbClr val="FFFFFF"/>
                </a:solidFill>
                <a:latin typeface="Calibri"/>
              </a:rPr>
              <a:t>Technician's Perspective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696" y="1245408"/>
            <a:ext cx="488864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Reading the defect — what it tells you about how the casting was made.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935" y="1664191"/>
            <a:ext cx="390496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B83232"/>
                </a:solidFill>
                <a:latin typeface="Calibri"/>
              </a:rPr>
              <a:t>Red Flag: Die casting ordered for a 304 stainless steel bracket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4304" y="1919599"/>
            <a:ext cx="776929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A job order specifies die casting for a 304 stainless steel structural bracket. Do not proceed — die casting cannot be used for stainless steel. The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4304" y="2079441"/>
            <a:ext cx="776569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steel die cannot withstand the pouring temperature of stainless (above 1400°C), and the metal would freeze before filling the die. Die casting is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4304" y="2239284"/>
            <a:ext cx="795071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limited to aluminum, zinc, magnesium, and copper alloys. Correct the process specification: investment casting or sand casting are the appropriate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4304" y="2399113"/>
            <a:ext cx="129775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processes for this part.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935" y="2779823"/>
            <a:ext cx="395796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6B5219"/>
                </a:solidFill>
                <a:latin typeface="Calibri"/>
              </a:rPr>
              <a:t>Caution: Specifying RT on a die casting to find internal defects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304" y="3035243"/>
            <a:ext cx="790449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A die cast aluminum housing is being evaluated for a pressure-tight application. RT reveals no defects — do not accept this as proof of soundness.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304" y="3195073"/>
            <a:ext cx="775717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Die castings inherently contain gas porosity from air trapped during high-velocity injection; this porosity is often fine, distributed, and below RT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4304" y="3354915"/>
            <a:ext cx="793073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detection sensitivity. UT is more sensitive to this type of defect. Additionally, confirm the application: die cast parts with this porosity may blister if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304" y="3514757"/>
            <a:ext cx="440738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subsequently heat treated. Consult the applicable specification before accepting.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935" y="3895467"/>
            <a:ext cx="404857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1E6C52"/>
                </a:solidFill>
                <a:latin typeface="Calibri"/>
              </a:rPr>
              <a:t>Good Practice: Identifying hot tears vs. cold cracks by oxidation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304" y="4150875"/>
            <a:ext cx="788198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A cracking indication is found on a sand casting at a thick-to-thin section change. To distinguish a hot tear from a cold crack: hot tears form during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4304" y="4310717"/>
            <a:ext cx="793086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solidification when the metal is still partly liquid — the fracture surfaces are oxidized (dark, discolored) because they were exposed to atmosphere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304" y="4470559"/>
            <a:ext cx="793206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at high temperature. Cold cracks form after solidification — the surfaces are clean and metallic. An oxidized crack surface at a stress-concentration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4304" y="4630401"/>
            <a:ext cx="610565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point is a hot tear and indicates a casting design or mold restraint issue that must be corrected before re-casting.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024206"/>
            <a:ext cx="832067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2696" y="509364"/>
            <a:ext cx="3505274" cy="4847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800">
                <a:solidFill>
                  <a:srgbClr val="FFFFFF"/>
                </a:solidFill>
                <a:latin typeface="Calibri"/>
              </a:rPr>
              <a:t>Core Question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704" y="1167867"/>
            <a:ext cx="450667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What happens during solidification and why does it matter for casting quality?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704" y="1460240"/>
            <a:ext cx="844634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Solidification starts at the mold wall (chill zone), progresses inward as columnar dendrites, and finishes in the equiaxed center — the last zone to solidify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704" y="1620083"/>
            <a:ext cx="823495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is where shrinkage voids, gas porosity, and segregation concentrate. Riser design, chill placement, and pouring temperature control where and when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704" y="1779912"/>
            <a:ext cx="311563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solidification occurs, and therefore where defects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04" y="2100631"/>
            <a:ext cx="466772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What are the main casting processes and what are the trade-offs between them?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04" y="2392636"/>
            <a:ext cx="836975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Sand casting: any alloy and size, low tooling cost, rough surface. Die casting: high pressure, excellent finish, limited to lower-melting alloys, high tooling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04" y="2552478"/>
            <a:ext cx="840838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cost, gas porosity inherent. Investment casting: ceramic shell over wax pattern, best surface finish and accuracy, any alloy, expensive per part, limited to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04" y="2712321"/>
            <a:ext cx="122702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smaller components.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04" y="3033395"/>
            <a:ext cx="440541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What defects are most common in castings and how is each one recognized?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704" y="3325400"/>
            <a:ext cx="839799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Shrinkage porosity: irregular rough voids in thick sections (RT, UT). Gas porosity: smooth spherical voids (RT, UT). Hot tears: branching oxidized cracks at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704" y="3485242"/>
            <a:ext cx="845446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section changes (VT, PT, MT). Cold shuts: smooth linear seam where metal streams didn't fuse (VT, PT). Misrun: incomplete casting with rounded smooth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704" y="3645072"/>
            <a:ext cx="391482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edge (VT). Inclusions: hard spots with irregular RT indications (RT, UT).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04" y="3966147"/>
            <a:ext cx="394812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How do you choose the right casting process for a given application?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04" y="4258152"/>
            <a:ext cx="836988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Five factors together: alloy (die casting cannot handle steel; investment casting handles superalloys), part size (sand for large, die for small), production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704" y="4417994"/>
            <a:ext cx="843994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volume (die only justified at high volume), required surface finish and tolerance (investment for precision), and internal geometry complexity (sand with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704" y="4577836"/>
            <a:ext cx="164193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cores for complex passages).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68681"/>
            <a:ext cx="8631720" cy="12614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68681"/>
            <a:ext cx="511555" cy="12614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2221917"/>
            <a:ext cx="8631720" cy="12614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600" y="2221917"/>
            <a:ext cx="511555" cy="12614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600" y="3575166"/>
            <a:ext cx="8631720" cy="12614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600" y="3575166"/>
            <a:ext cx="511555" cy="12614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424" y="158292"/>
            <a:ext cx="78444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Key Takeaways — Week 10: Casting Processes &amp; Defect Recognition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495" y="1277600"/>
            <a:ext cx="256172" cy="484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344" y="1204775"/>
            <a:ext cx="736372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Solidification is not instantaneous or uniform — shrinkage, gas evolution, segregation, and dendrite growth occur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344" y="1395224"/>
            <a:ext cx="791447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simultaneously, and controlling them through riser design, chilling, and pouring practice is what separates a sound casting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344" y="1585661"/>
            <a:ext cx="144251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from a defective 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495" y="2630836"/>
            <a:ext cx="256172" cy="484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344" y="2558023"/>
            <a:ext cx="768855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Sand casting, die casting, and investment casting each occupy a distinct niche defined by alloy, size, volume, tolerance,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344" y="2748460"/>
            <a:ext cx="767188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and cost — selecting the wrong process for an application leads to either excessive cost or unacceptable quality, and a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344" y="2938896"/>
            <a:ext cx="647163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technician who understands why a process was chosen can anticipate where defects are most likely.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495" y="3984084"/>
            <a:ext cx="256172" cy="484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344" y="3911259"/>
            <a:ext cx="773777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Casting defects are predictable from the process — shrinkage porosity in thick sections, gas porosity in die castings, hot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344" y="4101696"/>
            <a:ext cx="7709035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tears at section changes, cold shuts at ingate-remote locations. A technician who understands how a casting was made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344" y="4292145"/>
            <a:ext cx="697745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focuses inspection effort accordingly and interprets indications in the context of the manufacturing process.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955" y="804597"/>
            <a:ext cx="4864328" cy="4132808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6844" y="1316521"/>
            <a:ext cx="4297311" cy="27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484" y="1462686"/>
            <a:ext cx="727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484" y="2084402"/>
            <a:ext cx="727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484" y="2706117"/>
            <a:ext cx="727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484" y="3328202"/>
            <a:ext cx="727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484" y="3949917"/>
            <a:ext cx="727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66435" y="804597"/>
            <a:ext cx="3620528" cy="4132808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7680" y="1590842"/>
            <a:ext cx="3053880" cy="27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8424" y="158292"/>
            <a:ext cx="2983519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Resources &amp; What's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144" y="959237"/>
            <a:ext cx="1696621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Week 10 Resources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660" y="1471952"/>
            <a:ext cx="14869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Kalpakjian Ch. 10 &amp; 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660" y="1641996"/>
            <a:ext cx="402829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Fundamentals of Metal Casting &amp; Metal Casting Processes — primary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660" y="1809750"/>
            <a:ext cx="50416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reading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660" y="2093667"/>
            <a:ext cx="149778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Casting Defects — TWI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660" y="2263712"/>
            <a:ext cx="443390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Defect library with photographs and NDT detection guidance for each defect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660" y="2431466"/>
            <a:ext cx="32831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660" y="2715383"/>
            <a:ext cx="153859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Solidification Visualizer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660" y="2969667"/>
            <a:ext cx="413556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Dendrite growth, riser design, and solidification sequence — interactive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660" y="3337467"/>
            <a:ext cx="151925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Sand Casting Visualizer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660" y="3591395"/>
            <a:ext cx="420875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Process animation, design guidelines, and common defects — interactive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660" y="3959183"/>
            <a:ext cx="166575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Die &amp; Investment Casting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660" y="4129228"/>
            <a:ext cx="408835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NADCA and ICI process animations with design and defect coverage —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660" y="4296995"/>
            <a:ext cx="67694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interactive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54980" y="959237"/>
            <a:ext cx="2308974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Week 11 — Metal Forming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4980" y="1314387"/>
            <a:ext cx="312976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November 2, 2026  ·  Unit 4: Manufacturing continues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36615" y="1642621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79693" y="1661472"/>
            <a:ext cx="288720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Hot working vs. cold working — the recrystallization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79693" y="1821314"/>
            <a:ext cx="255128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temperature and why it defines the boundary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79693" y="1981156"/>
            <a:ext cx="99659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between the two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36615" y="2172897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79693" y="2191760"/>
            <a:ext cx="269513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Work hardening — how dislocations accumulate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79693" y="2351602"/>
            <a:ext cx="268420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during cold working and how annealing restores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79693" y="2511432"/>
            <a:ext cx="50922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ductility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36615" y="2783106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79693" y="2801957"/>
            <a:ext cx="293861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Rolling, forging, extrusion, and drawing — what each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79693" y="2961799"/>
            <a:ext cx="211545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process produces and where it is used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36615" y="3233461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79693" y="3252311"/>
            <a:ext cx="237239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Grain flow in forgings — why a forged part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79693" y="3412154"/>
            <a:ext cx="280129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outperforms a casting or a machined bar in critical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79693" y="3571996"/>
            <a:ext cx="72154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applications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36615" y="3843658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79693" y="3862521"/>
            <a:ext cx="290491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Forming defects — laps, seams, bursts, pipe defects,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79693" y="4022364"/>
            <a:ext cx="241874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and delamination and how each is detected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